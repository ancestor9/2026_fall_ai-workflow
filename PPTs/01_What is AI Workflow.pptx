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1151" r:id="rId2"/>
    <p:sldId id="1149" r:id="rId3"/>
    <p:sldId id="1176" r:id="rId4"/>
    <p:sldId id="1223" r:id="rId5"/>
    <p:sldId id="1224" r:id="rId6"/>
    <p:sldId id="1222" r:id="rId7"/>
    <p:sldId id="1153" r:id="rId8"/>
    <p:sldId id="1226" r:id="rId9"/>
    <p:sldId id="1225" r:id="rId10"/>
    <p:sldId id="1154" r:id="rId11"/>
    <p:sldId id="1155" r:id="rId12"/>
    <p:sldId id="1156" r:id="rId13"/>
    <p:sldId id="1171" r:id="rId14"/>
    <p:sldId id="1230" r:id="rId15"/>
    <p:sldId id="1173" r:id="rId16"/>
    <p:sldId id="1172" r:id="rId17"/>
    <p:sldId id="1231" r:id="rId18"/>
    <p:sldId id="1232" r:id="rId19"/>
    <p:sldId id="1159" r:id="rId20"/>
    <p:sldId id="1160" r:id="rId21"/>
    <p:sldId id="1162" r:id="rId22"/>
    <p:sldId id="1163" r:id="rId23"/>
    <p:sldId id="1183" r:id="rId24"/>
    <p:sldId id="1233" r:id="rId25"/>
    <p:sldId id="1234" r:id="rId26"/>
    <p:sldId id="1235" r:id="rId27"/>
    <p:sldId id="1236" r:id="rId28"/>
    <p:sldId id="1237" r:id="rId29"/>
    <p:sldId id="1169" r:id="rId30"/>
    <p:sldId id="1238" r:id="rId31"/>
    <p:sldId id="1165" r:id="rId32"/>
    <p:sldId id="1285" r:id="rId33"/>
    <p:sldId id="1293" r:id="rId34"/>
    <p:sldId id="285" r:id="rId35"/>
    <p:sldId id="286" r:id="rId36"/>
    <p:sldId id="287" r:id="rId37"/>
    <p:sldId id="288" r:id="rId38"/>
    <p:sldId id="1308" r:id="rId39"/>
    <p:sldId id="1309" r:id="rId40"/>
    <p:sldId id="1310" r:id="rId41"/>
    <p:sldId id="1311" r:id="rId42"/>
    <p:sldId id="1312" r:id="rId43"/>
    <p:sldId id="1313" r:id="rId44"/>
    <p:sldId id="1335" r:id="rId45"/>
    <p:sldId id="1338" r:id="rId4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76"/>
            <p14:sldId id="1223"/>
            <p14:sldId id="1224"/>
            <p14:sldId id="1222"/>
            <p14:sldId id="1153"/>
            <p14:sldId id="1226"/>
            <p14:sldId id="1225"/>
            <p14:sldId id="1154"/>
            <p14:sldId id="1155"/>
            <p14:sldId id="1156"/>
            <p14:sldId id="1171"/>
            <p14:sldId id="1230"/>
            <p14:sldId id="1173"/>
            <p14:sldId id="1172"/>
            <p14:sldId id="1231"/>
            <p14:sldId id="1232"/>
            <p14:sldId id="1159"/>
            <p14:sldId id="1160"/>
            <p14:sldId id="1162"/>
            <p14:sldId id="1163"/>
            <p14:sldId id="1183"/>
            <p14:sldId id="1233"/>
            <p14:sldId id="1234"/>
            <p14:sldId id="1235"/>
            <p14:sldId id="1236"/>
            <p14:sldId id="1237"/>
            <p14:sldId id="1169"/>
            <p14:sldId id="1238"/>
            <p14:sldId id="1165"/>
            <p14:sldId id="1285"/>
            <p14:sldId id="1293"/>
            <p14:sldId id="285"/>
            <p14:sldId id="286"/>
            <p14:sldId id="287"/>
            <p14:sldId id="288"/>
            <p14:sldId id="1308"/>
            <p14:sldId id="1309"/>
            <p14:sldId id="1310"/>
            <p14:sldId id="1311"/>
            <p14:sldId id="1312"/>
            <p14:sldId id="1313"/>
            <p14:sldId id="1335"/>
            <p14:sldId id="133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2026-09-21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2362-49C8-3613-71B3-4AB14F83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3F229-4D2B-9C76-B7BC-09DB5E08D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EF9BD-3B03-4C4D-3966-0C97B3DE0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41E02-0EA3-463F-A5BA-D664E0C51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333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0289-D123-DD35-D4D8-4614510D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868140-1DFC-31B7-5287-8A4D53B16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D87B3D-F089-B1E5-BD52-CE965CF17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E9936-FC3C-1356-9700-DCFAA4A89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8825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B6E5-5A67-5099-D476-B03922D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7EBFA-07FF-2CF5-D9F4-9A364D0C3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93E0D-39C1-11C4-B5FB-5BECF954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2E67-EB21-80A2-230A-54A0F018F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906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217E1063-B697-0F5B-6173-A8ACC414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D5B1C958-1384-535D-9203-77314D3CE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22B0AD07-79B3-6CBE-0FF4-24D414AC3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15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4CAB5A7B-700F-B433-0E98-AADF106B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A2AFB00C-00B1-387E-CC96-BD3F1F6AC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DCB5368B-F389-8446-C46B-CFFD8F5C13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8727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8B97D6B2-16C7-406E-ABED-027739F2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EF577B07-8C8C-3661-469F-5CBBE8E51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2AB737DC-C48A-55DB-8CDB-5F90832FB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73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C4819A67-6B86-CF50-18EB-93960BF4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F5F74DDA-FA23-C3AD-5F23-D990A6BFF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0470BAC9-588C-DE39-C6B8-87735A2DB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341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85508E92-FDC4-8C11-6735-4C3FAF7C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FFE4F60F-4BE1-4590-77AF-115104F25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68BFBA0A-73FB-0411-3169-741B53035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555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3ED5C58F-EB24-338D-F4BC-4E53F9C0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DCB17C4D-369D-B0D1-DE7E-4542430B0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30E0A8C1-442D-2C40-24ED-1E1916079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4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2026-09-21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2026-09-21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asu.edu/datascience/workflow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g.io/@hsh/series/prefect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ancestor9/2026_Fall_AI-Workflow/tree/main/scripts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airflow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01188cENo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KqDq4TFbmY&amp;t=112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dagster.io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mUjf3gL1VU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Directed_graph" TargetMode="External"/><Relationship Id="rId5" Type="http://schemas.openxmlformats.org/officeDocument/2006/relationships/hyperlink" Target="https://steemit.com/dag/@cryptodreamers/dag-dag-directed-acyclic-graph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en.wikipedia.org/wiki/Edge_(graph_theory)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github.com/ancestor9/airflow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What is AI Workflow?  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4421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Orchestration Framework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 Chatbot : LLM(Large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Model)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Coding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AI(LLM) Workflow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AI(LLM) Agent</a:t>
            </a: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BA7F-73F0-82DE-3AFA-1DE2BE1C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FB44-F38B-8E0C-EE0F-1F690C0B1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Automation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0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B9D45-A906-9EE7-B319-15B784A4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756691-C8EF-AB34-C478-9181C846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F8DFEC-2EC1-8EE0-3F56-982A444CE4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6D29B-27BE-40A9-A98D-2CAED053D668}"/>
              </a:ext>
            </a:extLst>
          </p:cNvPr>
          <p:cNvSpPr txBox="1"/>
          <p:nvPr/>
        </p:nvSpPr>
        <p:spPr>
          <a:xfrm>
            <a:off x="751955" y="1718786"/>
            <a:ext cx="10515601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Feeling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(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Intuition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)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vs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. Data-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driven</a:t>
            </a:r>
            <a:endParaRPr lang="en-US" altLang="ko-KR" sz="20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Automation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is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the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key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to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being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data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driven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.</a:t>
            </a:r>
            <a:endParaRPr lang="en-US" altLang="ko-KR" sz="20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Automation </a:t>
            </a:r>
            <a:r>
              <a:rPr lang="en-US" altLang="ko-K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is a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predictable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set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of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predetermined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actions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that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transfers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data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from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one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point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to</a:t>
            </a:r>
            <a:r>
              <a:rPr lang="ko-KR" altLang="en-US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MS Gothic" panose="020B0609070205080204" pitchFamily="49" charset="-128"/>
                <a:ea typeface="D2Coding" panose="020B0609020101020101" pitchFamily="49" charset="-127"/>
              </a:rPr>
              <a:t>another</a:t>
            </a:r>
            <a:r>
              <a:rPr lang="en-US" altLang="ko-K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089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60E6B-F2EC-3E3D-8197-E2F168C3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C9E3-F66F-7BF7-D744-3CD24874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79E75-3188-AC9E-B5A7-62FF41D05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6D9FE6C-1C89-F872-1E05-3C878885B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071813"/>
            <a:ext cx="5310188" cy="86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C3FF6-2F84-C946-93A5-E51AE4A9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BD1361-E6D8-F37F-7847-3596F9C8C1CB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76719A-2740-60E0-0EE8-A30122FF98CE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1950A9-9B8E-CA1C-5F23-6339A6DBBE98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85A7EF-645D-1462-E30A-334FF6445118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F26E8E8-3AE7-E2B2-8810-782ECCD6FFC8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E6FB3E-90CB-9372-4351-1825A3EF9036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ACD8E9-87A8-78CA-D496-56A7CC739BD2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B4A2D4-5284-212A-27F5-69F48B7D85F6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7F52-F3F8-E0D2-03C4-B1F161DB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F4A42-D40B-CC26-F592-E0D96BEF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C76A262-E7C2-FBE8-B1B3-9679D95EAF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Modeling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572B1-140A-3C3F-1EDE-B2D5437645B4}"/>
              </a:ext>
            </a:extLst>
          </p:cNvPr>
          <p:cNvSpPr txBox="1"/>
          <p:nvPr/>
        </p:nvSpPr>
        <p:spPr>
          <a:xfrm>
            <a:off x="1081087" y="1961066"/>
            <a:ext cx="10029825" cy="335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>
                <a:latin typeface="MS Gothic" panose="020B0609070205080204" pitchFamily="49" charset="-128"/>
                <a:ea typeface="MS Gothic" panose="020B0609070205080204" pitchFamily="49" charset="-128"/>
              </a:rPr>
              <a:t>Mapping is the first step to any good automation.</a:t>
            </a:r>
            <a:endParaRPr lang="en-US" altLang="ko-KR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Correctly mapping a process before automation will ensure you have visibility on the: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Understanding of the task (understand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biz process &amp; data)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Tools that will be used (JAVA,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puthon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, n8n,</a:t>
            </a:r>
            <a:r>
              <a:rPr lang="ko-KR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…)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Feasibility of the automation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Estimation of work load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MS Gothic" panose="020B0609070205080204" pitchFamily="49" charset="-128"/>
                <a:ea typeface="MS Gothic" panose="020B0609070205080204" pitchFamily="49" charset="-128"/>
              </a:rPr>
              <a:t>→ (Sometimes) need for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309738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159E-35AD-9476-972C-80774C22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33320-8994-E01F-EB3D-4C7FD8F0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313E1B7-DB80-1CB6-5921-BD79EC64520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>
                <a:latin typeface="Lora" pitchFamily="2" charset="0"/>
              </a:rPr>
              <a:t>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E7D41C-8083-8B29-211B-0A92F55F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137" y="1761079"/>
            <a:ext cx="5692633" cy="4153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1D875-7D57-A414-92AB-D0E42A6287F4}"/>
              </a:ext>
            </a:extLst>
          </p:cNvPr>
          <p:cNvSpPr txBox="1"/>
          <p:nvPr/>
        </p:nvSpPr>
        <p:spPr>
          <a:xfrm>
            <a:off x="2603137" y="6218823"/>
            <a:ext cx="3614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/>
              </a:rPr>
              <a:t>https://math.asu.edu/datascience/workflow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9004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204B-E244-99B3-34B7-EEDB50DF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75648-4026-87A2-1E7D-D50D1AA4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44180C-87C2-5DB1-94D1-6F90334605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Orchestrate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</a:t>
            </a:r>
            <a:r>
              <a:rPr lang="ko-KR" altLang="ko-KR" sz="2800" b="1" cap="none" dirty="0">
                <a:latin typeface="Lora" pitchFamily="2" charset="0"/>
              </a:rPr>
              <a:t> 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94F62-7060-F457-BB09-8CDFA2D7E7F4}"/>
              </a:ext>
            </a:extLst>
          </p:cNvPr>
          <p:cNvSpPr txBox="1"/>
          <p:nvPr/>
        </p:nvSpPr>
        <p:spPr>
          <a:xfrm>
            <a:off x="2603137" y="6218823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orchestrate-data-science-project-python-prefect</a:t>
            </a:r>
            <a:endParaRPr lang="ko-KR" altLang="en-US" sz="1400" dirty="0"/>
          </a:p>
        </p:txBody>
      </p:sp>
      <p:pic>
        <p:nvPicPr>
          <p:cNvPr id="8" name="그림 7" descr="Orchestrate a Data Science Project in Python With Prefect">
            <a:extLst>
              <a:ext uri="{FF2B5EF4-FFF2-40B4-BE49-F238E27FC236}">
                <a16:creationId xmlns:a16="http://schemas.microsoft.com/office/drawing/2014/main" id="{BAB35102-7A6D-E82D-69A8-5728B6458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63" y="1667389"/>
            <a:ext cx="6275173" cy="1184439"/>
          </a:xfrm>
          <a:prstGeom prst="rect">
            <a:avLst/>
          </a:prstGeom>
        </p:spPr>
      </p:pic>
      <p:pic>
        <p:nvPicPr>
          <p:cNvPr id="10" name="그림 9" descr="Orchestrate a Data Science Project in Python With Prefect">
            <a:extLst>
              <a:ext uri="{FF2B5EF4-FFF2-40B4-BE49-F238E27FC236}">
                <a16:creationId xmlns:a16="http://schemas.microsoft.com/office/drawing/2014/main" id="{B77324CF-0ED1-B05F-052A-B45F4768B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365" y="3270796"/>
            <a:ext cx="7045768" cy="27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0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B04ED-2915-0FD5-7414-0117E08E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ko-KR" sz="2800" b="1" cap="none" dirty="0" err="1">
                <a:latin typeface="Lora" pitchFamily="2" charset="0"/>
              </a:rPr>
              <a:t>Orchestrate</a:t>
            </a:r>
            <a:r>
              <a:rPr lang="ko-KR" altLang="ko-KR" sz="2800" b="1" cap="none" dirty="0">
                <a:latin typeface="Lora" pitchFamily="2" charset="0"/>
              </a:rPr>
              <a:t> </a:t>
            </a:r>
            <a:r>
              <a:rPr lang="ko-KR" altLang="ko-KR" sz="2800" b="1" cap="none" dirty="0" err="1">
                <a:latin typeface="Lora" pitchFamily="2" charset="0"/>
              </a:rPr>
              <a:t>a</a:t>
            </a:r>
            <a:r>
              <a:rPr lang="ko-KR" altLang="ko-KR" sz="2800" b="1" cap="none" dirty="0">
                <a:latin typeface="Lora" pitchFamily="2" charset="0"/>
              </a:rPr>
              <a:t> Data </a:t>
            </a:r>
            <a:r>
              <a:rPr lang="ko-KR" altLang="ko-KR" sz="2800" b="1" cap="none" dirty="0" err="1">
                <a:latin typeface="Lora" pitchFamily="2" charset="0"/>
              </a:rPr>
              <a:t>Science</a:t>
            </a:r>
            <a:r>
              <a:rPr lang="ko-KR" altLang="ko-KR" sz="2800" b="1" cap="none" dirty="0">
                <a:latin typeface="Lora" pitchFamily="2" charset="0"/>
              </a:rPr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2603137" y="6218823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orchestrate-data-science-project-python-prefect</a:t>
            </a:r>
            <a:endParaRPr lang="ko-KR" altLang="en-US" sz="14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47" y="2421937"/>
            <a:ext cx="5354461" cy="2724082"/>
          </a:xfrm>
          <a:prstGeom prst="rect">
            <a:avLst/>
          </a:prstGeom>
        </p:spPr>
      </p:pic>
      <p:pic>
        <p:nvPicPr>
          <p:cNvPr id="2" name="그림 1" descr="Orchestrate a Data Science Project in Python With Prefect">
            <a:extLst>
              <a:ext uri="{FF2B5EF4-FFF2-40B4-BE49-F238E27FC236}">
                <a16:creationId xmlns:a16="http://schemas.microsoft.com/office/drawing/2014/main" id="{5C84935F-2D7D-69FA-59BE-E2D260932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421" y="1773032"/>
            <a:ext cx="5350179" cy="40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5B68-13BC-82A8-E69A-EBF63686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02455A-6684-4AFE-7F70-D243495C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F394978-3A88-4C9F-19C4-6B402CF98A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 01_machine learning with titanic 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5E77B-3B3E-CE13-A28F-177623F536B2}"/>
              </a:ext>
            </a:extLst>
          </p:cNvPr>
          <p:cNvSpPr txBox="1"/>
          <p:nvPr/>
        </p:nvSpPr>
        <p:spPr>
          <a:xfrm>
            <a:off x="740527" y="1631367"/>
            <a:ext cx="10088880" cy="3096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 class +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b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 rtl="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 rtl="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Orchestrate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AI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applications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Open-source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foundations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production-ready</a:t>
            </a: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platforms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Prefect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기초부터 활용까지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2059E3DA-7196-C207-109D-6D0F9F2D9E1C}"/>
              </a:ext>
            </a:extLst>
          </p:cNvPr>
          <p:cNvSpPr/>
          <p:nvPr/>
        </p:nvSpPr>
        <p:spPr>
          <a:xfrm>
            <a:off x="7707457" y="2228427"/>
            <a:ext cx="1505527" cy="951345"/>
          </a:xfrm>
          <a:prstGeom prst="stripedRightArrow">
            <a:avLst>
              <a:gd name="adj1" fmla="val 733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App </a:t>
            </a:r>
            <a:r>
              <a:rPr lang="ko-KR" altLang="en-US" dirty="0"/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171005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F7A9-D1E9-9872-6D87-ACEC8B2A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A39791-8485-7449-EBF2-09179946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DEC0FBD-AE36-9A56-09B4-A72511AB17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Practice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DF5DA-80C4-8A16-DDE3-735138CF63B9}"/>
              </a:ext>
            </a:extLst>
          </p:cNvPr>
          <p:cNvSpPr txBox="1"/>
          <p:nvPr/>
        </p:nvSpPr>
        <p:spPr>
          <a:xfrm>
            <a:off x="475645" y="1367441"/>
            <a:ext cx="430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2026_Fall_AI-Workflow/tree/main/scripts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07C688-982E-A891-62C1-ECEC695F9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22" y="1736773"/>
            <a:ext cx="7864638" cy="483597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B504D4B-8C02-E71B-9904-9D6B22BA4E86}"/>
              </a:ext>
            </a:extLst>
          </p:cNvPr>
          <p:cNvSpPr/>
          <p:nvPr/>
        </p:nvSpPr>
        <p:spPr>
          <a:xfrm>
            <a:off x="544950" y="5569527"/>
            <a:ext cx="84697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3E3FCC82-7AC9-1AD5-EF9F-9B269DFAA2C2}"/>
              </a:ext>
            </a:extLst>
          </p:cNvPr>
          <p:cNvSpPr/>
          <p:nvPr/>
        </p:nvSpPr>
        <p:spPr>
          <a:xfrm>
            <a:off x="8478983" y="3404924"/>
            <a:ext cx="2788574" cy="483586"/>
          </a:xfrm>
          <a:prstGeom prst="borderCallout2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모든 코드 학습하기</a:t>
            </a:r>
          </a:p>
        </p:txBody>
      </p:sp>
    </p:spTree>
    <p:extLst>
      <p:ext uri="{BB962C8B-B14F-4D97-AF65-F5344CB8AC3E}">
        <p14:creationId xmlns:p14="http://schemas.microsoft.com/office/powerpoint/2010/main" val="3759530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0FEE-E04E-ABF8-D664-82F58277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8CEE32-D65B-E536-74E5-600710F0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D1ECD02-E2B8-A703-7B8C-56174B99DF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66A77-716A-0E4C-08AE-75533D843356}"/>
              </a:ext>
            </a:extLst>
          </p:cNvPr>
          <p:cNvSpPr txBox="1"/>
          <p:nvPr/>
        </p:nvSpPr>
        <p:spPr>
          <a:xfrm>
            <a:off x="638174" y="1659285"/>
            <a:ext cx="9496425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datetime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contextlib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asynccontextmanager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apscheduler.schedulers.background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BackgroundScheduler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백그라운드 스케줄러 및 로그 저장소 세팅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BackgroundScheduler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타이머가 울릴 때마다 실행할 함수 정의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datetime.datetime.now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strftime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:%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"⏰ 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- 백그라운드 자동화 작업 완료!"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 # VS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터미널 콘솔에 즉시 출력됨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job_logs.append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log_msg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247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4BF4-B6D9-6A36-1039-2C2428ED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23713-2600-6AF0-4C78-1CB9E991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D8FF3D3-349A-BA1B-C7AE-A5AF08AA3E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927E8-8746-9750-A152-D776B908D86A}"/>
              </a:ext>
            </a:extLst>
          </p:cNvPr>
          <p:cNvSpPr txBox="1"/>
          <p:nvPr/>
        </p:nvSpPr>
        <p:spPr>
          <a:xfrm>
            <a:off x="638175" y="1543925"/>
            <a:ext cx="1019123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Lifespan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핸들러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(시작과 종료를 한 번에 관리)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@asynccontextmanager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lifespan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---- [STARTUP] 서버가 켜질 때 실행되는 구간 ----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10초 주기(*/10)로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작업을 등록하고 스케줄러를 시작합니다.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scheduler.add_job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second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='*/10')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scheduler.start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("🚀 백그라운드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스케줄러가 성공적으로 시작되었습니다! (10초 주기)")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yield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 # 💻 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yield를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기점으로 서버가 정상 구동되며 대기합니다.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---- [SHUTDOWN] 서버가 꺼질 때 실행되는 구간 ----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scheduler.shutdown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    # VS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Ctrl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누르면 이 아랫줄이 실행됩니다.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("🛑 스케줄러가 안전하게 종료되었습니다.")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(lifespan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핸들러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app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FastAPI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title="Hermes Agent Cron Server",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description="Lifespan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방식을 적용한 에이전트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lifespan=lifespan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설명선: 굽은 선(테두리 및 강조선) 5">
            <a:extLst>
              <a:ext uri="{FF2B5EF4-FFF2-40B4-BE49-F238E27FC236}">
                <a16:creationId xmlns:a16="http://schemas.microsoft.com/office/drawing/2014/main" id="{E47BCDE6-3759-A338-C072-B0DF567296BB}"/>
              </a:ext>
            </a:extLst>
          </p:cNvPr>
          <p:cNvSpPr/>
          <p:nvPr/>
        </p:nvSpPr>
        <p:spPr>
          <a:xfrm>
            <a:off x="8029662" y="619124"/>
            <a:ext cx="3752850" cy="2371726"/>
          </a:xfrm>
          <a:prstGeom prst="accentBorderCallout2">
            <a:avLst>
              <a:gd name="adj1" fmla="val 18750"/>
              <a:gd name="adj2" fmla="val -3257"/>
              <a:gd name="adj3" fmla="val 47666"/>
              <a:gd name="adj4" fmla="val -36210"/>
              <a:gd name="adj5" fmla="val 62573"/>
              <a:gd name="adj6" fmla="val -1448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contextmanager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with open("test.txt", "w") as f: </a:t>
            </a: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f.write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("hello") </a:t>
            </a: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블록을 나가는 순간 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f.close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자동 실행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일반 함수에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yield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비동기 방식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 자원을 낭비 없이 쥐어짜서 웹 서버와 백그라운드 자동화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(Cron)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 끊김 없이 동시에 돌리기 위해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async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방식을 사용</a:t>
            </a:r>
          </a:p>
        </p:txBody>
      </p:sp>
    </p:spTree>
    <p:extLst>
      <p:ext uri="{BB962C8B-B14F-4D97-AF65-F5344CB8AC3E}">
        <p14:creationId xmlns:p14="http://schemas.microsoft.com/office/powerpoint/2010/main" val="1954403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B75E-F94E-CBF6-1E8E-27C8BE2C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6F5344-A2CB-E682-10FF-590DD5D5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4F304A5-FC66-397D-9069-C83D363136E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FastAPI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21189-BE23-6266-EBE5-30E58362F9D8}"/>
              </a:ext>
            </a:extLst>
          </p:cNvPr>
          <p:cNvSpPr txBox="1"/>
          <p:nvPr/>
        </p:nvSpPr>
        <p:spPr>
          <a:xfrm>
            <a:off x="628649" y="1400017"/>
            <a:ext cx="9496425" cy="500136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API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엔드포인트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라우터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@app.get("/")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read_root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"status": "running",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"message": "VS Code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로컬 서버가 정상 작동 중입니다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(Lifespan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적용 완료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@app.get("/logs")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작업이 실행된 기록을 확인하는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API"""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total_runs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"history":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job_logs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@app.post("/trigger")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trigger_now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예약된 시간과 별개로 사용자가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즉시 작업을 트리거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"""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my_cron_job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{"message": "⚡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작업을 즉시 강제 실행했습니다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."}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5. VS 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직접 실행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진입점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if __name__ == "__main__":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uvicorn.run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main:app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host="127.0.0.1", port=8000, reload=True)</a:t>
            </a:r>
          </a:p>
        </p:txBody>
      </p:sp>
    </p:spTree>
    <p:extLst>
      <p:ext uri="{BB962C8B-B14F-4D97-AF65-F5344CB8AC3E}">
        <p14:creationId xmlns:p14="http://schemas.microsoft.com/office/powerpoint/2010/main" val="3513810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 Orchestration Framework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7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368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Apache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</p:txBody>
      </p:sp>
    </p:spTree>
    <p:extLst>
      <p:ext uri="{BB962C8B-B14F-4D97-AF65-F5344CB8AC3E}">
        <p14:creationId xmlns:p14="http://schemas.microsoft.com/office/powerpoint/2010/main" val="1339504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37-4EA5-A647-F3B5-81ABF1B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70747-3937-3211-79F3-EE4B035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AC9A7F-FBA1-C39E-C108-C08FD957F3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48BBF-4DF5-7909-3102-CD71F9819A79}"/>
              </a:ext>
            </a:extLst>
          </p:cNvPr>
          <p:cNvSpPr txBox="1"/>
          <p:nvPr/>
        </p:nvSpPr>
        <p:spPr>
          <a:xfrm>
            <a:off x="558800" y="1248422"/>
            <a:ext cx="1107440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데이터 파이프라인을 구축하기 위한 워크플로우 오케스트레이션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관리 및 자동화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 스크립트를 프로덕션 레벨의 워크플로우로 승격시키는 가장 간단한 방법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주변 환경에 반응하고 예기치 않은 변경 사항으로부터 스스로 복구되는 회복탄력성 있고 동적인 데이터 파이프라인을 구축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몇 줄의 코드만으로 스케줄링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이벤트 기반 자동화 등의 기능을 활용하여 비즈니스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프로세스를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워크플로우의 모든 활동은 추적되며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자체적으로 호스팅하는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 인스턴스나 클라우드로 관리되는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Cloud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대시보드를 통해 모니터링할 수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566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E17-42C6-41A6-6506-A8DE518C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8A117-A1DF-2BD0-DEA3-A64D94BBC53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AB654-7C89-C306-C0E2-3091189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858D23-A354-2BAE-FC48-75ADE8D5A3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6099-4C5D-159B-AAC7-F65373B22019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5CB6A8-21F5-EA9E-2407-F9FCDDFC4326}"/>
              </a:ext>
            </a:extLst>
          </p:cNvPr>
          <p:cNvSpPr/>
          <p:nvPr/>
        </p:nvSpPr>
        <p:spPr>
          <a:xfrm>
            <a:off x="1259632" y="3446305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5CB2D8-B84A-CD9C-D862-9B8F3DBFE225}"/>
              </a:ext>
            </a:extLst>
          </p:cNvPr>
          <p:cNvSpPr/>
          <p:nvPr/>
        </p:nvSpPr>
        <p:spPr>
          <a:xfrm>
            <a:off x="4016768" y="3446305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F68F8-75A6-DEB8-5534-8689CA22D520}"/>
              </a:ext>
            </a:extLst>
          </p:cNvPr>
          <p:cNvSpPr txBox="1"/>
          <p:nvPr/>
        </p:nvSpPr>
        <p:spPr>
          <a:xfrm>
            <a:off x="1049034" y="4521964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68BB4-664E-1378-D2FA-927345C06704}"/>
              </a:ext>
            </a:extLst>
          </p:cNvPr>
          <p:cNvSpPr txBox="1"/>
          <p:nvPr/>
        </p:nvSpPr>
        <p:spPr>
          <a:xfrm>
            <a:off x="6360522" y="4521964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5170F-3C08-8C57-D5BF-1DE328ACE712}"/>
              </a:ext>
            </a:extLst>
          </p:cNvPr>
          <p:cNvSpPr txBox="1"/>
          <p:nvPr/>
        </p:nvSpPr>
        <p:spPr>
          <a:xfrm>
            <a:off x="4052440" y="4521964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F8072-EF5F-116B-4B39-98401B1A18D9}"/>
              </a:ext>
            </a:extLst>
          </p:cNvPr>
          <p:cNvSpPr txBox="1"/>
          <p:nvPr/>
        </p:nvSpPr>
        <p:spPr>
          <a:xfrm>
            <a:off x="9486870" y="4521964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47C0-BA98-BBCC-70DB-4442A4729D14}"/>
              </a:ext>
            </a:extLst>
          </p:cNvPr>
          <p:cNvSpPr/>
          <p:nvPr/>
        </p:nvSpPr>
        <p:spPr>
          <a:xfrm>
            <a:off x="6773904" y="3446305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73285B-E7AA-48B6-D3AE-7C0090E6A78C}"/>
              </a:ext>
            </a:extLst>
          </p:cNvPr>
          <p:cNvSpPr/>
          <p:nvPr/>
        </p:nvSpPr>
        <p:spPr>
          <a:xfrm>
            <a:off x="9531040" y="3446305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BB8A90-1282-B7B4-9A84-5949ABAA0E8C}"/>
              </a:ext>
            </a:extLst>
          </p:cNvPr>
          <p:cNvSpPr txBox="1"/>
          <p:nvPr/>
        </p:nvSpPr>
        <p:spPr>
          <a:xfrm>
            <a:off x="618607" y="3953949"/>
            <a:ext cx="64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BCFB-32EB-75CF-E045-8D93DAC65AA7}"/>
              </a:ext>
            </a:extLst>
          </p:cNvPr>
          <p:cNvSpPr txBox="1"/>
          <p:nvPr/>
        </p:nvSpPr>
        <p:spPr>
          <a:xfrm>
            <a:off x="2707432" y="3953949"/>
            <a:ext cx="519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9E40-7822-E796-BD88-A986A1D6B176}"/>
              </a:ext>
            </a:extLst>
          </p:cNvPr>
          <p:cNvSpPr txBox="1"/>
          <p:nvPr/>
        </p:nvSpPr>
        <p:spPr>
          <a:xfrm>
            <a:off x="619125" y="1285875"/>
            <a:ext cx="10944225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데이터확보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등의 </a:t>
            </a:r>
            <a:r>
              <a:rPr lang="en-US" altLang="ko-KR" dirty="0"/>
              <a:t>pipeline</a:t>
            </a:r>
            <a:r>
              <a:rPr lang="ko-KR" altLang="en-US" dirty="0"/>
              <a:t>으로 구성된 일련의 순차적 </a:t>
            </a:r>
            <a:r>
              <a:rPr lang="en-US" altLang="ko-KR" dirty="0"/>
              <a:t>ML </a:t>
            </a:r>
            <a:r>
              <a:rPr lang="ko-KR" altLang="en-US" dirty="0"/>
              <a:t>연구절차는 </a:t>
            </a:r>
            <a:r>
              <a:rPr lang="en-US" altLang="ko-KR" dirty="0"/>
              <a:t>workflow </a:t>
            </a:r>
            <a:r>
              <a:rPr lang="ko-KR" altLang="en-US" dirty="0"/>
              <a:t>로 이해하고 각 단계별로 함수를 구성하여 </a:t>
            </a:r>
            <a:r>
              <a:rPr lang="en-US" altLang="ko-KR" dirty="0"/>
              <a:t>Python</a:t>
            </a:r>
            <a:r>
              <a:rPr lang="ko-KR" altLang="en-US" dirty="0"/>
              <a:t>의 사용자정의함수로 구성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CF657A-1A7C-5FB7-B2B2-296851B037C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8154845-685B-60D3-9C71-920A3FB7AEC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32C05C-0472-2E4A-5431-8268F31C207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3941605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A48C5B-518A-A23D-2B92-9DC1235B6A5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3941605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0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A399-218B-55A4-4CC7-6697E688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ACB1585-BF90-CE13-4D94-37D610F8FE6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6779-27E3-80B8-553E-EB3AF061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D70E3D-7896-D295-96AB-8B3A5F81F8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61D9-E136-2B70-15EA-A6F9A21E38AA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24CABF-50F0-C047-55ED-63A8A8676B12}"/>
              </a:ext>
            </a:extLst>
          </p:cNvPr>
          <p:cNvSpPr/>
          <p:nvPr/>
        </p:nvSpPr>
        <p:spPr>
          <a:xfrm>
            <a:off x="1259632" y="3951130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F8CB1-BB43-CF70-A514-0910AD7F2F48}"/>
              </a:ext>
            </a:extLst>
          </p:cNvPr>
          <p:cNvSpPr/>
          <p:nvPr/>
        </p:nvSpPr>
        <p:spPr>
          <a:xfrm>
            <a:off x="4016768" y="3951130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8E54C-A40D-32E5-F214-132EBA09A7C4}"/>
              </a:ext>
            </a:extLst>
          </p:cNvPr>
          <p:cNvSpPr/>
          <p:nvPr/>
        </p:nvSpPr>
        <p:spPr>
          <a:xfrm>
            <a:off x="6773904" y="3951130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75689F-BEE5-DD23-0D2D-871BACCEE770}"/>
              </a:ext>
            </a:extLst>
          </p:cNvPr>
          <p:cNvSpPr/>
          <p:nvPr/>
        </p:nvSpPr>
        <p:spPr>
          <a:xfrm>
            <a:off x="9531040" y="3951130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A681-06A1-836E-0294-E4D75DB4B938}"/>
              </a:ext>
            </a:extLst>
          </p:cNvPr>
          <p:cNvSpPr txBox="1"/>
          <p:nvPr/>
        </p:nvSpPr>
        <p:spPr>
          <a:xfrm>
            <a:off x="619125" y="1285875"/>
            <a:ext cx="10944225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Prefect</a:t>
            </a:r>
            <a:r>
              <a:rPr lang="ko-KR" altLang="en-US" dirty="0"/>
              <a:t>의 </a:t>
            </a:r>
            <a:r>
              <a:rPr lang="en-US" altLang="ko-KR" dirty="0"/>
              <a:t>@task</a:t>
            </a:r>
            <a:r>
              <a:rPr lang="ko-KR" altLang="en-US" dirty="0"/>
              <a:t>와 </a:t>
            </a:r>
            <a:r>
              <a:rPr lang="en-US" altLang="ko-KR" dirty="0"/>
              <a:t>@flow “Decorator”</a:t>
            </a:r>
            <a:r>
              <a:rPr lang="ko-KR" altLang="en-US" dirty="0"/>
              <a:t> 로 구성하여</a:t>
            </a:r>
            <a:r>
              <a:rPr lang="en-US" altLang="ko-KR" dirty="0"/>
              <a:t> Prefect Server</a:t>
            </a:r>
            <a:r>
              <a:rPr lang="ko-KR" altLang="en-US" dirty="0"/>
              <a:t>와 </a:t>
            </a:r>
            <a:r>
              <a:rPr lang="en-US" altLang="ko-KR" dirty="0"/>
              <a:t>Agent</a:t>
            </a:r>
            <a:r>
              <a:rPr lang="ko-KR" altLang="en-US" dirty="0"/>
              <a:t>를 사용하지 않고 </a:t>
            </a:r>
            <a:r>
              <a:rPr lang="en-US" altLang="ko-KR" dirty="0"/>
              <a:t>Prefect</a:t>
            </a:r>
            <a:r>
              <a:rPr lang="ko-KR" altLang="en-US" dirty="0"/>
              <a:t>에서 직접 </a:t>
            </a:r>
            <a:r>
              <a:rPr lang="en-US" altLang="ko-KR" dirty="0"/>
              <a:t>Flow</a:t>
            </a:r>
            <a:r>
              <a:rPr lang="ko-KR" altLang="en-US" dirty="0"/>
              <a:t>를 실행</a:t>
            </a:r>
            <a:r>
              <a:rPr lang="en-US" altLang="ko-KR" dirty="0"/>
              <a:t>ML pipeline</a:t>
            </a:r>
            <a:r>
              <a:rPr lang="ko-KR" altLang="en-US" dirty="0"/>
              <a:t>을 완성</a:t>
            </a:r>
            <a:r>
              <a:rPr lang="en-US" altLang="ko-KR" dirty="0"/>
              <a:t>(</a:t>
            </a:r>
            <a:r>
              <a:rPr lang="en-US" altLang="ko-KR" dirty="0" err="1"/>
              <a:t>FastAPI</a:t>
            </a:r>
            <a:r>
              <a:rPr lang="en-US" altLang="ko-KR" dirty="0"/>
              <a:t> Decorator</a:t>
            </a:r>
            <a:r>
              <a:rPr lang="ko-KR" altLang="en-US" dirty="0"/>
              <a:t> 작동과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40F9E9-EFF1-2B29-88B1-6BB4DFB7132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C8B627-A7DD-5CBD-B9FB-AD31A3C504A7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7E671C-4E06-FE8A-03BB-B208995E81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4446430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7AC483B-1D59-316A-911F-CF7957EF7DE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4446430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95266-D533-5E46-C575-97F9417B9907}"/>
              </a:ext>
            </a:extLst>
          </p:cNvPr>
          <p:cNvSpPr txBox="1"/>
          <p:nvPr/>
        </p:nvSpPr>
        <p:spPr>
          <a:xfrm>
            <a:off x="1174912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0C659-D6DA-C109-D4C0-B49EFC4EE5E3}"/>
              </a:ext>
            </a:extLst>
          </p:cNvPr>
          <p:cNvSpPr txBox="1"/>
          <p:nvPr/>
        </p:nvSpPr>
        <p:spPr>
          <a:xfrm>
            <a:off x="9475786" y="3686774"/>
            <a:ext cx="7635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845C0-212C-8FFB-A8BE-B4B40055DF1B}"/>
              </a:ext>
            </a:extLst>
          </p:cNvPr>
          <p:cNvSpPr txBox="1"/>
          <p:nvPr/>
        </p:nvSpPr>
        <p:spPr>
          <a:xfrm>
            <a:off x="6708828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F2E88-6966-40B6-E443-5A63069FCBBA}"/>
              </a:ext>
            </a:extLst>
          </p:cNvPr>
          <p:cNvSpPr txBox="1"/>
          <p:nvPr/>
        </p:nvSpPr>
        <p:spPr>
          <a:xfrm>
            <a:off x="3941870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145A-8E34-EA1F-F713-B4D119F7594C}"/>
              </a:ext>
            </a:extLst>
          </p:cNvPr>
          <p:cNvSpPr txBox="1"/>
          <p:nvPr/>
        </p:nvSpPr>
        <p:spPr>
          <a:xfrm>
            <a:off x="5128651" y="2701771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824AD1B-349B-D2B8-5958-7A1890A96E46}"/>
              </a:ext>
            </a:extLst>
          </p:cNvPr>
          <p:cNvCxnSpPr>
            <a:cxnSpLocks/>
            <a:stCxn id="9" idx="0"/>
            <a:endCxn id="26" idx="1"/>
          </p:cNvCxnSpPr>
          <p:nvPr/>
        </p:nvCxnSpPr>
        <p:spPr>
          <a:xfrm rot="5400000" flipH="1" flipV="1">
            <a:off x="2997705" y="1555828"/>
            <a:ext cx="827267" cy="34346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8BCFFAC-D694-127B-405C-A72DB627214E}"/>
              </a:ext>
            </a:extLst>
          </p:cNvPr>
          <p:cNvCxnSpPr>
            <a:cxnSpLocks/>
            <a:stCxn id="26" idx="3"/>
            <a:endCxn id="14" idx="0"/>
          </p:cNvCxnSpPr>
          <p:nvPr/>
        </p:nvCxnSpPr>
        <p:spPr>
          <a:xfrm>
            <a:off x="6166876" y="2859507"/>
            <a:ext cx="3690705" cy="82726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4A1519-62CA-A54D-5C8E-E72CE3933A04}"/>
              </a:ext>
            </a:extLst>
          </p:cNvPr>
          <p:cNvSpPr txBox="1"/>
          <p:nvPr/>
        </p:nvSpPr>
        <p:spPr>
          <a:xfrm>
            <a:off x="1049034" y="5026789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EFDA9-CE73-FFC8-5749-21824F3F5BE6}"/>
              </a:ext>
            </a:extLst>
          </p:cNvPr>
          <p:cNvSpPr txBox="1"/>
          <p:nvPr/>
        </p:nvSpPr>
        <p:spPr>
          <a:xfrm>
            <a:off x="6360522" y="5026789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0DF27-E13E-3B0E-4F1A-875B1E8586AC}"/>
              </a:ext>
            </a:extLst>
          </p:cNvPr>
          <p:cNvSpPr txBox="1"/>
          <p:nvPr/>
        </p:nvSpPr>
        <p:spPr>
          <a:xfrm>
            <a:off x="4052440" y="5026789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C700A-DECB-9AE9-3718-CCE4F8ADD472}"/>
              </a:ext>
            </a:extLst>
          </p:cNvPr>
          <p:cNvSpPr txBox="1"/>
          <p:nvPr/>
        </p:nvSpPr>
        <p:spPr>
          <a:xfrm>
            <a:off x="9486870" y="5026789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128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20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A2B2-7D04-6C1C-BE95-F64D111B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8601AB-7D74-4FA3-03B7-C229B10055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Airflow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9334-4596-C95D-FF73-4829C6222595}"/>
              </a:ext>
            </a:extLst>
          </p:cNvPr>
          <p:cNvSpPr txBox="1"/>
          <p:nvPr/>
        </p:nvSpPr>
        <p:spPr>
          <a:xfrm>
            <a:off x="7715251" y="718636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3D300B-80C6-DDC6-9091-0392958E8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324621"/>
            <a:ext cx="11048838" cy="522759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D05421-9A4A-FE17-3120-707F22395296}"/>
              </a:ext>
            </a:extLst>
          </p:cNvPr>
          <p:cNvSpPr/>
          <p:nvPr/>
        </p:nvSpPr>
        <p:spPr>
          <a:xfrm>
            <a:off x="475645" y="2806083"/>
            <a:ext cx="714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B1A99F63-AB11-38C9-30C6-6E69B8469C45}"/>
              </a:ext>
            </a:extLst>
          </p:cNvPr>
          <p:cNvSpPr/>
          <p:nvPr/>
        </p:nvSpPr>
        <p:spPr>
          <a:xfrm>
            <a:off x="3352800" y="2819400"/>
            <a:ext cx="4476750" cy="6477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2794"/>
              <a:gd name="adj6" fmla="val -3113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설치하고 아래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만들어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실행하라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(LLM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234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9587-4BFE-D02E-2789-B536D440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9A6E55-2315-E0A1-6EC0-639F8360BA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Airflow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1E2EB-0907-F78E-EBE2-32A798F73C08}"/>
              </a:ext>
            </a:extLst>
          </p:cNvPr>
          <p:cNvSpPr txBox="1"/>
          <p:nvPr/>
        </p:nvSpPr>
        <p:spPr>
          <a:xfrm>
            <a:off x="7715251" y="718636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A3455-E5BE-ACB6-361C-1AAC4B7C7917}"/>
              </a:ext>
            </a:extLst>
          </p:cNvPr>
          <p:cNvSpPr txBox="1"/>
          <p:nvPr/>
        </p:nvSpPr>
        <p:spPr>
          <a:xfrm>
            <a:off x="638175" y="1632625"/>
            <a:ext cx="10925176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airflow.utils.dates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DAG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airflow.operators.bash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DAG(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="0201_mkdir_download_rocket_launches",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start_date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airflow.utils.dates.days_ago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(5),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schedule_interval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="@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daily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doesn't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create_tmp_folder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task_id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create_tmp_folder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bash_command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mkdir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./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download_launches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task_id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download_launches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bash_command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launches.json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'https://ll.thespacedevs.com/2.0.0/launch/upcoming'",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noqa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E501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8A42-19A8-3AF0-06A3-2218AFCD880B}"/>
              </a:ext>
            </a:extLst>
          </p:cNvPr>
          <p:cNvSpPr txBox="1"/>
          <p:nvPr/>
        </p:nvSpPr>
        <p:spPr>
          <a:xfrm>
            <a:off x="552450" y="123204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https://github.com/ancestor9/airflow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974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55BD-7328-6F66-1BA2-E6B36734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79CD4-74E6-D1EC-57E6-26B4391E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DAA16D8-AD08-0C62-3872-52A01B8D93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4DDB3-775F-30A0-6C9A-ACD1299C898E}"/>
              </a:ext>
            </a:extLst>
          </p:cNvPr>
          <p:cNvSpPr txBox="1"/>
          <p:nvPr/>
        </p:nvSpPr>
        <p:spPr>
          <a:xfrm>
            <a:off x="590550" y="1310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9592F0-8D0D-BD6D-D1AC-1EA4D130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04" y="1921104"/>
            <a:ext cx="9777307" cy="4115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00E0B6-247B-C714-40BA-A4392AF361DF}"/>
              </a:ext>
            </a:extLst>
          </p:cNvPr>
          <p:cNvSpPr txBox="1"/>
          <p:nvPr/>
        </p:nvSpPr>
        <p:spPr>
          <a:xfrm>
            <a:off x="736704" y="6092608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3"/>
              </a:rPr>
              <a:t>https://www.youtube.com/watch?v=4N01188cENo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74178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97E8B-2121-2418-2253-EDD559A1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62AA1-F7A9-79F0-30B6-B38C8D31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00E69F-4954-D286-CA5C-B57C97214D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841814-1FF6-7674-A51E-033320E6A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943676"/>
            <a:ext cx="7866233" cy="44577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0325C8-FEFB-AD5A-4398-40D3B099D912}"/>
              </a:ext>
            </a:extLst>
          </p:cNvPr>
          <p:cNvSpPr txBox="1"/>
          <p:nvPr/>
        </p:nvSpPr>
        <p:spPr>
          <a:xfrm>
            <a:off x="478972" y="1393885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Data Orchestration and Pipelines with Python &amp; DAGs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YouTube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53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078-FEE6-62A2-65DA-08A878F6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B42B8-7038-CCEE-AE19-99D98C53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C00CA1-2E6C-4F23-9095-49DFFECF10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97C84E-C348-3BCD-AEF3-53A24BF6FD30}"/>
              </a:ext>
            </a:extLst>
          </p:cNvPr>
          <p:cNvGraphicFramePr>
            <a:graphicFrameLocks noGrp="1"/>
          </p:cNvGraphicFramePr>
          <p:nvPr/>
        </p:nvGraphicFramePr>
        <p:xfrm>
          <a:off x="639567" y="1680988"/>
          <a:ext cx="10189840" cy="4720398"/>
        </p:xfrm>
        <a:graphic>
          <a:graphicData uri="http://schemas.openxmlformats.org/drawingml/2006/table">
            <a:tbl>
              <a:tblPr/>
              <a:tblGrid>
                <a:gridCol w="2037968">
                  <a:extLst>
                    <a:ext uri="{9D8B030D-6E8A-4147-A177-3AD203B41FA5}">
                      <a16:colId xmlns:a16="http://schemas.microsoft.com/office/drawing/2014/main" val="992021438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1059555906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4184403374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2851758390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3490357920"/>
                    </a:ext>
                  </a:extLst>
                </a:gridCol>
              </a:tblGrid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항목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n8n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Prefect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Dagster</a:t>
                      </a:r>
                      <a:endParaRPr 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01904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 목적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Workflow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Data/ML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ETL/Data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3165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사용자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담당자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/ ML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8776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8859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ML Pipeline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62868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파이프라인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97291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 Engineering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3299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학습 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Workflow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70143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Asset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927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Lineage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9997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Email, Slack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9352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REST API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연동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5171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Agent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구축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9553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개발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9520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시각화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UI)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0451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0038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199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Retry)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4381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Docker/Kubernetes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117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난이도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쉬움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쉬움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중간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어려움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13082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산업 활용도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증가 중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증가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73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79ED65-F56B-098F-AC21-898E42A841B1}"/>
              </a:ext>
            </a:extLst>
          </p:cNvPr>
          <p:cNvSpPr txBox="1"/>
          <p:nvPr/>
        </p:nvSpPr>
        <p:spPr>
          <a:xfrm>
            <a:off x="8200507" y="1305572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Asset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D816-8D9C-D3FF-7A8C-FBED83720981}"/>
              </a:ext>
            </a:extLst>
          </p:cNvPr>
          <p:cNvSpPr txBox="1"/>
          <p:nvPr/>
        </p:nvSpPr>
        <p:spPr>
          <a:xfrm>
            <a:off x="2924175" y="1337189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886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C9D6-939A-E317-CE68-F8661A4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115B5E-D2C8-C66C-9DDB-1D6B2FB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64211"/>
            <a:ext cx="3848099" cy="18455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170A-562A-D94F-1D3C-AAA1A54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CCAFDA-8B79-C92B-0CD5-2BC1BCB202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BA15-3939-0C49-105B-49C5ECBF3B2C}"/>
              </a:ext>
            </a:extLst>
          </p:cNvPr>
          <p:cNvSpPr txBox="1"/>
          <p:nvPr/>
        </p:nvSpPr>
        <p:spPr>
          <a:xfrm>
            <a:off x="4600575" y="1364211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University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30512-F0DB-DBDE-68B6-9CA78BCA3A66}"/>
              </a:ext>
            </a:extLst>
          </p:cNvPr>
          <p:cNvSpPr txBox="1"/>
          <p:nvPr/>
        </p:nvSpPr>
        <p:spPr>
          <a:xfrm>
            <a:off x="581025" y="3376018"/>
            <a:ext cx="10429875" cy="138499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다운로드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https://github.com/dagster-io/project-dagster-university.git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폴더로 이동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project-dagster-university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환경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 준 가상환경 켜기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\Scripts\activate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성공적으로 완료하면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-e ".[dev]"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명령어는 패스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5.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서버 실행하기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dev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024DFF-5239-C53B-0E08-A7240B3F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076" y="4949786"/>
            <a:ext cx="7025707" cy="1480366"/>
          </a:xfrm>
          <a:prstGeom prst="rect">
            <a:avLst/>
          </a:prstGeom>
        </p:spPr>
      </p:pic>
      <p:pic>
        <p:nvPicPr>
          <p:cNvPr id="19" name="그래픽 18" descr="조금 굽은 줄 화살표">
            <a:extLst>
              <a:ext uri="{FF2B5EF4-FFF2-40B4-BE49-F238E27FC236}">
                <a16:creationId xmlns:a16="http://schemas.microsoft.com/office/drawing/2014/main" id="{FFACB1CB-A2B0-AEAA-B738-06CC72AA5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903" y="5121861"/>
            <a:ext cx="914400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84007F-B2F3-D7E5-E5CB-0665C264ED91}"/>
              </a:ext>
            </a:extLst>
          </p:cNvPr>
          <p:cNvSpPr/>
          <p:nvPr/>
        </p:nvSpPr>
        <p:spPr>
          <a:xfrm>
            <a:off x="561975" y="1857375"/>
            <a:ext cx="1314450" cy="138499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0F224-99D1-5CFC-55CD-ED314800FE76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setup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1981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22E-658A-A998-81C4-7AE0908D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6AA-48E3-83EB-C127-0B2B10A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4AB4CD-1C44-DBFB-60D8-756F8E5047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05602-5817-E748-6884-E022BC5E1C62}"/>
              </a:ext>
            </a:extLst>
          </p:cNvPr>
          <p:cNvSpPr txBox="1"/>
          <p:nvPr/>
        </p:nvSpPr>
        <p:spPr>
          <a:xfrm>
            <a:off x="647700" y="1374068"/>
            <a:ext cx="6257925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가루 재료와 액체 재료를 섞어서 쿠키 반죽을 만듭니다.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B9EA446-3D44-513C-29DE-90DAEC93208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832204" y="4108843"/>
            <a:ext cx="1996571" cy="554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D15C8-8673-CFB2-DDF7-D3B1ADFC7B05}"/>
              </a:ext>
            </a:extLst>
          </p:cNvPr>
          <p:cNvSpPr/>
          <p:nvPr/>
        </p:nvSpPr>
        <p:spPr>
          <a:xfrm>
            <a:off x="5384404" y="3613543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877147-D93F-E72B-661C-A0199C013578}"/>
              </a:ext>
            </a:extLst>
          </p:cNvPr>
          <p:cNvSpPr/>
          <p:nvPr/>
        </p:nvSpPr>
        <p:spPr>
          <a:xfrm>
            <a:off x="8828775" y="4168208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2F04E0-A659-1376-F397-B836D9F19EF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1143" y="4108843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7981E-E787-D008-164D-130AAD45075D}"/>
              </a:ext>
            </a:extLst>
          </p:cNvPr>
          <p:cNvSpPr/>
          <p:nvPr/>
        </p:nvSpPr>
        <p:spPr>
          <a:xfrm>
            <a:off x="5384404" y="5260664"/>
            <a:ext cx="144780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B8302C1-6FAE-5450-EA9E-DE4400C7AE0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6832204" y="4663508"/>
            <a:ext cx="1996571" cy="109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86F109-5050-A1E3-C41C-BB855BCC4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276575" y="4663508"/>
            <a:ext cx="6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0F790-A610-6674-7513-505D3CDB0EB0}"/>
              </a:ext>
            </a:extLst>
          </p:cNvPr>
          <p:cNvSpPr txBox="1"/>
          <p:nvPr/>
        </p:nvSpPr>
        <p:spPr>
          <a:xfrm>
            <a:off x="8600175" y="3799972"/>
            <a:ext cx="167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676C-B223-3651-B8C1-338B6E06F84A}"/>
              </a:ext>
            </a:extLst>
          </p:cNvPr>
          <p:cNvSpPr txBox="1"/>
          <p:nvPr/>
        </p:nvSpPr>
        <p:spPr>
          <a:xfrm>
            <a:off x="5253142" y="3303576"/>
            <a:ext cx="198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52BFB-617E-C6FD-ADA7-42F0BF3D0771}"/>
              </a:ext>
            </a:extLst>
          </p:cNvPr>
          <p:cNvSpPr txBox="1"/>
          <p:nvPr/>
        </p:nvSpPr>
        <p:spPr>
          <a:xfrm>
            <a:off x="5253142" y="4914110"/>
            <a:ext cx="202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F26169-68AB-C60F-F2C8-6D76CEC2362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81143" y="5755964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C6A84D-310B-C3E3-CFF0-CC3FA9AB8108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6376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38DB-9D6B-01D0-1FBE-FFDC901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99238-F8C8-8998-03A7-3A1284F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17854-DE33-7488-D8B0-CFAAD8CB00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70912-34CD-EA62-9535-7D7636BFAD01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Defining your first asset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3C370-0A0F-9C47-43E3-5C2701AE3B81}"/>
              </a:ext>
            </a:extLst>
          </p:cNvPr>
          <p:cNvSpPr txBox="1"/>
          <p:nvPr/>
        </p:nvSpPr>
        <p:spPr>
          <a:xfrm>
            <a:off x="552450" y="1261880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참고해서,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옐로우 택시 데이터를 다운로드하는 자산(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자산들이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파이프라인으로 나타남!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D1FD-AEC8-95D6-D381-294A4DEB1B81}"/>
              </a:ext>
            </a:extLst>
          </p:cNvPr>
          <p:cNvSpPr txBox="1"/>
          <p:nvPr/>
        </p:nvSpPr>
        <p:spPr>
          <a:xfrm>
            <a:off x="981074" y="2739005"/>
            <a:ext cx="9677401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“dg scaffold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assets/trips.py”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50D8-73BD-1093-FA0A-96A9F7CE68F7}"/>
              </a:ext>
            </a:extLst>
          </p:cNvPr>
          <p:cNvSpPr txBox="1"/>
          <p:nvPr/>
        </p:nvSpPr>
        <p:spPr>
          <a:xfrm>
            <a:off x="990600" y="3536432"/>
            <a:ext cx="6096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constants.py # 이미 존재하던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└── trips.py     # ⭐ 방금 새로 생성된 파일!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A30FE-3988-F601-7BF2-83C7FA9E101B}"/>
              </a:ext>
            </a:extLst>
          </p:cNvPr>
          <p:cNvSpPr txBox="1"/>
          <p:nvPr/>
        </p:nvSpPr>
        <p:spPr>
          <a:xfrm>
            <a:off x="990601" y="3166092"/>
            <a:ext cx="10534650" cy="4936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scaffold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assets/trips.py</a:t>
            </a: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44CCC-D611-835D-BF17-653377D8B352}"/>
              </a:ext>
            </a:extLst>
          </p:cNvPr>
          <p:cNvSpPr txBox="1"/>
          <p:nvPr/>
        </p:nvSpPr>
        <p:spPr>
          <a:xfrm>
            <a:off x="2647691" y="5102247"/>
            <a:ext cx="6782318" cy="81336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dagster as dg</a:t>
            </a:r>
          </a:p>
          <a:p>
            <a:pPr>
              <a:lnSpc>
                <a:spcPts val="1425"/>
              </a:lnSpc>
              <a:buNone/>
            </a:pPr>
            <a:endParaRPr lang="pt-B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trips(context: dg.AssetExecutionContext) -&gt; dg.MaterializeResult: ...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6310B6DC-E0D9-F9F8-FEC9-315C751EF697}"/>
              </a:ext>
            </a:extLst>
          </p:cNvPr>
          <p:cNvSpPr/>
          <p:nvPr/>
        </p:nvSpPr>
        <p:spPr>
          <a:xfrm>
            <a:off x="495299" y="2930242"/>
            <a:ext cx="342900" cy="2956207"/>
          </a:xfrm>
          <a:prstGeom prst="leftBrace">
            <a:avLst>
              <a:gd name="adj1" fmla="val 9166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0BDD3-29B2-8F1E-B858-81A83ACBF025}"/>
              </a:ext>
            </a:extLst>
          </p:cNvPr>
          <p:cNvSpPr txBox="1"/>
          <p:nvPr/>
        </p:nvSpPr>
        <p:spPr>
          <a:xfrm>
            <a:off x="990601" y="5915611"/>
            <a:ext cx="10534650" cy="3409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check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E6C3-CC87-8475-B91B-2CC88ABC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4CA5D-F732-5BCB-C9A8-CF64524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C73058-199B-0BAA-BFA7-A73EA36F2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AECC0-6E4B-75DA-F7A3-4C780C8AE473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understanding your first asset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30602-3315-064C-73EC-0224D01907C0}"/>
              </a:ext>
            </a:extLst>
          </p:cNvPr>
          <p:cNvSpPr txBox="1"/>
          <p:nvPr/>
        </p:nvSpPr>
        <p:spPr>
          <a:xfrm>
            <a:off x="5753619" y="3457297"/>
            <a:ext cx="507578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├──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ko-KR" altLang="en-US" sz="12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constants.py</a:t>
            </a:r>
            <a:endParaRPr lang="en-US" altLang="ko-KR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trips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F3D07-BB00-296C-DE7C-9F12C67BE96B}"/>
              </a:ext>
            </a:extLst>
          </p:cNvPr>
          <p:cNvSpPr txBox="1"/>
          <p:nvPr/>
        </p:nvSpPr>
        <p:spPr>
          <a:xfrm>
            <a:off x="561975" y="1390064"/>
            <a:ext cx="10267432" cy="206723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src/dagster_essentials/defs/assets/trips.py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dagster_essentials.defs.assets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constants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dg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taxi_trips_file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-&gt; None: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'2023-03'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requests.get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f"https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://d37ci6vzurychx.cloudfront.net/trip-data/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yellow_tripdata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}.parquet")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with open(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constants.TAXI_TRIPS_TEMPLATE_FILE_PATH.format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output_file.write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2A0B0-1D3A-0920-2774-4380D68D0911}"/>
              </a:ext>
            </a:extLst>
          </p:cNvPr>
          <p:cNvSpPr txBox="1"/>
          <p:nvPr/>
        </p:nvSpPr>
        <p:spPr>
          <a:xfrm>
            <a:off x="561975" y="3883786"/>
            <a:ext cx="4839825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아래 작동방식을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코드간의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관계로 이해하자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자산(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참고하고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파이프라인을 확인하고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데이터가 저장되는 방식과 경로를 이해한다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92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06A-6C49-88AD-C62D-C5F7A23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A1428-F923-8BAF-480F-95D6779D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FB6538-0210-26AF-0D95-81FAD616E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3FBD1-C95B-F68E-16D8-2532DBAFE8E8}"/>
              </a:ext>
            </a:extLst>
          </p:cNvPr>
          <p:cNvSpPr txBox="1"/>
          <p:nvPr/>
        </p:nvSpPr>
        <p:spPr>
          <a:xfrm>
            <a:off x="570895" y="1248422"/>
            <a:ext cx="963038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D:\prefect_ml&gt;dagster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scaffold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D:\prefect_ml&gt;cd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-e .[dev]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--upgrade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protobuf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D:\prefect_ml\my_dagster_project&gt;dagster-webserver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6D359-7AD5-E1D9-4B02-44809E2257ED}"/>
              </a:ext>
            </a:extLst>
          </p:cNvPr>
          <p:cNvSpPr txBox="1"/>
          <p:nvPr/>
        </p:nvSpPr>
        <p:spPr>
          <a:xfrm>
            <a:off x="1428750" y="2101840"/>
            <a:ext cx="92964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    📂 [최상위 프로젝트 폴더] - 프로젝트 전체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📂 [파이썬 패키지 폴더] - 실제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있는 폴더!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my_dagster_project_tests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📂 [테스트 폴더] - 작성한 코드가 잘 작동하는지 검사하는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pyproject.toml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📄 [설정 파일] - 라이브러리 설치 정보, 프로젝트 설정 관리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README.md                   📄 [설명서 파일] - 이 프로젝트가 무엇인지 적어두는 메모장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5AF8F-61C0-DCC1-8F9E-BA2DA83A22F1}"/>
              </a:ext>
            </a:extLst>
          </p:cNvPr>
          <p:cNvSpPr txBox="1"/>
          <p:nvPr/>
        </p:nvSpPr>
        <p:spPr>
          <a:xfrm>
            <a:off x="657224" y="6068240"/>
            <a:ext cx="555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동영상 https://www.youtube.com/watch?v=ZmUjf3gL1VU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394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CE3-2724-28A6-9699-5C4F247A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41EB2-FD8B-3629-F2DB-1ADCA17A1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Apache Airflow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976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AA46-FDE1-7FFE-7FA9-DF236D6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A62FEF-35EE-36C6-7706-FB2E35467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3801-4693-3C9E-328C-56B7463C64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F4898D9-988A-2F9B-9C63-0357DA2B64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62A705E5-F0F2-1BA0-A48C-1629D0154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C1C24-AFB2-E59D-AD58-0E106CBD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58" y="2007555"/>
            <a:ext cx="10467975" cy="416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0BA-9DB0-92E3-F5F8-F7556B141E78}"/>
              </a:ext>
            </a:extLst>
          </p:cNvPr>
          <p:cNvSpPr txBox="1"/>
          <p:nvPr/>
        </p:nvSpPr>
        <p:spPr>
          <a:xfrm>
            <a:off x="591620" y="1288330"/>
            <a:ext cx="309455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WSL2-docker_airflow.pptx</a:t>
            </a:r>
          </a:p>
        </p:txBody>
      </p:sp>
    </p:spTree>
    <p:extLst>
      <p:ext uri="{BB962C8B-B14F-4D97-AF65-F5344CB8AC3E}">
        <p14:creationId xmlns:p14="http://schemas.microsoft.com/office/powerpoint/2010/main" val="1127657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357808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6558" y="3636788"/>
            <a:ext cx="7948054" cy="29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718" y="1357808"/>
            <a:ext cx="4231564" cy="23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4A340BF-22FB-7DBB-F75C-9AF673DF8F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D44355-1EC3-F684-98BB-1F306B8FE2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353372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353372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302145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DAG(Directed Acyclic Graph)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302145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Negative Graph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490817" y="1296293"/>
            <a:ext cx="109677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is a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with no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and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70DC4F7-EA1D-D76D-9CD8-033374E511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63DA0E-969C-C3BC-8268-0BA9060D891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60" y="2388864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1035984" y="1577143"/>
            <a:ext cx="2232212" cy="6253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6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cxnSpLocks/>
            <a:stCxn id="477" idx="0"/>
            <a:endCxn id="475" idx="2"/>
          </p:cNvCxnSpPr>
          <p:nvPr/>
        </p:nvCxnSpPr>
        <p:spPr>
          <a:xfrm rot="5400000" flipH="1" flipV="1">
            <a:off x="354515" y="3999788"/>
            <a:ext cx="3594848" cy="302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761126" y="1520285"/>
            <a:ext cx="1610009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3259506" y="3409638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486525" y="1577143"/>
            <a:ext cx="2497615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641904" y="3253269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1035379" y="5797363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5208752" y="5784438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981365" y="5786169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97D237E-F690-C51E-315B-E8D8EA3F6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3962647-0DDC-DB8C-B470-D5A31F9A9C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785833" y="1911670"/>
            <a:ext cx="1407459" cy="5699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cxnSpLocks/>
            <a:stCxn id="494" idx="1"/>
            <a:endCxn id="492" idx="3"/>
          </p:cNvCxnSpPr>
          <p:nvPr/>
        </p:nvCxnSpPr>
        <p:spPr>
          <a:xfrm rot="10800000">
            <a:off x="2193292" y="2196625"/>
            <a:ext cx="2271132" cy="154614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8"/>
            <a:ext cx="2405341" cy="633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cxnSpLocks/>
            <a:stCxn id="495" idx="2"/>
            <a:endCxn id="497" idx="1"/>
          </p:cNvCxnSpPr>
          <p:nvPr/>
        </p:nvCxnSpPr>
        <p:spPr>
          <a:xfrm rot="16200000" flipH="1">
            <a:off x="5776190" y="4709425"/>
            <a:ext cx="316743" cy="1703446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829483" y="5769746"/>
            <a:ext cx="1703400" cy="663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cxnSpLocks/>
            <a:stCxn id="499" idx="3"/>
            <a:endCxn id="496" idx="1"/>
          </p:cNvCxnSpPr>
          <p:nvPr/>
        </p:nvCxnSpPr>
        <p:spPr>
          <a:xfrm flipV="1">
            <a:off x="2532883" y="4401727"/>
            <a:ext cx="1946138" cy="1699643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548A5392-A46D-CCAC-66AE-206054A575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B119AD6-555D-3BFD-57B9-7490756D64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FB85617-8D65-CFCC-4E60-C68C0F05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0CBC270-DE05-B744-01FB-A2D0B7430A8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C136962-B185-113F-7111-AD30BA2DF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EFFB77EC-771C-9693-5CD4-747A793DA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4B57-1518-C030-9A46-85E14429F4BC}"/>
              </a:ext>
            </a:extLst>
          </p:cNvPr>
          <p:cNvSpPr txBox="1"/>
          <p:nvPr/>
        </p:nvSpPr>
        <p:spPr>
          <a:xfrm>
            <a:off x="591620" y="1248422"/>
            <a:ext cx="7141699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 image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다운받아 설치하고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ancestor9/airflow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예제 파일을 다운받아 실행하라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815F84-D84F-A6FF-BCA5-F46BEFF02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576" y="2243155"/>
            <a:ext cx="5265730" cy="40574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5181995-1AEE-9814-0B77-F80417A12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70" y="2243155"/>
            <a:ext cx="5598144" cy="406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43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D114F1A3-7FD9-4CD7-D124-86B06693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9E044FE-C029-FAE9-2AF6-6D0F13A4353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A5FD614-7D19-4E06-70FE-4B216BC99C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D115681C-6C6E-519E-05DA-47177C1FB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2E183B-E179-35E6-6BB4-65CDCF595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49" y="1594600"/>
            <a:ext cx="9132176" cy="413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08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154D4F98-7B14-E45D-4E7C-1699C037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C1CEDB2-DDE5-3C76-20D9-7E9153D324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DF4F528-E47A-9EE0-29D3-FDF3C05BDA5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4F52D6A3-6476-4F2B-7D11-A877E2EBD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16828E-3DD2-CA13-6571-6A16A05F5B61}"/>
              </a:ext>
            </a:extLst>
          </p:cNvPr>
          <p:cNvSpPr txBox="1"/>
          <p:nvPr/>
        </p:nvSpPr>
        <p:spPr>
          <a:xfrm>
            <a:off x="591620" y="1193018"/>
            <a:ext cx="10589141" cy="79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</a:t>
            </a:r>
            <a:r>
              <a:rPr lang="en-US" altLang="ko-KR" sz="1600" b="0" i="0" dirty="0" err="1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compose.yaml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i="0" dirty="0" err="1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/, .env </a:t>
            </a:r>
            <a:r>
              <a:rPr lang="ko-KR" altLang="en-US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등의 파일 구조가 준비하고 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 compose up –d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명령어로 파일에 정의된 모든 컨테이너를 백그라운드에서 일괄 실행한 후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airflow server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링크를 클릭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6D0859F-BDD4-E2D2-6CDD-28257E92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03" y="2107418"/>
            <a:ext cx="11086693" cy="408383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E516C0-43BC-466E-4538-E3B3E28C8B05}"/>
              </a:ext>
            </a:extLst>
          </p:cNvPr>
          <p:cNvSpPr/>
          <p:nvPr/>
        </p:nvSpPr>
        <p:spPr>
          <a:xfrm>
            <a:off x="475645" y="2107418"/>
            <a:ext cx="6029930" cy="212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6B7FEE-CBBA-0534-DD97-9720F78F18CE}"/>
              </a:ext>
            </a:extLst>
          </p:cNvPr>
          <p:cNvSpPr/>
          <p:nvPr/>
        </p:nvSpPr>
        <p:spPr>
          <a:xfrm>
            <a:off x="475645" y="2459843"/>
            <a:ext cx="6029930" cy="235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B32D64-AAB8-203A-C304-B8754BC781B9}"/>
              </a:ext>
            </a:extLst>
          </p:cNvPr>
          <p:cNvSpPr/>
          <p:nvPr/>
        </p:nvSpPr>
        <p:spPr>
          <a:xfrm>
            <a:off x="504220" y="5298293"/>
            <a:ext cx="6029930" cy="235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생각 풍선: 구름 모양 19">
            <a:extLst>
              <a:ext uri="{FF2B5EF4-FFF2-40B4-BE49-F238E27FC236}">
                <a16:creationId xmlns:a16="http://schemas.microsoft.com/office/drawing/2014/main" id="{647A63BC-8C72-0831-6324-0669FA2AFF6A}"/>
              </a:ext>
            </a:extLst>
          </p:cNvPr>
          <p:cNvSpPr/>
          <p:nvPr/>
        </p:nvSpPr>
        <p:spPr>
          <a:xfrm>
            <a:off x="7534358" y="5120884"/>
            <a:ext cx="1419225" cy="590550"/>
          </a:xfrm>
          <a:prstGeom prst="cloudCallout">
            <a:avLst>
              <a:gd name="adj1" fmla="val -74524"/>
              <a:gd name="adj2" fmla="val 754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813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3F618E1-4F42-80A6-1C43-613C974B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750F871-E723-18FB-61DF-9DE2A5EC5D2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FD51FD-E59B-5472-8E40-329270F7A55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F2965D79-986D-DFFB-FBB2-905FEA6E2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5948A1-EB88-635F-C2C6-8D2A89B90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60" y="1538974"/>
            <a:ext cx="5624044" cy="45284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9F0DAC-3989-692C-83E2-04F76A8BA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278" y="2520057"/>
            <a:ext cx="8046068" cy="385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45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E964CBAA-72ED-007A-155F-49094084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277B65B-1CF0-22C3-FF2D-D61A804510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8C7AA76-A636-A5CF-0346-1535A6F44F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24239A88-B369-8444-AADB-DDDDE9AF4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4F7410-0379-EB03-22E6-5DFDB8AF8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34" y="1472285"/>
            <a:ext cx="9262616" cy="511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18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95BBF43E-1B19-9A93-5E6D-DF41955A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5BC41C0-6B51-E378-A47A-3DEDAC11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24D8B585-267A-CEBC-6214-D42CE17A098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C2D7C29-1AA7-6D74-928B-8EE3FF27E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7324B4-47D7-C4AC-DE61-859A0EDFA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381388"/>
            <a:ext cx="9028297" cy="49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30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DE21-E505-C1BC-020F-15F0693F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105A43B-D945-00FC-4E07-D8B0D5EF99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2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 Image/Container (Airflow, Postgres)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BCE2E1-3665-D51D-F366-54071BACE0A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56C96C-3FA4-0B41-2431-29B299CD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63" y="1723519"/>
            <a:ext cx="10087691" cy="43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17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605E-6277-4C67-7D7C-D6037807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942688-0022-E798-E35E-F0B577C3CB1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2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 Image/Container (Airflow, Postgres)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7B52889-76C0-0641-94B5-8B30842B37E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FA91F-CA26-E73E-4134-6F493B54A6A2}"/>
              </a:ext>
            </a:extLst>
          </p:cNvPr>
          <p:cNvSpPr txBox="1"/>
          <p:nvPr/>
        </p:nvSpPr>
        <p:spPr>
          <a:xfrm>
            <a:off x="1847013" y="1848219"/>
            <a:ext cx="8590078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[1단계: 환경 정의]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docker-compose.yaml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PostgreSQL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서비스 구성)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[2단계: 서비스 실행 및 초기화]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up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endParaRPr lang="ko-KR" altLang="ko-KR" sz="14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PostgreSQL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컨테이너 띄우기 (DB 생성 및 헬스체크)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컨테이너 띄우기 (DB 연결 설정 적용)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[3단계: 외부 포트 연결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Forwarding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웹 접속 : Host localhost:8080 ─&gt;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Container :8080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DB 접속 : Host localhost:5432 ─&gt;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Container :5432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[4단계: 데이터 및 서비스 통신]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Web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UI (8080) 접속을 통해 DAG 관리 및 스케줄링 수행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DB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DBeaver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등)로 5432 포트연결 메타데이터 직접 조회</a:t>
            </a:r>
            <a:endParaRPr lang="ko-KR" altLang="ko-KR" sz="11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37250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9934</TotalTime>
  <Words>2593</Words>
  <Application>Microsoft Office PowerPoint</Application>
  <PresentationFormat>와이드스크린</PresentationFormat>
  <Paragraphs>508</Paragraphs>
  <Slides>45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D2Coding</vt:lpstr>
      <vt:lpstr>MS Gothic</vt:lpstr>
      <vt:lpstr>Sorts Mill Goudy</vt:lpstr>
      <vt:lpstr>맑은 고딕</vt:lpstr>
      <vt:lpstr>Batang</vt:lpstr>
      <vt:lpstr>Arial</vt:lpstr>
      <vt:lpstr>Lora</vt:lpstr>
      <vt:lpstr>Segoe UI Emoji</vt:lpstr>
      <vt:lpstr>Wingdings</vt:lpstr>
      <vt:lpstr>WelcomeDoc</vt:lpstr>
      <vt:lpstr>What is AI Workflow?  </vt:lpstr>
      <vt:lpstr>PowerPoint 프레젠테이션</vt:lpstr>
      <vt:lpstr>Automation</vt:lpstr>
      <vt:lpstr>PowerPoint 프레젠테이션</vt:lpstr>
      <vt:lpstr>PowerPoint 프레젠테이션</vt:lpstr>
      <vt:lpstr>Workflow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Workflow Orchestration Framework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Apache Airflow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188</cp:revision>
  <dcterms:created xsi:type="dcterms:W3CDTF">2026-04-06T01:00:39Z</dcterms:created>
  <dcterms:modified xsi:type="dcterms:W3CDTF">2026-09-21T05:23:02Z</dcterms:modified>
  <cp:version/>
</cp:coreProperties>
</file>