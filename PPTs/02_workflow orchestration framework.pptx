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8"/>
  </p:notesMasterIdLst>
  <p:handoutMasterIdLst>
    <p:handoutMasterId r:id="rId39"/>
  </p:handoutMasterIdLst>
  <p:sldIdLst>
    <p:sldId id="1151" r:id="rId2"/>
    <p:sldId id="1149" r:id="rId3"/>
    <p:sldId id="1159" r:id="rId4"/>
    <p:sldId id="1160" r:id="rId5"/>
    <p:sldId id="1162" r:id="rId6"/>
    <p:sldId id="1163" r:id="rId7"/>
    <p:sldId id="1183" r:id="rId8"/>
    <p:sldId id="1182" r:id="rId9"/>
    <p:sldId id="1181" r:id="rId10"/>
    <p:sldId id="1164" r:id="rId11"/>
    <p:sldId id="1167" r:id="rId12"/>
    <p:sldId id="1168" r:id="rId13"/>
    <p:sldId id="1169" r:id="rId14"/>
    <p:sldId id="1179" r:id="rId15"/>
    <p:sldId id="1165" r:id="rId16"/>
    <p:sldId id="1285" r:id="rId17"/>
    <p:sldId id="1293" r:id="rId18"/>
    <p:sldId id="285" r:id="rId19"/>
    <p:sldId id="286" r:id="rId20"/>
    <p:sldId id="287" r:id="rId21"/>
    <p:sldId id="288" r:id="rId22"/>
    <p:sldId id="1308" r:id="rId23"/>
    <p:sldId id="1309" r:id="rId24"/>
    <p:sldId id="1310" r:id="rId25"/>
    <p:sldId id="1311" r:id="rId26"/>
    <p:sldId id="1312" r:id="rId27"/>
    <p:sldId id="1313" r:id="rId28"/>
    <p:sldId id="1335" r:id="rId29"/>
    <p:sldId id="1338" r:id="rId30"/>
    <p:sldId id="1314" r:id="rId31"/>
    <p:sldId id="1340" r:id="rId32"/>
    <p:sldId id="1170" r:id="rId33"/>
    <p:sldId id="1315" r:id="rId34"/>
    <p:sldId id="1316" r:id="rId35"/>
    <p:sldId id="1255" r:id="rId36"/>
    <p:sldId id="1339" r:id="rId37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/>
        </p14:section>
        <p14:section name="디자인, 모핑, 주석 달기, 공동 작업, 입력하세요" id="{B9B51309-D148-4332-87C2-07BE32FBCA3B}">
          <p14:sldIdLst>
            <p14:sldId id="1151"/>
            <p14:sldId id="1149"/>
            <p14:sldId id="1159"/>
            <p14:sldId id="1160"/>
            <p14:sldId id="1162"/>
            <p14:sldId id="1163"/>
            <p14:sldId id="1183"/>
            <p14:sldId id="1182"/>
            <p14:sldId id="1181"/>
            <p14:sldId id="1164"/>
            <p14:sldId id="1167"/>
            <p14:sldId id="1168"/>
            <p14:sldId id="1169"/>
            <p14:sldId id="1179"/>
            <p14:sldId id="1165"/>
            <p14:sldId id="1285"/>
            <p14:sldId id="1293"/>
            <p14:sldId id="285"/>
            <p14:sldId id="286"/>
            <p14:sldId id="287"/>
            <p14:sldId id="288"/>
            <p14:sldId id="1308"/>
            <p14:sldId id="1309"/>
            <p14:sldId id="1310"/>
            <p14:sldId id="1311"/>
            <p14:sldId id="1312"/>
            <p14:sldId id="1313"/>
            <p14:sldId id="1335"/>
            <p14:sldId id="1338"/>
            <p14:sldId id="1314"/>
            <p14:sldId id="1340"/>
            <p14:sldId id="1170"/>
            <p14:sldId id="1315"/>
            <p14:sldId id="1316"/>
            <p14:sldId id="1255"/>
            <p14:sldId id="1339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404040"/>
    <a:srgbClr val="D24726"/>
    <a:srgbClr val="FF9B45"/>
    <a:srgbClr val="DD462F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104" d="100"/>
          <a:sy n="104" d="100"/>
        </p:scale>
        <p:origin x="98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5586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2026-09-09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2026-09-09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C9BBB-4A23-E21A-8244-9A166645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42B148-30DF-9C89-8EB1-0DAC5F084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39DC16-78A6-4EE7-0852-436C58036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CEE036-ABA4-0BFC-663A-BDFAA104B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4394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3B6E5-5A67-5099-D476-B03922D9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87EBFA-07FF-2CF5-D9F4-9A364D0C3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193E0D-39C1-11C4-B5FB-5BECF9544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372E67-EB21-80A2-230A-54A0F018F6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0906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217E1063-B697-0F5B-6173-A8ACC414E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D5B1C958-1384-535D-9203-77314D3CE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22B0AD07-79B3-6CBE-0FF4-24D414AC3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315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4CAB5A7B-700F-B433-0E98-AADF106B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A2AFB00C-00B1-387E-CC96-BD3F1F6AC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DCB5368B-F389-8446-C46B-CFFD8F5C13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8727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8B97D6B2-16C7-406E-ABED-027739F2A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EF577B07-8C8C-3661-469F-5CBBE8E516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2AB737DC-C48A-55DB-8CDB-5F90832FB9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4734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C4819A67-6B86-CF50-18EB-93960BF43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F5F74DDA-FA23-C3AD-5F23-D990A6BFF4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0470BAC9-588C-DE39-C6B8-87735A2DB2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5341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85508E92-FDC4-8C11-6735-4C3FAF7C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FFE4F60F-4BE1-4590-77AF-115104F25E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68BFBA0A-73FB-0411-3169-741B53035C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2555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3ED5C58F-EB24-338D-F4BC-4E53F9C01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DCB17C4D-369D-B0D1-DE7E-4542430B0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30E0A8C1-442D-2C40-24ED-1E19160797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9466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0A5D-1ADD-3EC0-7D34-B8642E2A7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C16BE7-6AAF-0944-7C9A-1B6040B81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ED179B-CBDD-E9FC-C26B-66000AB08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40047-BA13-502C-17B4-7190E3AEB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2812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1CF54406-D1D4-1B90-D6CA-029A35BD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6F9FE9AF-0439-2FA1-D31B-B8EC5A2FA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D8EE195D-DD64-EF7C-D5A1-BB675BFF9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3110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4D713CEB-9DC0-D65F-28F8-0C2D60836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>
            <a:extLst>
              <a:ext uri="{FF2B5EF4-FFF2-40B4-BE49-F238E27FC236}">
                <a16:creationId xmlns:a16="http://schemas.microsoft.com/office/drawing/2014/main" id="{21623570-21F3-0416-C31C-FC7621C236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>
            <a:extLst>
              <a:ext uri="{FF2B5EF4-FFF2-40B4-BE49-F238E27FC236}">
                <a16:creationId xmlns:a16="http://schemas.microsoft.com/office/drawing/2014/main" id="{AE6504AE-C2C1-2FE9-138D-8CF6B3186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6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2026-09-09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2026-09-09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abletech.oopy.io/07ebb564-0f7b-47d4-99d1-0081ab5ae610#771a0e5e-ec16-4de7-a734-13ca4b70acda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abletech.oopy.io/07ebb564-0f7b-47d4-99d1-0081ab5ae610#771a0e5e-ec16-4de7-a734-13ca4b70acda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cestor9/airflow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N01188cENo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KqDq4TFbmY&amp;t=112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dagster.io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mUjf3gL1VU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Vertex_(graph_theory)" TargetMode="External"/><Relationship Id="rId3" Type="http://schemas.openxmlformats.org/officeDocument/2006/relationships/image" Target="../media/image13.png"/><Relationship Id="rId7" Type="http://schemas.openxmlformats.org/officeDocument/2006/relationships/hyperlink" Target="https://en.wikipedia.org/wiki/Cycle_graph#Directed_cycle_graph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en.wikipedia.org/wiki/Directed_graph" TargetMode="External"/><Relationship Id="rId5" Type="http://schemas.openxmlformats.org/officeDocument/2006/relationships/hyperlink" Target="https://steemit.com/dag/@cryptodreamers/dag-dag-directed-acyclic-graph" TargetMode="External"/><Relationship Id="rId4" Type="http://schemas.openxmlformats.org/officeDocument/2006/relationships/image" Target="../media/image14.png"/><Relationship Id="rId9" Type="http://schemas.openxmlformats.org/officeDocument/2006/relationships/hyperlink" Target="https://en.wikipedia.org/wiki/Edge_(graph_theory)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hyperlink" Target="https://github.com/ancestor9/airflow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19595-A7A2-8D11-697D-CA319DF3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18F6A-7E6A-AD19-2830-0E0A1F926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Workflow Orchestration Framework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0292716D-C476-8D34-55FE-086386A1F740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>
                <a:solidFill>
                  <a:schemeClr val="bg1"/>
                </a:solidFill>
              </a:rPr>
              <a:t>조상구 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856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806B-3677-1D38-9F7D-896DBF02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B71861-A105-753E-F5E8-C57C8BA9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059EA3-E600-8D96-DF93-F92E75733D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B32EC-3117-37D9-7774-7F4DAE2BF2FA}"/>
              </a:ext>
            </a:extLst>
          </p:cNvPr>
          <p:cNvSpPr txBox="1"/>
          <p:nvPr/>
        </p:nvSpPr>
        <p:spPr>
          <a:xfrm>
            <a:off x="577530" y="1248422"/>
            <a:ext cx="11233469" cy="3682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Automation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Prefect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Apache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Airflow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</a:p>
        </p:txBody>
      </p:sp>
    </p:spTree>
    <p:extLst>
      <p:ext uri="{BB962C8B-B14F-4D97-AF65-F5344CB8AC3E}">
        <p14:creationId xmlns:p14="http://schemas.microsoft.com/office/powerpoint/2010/main" val="163386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6BD37-4EA5-A647-F3B5-81ABF1BE2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E70747-3937-3211-79F3-EE4B0352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5AC9A7F-FBA1-C39E-C108-C08FD957F36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Prefect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748BBF-4DF5-7909-3102-CD71F9819A79}"/>
              </a:ext>
            </a:extLst>
          </p:cNvPr>
          <p:cNvSpPr txBox="1"/>
          <p:nvPr/>
        </p:nvSpPr>
        <p:spPr>
          <a:xfrm>
            <a:off x="558800" y="1248422"/>
            <a:ext cx="11074400" cy="444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데이터 파이프라인을 구축하기 위한 워크플로우 오케스트레이션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 관리 및 자동화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프레임워크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일반 스크립트를 프로덕션 레벨의 워크플로우로 승격시키는 가장 간단한 방법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주변 환경에 반응하고 예기치 않은 변경 사항으로부터 스스로 복구되는 회복탄력성 있고 동적인 데이터 파이프라인을 구축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 몇 줄의 코드만으로 스케줄링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캐싱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재시도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(retries),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이벤트 기반 자동화 등의 기능을 활용하여 비즈니스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&amp;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 프로세스를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자동화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워크플로우의 모든 활동은 추적되며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자체적으로 호스팅하는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Prefect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서버 인스턴스나 클라우드로 관리되는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Prefect Cloud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대시보드를 통해 모니터링할 수 있음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7566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9E17-42C6-41A6-6506-A8DE518CF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088A117-A1DF-2BD0-DEA3-A64D94BBC531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707432" y="3941605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5AB654-7C89-C306-C0E2-3091189B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1858D23-A354-2BAE-FC48-75ADE8D5A37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Prefect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26099-4C5D-159B-AAC7-F65373B22019}"/>
              </a:ext>
            </a:extLst>
          </p:cNvPr>
          <p:cNvSpPr txBox="1"/>
          <p:nvPr/>
        </p:nvSpPr>
        <p:spPr>
          <a:xfrm>
            <a:off x="711525" y="5609578"/>
            <a:ext cx="2907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Prefect_ML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pipeline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F5CB6A8-21F5-EA9E-2407-F9FCDDFC4326}"/>
              </a:ext>
            </a:extLst>
          </p:cNvPr>
          <p:cNvSpPr/>
          <p:nvPr/>
        </p:nvSpPr>
        <p:spPr>
          <a:xfrm>
            <a:off x="1259632" y="3446305"/>
            <a:ext cx="14478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5CB2D8-B84A-CD9C-D862-9B8F3DBFE225}"/>
              </a:ext>
            </a:extLst>
          </p:cNvPr>
          <p:cNvSpPr/>
          <p:nvPr/>
        </p:nvSpPr>
        <p:spPr>
          <a:xfrm>
            <a:off x="4016768" y="3446305"/>
            <a:ext cx="14478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DF68F8-75A6-DEB8-5534-8689CA22D520}"/>
              </a:ext>
            </a:extLst>
          </p:cNvPr>
          <p:cNvSpPr txBox="1"/>
          <p:nvPr/>
        </p:nvSpPr>
        <p:spPr>
          <a:xfrm>
            <a:off x="1049034" y="4521964"/>
            <a:ext cx="2143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download_dataset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B68BB4-664E-1378-D2FA-927345C06704}"/>
              </a:ext>
            </a:extLst>
          </p:cNvPr>
          <p:cNvSpPr txBox="1"/>
          <p:nvPr/>
        </p:nvSpPr>
        <p:spPr>
          <a:xfrm>
            <a:off x="6360522" y="4521964"/>
            <a:ext cx="2266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preprocess_dataset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C5170F-3C08-8C57-D5BF-1DE328ACE712}"/>
              </a:ext>
            </a:extLst>
          </p:cNvPr>
          <p:cNvSpPr txBox="1"/>
          <p:nvPr/>
        </p:nvSpPr>
        <p:spPr>
          <a:xfrm>
            <a:off x="4052440" y="4521964"/>
            <a:ext cx="1447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2F8072-EF5F-116B-4B39-98401B1A18D9}"/>
              </a:ext>
            </a:extLst>
          </p:cNvPr>
          <p:cNvSpPr txBox="1"/>
          <p:nvPr/>
        </p:nvSpPr>
        <p:spPr>
          <a:xfrm>
            <a:off x="9486870" y="4521964"/>
            <a:ext cx="1810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evaluate_model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B3147C0-BA98-BBCC-70DB-4442A4729D14}"/>
              </a:ext>
            </a:extLst>
          </p:cNvPr>
          <p:cNvSpPr/>
          <p:nvPr/>
        </p:nvSpPr>
        <p:spPr>
          <a:xfrm>
            <a:off x="6773904" y="3446305"/>
            <a:ext cx="1447800" cy="990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73285B-E7AA-48B6-D3AE-7C0090E6A78C}"/>
              </a:ext>
            </a:extLst>
          </p:cNvPr>
          <p:cNvSpPr/>
          <p:nvPr/>
        </p:nvSpPr>
        <p:spPr>
          <a:xfrm>
            <a:off x="9531040" y="3446305"/>
            <a:ext cx="1447800" cy="990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BB8A90-1282-B7B4-9A84-5949ABAA0E8C}"/>
              </a:ext>
            </a:extLst>
          </p:cNvPr>
          <p:cNvSpPr txBox="1"/>
          <p:nvPr/>
        </p:nvSpPr>
        <p:spPr>
          <a:xfrm>
            <a:off x="618607" y="3953949"/>
            <a:ext cx="641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begin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91BCFB-32EB-75CF-E045-8D93DAC65AA7}"/>
              </a:ext>
            </a:extLst>
          </p:cNvPr>
          <p:cNvSpPr txBox="1"/>
          <p:nvPr/>
        </p:nvSpPr>
        <p:spPr>
          <a:xfrm>
            <a:off x="2707432" y="3953949"/>
            <a:ext cx="519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end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C19E40-7822-E796-BD88-A986A1D6B176}"/>
              </a:ext>
            </a:extLst>
          </p:cNvPr>
          <p:cNvSpPr txBox="1"/>
          <p:nvPr/>
        </p:nvSpPr>
        <p:spPr>
          <a:xfrm>
            <a:off x="619125" y="1285875"/>
            <a:ext cx="10944225" cy="871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데이터확보</a:t>
            </a:r>
            <a:r>
              <a:rPr lang="en-US" altLang="ko-KR" dirty="0"/>
              <a:t>, </a:t>
            </a:r>
            <a:r>
              <a:rPr lang="ko-KR" altLang="en-US" dirty="0" err="1"/>
              <a:t>전처리</a:t>
            </a:r>
            <a:r>
              <a:rPr lang="en-US" altLang="ko-KR" dirty="0"/>
              <a:t>, </a:t>
            </a:r>
            <a:r>
              <a:rPr lang="ko-KR" altLang="en-US" dirty="0"/>
              <a:t>훈련</a:t>
            </a:r>
            <a:r>
              <a:rPr lang="en-US" altLang="ko-KR" dirty="0"/>
              <a:t>, </a:t>
            </a:r>
            <a:r>
              <a:rPr lang="ko-KR" altLang="en-US" dirty="0"/>
              <a:t>평가 등의 </a:t>
            </a:r>
            <a:r>
              <a:rPr lang="en-US" altLang="ko-KR" dirty="0"/>
              <a:t>pipeline</a:t>
            </a:r>
            <a:r>
              <a:rPr lang="ko-KR" altLang="en-US" dirty="0"/>
              <a:t>으로 구성된 일련의 순차적 </a:t>
            </a:r>
            <a:r>
              <a:rPr lang="en-US" altLang="ko-KR" dirty="0"/>
              <a:t>ML </a:t>
            </a:r>
            <a:r>
              <a:rPr lang="ko-KR" altLang="en-US" dirty="0"/>
              <a:t>연구절차는 </a:t>
            </a:r>
            <a:r>
              <a:rPr lang="en-US" altLang="ko-KR" dirty="0"/>
              <a:t>workflow </a:t>
            </a:r>
            <a:r>
              <a:rPr lang="ko-KR" altLang="en-US" dirty="0"/>
              <a:t>로 이해하고 각 단계별로 함수를 구성하여 </a:t>
            </a:r>
            <a:r>
              <a:rPr lang="en-US" altLang="ko-KR" dirty="0"/>
              <a:t>Python</a:t>
            </a:r>
            <a:r>
              <a:rPr lang="ko-KR" altLang="en-US" dirty="0"/>
              <a:t>의 사용자정의함수로 구성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9CF657A-1A7C-5FB7-B2B2-296851B037CD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8221704" y="3941605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8154845-685B-60D3-9C71-920A3FB7AEC9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5464568" y="3941605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B32C05C-0472-2E4A-5431-8268F31C2071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0978840" y="3941605"/>
            <a:ext cx="6567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3A48C5B-518A-A23D-2B92-9DC1235B6A55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556371" y="3941605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708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3A399-218B-55A4-4CC7-6697E688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ACB1585-BF90-CE13-4D94-37D610F8FE61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707432" y="4446430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016779-27E3-80B8-553E-EB3AF0618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6D70E3D-7896-D295-96AB-8B3A5F81F85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Prefect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A61D9-E136-2B70-15EA-A6F9A21E38AA}"/>
              </a:ext>
            </a:extLst>
          </p:cNvPr>
          <p:cNvSpPr txBox="1"/>
          <p:nvPr/>
        </p:nvSpPr>
        <p:spPr>
          <a:xfrm>
            <a:off x="711525" y="5609578"/>
            <a:ext cx="2907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Prefect_ML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pipeline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24CABF-50F0-C047-55ED-63A8A8676B12}"/>
              </a:ext>
            </a:extLst>
          </p:cNvPr>
          <p:cNvSpPr/>
          <p:nvPr/>
        </p:nvSpPr>
        <p:spPr>
          <a:xfrm>
            <a:off x="1259632" y="3951130"/>
            <a:ext cx="14478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DF8CB1-BB43-CF70-A514-0910AD7F2F48}"/>
              </a:ext>
            </a:extLst>
          </p:cNvPr>
          <p:cNvSpPr/>
          <p:nvPr/>
        </p:nvSpPr>
        <p:spPr>
          <a:xfrm>
            <a:off x="4016768" y="3951130"/>
            <a:ext cx="14478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608E54C-A40D-32E5-F214-132EBA09A7C4}"/>
              </a:ext>
            </a:extLst>
          </p:cNvPr>
          <p:cNvSpPr/>
          <p:nvPr/>
        </p:nvSpPr>
        <p:spPr>
          <a:xfrm>
            <a:off x="6773904" y="3951130"/>
            <a:ext cx="1447800" cy="990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775689F-BEE5-DD23-0D2D-871BACCEE770}"/>
              </a:ext>
            </a:extLst>
          </p:cNvPr>
          <p:cNvSpPr/>
          <p:nvPr/>
        </p:nvSpPr>
        <p:spPr>
          <a:xfrm>
            <a:off x="9531040" y="3951130"/>
            <a:ext cx="1447800" cy="990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EA681-06A1-836E-0294-E4D75DB4B938}"/>
              </a:ext>
            </a:extLst>
          </p:cNvPr>
          <p:cNvSpPr txBox="1"/>
          <p:nvPr/>
        </p:nvSpPr>
        <p:spPr>
          <a:xfrm>
            <a:off x="619125" y="1285875"/>
            <a:ext cx="10944225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Prefect</a:t>
            </a:r>
            <a:r>
              <a:rPr lang="ko-KR" altLang="en-US" dirty="0"/>
              <a:t>의 </a:t>
            </a:r>
            <a:r>
              <a:rPr lang="en-US" altLang="ko-KR" dirty="0"/>
              <a:t>@task</a:t>
            </a:r>
            <a:r>
              <a:rPr lang="ko-KR" altLang="en-US" dirty="0"/>
              <a:t>와 </a:t>
            </a:r>
            <a:r>
              <a:rPr lang="en-US" altLang="ko-KR" dirty="0"/>
              <a:t>@flow “Decorator”</a:t>
            </a:r>
            <a:r>
              <a:rPr lang="ko-KR" altLang="en-US" dirty="0"/>
              <a:t> 로 구성하여</a:t>
            </a:r>
            <a:r>
              <a:rPr lang="en-US" altLang="ko-KR" dirty="0"/>
              <a:t> Prefect Server</a:t>
            </a:r>
            <a:r>
              <a:rPr lang="ko-KR" altLang="en-US" dirty="0"/>
              <a:t>와 </a:t>
            </a:r>
            <a:r>
              <a:rPr lang="en-US" altLang="ko-KR" dirty="0"/>
              <a:t>Agent</a:t>
            </a:r>
            <a:r>
              <a:rPr lang="ko-KR" altLang="en-US" dirty="0"/>
              <a:t>를 사용하지 않고 </a:t>
            </a:r>
            <a:r>
              <a:rPr lang="en-US" altLang="ko-KR" dirty="0"/>
              <a:t>Prefect</a:t>
            </a:r>
            <a:r>
              <a:rPr lang="ko-KR" altLang="en-US" dirty="0"/>
              <a:t>에서 직접 </a:t>
            </a:r>
            <a:r>
              <a:rPr lang="en-US" altLang="ko-KR" dirty="0"/>
              <a:t>Flow</a:t>
            </a:r>
            <a:r>
              <a:rPr lang="ko-KR" altLang="en-US" dirty="0"/>
              <a:t>를 실행</a:t>
            </a:r>
            <a:r>
              <a:rPr lang="en-US" altLang="ko-KR" dirty="0"/>
              <a:t>ML pipeline</a:t>
            </a:r>
            <a:r>
              <a:rPr lang="ko-KR" altLang="en-US" dirty="0"/>
              <a:t>을 완성</a:t>
            </a:r>
            <a:r>
              <a:rPr lang="en-US" altLang="ko-KR" dirty="0"/>
              <a:t>(</a:t>
            </a:r>
            <a:r>
              <a:rPr lang="en-US" altLang="ko-KR" dirty="0" err="1"/>
              <a:t>FastAPI</a:t>
            </a:r>
            <a:r>
              <a:rPr lang="en-US" altLang="ko-KR" dirty="0"/>
              <a:t> Decorator</a:t>
            </a:r>
            <a:r>
              <a:rPr lang="ko-KR" altLang="en-US" dirty="0"/>
              <a:t> 작동과 </a:t>
            </a:r>
            <a:r>
              <a:rPr lang="ko-KR" altLang="en-US" dirty="0" err="1"/>
              <a:t>비슷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E40F9E9-EFF1-2B29-88B1-6BB4DFB71321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8221704" y="4446430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9C8B627-A7DD-5CBD-B9FB-AD31A3C504A7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5464568" y="4446430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D7E671C-4E06-FE8A-03BB-B208995E811C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0978840" y="4446430"/>
            <a:ext cx="6567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7AC483B-1D59-316A-911F-CF7957EF7DE2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556371" y="4446430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D95266-D533-5E46-C575-97F9417B9907}"/>
              </a:ext>
            </a:extLst>
          </p:cNvPr>
          <p:cNvSpPr txBox="1"/>
          <p:nvPr/>
        </p:nvSpPr>
        <p:spPr>
          <a:xfrm>
            <a:off x="1174912" y="3686774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E0C659-D6DA-C109-D4C0-B49EFC4EE5E3}"/>
              </a:ext>
            </a:extLst>
          </p:cNvPr>
          <p:cNvSpPr txBox="1"/>
          <p:nvPr/>
        </p:nvSpPr>
        <p:spPr>
          <a:xfrm>
            <a:off x="9475786" y="3686774"/>
            <a:ext cx="763589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5845C0-212C-8FFB-A8BE-B4B40055DF1B}"/>
              </a:ext>
            </a:extLst>
          </p:cNvPr>
          <p:cNvSpPr txBox="1"/>
          <p:nvPr/>
        </p:nvSpPr>
        <p:spPr>
          <a:xfrm>
            <a:off x="6708828" y="3686774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DF2E88-6966-40B6-E443-5A63069FCBBA}"/>
              </a:ext>
            </a:extLst>
          </p:cNvPr>
          <p:cNvSpPr txBox="1"/>
          <p:nvPr/>
        </p:nvSpPr>
        <p:spPr>
          <a:xfrm>
            <a:off x="3941870" y="3686774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4F145A-8E34-EA1F-F713-B4D119F7594C}"/>
              </a:ext>
            </a:extLst>
          </p:cNvPr>
          <p:cNvSpPr txBox="1"/>
          <p:nvPr/>
        </p:nvSpPr>
        <p:spPr>
          <a:xfrm>
            <a:off x="5128651" y="2701771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@flow</a:t>
            </a: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B824AD1B-349B-D2B8-5958-7A1890A96E46}"/>
              </a:ext>
            </a:extLst>
          </p:cNvPr>
          <p:cNvCxnSpPr>
            <a:cxnSpLocks/>
            <a:stCxn id="9" idx="0"/>
            <a:endCxn id="26" idx="1"/>
          </p:cNvCxnSpPr>
          <p:nvPr/>
        </p:nvCxnSpPr>
        <p:spPr>
          <a:xfrm rot="5400000" flipH="1" flipV="1">
            <a:off x="2997705" y="1555828"/>
            <a:ext cx="827267" cy="343462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E8BCFFAC-D694-127B-405C-A72DB627214E}"/>
              </a:ext>
            </a:extLst>
          </p:cNvPr>
          <p:cNvCxnSpPr>
            <a:cxnSpLocks/>
            <a:stCxn id="26" idx="3"/>
            <a:endCxn id="14" idx="0"/>
          </p:cNvCxnSpPr>
          <p:nvPr/>
        </p:nvCxnSpPr>
        <p:spPr>
          <a:xfrm>
            <a:off x="6166876" y="2859507"/>
            <a:ext cx="3690705" cy="82726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B4A1519-62CA-A54D-5C8E-E72CE3933A04}"/>
              </a:ext>
            </a:extLst>
          </p:cNvPr>
          <p:cNvSpPr txBox="1"/>
          <p:nvPr/>
        </p:nvSpPr>
        <p:spPr>
          <a:xfrm>
            <a:off x="1049034" y="5026789"/>
            <a:ext cx="2143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download_dataset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CEFDA9-CE73-FFC8-5749-21824F3F5BE6}"/>
              </a:ext>
            </a:extLst>
          </p:cNvPr>
          <p:cNvSpPr txBox="1"/>
          <p:nvPr/>
        </p:nvSpPr>
        <p:spPr>
          <a:xfrm>
            <a:off x="6360522" y="5026789"/>
            <a:ext cx="2266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preprocess_dataset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90DF27-E13E-3B0E-4F1A-875B1E8586AC}"/>
              </a:ext>
            </a:extLst>
          </p:cNvPr>
          <p:cNvSpPr txBox="1"/>
          <p:nvPr/>
        </p:nvSpPr>
        <p:spPr>
          <a:xfrm>
            <a:off x="4052440" y="5026789"/>
            <a:ext cx="1447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EC700A-DECB-9AE9-3718-CCE4F8ADD472}"/>
              </a:ext>
            </a:extLst>
          </p:cNvPr>
          <p:cNvSpPr txBox="1"/>
          <p:nvPr/>
        </p:nvSpPr>
        <p:spPr>
          <a:xfrm>
            <a:off x="9486870" y="5026789"/>
            <a:ext cx="1810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evaluate_model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1283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6" grpId="0"/>
      <p:bldP spid="20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A2B2-7D04-6C1C-BE95-F64D111B9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78601AB-7D74-4FA3-03B7-C229B10055B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Airflow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59334-4596-C95D-FF73-4829C6222595}"/>
              </a:ext>
            </a:extLst>
          </p:cNvPr>
          <p:cNvSpPr txBox="1"/>
          <p:nvPr/>
        </p:nvSpPr>
        <p:spPr>
          <a:xfrm>
            <a:off x="7715251" y="718636"/>
            <a:ext cx="3924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i="0" dirty="0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Asset Based Orchestration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3D300B-80C6-DDC6-9091-0392958E8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324621"/>
            <a:ext cx="11048838" cy="522759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9D05421-9A4A-FE17-3120-707F22395296}"/>
              </a:ext>
            </a:extLst>
          </p:cNvPr>
          <p:cNvSpPr/>
          <p:nvPr/>
        </p:nvSpPr>
        <p:spPr>
          <a:xfrm>
            <a:off x="475645" y="2806083"/>
            <a:ext cx="714375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B1A99F63-AB11-38C9-30C6-6E69B8469C45}"/>
              </a:ext>
            </a:extLst>
          </p:cNvPr>
          <p:cNvSpPr/>
          <p:nvPr/>
        </p:nvSpPr>
        <p:spPr>
          <a:xfrm>
            <a:off x="3352800" y="2819400"/>
            <a:ext cx="4476750" cy="6477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2794"/>
              <a:gd name="adj6" fmla="val -31135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codespace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airflo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설치하고 아래 </a:t>
            </a: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workflo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만들어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실행하라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(LLM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1234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59587-4BFE-D02E-2789-B536D4403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E9A6E55-2315-E0A1-6EC0-639F8360BA0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Airflow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1E2EB-0907-F78E-EBE2-32A798F73C08}"/>
              </a:ext>
            </a:extLst>
          </p:cNvPr>
          <p:cNvSpPr txBox="1"/>
          <p:nvPr/>
        </p:nvSpPr>
        <p:spPr>
          <a:xfrm>
            <a:off x="7715251" y="718636"/>
            <a:ext cx="3924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i="0" dirty="0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Asset Based Orchestration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8A3455-E5BE-ACB6-361C-1AAC4B7C7917}"/>
              </a:ext>
            </a:extLst>
          </p:cNvPr>
          <p:cNvSpPr txBox="1"/>
          <p:nvPr/>
        </p:nvSpPr>
        <p:spPr>
          <a:xfrm>
            <a:off x="638175" y="1632625"/>
            <a:ext cx="10925176" cy="483209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airflow.utils.dates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airflow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DAG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airflow.operators.bash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BashOperator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DAG(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dag_id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="0201_mkdir_download_rocket_launches",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start_date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airflow.utils.dates.days_ago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(5),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schedule_interval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="@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daily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tmp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folder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doesn't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exist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create_tmp_folder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BashOperator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task_id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create_tmp_folder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bash_command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mkdir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./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tmp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download_launches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BashOperator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task_id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download_launches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bash_command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curl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tmp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launches.json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'https://ll.thespacedevs.com/2.0.0/launch/upcoming'", 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noqa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E501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B8A42-19A8-3AF0-06A3-2218AFCD880B}"/>
              </a:ext>
            </a:extLst>
          </p:cNvPr>
          <p:cNvSpPr txBox="1"/>
          <p:nvPr/>
        </p:nvSpPr>
        <p:spPr>
          <a:xfrm>
            <a:off x="552450" y="1232045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https://github.com/ancestor9/airflow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4974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555BD-7328-6F66-1BA2-E6B36734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E79CD4-74E6-D1EC-57E6-26B4391E6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DAA16D8-AD08-0C62-3872-52A01B8D934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4DDB3-775F-30A0-6C9A-ACD1299C898E}"/>
              </a:ext>
            </a:extLst>
          </p:cNvPr>
          <p:cNvSpPr txBox="1"/>
          <p:nvPr/>
        </p:nvSpPr>
        <p:spPr>
          <a:xfrm>
            <a:off x="590550" y="13107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i="0" dirty="0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Asset Based Orchestration 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29592F0-8D0D-BD6D-D1AC-1EA4D130E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04" y="1921104"/>
            <a:ext cx="9777307" cy="41151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00E0B6-247B-C714-40BA-A4392AF361DF}"/>
              </a:ext>
            </a:extLst>
          </p:cNvPr>
          <p:cNvSpPr txBox="1"/>
          <p:nvPr/>
        </p:nvSpPr>
        <p:spPr>
          <a:xfrm>
            <a:off x="736704" y="6092608"/>
            <a:ext cx="3373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hlinkClick r:id="rId3"/>
              </a:rPr>
              <a:t>https://www.youtube.com/watch?v=4N01188cENo</a:t>
            </a:r>
            <a:r>
              <a:rPr lang="en-US" altLang="ko-KR" sz="1100" dirty="0"/>
              <a:t>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974178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97E8B-2121-2418-2253-EDD559A18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662AA1-F7A9-79F0-30B6-B38C8D31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100E69F-4954-D286-CA5C-B57C97214D6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6841814-1FF6-7674-A51E-033320E6A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45" y="1943676"/>
            <a:ext cx="7866233" cy="44577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0325C8-FEFB-AD5A-4398-40D3B099D912}"/>
              </a:ext>
            </a:extLst>
          </p:cNvPr>
          <p:cNvSpPr txBox="1"/>
          <p:nvPr/>
        </p:nvSpPr>
        <p:spPr>
          <a:xfrm>
            <a:off x="478972" y="1393885"/>
            <a:ext cx="826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Dagster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Data Orchestration and Pipelines with Python &amp; DAGs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YouTube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145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E4078-FEE6-62A2-65DA-08A878F68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B42B8-7038-CCEE-AE19-99D98C53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EC00CA1-2E6C-4F23-9095-49DFFECF10A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297C84E-C348-3BCD-AEF3-53A24BF6F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395726"/>
              </p:ext>
            </p:extLst>
          </p:nvPr>
        </p:nvGraphicFramePr>
        <p:xfrm>
          <a:off x="639567" y="1680988"/>
          <a:ext cx="10189840" cy="4720398"/>
        </p:xfrm>
        <a:graphic>
          <a:graphicData uri="http://schemas.openxmlformats.org/drawingml/2006/table">
            <a:tbl>
              <a:tblPr/>
              <a:tblGrid>
                <a:gridCol w="2037968">
                  <a:extLst>
                    <a:ext uri="{9D8B030D-6E8A-4147-A177-3AD203B41FA5}">
                      <a16:colId xmlns:a16="http://schemas.microsoft.com/office/drawing/2014/main" val="992021438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1059555906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4184403374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2851758390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3490357920"/>
                    </a:ext>
                  </a:extLst>
                </a:gridCol>
              </a:tblGrid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비교 항목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n8n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Prefect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Dagster</a:t>
                      </a:r>
                      <a:endParaRPr lang="en-US" sz="12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Airflow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01904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 목적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업무 자동화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Agent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 Workflow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Data/ML Pipeline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ETL/Data Pipeline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413165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대표 사용자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업무 담당자</a:t>
                      </a:r>
                      <a:r>
                        <a:rPr lang="en-US" altLang="ko-KR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AI </a:t>
                      </a: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개발자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개발자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 / ML Engineer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 Engineer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287760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 </a:t>
                      </a: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중심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★★☆☆☆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588594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ML Pipeline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지원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★★☆☆☆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362868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파이프라인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★★☆☆☆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597291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Feature Engineering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329952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모델 학습 </a:t>
                      </a: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Workflow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701433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Asset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관리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×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×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792752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 Lineage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×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899972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자동화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Email, Slack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ko-KR" altLang="en-US" sz="12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593525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REST API </a:t>
                      </a: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연동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851717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Agent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구축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695537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GUI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기반 개발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595205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시각화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UI)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304514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모니터링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200383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스케줄링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71997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재시도</a:t>
                      </a:r>
                      <a:r>
                        <a:rPr lang="en-US" altLang="ko-KR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Retry)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143810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Docker/Kubernetes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59117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학습 난이도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쉬움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쉬움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중간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어려움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013082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산업 활용도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높음</a:t>
                      </a:r>
                      <a:r>
                        <a:rPr lang="en-US" altLang="ko-KR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Agent)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증가 중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증가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높음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0735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279ED65-F56B-098F-AC21-898E42A841B1}"/>
              </a:ext>
            </a:extLst>
          </p:cNvPr>
          <p:cNvSpPr txBox="1"/>
          <p:nvPr/>
        </p:nvSpPr>
        <p:spPr>
          <a:xfrm>
            <a:off x="8200507" y="1305572"/>
            <a:ext cx="1724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Asset based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7D816-8D9C-D3FF-7A8C-FBED83720981}"/>
              </a:ext>
            </a:extLst>
          </p:cNvPr>
          <p:cNvSpPr txBox="1"/>
          <p:nvPr/>
        </p:nvSpPr>
        <p:spPr>
          <a:xfrm>
            <a:off x="2924175" y="1337189"/>
            <a:ext cx="1724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Task based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8886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2C9D6-939A-E317-CE68-F8661A4EA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E115B5E-D2C8-C66C-9DDB-1D6B2FBD4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364211"/>
            <a:ext cx="3848099" cy="184555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CF170A-562A-D94F-1D3C-AAA1A54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9CCAFDA-8B79-C92B-0CD5-2BC1BCB202B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A0BA15-3939-0C49-105B-49C5ECBF3B2C}"/>
              </a:ext>
            </a:extLst>
          </p:cNvPr>
          <p:cNvSpPr txBox="1"/>
          <p:nvPr/>
        </p:nvSpPr>
        <p:spPr>
          <a:xfrm>
            <a:off x="4600575" y="1364211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Welcome to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Dagster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University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330512-F0DB-DBDE-68B6-9CA78BCA3A66}"/>
              </a:ext>
            </a:extLst>
          </p:cNvPr>
          <p:cNvSpPr txBox="1"/>
          <p:nvPr/>
        </p:nvSpPr>
        <p:spPr>
          <a:xfrm>
            <a:off x="581025" y="3376018"/>
            <a:ext cx="10429875" cy="138499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깃허브에서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프로젝트 다운로드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clone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https://github.com/dagster-io/project-dagster-university.git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다운로드된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프로젝트 폴더로 이동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project-dagster-university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dagster_university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환경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sync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만들어 준 가상환경 켜기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.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\Scripts\activate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	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sync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성공적으로 완료하면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pip install -e ".[dev]"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명령어는 패스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5.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개발 서버 실행하기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dev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3024DFF-5239-C53B-0E08-A7240B3F7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076" y="4949786"/>
            <a:ext cx="7025707" cy="1480366"/>
          </a:xfrm>
          <a:prstGeom prst="rect">
            <a:avLst/>
          </a:prstGeom>
        </p:spPr>
      </p:pic>
      <p:pic>
        <p:nvPicPr>
          <p:cNvPr id="19" name="그래픽 18" descr="조금 굽은 줄 화살표">
            <a:extLst>
              <a:ext uri="{FF2B5EF4-FFF2-40B4-BE49-F238E27FC236}">
                <a16:creationId xmlns:a16="http://schemas.microsoft.com/office/drawing/2014/main" id="{FFACB1CB-A2B0-AEAA-B738-06CC72AA5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903" y="5121861"/>
            <a:ext cx="914400" cy="9144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84007F-B2F3-D7E5-E5CB-0665C264ED91}"/>
              </a:ext>
            </a:extLst>
          </p:cNvPr>
          <p:cNvSpPr/>
          <p:nvPr/>
        </p:nvSpPr>
        <p:spPr>
          <a:xfrm>
            <a:off x="561975" y="1857375"/>
            <a:ext cx="1314450" cy="138499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E0F224-99D1-5CFC-55CD-ED314800FE76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setup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31981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A22E-658A-A998-81C4-7AE0908DD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CAA6AA-48E3-83EB-C127-0B2B10A1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4AB4CD-1C44-DBFB-60D8-756F8E5047B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E05602-5817-E748-6884-E022BC5E1C62}"/>
              </a:ext>
            </a:extLst>
          </p:cNvPr>
          <p:cNvSpPr txBox="1"/>
          <p:nvPr/>
        </p:nvSpPr>
        <p:spPr>
          <a:xfrm>
            <a:off x="647700" y="1374068"/>
            <a:ext cx="6257925" cy="15318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@dg.asset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cookie_dough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dry_ingredients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wet_ingredients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가루 재료와 액체 재료를 섞어서 쿠키 반죽을 만듭니다.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dry_ingredients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wet_ingredients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BB9EA446-3D44-513C-29DE-90DAEC932089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832204" y="4108843"/>
            <a:ext cx="1996571" cy="5546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1D15C8-8673-CFB2-DDF7-D3B1ADFC7B05}"/>
              </a:ext>
            </a:extLst>
          </p:cNvPr>
          <p:cNvSpPr/>
          <p:nvPr/>
        </p:nvSpPr>
        <p:spPr>
          <a:xfrm>
            <a:off x="5384404" y="3613543"/>
            <a:ext cx="14478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877147-D93F-E72B-661C-A0199C013578}"/>
              </a:ext>
            </a:extLst>
          </p:cNvPr>
          <p:cNvSpPr/>
          <p:nvPr/>
        </p:nvSpPr>
        <p:spPr>
          <a:xfrm>
            <a:off x="8828775" y="4168208"/>
            <a:ext cx="14478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A2F04E0-A659-1376-F397-B836D9F19EF6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681143" y="4108843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A7981E-E787-D008-164D-130AAD45075D}"/>
              </a:ext>
            </a:extLst>
          </p:cNvPr>
          <p:cNvSpPr/>
          <p:nvPr/>
        </p:nvSpPr>
        <p:spPr>
          <a:xfrm>
            <a:off x="5384404" y="5260664"/>
            <a:ext cx="1447800" cy="990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B8302C1-6FAE-5450-EA9E-DE4400C7AE0D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6832204" y="4663508"/>
            <a:ext cx="1996571" cy="10924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B86F109-5050-A1E3-C41C-BB855BCC432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0276575" y="4663508"/>
            <a:ext cx="6867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FD0F790-A610-6674-7513-505D3CDB0EB0}"/>
              </a:ext>
            </a:extLst>
          </p:cNvPr>
          <p:cNvSpPr txBox="1"/>
          <p:nvPr/>
        </p:nvSpPr>
        <p:spPr>
          <a:xfrm>
            <a:off x="8600175" y="3799972"/>
            <a:ext cx="167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cookie_dough</a:t>
            </a:r>
            <a:endParaRPr lang="ko-KR" alt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D7676C-B223-3651-B8C1-338B6E06F84A}"/>
              </a:ext>
            </a:extLst>
          </p:cNvPr>
          <p:cNvSpPr txBox="1"/>
          <p:nvPr/>
        </p:nvSpPr>
        <p:spPr>
          <a:xfrm>
            <a:off x="5253142" y="3303576"/>
            <a:ext cx="198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dry_ingredients</a:t>
            </a:r>
            <a:endParaRPr lang="ko-KR" alt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852BFB-617E-C6FD-ADA7-42F0BF3D0771}"/>
              </a:ext>
            </a:extLst>
          </p:cNvPr>
          <p:cNvSpPr txBox="1"/>
          <p:nvPr/>
        </p:nvSpPr>
        <p:spPr>
          <a:xfrm>
            <a:off x="5253142" y="4914110"/>
            <a:ext cx="20286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wet_ingredients</a:t>
            </a:r>
            <a:endParaRPr lang="ko-KR" altLang="en-US" sz="16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B1F26169-68AB-C60F-F2C8-6D76CEC23629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681143" y="5755964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BC6A84D-310B-C3E3-CFF0-CC3FA9AB8108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6376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38DB-9D6B-01D0-1FBE-FFDC9018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D99238-F8C8-8998-03A7-3A1284FB7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CE17854-DE33-7488-D8B0-CFAAD8CB002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E70912-34CD-EA62-9535-7D7636BFAD01}"/>
              </a:ext>
            </a:extLst>
          </p:cNvPr>
          <p:cNvSpPr txBox="1"/>
          <p:nvPr/>
        </p:nvSpPr>
        <p:spPr>
          <a:xfrm>
            <a:off x="7029450" y="80302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  <a:ea typeface="Batang" panose="02030600000101010101" pitchFamily="18" charset="-127"/>
                <a:cs typeface="+mj-cs"/>
              </a:rPr>
              <a:t>Defining your first asset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C3C370-0A0F-9C47-43E3-5C2701AE3B81}"/>
              </a:ext>
            </a:extLst>
          </p:cNvPr>
          <p:cNvSpPr txBox="1"/>
          <p:nvPr/>
        </p:nvSpPr>
        <p:spPr>
          <a:xfrm>
            <a:off x="552450" y="1261880"/>
            <a:ext cx="10972800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constants.py에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정의된 저장 경로를 참고해서,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trips.py에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옐로우 택시 데이터를 다운로드하는 자산(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asset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코드를 작성하면,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자산들이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definitions.py라는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관제탑 파일에 등록되어,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웹 화면에 파이프라인으로 나타남!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1AD1FD-AEC8-95D6-D381-294A4DEB1B81}"/>
              </a:ext>
            </a:extLst>
          </p:cNvPr>
          <p:cNvSpPr txBox="1"/>
          <p:nvPr/>
        </p:nvSpPr>
        <p:spPr>
          <a:xfrm>
            <a:off x="981074" y="2739005"/>
            <a:ext cx="9677401" cy="38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dagster_university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안에서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“dg scaffold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dagster.asset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assets/trips.py”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4850D8-73BD-1093-FA0A-96A9F7CE68F7}"/>
              </a:ext>
            </a:extLst>
          </p:cNvPr>
          <p:cNvSpPr txBox="1"/>
          <p:nvPr/>
        </p:nvSpPr>
        <p:spPr>
          <a:xfrm>
            <a:off x="990600" y="3536432"/>
            <a:ext cx="6096000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├── __init__.py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├── constants.py # 이미 존재하던 파일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└── trips.py     # ⭐ 방금 새로 생성된 파일!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5A30FE-3988-F601-7BF2-83C7FA9E101B}"/>
              </a:ext>
            </a:extLst>
          </p:cNvPr>
          <p:cNvSpPr txBox="1"/>
          <p:nvPr/>
        </p:nvSpPr>
        <p:spPr>
          <a:xfrm>
            <a:off x="990601" y="3166092"/>
            <a:ext cx="10534650" cy="4936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-essentials) D:\project-dagster-university\dagster_university\dagster_essentials&gt;dg scaffold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dagster.asset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assets/trips.py</a:t>
            </a:r>
          </a:p>
          <a:p>
            <a:pPr>
              <a:lnSpc>
                <a:spcPct val="150000"/>
              </a:lnSpc>
            </a:pPr>
            <a:endParaRPr lang="ko-KR" altLang="en-US" sz="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E44CCC-D611-835D-BF17-653377D8B352}"/>
              </a:ext>
            </a:extLst>
          </p:cNvPr>
          <p:cNvSpPr txBox="1"/>
          <p:nvPr/>
        </p:nvSpPr>
        <p:spPr>
          <a:xfrm>
            <a:off x="2647691" y="5102247"/>
            <a:ext cx="6782318" cy="81336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dagster as dg</a:t>
            </a:r>
          </a:p>
          <a:p>
            <a:pPr>
              <a:lnSpc>
                <a:spcPts val="1425"/>
              </a:lnSpc>
              <a:buNone/>
            </a:pPr>
            <a:endParaRPr lang="pt-B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pt-B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@dg.asset</a:t>
            </a:r>
          </a:p>
          <a:p>
            <a:pPr>
              <a:lnSpc>
                <a:spcPts val="1425"/>
              </a:lnSpc>
              <a:buNone/>
            </a:pPr>
            <a:r>
              <a:rPr lang="pt-B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trips(context: dg.AssetExecutionContext) -&gt; dg.MaterializeResult: ...</a:t>
            </a:r>
          </a:p>
        </p:txBody>
      </p:sp>
      <p:sp>
        <p:nvSpPr>
          <p:cNvPr id="23" name="왼쪽 중괄호 22">
            <a:extLst>
              <a:ext uri="{FF2B5EF4-FFF2-40B4-BE49-F238E27FC236}">
                <a16:creationId xmlns:a16="http://schemas.microsoft.com/office/drawing/2014/main" id="{6310B6DC-E0D9-F9F8-FEC9-315C751EF697}"/>
              </a:ext>
            </a:extLst>
          </p:cNvPr>
          <p:cNvSpPr/>
          <p:nvPr/>
        </p:nvSpPr>
        <p:spPr>
          <a:xfrm>
            <a:off x="495299" y="2930242"/>
            <a:ext cx="342900" cy="2956207"/>
          </a:xfrm>
          <a:prstGeom prst="leftBrace">
            <a:avLst>
              <a:gd name="adj1" fmla="val 9166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50BDD3-29B2-8F1E-B858-81A83ACBF025}"/>
              </a:ext>
            </a:extLst>
          </p:cNvPr>
          <p:cNvSpPr txBox="1"/>
          <p:nvPr/>
        </p:nvSpPr>
        <p:spPr>
          <a:xfrm>
            <a:off x="990601" y="5915611"/>
            <a:ext cx="10534650" cy="34099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-essentials) D:\project-dagster-university\dagster_university\dagster_essentials&gt;dg check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999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1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3E6C3-CC87-8475-B91B-2CC88ABC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A4CA5D-F732-5BCB-C9A8-CF645240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BC73058-199B-0BAA-BFA7-A73EA36F2B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AAECC0-6E4B-75DA-F7A3-4C780C8AE473}"/>
              </a:ext>
            </a:extLst>
          </p:cNvPr>
          <p:cNvSpPr txBox="1"/>
          <p:nvPr/>
        </p:nvSpPr>
        <p:spPr>
          <a:xfrm>
            <a:off x="7029450" y="80302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  <a:ea typeface="Batang" panose="02030600000101010101" pitchFamily="18" charset="-127"/>
                <a:cs typeface="+mj-cs"/>
              </a:rPr>
              <a:t>understanding your first asset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30602-3315-064C-73EC-0224D01907C0}"/>
              </a:ext>
            </a:extLst>
          </p:cNvPr>
          <p:cNvSpPr txBox="1"/>
          <p:nvPr/>
        </p:nvSpPr>
        <p:spPr>
          <a:xfrm>
            <a:off x="5753619" y="3457297"/>
            <a:ext cx="5075788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dagster_university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sz="12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├── definitions.py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├── __init__.py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├── __init__.py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└── </a:t>
            </a:r>
            <a:r>
              <a:rPr lang="ko-KR" altLang="en-US" sz="12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constants.py</a:t>
            </a:r>
            <a:endParaRPr lang="en-US" altLang="ko-KR" sz="12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└──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trips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F3D07-BB00-296C-DE7C-9F12C67BE96B}"/>
              </a:ext>
            </a:extLst>
          </p:cNvPr>
          <p:cNvSpPr txBox="1"/>
          <p:nvPr/>
        </p:nvSpPr>
        <p:spPr>
          <a:xfrm>
            <a:off x="561975" y="1390064"/>
            <a:ext cx="10267432" cy="2067233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src/dagster_essentials/defs/assets/trips.py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requests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200" b="1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dagster_essentials.defs.assets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constants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as dg</a:t>
            </a:r>
          </a:p>
          <a:p>
            <a:pPr>
              <a:lnSpc>
                <a:spcPts val="142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@dg.asset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taxi_trips_file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-&gt; None: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month_to_fetch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'2023-03'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raw_trips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requests.get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f"https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://d37ci6vzurychx.cloudfront.net/trip-data/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yellow_tripdata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month_to_fetch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}.parquet")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with open(</a:t>
            </a:r>
            <a:r>
              <a:rPr lang="en-US" altLang="ko-KR" sz="1200" b="1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constants.TAXI_TRIPS_TEMPLATE_FILE_PATH.format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month_to_fetch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"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wb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 as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output_file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output_file.write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raw_trips.content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2A0B0-1D3A-0920-2774-4380D68D0911}"/>
              </a:ext>
            </a:extLst>
          </p:cNvPr>
          <p:cNvSpPr txBox="1"/>
          <p:nvPr/>
        </p:nvSpPr>
        <p:spPr>
          <a:xfrm>
            <a:off x="561975" y="3883786"/>
            <a:ext cx="4839825" cy="1725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아래 작동방식을 </a:t>
            </a:r>
            <a:r>
              <a:rPr lang="ko-KR" altLang="en-US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코드간의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관계로 이해하자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trips.py에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자산(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asset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코드를 작성하면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constants.py에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정의된 저장 경로를 참고하고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definitions.py라는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관제탑 파일에 등록되어,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실행하면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웹 화면에 파이프라인을 확인하고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실제로 데이터가 저장되는 방식과 경로를 이해한다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892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C406A-6C49-88AD-C62D-C5F7A238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6A1428-F923-8BAF-480F-95D6779D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8FB6538-0210-26AF-0D95-81FAD616EE0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D3FBD1-C95B-F68E-16D8-2532DBAFE8E8}"/>
              </a:ext>
            </a:extLst>
          </p:cNvPr>
          <p:cNvSpPr txBox="1"/>
          <p:nvPr/>
        </p:nvSpPr>
        <p:spPr>
          <a:xfrm>
            <a:off x="570895" y="1248422"/>
            <a:ext cx="9630380" cy="3747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D:\prefect_ml&gt;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pip install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D:\prefect_ml&gt;dagster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project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scaffold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--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D:\prefect_ml&gt;cd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D:\prefect_ml\my_dagster_project&gt;pip install -e .[dev]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D:\prefect_ml\my_dagster_project&gt;pip install --upgrade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protobuf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D:\prefect_ml\my_dagster_project&gt;dagster-webserver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6D359-7AD5-E1D9-4B02-44809E2257ED}"/>
              </a:ext>
            </a:extLst>
          </p:cNvPr>
          <p:cNvSpPr txBox="1"/>
          <p:nvPr/>
        </p:nvSpPr>
        <p:spPr>
          <a:xfrm>
            <a:off x="1428750" y="2101840"/>
            <a:ext cx="9296400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             📂 [최상위 프로젝트 폴더] - 프로젝트 전체 폴더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         📂 [파이썬 패키지 폴더] - 실제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코드가 있는 폴더!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└── definitions.py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my_dagster_project_tests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   📂 [테스트 폴더] - 작성한 코드가 잘 작동하는지 검사하는 폴더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pyproject.toml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📄 [설정 파일] - 라이브러리 설치 정보, 프로젝트 설정 관리 파일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 README.md                   📄 [설명서 파일] - 이 프로젝트가 무엇인지 적어두는 메모장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D5AF8F-61C0-DCC1-8F9E-BA2DA83A22F1}"/>
              </a:ext>
            </a:extLst>
          </p:cNvPr>
          <p:cNvSpPr txBox="1"/>
          <p:nvPr/>
        </p:nvSpPr>
        <p:spPr>
          <a:xfrm>
            <a:off x="657224" y="6068240"/>
            <a:ext cx="55530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참고 동영상 https://www.youtube.com/watch?v=ZmUjf3gL1VU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6394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34CE3-2724-28A6-9699-5C4F247A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41EB2-FD8B-3629-F2DB-1ADCA17A1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Apache Airflow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96C0A9A7-5201-41CE-B556-6C2A634ED8AA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63A90-C263-64E6-28E4-C072CF6E8D7D}"/>
              </a:ext>
            </a:extLst>
          </p:cNvPr>
          <p:cNvSpPr txBox="1"/>
          <p:nvPr/>
        </p:nvSpPr>
        <p:spPr>
          <a:xfrm>
            <a:off x="855620" y="2752872"/>
            <a:ext cx="937423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Workflow Automation</a:t>
            </a:r>
          </a:p>
        </p:txBody>
      </p:sp>
    </p:spTree>
    <p:extLst>
      <p:ext uri="{BB962C8B-B14F-4D97-AF65-F5344CB8AC3E}">
        <p14:creationId xmlns:p14="http://schemas.microsoft.com/office/powerpoint/2010/main" val="3635976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8AA46-FDE1-7FFE-7FA9-DF236D68A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7A62FEF-35EE-36C6-7706-FB2E3546710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73801-4693-3C9E-328C-56B7463C64A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F4898D9-988A-2F9B-9C63-0357DA2B64A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62A705E5-F0F2-1BA0-A48C-1629D01549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76C1C24-AFB2-E59D-AD58-0E106CBD0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558" y="2007555"/>
            <a:ext cx="10467975" cy="41690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8630BA-9DB0-92E3-F5F8-F7556B141E78}"/>
              </a:ext>
            </a:extLst>
          </p:cNvPr>
          <p:cNvSpPr txBox="1"/>
          <p:nvPr/>
        </p:nvSpPr>
        <p:spPr>
          <a:xfrm>
            <a:off x="591620" y="1288330"/>
            <a:ext cx="3094555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WSL2-docker_airflow.pptx</a:t>
            </a:r>
          </a:p>
        </p:txBody>
      </p:sp>
    </p:spTree>
    <p:extLst>
      <p:ext uri="{BB962C8B-B14F-4D97-AF65-F5344CB8AC3E}">
        <p14:creationId xmlns:p14="http://schemas.microsoft.com/office/powerpoint/2010/main" val="1127657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459" y="1357808"/>
            <a:ext cx="5217459" cy="2121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6558" y="3636788"/>
            <a:ext cx="7948054" cy="29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67718" y="1357808"/>
            <a:ext cx="4231564" cy="23664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E4A340BF-22FB-7DBB-F75C-9AF673DF8F2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6D44355-1EC3-F684-98BB-1F306B8FE2C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0462" y="3533724"/>
            <a:ext cx="514350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38476" y="3533724"/>
            <a:ext cx="322897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1"/>
          <p:cNvSpPr txBox="1"/>
          <p:nvPr/>
        </p:nvSpPr>
        <p:spPr>
          <a:xfrm>
            <a:off x="7538476" y="3021458"/>
            <a:ext cx="35948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DAG(Directed Acyclic Graph)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465" name="Google Shape;465;p31"/>
          <p:cNvSpPr txBox="1"/>
          <p:nvPr/>
        </p:nvSpPr>
        <p:spPr>
          <a:xfrm>
            <a:off x="2313974" y="3021458"/>
            <a:ext cx="29124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Negative Graph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466" name="Google Shape;466;p31"/>
          <p:cNvSpPr txBox="1"/>
          <p:nvPr/>
        </p:nvSpPr>
        <p:spPr>
          <a:xfrm>
            <a:off x="840462" y="5564924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https://steemit.com/dag/@cryptodreamers/dag-dag-directed-acyclic-graph</a:t>
            </a: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/>
          </a:p>
        </p:txBody>
      </p:sp>
      <p:sp>
        <p:nvSpPr>
          <p:cNvPr id="467" name="Google Shape;467;p31"/>
          <p:cNvSpPr txBox="1"/>
          <p:nvPr/>
        </p:nvSpPr>
        <p:spPr>
          <a:xfrm>
            <a:off x="490817" y="1296293"/>
            <a:ext cx="109677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The Directed Acyclic Graph (DAG) 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is a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directed graph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 with no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directed cycles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. That is, it consists of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vertices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 and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edges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 (also called arcs), with each edge directed from one vertex to another, such that following those directions will never form a closed loop.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70DC4F7-EA1D-D76D-9CD8-033374E5117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C63DA0E-969C-C3BC-8268-0BA9060D891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460" y="2388864"/>
            <a:ext cx="9983400" cy="3777786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2"/>
          <p:cNvSpPr/>
          <p:nvPr/>
        </p:nvSpPr>
        <p:spPr>
          <a:xfrm>
            <a:off x="1035984" y="1577143"/>
            <a:ext cx="2232212" cy="6253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Names of registered workflows</a:t>
            </a:r>
            <a:endParaRPr sz="1600" dirty="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76" name="Google Shape;476;p32"/>
          <p:cNvCxnSpPr>
            <a:cxnSpLocks/>
            <a:stCxn id="477" idx="0"/>
            <a:endCxn id="475" idx="2"/>
          </p:cNvCxnSpPr>
          <p:nvPr/>
        </p:nvCxnSpPr>
        <p:spPr>
          <a:xfrm rot="5400000" flipH="1" flipV="1">
            <a:off x="354515" y="3999788"/>
            <a:ext cx="3594848" cy="302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8" name="Google Shape;478;p32"/>
          <p:cNvSpPr/>
          <p:nvPr/>
        </p:nvSpPr>
        <p:spPr>
          <a:xfrm>
            <a:off x="3761126" y="1520285"/>
            <a:ext cx="1610009" cy="5827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Workflow Schedules</a:t>
            </a:r>
            <a:endParaRPr sz="16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79" name="Google Shape;479;p32"/>
          <p:cNvCxnSpPr>
            <a:stCxn id="480" idx="0"/>
            <a:endCxn id="478" idx="2"/>
          </p:cNvCxnSpPr>
          <p:nvPr/>
        </p:nvCxnSpPr>
        <p:spPr>
          <a:xfrm rot="5400000" flipH="1">
            <a:off x="3259506" y="3409638"/>
            <a:ext cx="3681300" cy="106830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1" name="Google Shape;481;p32"/>
          <p:cNvSpPr/>
          <p:nvPr/>
        </p:nvSpPr>
        <p:spPr>
          <a:xfrm>
            <a:off x="6486525" y="1577143"/>
            <a:ext cx="2497615" cy="5827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State of workflow tasks from recent runs</a:t>
            </a:r>
            <a:endParaRPr sz="16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82" name="Google Shape;482;p32"/>
          <p:cNvCxnSpPr>
            <a:stCxn id="483" idx="0"/>
            <a:endCxn id="481" idx="2"/>
          </p:cNvCxnSpPr>
          <p:nvPr/>
        </p:nvCxnSpPr>
        <p:spPr>
          <a:xfrm rot="5400000" flipH="1">
            <a:off x="6641904" y="3253269"/>
            <a:ext cx="3626400" cy="143940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7" name="Google Shape;477;p32"/>
          <p:cNvSpPr/>
          <p:nvPr/>
        </p:nvSpPr>
        <p:spPr>
          <a:xfrm>
            <a:off x="1035379" y="5797363"/>
            <a:ext cx="2232817" cy="496073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0" name="Google Shape;480;p32"/>
          <p:cNvSpPr/>
          <p:nvPr/>
        </p:nvSpPr>
        <p:spPr>
          <a:xfrm>
            <a:off x="5208752" y="5784438"/>
            <a:ext cx="851108" cy="508998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3" name="Google Shape;483;p32"/>
          <p:cNvSpPr/>
          <p:nvPr/>
        </p:nvSpPr>
        <p:spPr>
          <a:xfrm>
            <a:off x="7981365" y="5786169"/>
            <a:ext cx="2386877" cy="496073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97D237E-F690-C51E-315B-E8D8EA3F6B3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3962647-0DDC-DB8C-B470-D5A31F9A9C7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4626" y="1922317"/>
            <a:ext cx="8154446" cy="337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1183" y="1928926"/>
            <a:ext cx="3583929" cy="3362569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3"/>
          <p:cNvSpPr/>
          <p:nvPr/>
        </p:nvSpPr>
        <p:spPr>
          <a:xfrm>
            <a:off x="785833" y="1911670"/>
            <a:ext cx="1407459" cy="5699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All runs of one task</a:t>
            </a:r>
            <a:endParaRPr sz="1800" dirty="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93" name="Google Shape;493;p33"/>
          <p:cNvCxnSpPr>
            <a:cxnSpLocks/>
            <a:stCxn id="494" idx="1"/>
            <a:endCxn id="492" idx="3"/>
          </p:cNvCxnSpPr>
          <p:nvPr/>
        </p:nvCxnSpPr>
        <p:spPr>
          <a:xfrm rot="10800000">
            <a:off x="2193292" y="2196625"/>
            <a:ext cx="2271132" cy="154614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4" name="Google Shape;494;p33"/>
          <p:cNvSpPr/>
          <p:nvPr/>
        </p:nvSpPr>
        <p:spPr>
          <a:xfrm>
            <a:off x="4464424" y="3621742"/>
            <a:ext cx="770964" cy="24204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5" name="Google Shape;495;p33"/>
          <p:cNvSpPr/>
          <p:nvPr/>
        </p:nvSpPr>
        <p:spPr>
          <a:xfrm>
            <a:off x="4939253" y="3636733"/>
            <a:ext cx="287170" cy="176604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6" name="Google Shape;496;p33"/>
          <p:cNvSpPr/>
          <p:nvPr/>
        </p:nvSpPr>
        <p:spPr>
          <a:xfrm>
            <a:off x="4479021" y="4280704"/>
            <a:ext cx="268948" cy="2420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7" name="Google Shape;497;p33"/>
          <p:cNvSpPr/>
          <p:nvPr/>
        </p:nvSpPr>
        <p:spPr>
          <a:xfrm>
            <a:off x="6786284" y="5402778"/>
            <a:ext cx="2405341" cy="633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One run of a workflow</a:t>
            </a:r>
            <a:endParaRPr sz="18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98" name="Google Shape;498;p33"/>
          <p:cNvCxnSpPr>
            <a:cxnSpLocks/>
            <a:stCxn id="495" idx="2"/>
            <a:endCxn id="497" idx="1"/>
          </p:cNvCxnSpPr>
          <p:nvPr/>
        </p:nvCxnSpPr>
        <p:spPr>
          <a:xfrm rot="16200000" flipH="1">
            <a:off x="5776190" y="4709425"/>
            <a:ext cx="316743" cy="1703446"/>
          </a:xfrm>
          <a:prstGeom prst="curvedConnector2">
            <a:avLst/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9" name="Google Shape;499;p33"/>
          <p:cNvSpPr/>
          <p:nvPr/>
        </p:nvSpPr>
        <p:spPr>
          <a:xfrm>
            <a:off x="829483" y="5769746"/>
            <a:ext cx="1703400" cy="6632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State of a single task</a:t>
            </a:r>
            <a:endParaRPr sz="18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500" name="Google Shape;500;p33"/>
          <p:cNvCxnSpPr>
            <a:cxnSpLocks/>
            <a:stCxn id="499" idx="3"/>
            <a:endCxn id="496" idx="1"/>
          </p:cNvCxnSpPr>
          <p:nvPr/>
        </p:nvCxnSpPr>
        <p:spPr>
          <a:xfrm flipV="1">
            <a:off x="2532883" y="4401727"/>
            <a:ext cx="1946138" cy="1699643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548A5392-A46D-CCAC-66AE-206054A575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B119AD6-555D-3BFD-57B9-7490756D644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7FB85617-8D65-CFCC-4E60-C68C0F058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0CBC270-DE05-B744-01FB-A2D0B7430A8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Airflow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Excercise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C136962-B185-113F-7111-AD30BA2DF2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EFFB77EC-771C-9693-5CD4-747A793DA2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084B57-1518-C030-9A46-85E14429F4BC}"/>
              </a:ext>
            </a:extLst>
          </p:cNvPr>
          <p:cNvSpPr txBox="1"/>
          <p:nvPr/>
        </p:nvSpPr>
        <p:spPr>
          <a:xfrm>
            <a:off x="591620" y="1248422"/>
            <a:ext cx="7141699" cy="7931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airflow image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다운받아 설치하고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click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ancestor9/airflow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예제 파일을 다운받아 실행하라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815F84-D84F-A6FF-BCA5-F46BEFF02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8576" y="2243155"/>
            <a:ext cx="5265730" cy="40574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5181995-1AEE-9814-0B77-F80417A123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070" y="2243155"/>
            <a:ext cx="5598144" cy="406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43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D114F1A3-7FD9-4CD7-D124-86B066934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9E044FE-C029-FAE9-2AF6-6D0F13A4353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Airflow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Excercise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0A5FD614-7D19-4E06-70FE-4B216BC99CC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D115681C-6C6E-519E-05DA-47177C1FB0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02E183B-E179-35E6-6BB4-65CDCF595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49" y="1594600"/>
            <a:ext cx="9132176" cy="413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808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154D4F98-7B14-E45D-4E7C-1699C0375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C1CEDB2-DDE5-3C76-20D9-7E9153D3243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Airflow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Excercise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DF4F528-E47A-9EE0-29D3-FDF3C05BDA5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4F52D6A3-6476-4F2B-7D11-A877E2EBD2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16828E-3DD2-CA13-6571-6A16A05F5B61}"/>
              </a:ext>
            </a:extLst>
          </p:cNvPr>
          <p:cNvSpPr txBox="1"/>
          <p:nvPr/>
        </p:nvSpPr>
        <p:spPr>
          <a:xfrm>
            <a:off x="591620" y="1193018"/>
            <a:ext cx="10589141" cy="791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docker-</a:t>
            </a:r>
            <a:r>
              <a:rPr lang="en-US" altLang="ko-KR" sz="1600" b="0" i="0" dirty="0" err="1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compose.yaml</a:t>
            </a:r>
            <a:r>
              <a:rPr lang="en-US" altLang="ko-KR" sz="1600" b="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0" i="0" dirty="0" err="1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dags</a:t>
            </a:r>
            <a:r>
              <a:rPr lang="en-US" altLang="ko-KR" sz="1600" b="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/, .env </a:t>
            </a:r>
            <a:r>
              <a:rPr lang="ko-KR" altLang="en-US" sz="1600" b="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등의 파일 구조가 준비하고 </a:t>
            </a:r>
            <a:r>
              <a:rPr lang="en-US" altLang="ko-KR" sz="1600" b="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 compose up –d 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명령어로 파일에 정의된 모든 컨테이너를 백그라운드에서 일괄 실행한 후 </a:t>
            </a: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airflow server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링크를 클릭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6D0859F-BDD4-E2D2-6CDD-28257E92B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03" y="2107418"/>
            <a:ext cx="11086693" cy="408383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DAE516C0-43BC-466E-4538-E3B3E28C8B05}"/>
              </a:ext>
            </a:extLst>
          </p:cNvPr>
          <p:cNvSpPr/>
          <p:nvPr/>
        </p:nvSpPr>
        <p:spPr>
          <a:xfrm>
            <a:off x="475645" y="2107418"/>
            <a:ext cx="6029930" cy="2121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36B7FEE-CBBA-0534-DD97-9720F78F18CE}"/>
              </a:ext>
            </a:extLst>
          </p:cNvPr>
          <p:cNvSpPr/>
          <p:nvPr/>
        </p:nvSpPr>
        <p:spPr>
          <a:xfrm>
            <a:off x="475645" y="2459843"/>
            <a:ext cx="6029930" cy="2357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B32D64-AAB8-203A-C304-B8754BC781B9}"/>
              </a:ext>
            </a:extLst>
          </p:cNvPr>
          <p:cNvSpPr/>
          <p:nvPr/>
        </p:nvSpPr>
        <p:spPr>
          <a:xfrm>
            <a:off x="504220" y="5298293"/>
            <a:ext cx="6029930" cy="2357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생각 풍선: 구름 모양 19">
            <a:extLst>
              <a:ext uri="{FF2B5EF4-FFF2-40B4-BE49-F238E27FC236}">
                <a16:creationId xmlns:a16="http://schemas.microsoft.com/office/drawing/2014/main" id="{647A63BC-8C72-0831-6324-0669FA2AFF6A}"/>
              </a:ext>
            </a:extLst>
          </p:cNvPr>
          <p:cNvSpPr/>
          <p:nvPr/>
        </p:nvSpPr>
        <p:spPr>
          <a:xfrm>
            <a:off x="7534358" y="5120884"/>
            <a:ext cx="1419225" cy="590550"/>
          </a:xfrm>
          <a:prstGeom prst="cloudCallout">
            <a:avLst>
              <a:gd name="adj1" fmla="val -74524"/>
              <a:gd name="adj2" fmla="val 754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Click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6813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73F618E1-4F42-80A6-1C43-613C974B1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E750F871-E723-18FB-61DF-9DE2A5EC5D2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Airflow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Excercise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8FD51FD-E59B-5472-8E40-329270F7A55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F2965D79-986D-DFFB-FBB2-905FEA6E25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95948A1-EB88-635F-C2C6-8D2A89B90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60" y="1538974"/>
            <a:ext cx="5624044" cy="452845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9F0DAC-3989-692C-83E2-04F76A8BA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278" y="2520057"/>
            <a:ext cx="8046068" cy="385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45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E964CBAA-72ED-007A-155F-49094084D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277B65B-1CF0-22C3-FF2D-D61A804510C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Airflow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Excercise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8C7AA76-A636-A5CF-0346-1535A6F44F1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24239A88-B369-8444-AADB-DDDDE9AF4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D4F7410-0379-EB03-22E6-5DFDB8AF8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934" y="1472285"/>
            <a:ext cx="9262616" cy="511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18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95BBF43E-1B19-9A93-5E6D-DF41955A7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5BC41C0-6B51-E378-A47A-3DEDAC11DB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Airflow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Excercise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24D8B585-267A-CEBC-6214-D42CE17A098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3C2D7C29-1AA7-6D74-928B-8EE3FF27EF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57324B4-47D7-C4AC-DE61-859A0EDFA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450" y="1381388"/>
            <a:ext cx="9028297" cy="499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30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EDE21-E505-C1BC-020F-15F0693F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105A43B-D945-00FC-4E07-D8B0D5EF99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Vision 2</a:t>
            </a:r>
            <a:r>
              <a:rPr lang="en-US" altLang="ko-KR" sz="24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Docker Image/Container (Airflow, Postgres)</a:t>
            </a:r>
            <a:endParaRPr lang="ko-KR" altLang="en-US" sz="24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DBCE2E1-3665-D51D-F366-54071BACE0A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356C96C-3FA4-0B41-2431-29B299CDD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63" y="1723519"/>
            <a:ext cx="10087691" cy="43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17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605E-6277-4C67-7D7C-D6037807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8942688-0022-E798-E35E-F0B577C3CB1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Vision 2</a:t>
            </a:r>
            <a:r>
              <a:rPr lang="en-US" altLang="ko-KR" sz="24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Docker Image/Container (Airflow, Postgres)</a:t>
            </a:r>
            <a:endParaRPr lang="ko-KR" altLang="en-US" sz="24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C7B52889-76C0-0641-94B5-8B30842B37E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3FA91F-CA26-E73E-4134-6F493B54A6A2}"/>
              </a:ext>
            </a:extLst>
          </p:cNvPr>
          <p:cNvSpPr txBox="1"/>
          <p:nvPr/>
        </p:nvSpPr>
        <p:spPr>
          <a:xfrm>
            <a:off x="1847013" y="1848219"/>
            <a:ext cx="8590078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[1단계: 환경 정의]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└─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docker-compose.yaml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작성 (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PostgreSQL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Airflow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서비스 구성)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▼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[2단계: 서비스 실행 및 초기화]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└─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docker-compose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up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</a:t>
            </a:r>
            <a:endParaRPr lang="ko-KR" altLang="ko-KR" sz="1400" b="0" i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├─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PostgreSQL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컨테이너 띄우기 (DB 생성 및 헬스체크)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└─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Airflow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컨테이너 띄우기 (DB 연결 설정 적용)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▼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[3단계: 외부 포트 연결 (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Port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Forwarding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)]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├─ 웹 접속 : Host localhost:8080 ─&gt;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Airflow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Container :8080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└─ DB 접속 : Host localhost:5432 ─&gt;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Postgres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Container :5432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▼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[4단계: 데이터 및 서비스 통신]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├─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Web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UI (8080) 접속을 통해 DAG 관리 및 스케줄링 수행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└─ DB 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Client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ko-KR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DBeaver</a:t>
            </a:r>
            <a:r>
              <a:rPr lang="ko-KR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등)로 5432 포트연결 메타데이터 직접 조회</a:t>
            </a:r>
            <a:endParaRPr lang="ko-KR" altLang="ko-KR" sz="1100" b="0" i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93725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DC7F9-B026-8955-6B75-7620DAEA4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C5FE9-92EC-0A83-41EE-3A4F83C42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54789684-9C5F-4555-0AF7-2A64A3BC57DF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A40AF7-ACDE-D7B9-1122-9BC7F6C3E52F}"/>
              </a:ext>
            </a:extLst>
          </p:cNvPr>
          <p:cNvSpPr txBox="1"/>
          <p:nvPr/>
        </p:nvSpPr>
        <p:spPr>
          <a:xfrm>
            <a:off x="855620" y="2752872"/>
            <a:ext cx="937423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code agent</a:t>
            </a:r>
          </a:p>
        </p:txBody>
      </p:sp>
    </p:spTree>
    <p:extLst>
      <p:ext uri="{BB962C8B-B14F-4D97-AF65-F5344CB8AC3E}">
        <p14:creationId xmlns:p14="http://schemas.microsoft.com/office/powerpoint/2010/main" val="16999160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330CD-4BA5-FF9A-FA8A-248DEC96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E44ABC-6593-04C2-44B8-E560E96A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ADD2B8E-3F9B-9F4E-4BCD-CD2A128F52A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BB9A3-B4CC-6D56-9BCC-D79C476B62E4}"/>
              </a:ext>
            </a:extLst>
          </p:cNvPr>
          <p:cNvSpPr txBox="1"/>
          <p:nvPr/>
        </p:nvSpPr>
        <p:spPr>
          <a:xfrm>
            <a:off x="544944" y="1510391"/>
            <a:ext cx="11028219" cy="337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Microsoft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Visual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Studio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Code에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플러그인으로 설치하는 오픈 소스 AI 개발 어시스턴트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IDE인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VSCode에서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LLM(대규모 언어 모델) 연동 기능을 제공하고,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직접 코드를 작성/수정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MCP를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사용하여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LLM의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기능을 확장하여 사용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대화하고, 코드를 생성하거나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리팩토링하는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 개발 워크플로우에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직접 통합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도구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터미널(CLI)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기반과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IDE(통합개발환경) 환경을 결합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 기능을 쓸 수 있게 만든 도구</a:t>
            </a:r>
          </a:p>
        </p:txBody>
      </p:sp>
    </p:spTree>
    <p:extLst>
      <p:ext uri="{BB962C8B-B14F-4D97-AF65-F5344CB8AC3E}">
        <p14:creationId xmlns:p14="http://schemas.microsoft.com/office/powerpoint/2010/main" val="6291849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4C4B3-3BBC-1CC5-8F0A-9151144B9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8224DF-5630-1D26-2697-A1761303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8327ECC-9959-5AFE-7237-F43E91A0F29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Cline </a:t>
            </a:r>
            <a:r>
              <a:rPr lang="ko-KR" altLang="en-US" sz="2800" b="1" cap="none" dirty="0">
                <a:latin typeface="Lora" pitchFamily="2" charset="0"/>
              </a:rPr>
              <a:t>주요</a:t>
            </a:r>
            <a:r>
              <a:rPr lang="en-US" altLang="ko-KR" sz="2800" b="1" cap="none" dirty="0">
                <a:latin typeface="Lora" pitchFamily="2" charset="0"/>
              </a:rPr>
              <a:t> </a:t>
            </a:r>
            <a:r>
              <a:rPr lang="ko-KR" altLang="en-US" sz="2800" b="1" cap="none" dirty="0">
                <a:latin typeface="Lora" pitchFamily="2" charset="0"/>
              </a:rPr>
              <a:t>기능</a:t>
            </a:r>
            <a:r>
              <a:rPr lang="en-US" altLang="ko-KR" sz="2800" b="1" cap="none" dirty="0">
                <a:latin typeface="Lora" pitchFamily="2" charset="0"/>
              </a:rPr>
              <a:t> </a:t>
            </a:r>
            <a:r>
              <a:rPr lang="ko-KR" altLang="en-US" sz="2800" b="1" cap="none" dirty="0">
                <a:latin typeface="Lora" pitchFamily="2" charset="0"/>
              </a:rPr>
              <a:t>및</a:t>
            </a:r>
            <a:r>
              <a:rPr lang="en-US" altLang="ko-KR" sz="2800" b="1" cap="none" dirty="0">
                <a:latin typeface="Lora" pitchFamily="2" charset="0"/>
              </a:rPr>
              <a:t> </a:t>
            </a:r>
            <a:r>
              <a:rPr lang="ko-KR" altLang="en-US" sz="2800" b="1" cap="none" dirty="0">
                <a:latin typeface="Lora" pitchFamily="2" charset="0"/>
              </a:rPr>
              <a:t>특징</a:t>
            </a:r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818D7-538E-939A-40B0-74D19780A209}"/>
              </a:ext>
            </a:extLst>
          </p:cNvPr>
          <p:cNvSpPr txBox="1"/>
          <p:nvPr/>
        </p:nvSpPr>
        <p:spPr>
          <a:xfrm>
            <a:off x="544944" y="1510391"/>
            <a:ext cx="11028219" cy="522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개발 지원: 컨텍스트를 인식하는 코드 제안, 자동 완성 및 지능적인 권장 사항을 제공하여 개발 시간을 단축하고 코딩 오류를 최소화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다양한 작업 수행: 파일 읽기/쓰기, 명령 실행, 웹 브라우저 사용 등 다양한 시스템 수준 작업을 수행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 유연성: 다양한 AI 모델의 강점을 활용하는 정교한 워크플로우를 가능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프롬프트 피로 감소: 프롬프트 피로를 줄이고 상호 작용을 더욱 자연스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러움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확장성 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Protocol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MCP):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Protocol을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통해 사용자 정의 도구 및 워크플로우와 통합할 수 있어 특정 요구 사항에 맞게 조정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복잡한 시스템에 적합: 제어, 유연성 및 시스템 수준 통합이 중요한 복잡한 시스템을 구축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적합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13911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ECC790E4-E527-233C-1627-584E612BE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D60D4B1-2808-E0A2-D7F4-1B94B8A7504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Cline + 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MCP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58047B5-BE33-13D4-0F42-4C22076FB73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14E2666D-8BEF-C7A1-C80A-5F84ED6F0B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3C0CD91-65FE-7FE2-DF5D-40D2B9422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642" y="1288330"/>
            <a:ext cx="6073666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9008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B4692720-7E30-E23C-FADC-042BC58E8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CAF1F18-D3DB-DD5E-AAC0-DB84A0DA846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Cline Prompts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8541F1B-1BD9-1DAD-A98B-8E518160869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8E6C2AFC-343E-B42C-EDB7-328DB0659D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70F5205-E54E-18E4-3ADC-AAB510B50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929" y="1356475"/>
            <a:ext cx="8215313" cy="52387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7846DFA-67B3-7847-B910-04ED35E6CFE3}"/>
              </a:ext>
            </a:extLst>
          </p:cNvPr>
          <p:cNvSpPr/>
          <p:nvPr/>
        </p:nvSpPr>
        <p:spPr>
          <a:xfrm>
            <a:off x="1285875" y="2828925"/>
            <a:ext cx="3857625" cy="15906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7064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B6EF5-03ED-9F77-ADCA-C54D1A3E0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92704C1-4B64-A764-6B61-98D2A05105D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Cline + n8n MCP + prompt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 AI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Workflow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5A31B-7B04-C85B-D89A-7227056A997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AE4F0D1-013B-4AC7-73AA-93C18678FC5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035BF-DEB8-5698-AF31-1E4C029C0F42}"/>
              </a:ext>
            </a:extLst>
          </p:cNvPr>
          <p:cNvSpPr txBox="1"/>
          <p:nvPr/>
        </p:nvSpPr>
        <p:spPr>
          <a:xfrm>
            <a:off x="591620" y="1248422"/>
            <a:ext cx="11047930" cy="791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질문을 받으면 대화 맥락과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지식베이스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함께 참조하여 정확하게 답변하는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증강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 에이전트 워크플로우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F301A2-EBB8-CBF8-1D3B-5533F3951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763" y="2214308"/>
            <a:ext cx="6463277" cy="428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0585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9B2FB-9A3C-76E5-3B6A-C7E4715A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96B0CDC-E7BD-09FB-C672-985F0C0C674F}"/>
              </a:ext>
            </a:extLst>
          </p:cNvPr>
          <p:cNvSpPr txBox="1">
            <a:spLocks/>
          </p:cNvSpPr>
          <p:nvPr/>
        </p:nvSpPr>
        <p:spPr>
          <a:xfrm>
            <a:off x="475644" y="481983"/>
            <a:ext cx="11346901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Vison 3 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Docker-based 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AI 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Workflow Architecture(</a:t>
            </a:r>
            <a:r>
              <a:rPr lang="en-US" altLang="ko-KR" sz="20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VSCode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, Cline, n8n MCP)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B15C46-D644-C30B-1F58-9479DCC9A5C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A45A236-78A8-8E99-16F3-C7752B4ACE8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EBDE77E-3089-89C2-CBD0-A1BB1C7E4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19" y="1624393"/>
            <a:ext cx="9846888" cy="489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39467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11082</TotalTime>
  <Words>1994</Words>
  <Application>Microsoft Office PowerPoint</Application>
  <PresentationFormat>와이드스크린</PresentationFormat>
  <Paragraphs>385</Paragraphs>
  <Slides>36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5" baseType="lpstr">
      <vt:lpstr>D2Coding</vt:lpstr>
      <vt:lpstr>Sorts Mill Goudy</vt:lpstr>
      <vt:lpstr>맑은 고딕</vt:lpstr>
      <vt:lpstr>Batang</vt:lpstr>
      <vt:lpstr>Arial</vt:lpstr>
      <vt:lpstr>Lora</vt:lpstr>
      <vt:lpstr>Segoe UI Emoji</vt:lpstr>
      <vt:lpstr>Wingdings</vt:lpstr>
      <vt:lpstr>WelcomeDoc</vt:lpstr>
      <vt:lpstr>Workflow Orchestration Framework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Apache Airflow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Cline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164</cp:revision>
  <dcterms:created xsi:type="dcterms:W3CDTF">2026-04-06T01:00:39Z</dcterms:created>
  <dcterms:modified xsi:type="dcterms:W3CDTF">2026-09-09T01:18:43Z</dcterms:modified>
  <cp:version/>
</cp:coreProperties>
</file>