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6"/>
  </p:notesMasterIdLst>
  <p:handoutMasterIdLst>
    <p:handoutMasterId r:id="rId117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9" r:id="rId66"/>
    <p:sldId id="1318" r:id="rId67"/>
    <p:sldId id="1321" r:id="rId68"/>
    <p:sldId id="1322" r:id="rId69"/>
    <p:sldId id="1323" r:id="rId70"/>
    <p:sldId id="1320" r:id="rId71"/>
    <p:sldId id="1324" r:id="rId72"/>
    <p:sldId id="1311" r:id="rId73"/>
    <p:sldId id="1308" r:id="rId74"/>
    <p:sldId id="1156" r:id="rId75"/>
    <p:sldId id="1157" r:id="rId76"/>
    <p:sldId id="1256" r:id="rId77"/>
    <p:sldId id="1314" r:id="rId78"/>
    <p:sldId id="1330" r:id="rId79"/>
    <p:sldId id="1329" r:id="rId80"/>
    <p:sldId id="1327" r:id="rId81"/>
    <p:sldId id="1310" r:id="rId82"/>
    <p:sldId id="1331" r:id="rId83"/>
    <p:sldId id="1325" r:id="rId84"/>
    <p:sldId id="1263" r:id="rId85"/>
    <p:sldId id="1254" r:id="rId86"/>
    <p:sldId id="1304" r:id="rId87"/>
    <p:sldId id="1161" r:id="rId88"/>
    <p:sldId id="1162" r:id="rId89"/>
    <p:sldId id="1326" r:id="rId90"/>
    <p:sldId id="1255" r:id="rId91"/>
    <p:sldId id="1261" r:id="rId92"/>
    <p:sldId id="1312" r:id="rId93"/>
    <p:sldId id="1262" r:id="rId94"/>
    <p:sldId id="1257" r:id="rId95"/>
    <p:sldId id="1259" r:id="rId96"/>
    <p:sldId id="1258" r:id="rId97"/>
    <p:sldId id="1260" r:id="rId98"/>
    <p:sldId id="1317" r:id="rId99"/>
    <p:sldId id="1315" r:id="rId100"/>
    <p:sldId id="1316" r:id="rId101"/>
    <p:sldId id="1328" r:id="rId102"/>
    <p:sldId id="1252" r:id="rId103"/>
    <p:sldId id="1266" r:id="rId104"/>
    <p:sldId id="1253" r:id="rId105"/>
    <p:sldId id="1264" r:id="rId106"/>
    <p:sldId id="1279" r:id="rId107"/>
    <p:sldId id="1280" r:id="rId108"/>
    <p:sldId id="1250" r:id="rId109"/>
    <p:sldId id="1240" r:id="rId110"/>
    <p:sldId id="1145" r:id="rId111"/>
    <p:sldId id="1251" r:id="rId112"/>
    <p:sldId id="1138" r:id="rId113"/>
    <p:sldId id="1143" r:id="rId114"/>
    <p:sldId id="1139" r:id="rId1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9"/>
            <p14:sldId id="1318"/>
            <p14:sldId id="1321"/>
            <p14:sldId id="1322"/>
            <p14:sldId id="1323"/>
            <p14:sldId id="1320"/>
            <p14:sldId id="1324"/>
            <p14:sldId id="1311"/>
            <p14:sldId id="1308"/>
            <p14:sldId id="1156"/>
            <p14:sldId id="1157"/>
            <p14:sldId id="1256"/>
            <p14:sldId id="1314"/>
            <p14:sldId id="1330"/>
            <p14:sldId id="1329"/>
            <p14:sldId id="1327"/>
            <p14:sldId id="1310"/>
            <p14:sldId id="1331"/>
            <p14:sldId id="1325"/>
            <p14:sldId id="1263"/>
            <p14:sldId id="1254"/>
            <p14:sldId id="1304"/>
            <p14:sldId id="1161"/>
            <p14:sldId id="1162"/>
            <p14:sldId id="1326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328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08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commentAuthors" Target="commentAuthor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99393-3361-20BD-83FC-3A5F17BC3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FF1CD-8E4E-E1F1-55C5-2F252CA04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193A9D-0EFD-D9B8-0903-26197B911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53F3C2-7264-4615-F85B-2A7A483773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344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C1287-603F-7B13-C9D6-29CD06F8A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914B9F-5235-646A-0BCB-8FFB70DF8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6B1839-7A1C-3B41-1D96-1FE8DA0D8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995C57-AB73-AC2F-C235-8276680E6A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955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04285-A33B-A36F-0082-9FF5329D3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B6BFC8-6BA6-F707-1E37-58EBC01E6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93A03B-D60C-E412-404C-8DF1EDAED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A52AE6-1882-8C43-4724-70B3D93930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1434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A9A9-1B73-D964-1E15-6CFA7AF51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123E96-28B5-B4D6-943D-26EA68498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117A07-2C10-24DE-FD8F-1EA22EE40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5081CE-7A4A-B2C6-FC93-FAE456622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7761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47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home.openweathermap.org/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5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0.png"/><Relationship Id="rId4" Type="http://schemas.openxmlformats.org/officeDocument/2006/relationships/hyperlink" Target="https://word2vec.kr/search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_distances.html" TargetMode="External"/><Relationship Id="rId2" Type="http://schemas.openxmlformats.org/officeDocument/2006/relationships/hyperlink" Target="https://scikit-learn.org/stable/modules/generated/sklearn.feature_extraction.text.CountVectorizer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hyperlink" Target="https://scikit-learn.org/stable/modules/generated/sklearn.metrics.pairwise.cosine_similarity.html" TargetMode="Externa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hyperlink" Target="mailto:ancestor9@kbu.ac.kr" TargetMode="External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8.svg"/><Relationship Id="rId5" Type="http://schemas.openxmlformats.org/officeDocument/2006/relationships/image" Target="../media/image11.svg"/><Relationship Id="rId4" Type="http://schemas.openxmlformats.org/officeDocument/2006/relationships/hyperlink" Target="https://github.com/ancestor9/2026_Fall_AI-Workflow/blob/main/n8n/%EB%AF%B8%EB%9E%98AI%EA%B8%B0%EC%88%A0.pdf" TargetMode="Externa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sv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481692" y="13887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4F415-D550-A81D-D960-4B8D5A7EF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775" y="1388771"/>
            <a:ext cx="7723306" cy="5181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406021A-D0BA-4DA5-C7B4-DD7CC73AE076}"/>
              </a:ext>
            </a:extLst>
          </p:cNvPr>
          <p:cNvSpPr/>
          <p:nvPr/>
        </p:nvSpPr>
        <p:spPr>
          <a:xfrm>
            <a:off x="3409950" y="1727326"/>
            <a:ext cx="5353050" cy="2358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8D9F4-A9ED-C502-1F16-BA2706DB8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CAA10F-28C1-B69D-D8F3-63585974E0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 ? 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06562DA-214B-AA04-F755-A76700C158C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66657-B3BC-A05B-EDAA-AF40865BBF55}"/>
              </a:ext>
            </a:extLst>
          </p:cNvPr>
          <p:cNvSpPr txBox="1"/>
          <p:nvPr/>
        </p:nvSpPr>
        <p:spPr>
          <a:xfrm>
            <a:off x="509025" y="1214298"/>
            <a:ext cx="11173949" cy="23214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9CBFE35-45B4-F13F-C861-6DF8F0D0F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82" y="4037365"/>
            <a:ext cx="6179127" cy="24641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3C5068-7F90-2FC2-3703-398DD715B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2" y="3780677"/>
            <a:ext cx="1733792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B57D56C-FED0-0B9F-FFF9-CA83DD6E8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686" y="3780677"/>
            <a:ext cx="3311847" cy="6046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1739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7E2B-EBEA-9F7B-DD22-5226A2CB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FDA9B9-A8F2-FF26-CFCC-3301FF0BD4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0893E-FABB-550A-2E3E-B70968F45F8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CA81CF9-97F4-B59D-0F92-CED75D4B0E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131B657-A52D-AEE9-8219-D599A781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7" y="1579419"/>
            <a:ext cx="10061968" cy="47684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202009-CE66-C113-F32A-53AAF55EA9D0}"/>
              </a:ext>
            </a:extLst>
          </p:cNvPr>
          <p:cNvSpPr/>
          <p:nvPr/>
        </p:nvSpPr>
        <p:spPr>
          <a:xfrm>
            <a:off x="7777019" y="3168073"/>
            <a:ext cx="3403741" cy="3352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714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AE521-DECB-4C7B-550E-96AB3C8C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E7395F-9E71-9934-71BE-068F993EC1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47D28B-305D-16F4-AE07-7995A048BBE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D228DAC-8363-E008-E967-11E02D1813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27D11-DC4D-6195-9060-E6F7F5BD2B2F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9250F7-7EF2-C9E3-86B5-E12DFFF11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C97641E-FC53-6839-44F4-E3E59C3344F9}"/>
              </a:ext>
            </a:extLst>
          </p:cNvPr>
          <p:cNvSpPr/>
          <p:nvPr/>
        </p:nvSpPr>
        <p:spPr>
          <a:xfrm>
            <a:off x="6908801" y="3971636"/>
            <a:ext cx="2142836" cy="18565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007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597FC-A1B6-AEFC-4D36-39C576FC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E2C4CE-648D-9F1C-119A-F9145B4BA6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696F026-412A-63F3-9A9D-224461087E1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ADA9B48-AA66-AA1E-7547-4A28C6546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2273421"/>
            <a:ext cx="8541961" cy="44237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B5C10E5-AE86-BB4D-6302-CC1BB9A641DA}"/>
              </a:ext>
            </a:extLst>
          </p:cNvPr>
          <p:cNvSpPr txBox="1"/>
          <p:nvPr/>
        </p:nvSpPr>
        <p:spPr>
          <a:xfrm>
            <a:off x="572655" y="1348634"/>
            <a:ext cx="11220507" cy="705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기후정보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https://home.openweathermap.org/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 key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발급받고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 connect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City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도시를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인식하도록 클릭하고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Workflow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67653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DBEC0-1706-857D-6BB1-247A81C3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0E4C13-434D-9D35-C46C-28F1FF87EE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D4285F1-CFC1-2AC3-D2FD-81E5F9AA7D2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2C5833D-6E3F-0E7E-4396-FD1961B9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82" y="1336250"/>
            <a:ext cx="3198622" cy="16193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A93FCA-5D0E-D12B-1C66-2A0BA7CB9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4339" y="1562683"/>
            <a:ext cx="4056373" cy="22187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16CB4C4-B3CC-D1D4-11B2-19401401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904" y="3716729"/>
            <a:ext cx="5029902" cy="25340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3698551-F81E-B1FE-DF61-1AFEB0705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60" y="2801689"/>
            <a:ext cx="2949158" cy="37568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16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7C0C-D832-305C-40AF-1646687C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8A9B38-F38F-6CD4-0223-664DB7920C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기반 AI </a:t>
            </a:r>
            <a:r>
              <a:rPr lang="ko-KR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</a:t>
            </a:r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시스템 구성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682D8550-5200-ECF1-EED2-52386F606CE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0C9B7-DBC8-B344-BF77-0B6FF9AF11AE}"/>
              </a:ext>
            </a:extLst>
          </p:cNvPr>
          <p:cNvSpPr txBox="1"/>
          <p:nvPr/>
        </p:nvSpPr>
        <p:spPr>
          <a:xfrm>
            <a:off x="2073564" y="1418581"/>
            <a:ext cx="6987310" cy="49859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1. 문서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수집·저장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업로드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자동 다운로드 및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로딩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Chunking</a:t>
            </a: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임베딩·벡터</a:t>
            </a: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DB 구축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벡터화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저장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→ 검색 가능한 지식베이스 구축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사용자 질문 처리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 분석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관련 문서 검색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4. RAG 기반 답변 생성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검색된 관련 문서(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+ 사용자 질문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근거를 바탕으로 답변 생성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Simple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대화 맥락 유지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4078E-6375-8350-0B8A-39B0006D6B40}"/>
              </a:ext>
            </a:extLst>
          </p:cNvPr>
          <p:cNvSpPr txBox="1"/>
          <p:nvPr/>
        </p:nvSpPr>
        <p:spPr>
          <a:xfrm rot="20837507">
            <a:off x="8682184" y="2563453"/>
            <a:ext cx="3048000" cy="61799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외부 지식을 검색해서 제공한 후 답변하게 하는 시스템 구조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80344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3711-BFA8-D964-6822-236B2F6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F4192F-E539-2FBE-874A-0A20F8EB75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BDDA633-EFAB-595A-9F9B-24E4A29661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0692B85-85C1-FEFF-4BB9-438A09118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25" y="1654559"/>
            <a:ext cx="5703166" cy="3869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10F786-85D6-EB78-5C06-39D38DEA4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288" y="2947017"/>
            <a:ext cx="6080655" cy="3429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4422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73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488" y="2625465"/>
            <a:ext cx="7643651" cy="3646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A0D9F66-B42C-6867-CD7C-CC31F3556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9919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5A631-16FA-ECA7-22DA-BF5EFEC00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8634C-80B5-30C6-70A1-1539521CCF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3"/>
            <a:ext cx="10934701" cy="3444621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 Text to</a:t>
            </a:r>
            <a:br>
              <a:rPr lang="en-US" altLang="ko-KR" sz="6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 Token ID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Hot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 Word Embedding Vector</a:t>
            </a:r>
            <a:endParaRPr lang="ko-KR" altLang="en-US" sz="6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97512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E189B-EF48-5BB2-AF2B-639F77F86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2DA53A-1ACC-8C0B-3815-F90FD71928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ext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numeric</a:t>
            </a:r>
            <a:endParaRPr lang="ko-KR" altLang="en-US" sz="20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4FA6A3B-B3CD-FC38-B5CA-7112FF29B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79</a:t>
            </a:fld>
            <a:endParaRPr lang="en-US" sz="1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322284-4385-F54A-B14C-7A9C18AEECA5}"/>
              </a:ext>
            </a:extLst>
          </p:cNvPr>
          <p:cNvSpPr txBox="1"/>
          <p:nvPr/>
        </p:nvSpPr>
        <p:spPr>
          <a:xfrm>
            <a:off x="540327" y="1248422"/>
            <a:ext cx="11393979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문장의 단어를 추출하여 단어를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Token, Token ID, </a:t>
            </a:r>
            <a:r>
              <a:rPr lang="en-US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OneHot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Encoding, Word Embedding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하는 코드를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순수 파이썬 구현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TensorFlow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/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Face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Transformers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genism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1600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BEDAEC-0F34-7AC3-6714-EA00E11BA020}"/>
              </a:ext>
            </a:extLst>
          </p:cNvPr>
          <p:cNvSpPr txBox="1"/>
          <p:nvPr/>
        </p:nvSpPr>
        <p:spPr>
          <a:xfrm>
            <a:off x="701962" y="2692012"/>
            <a:ext cx="495056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tensorflow.keras.layers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tensorflow.keras.preprocessing.text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</a:t>
            </a: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tensorflow.keras.utils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to_categorical</a:t>
            </a: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sentence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"자연어 처리는 정말 재미있고 유익합니다"</a:t>
            </a:r>
          </a:p>
          <a:p>
            <a:pPr>
              <a:lnSpc>
                <a:spcPct val="100000"/>
              </a:lnSpc>
              <a:buNone/>
            </a:pPr>
            <a:b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(토큰화: 텍스트를 단어 단위로 분리)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sentence.split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("1.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00000"/>
              </a:lnSpc>
              <a:buNone/>
            </a:pPr>
            <a:b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ID (정수 인코딩: 각 단어에 고유한 정수 ID 부여)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tokenizer.fit_on_texts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sentence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tokenizer.texts_to_sequences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])[0]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("2.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ID:",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("단어 사전(Word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Index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):",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tokenizer.word_index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B94D1D-3694-8855-6046-FCC580DCDAA6}"/>
              </a:ext>
            </a:extLst>
          </p:cNvPr>
          <p:cNvSpPr txBox="1"/>
          <p:nvPr/>
        </p:nvSpPr>
        <p:spPr>
          <a:xfrm>
            <a:off x="5883435" y="2692755"/>
            <a:ext cx="5837511" cy="21236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One-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hot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(원-핫 인코딩: 정수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ID를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원-핫 벡터로 변환)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tokenizer.word_index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+ 1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one_hot_encoded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to_categorical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num_classes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("3.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OneHot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one_hot_encoded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00000"/>
              </a:lnSpc>
              <a:buNone/>
            </a:pPr>
            <a:endParaRPr lang="en-US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endParaRPr lang="ko-KR" altLang="ko-KR" sz="1200" b="0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Word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저차원의 실수형 밀집 벡터로 변환)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6  #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벡터 차원 수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embedding_layer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output_dim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embedded_vectors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embedding_layer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("4. Word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embedded_vectors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ko-KR" sz="10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03E07FA-ED3B-EF05-37EF-E063CF68C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435" y="5298594"/>
            <a:ext cx="3581900" cy="8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1207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EABD-1D50-1B52-5D38-FDE0A4091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ECF5C2-8246-BABF-1AEF-320F66EE93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C6BDE2-21B6-3EA0-29D5-3FB1BCC815A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9602D-D70D-BED4-A8D1-E016EAEB2CA9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75B7B69-42DF-9264-D605-037E81317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CAC2772-97F4-0DB0-DAF8-D1DC78C64A08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EB742A3-A006-53B9-4323-E8C9607BE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0E0FD3-2B8D-E47E-E963-C347E49EE506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24269B-DB69-90B6-A953-E7275D3BBC8B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B941E9C-8BF4-2001-8296-9418A152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80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8AA2F0E-6AA3-2FE6-2301-03A5E0BF90B5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CADEF41-F731-1445-1F57-776FF7FB5042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7E406B-DA88-398F-87C7-9D276785A8DC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71551F-0A95-D87D-DCD2-6E0CA63A844B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DE86CB-A9C6-9999-713F-82ABC1591690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81772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A0373-5F2C-2367-D79C-5B48B24B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F646B6D-E4AF-A95E-1962-F3A0F93F78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Convert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collection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of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text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documents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matrix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of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token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counts</a:t>
            </a:r>
            <a:r>
              <a:rPr lang="ko-KR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.</a:t>
            </a:r>
            <a:endParaRPr lang="ko-KR" altLang="en-US" sz="20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CB0DF87-C1B0-F895-4C2E-319927BD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82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DB5488-4E70-5CF5-29C9-5D4675712CE0}"/>
              </a:ext>
            </a:extLst>
          </p:cNvPr>
          <p:cNvSpPr txBox="1"/>
          <p:nvPr/>
        </p:nvSpPr>
        <p:spPr>
          <a:xfrm>
            <a:off x="7379617" y="2304675"/>
            <a:ext cx="408958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sklearn.metrics.pairwise_distances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sklearn.metrics.pairwise.cosine_similarity.html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9029E0-EB40-0458-ECF4-DFE2C4147989}"/>
              </a:ext>
            </a:extLst>
          </p:cNvPr>
          <p:cNvSpPr txBox="1"/>
          <p:nvPr/>
        </p:nvSpPr>
        <p:spPr>
          <a:xfrm>
            <a:off x="620347" y="2993084"/>
            <a:ext cx="4706430" cy="32316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vectorizer2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analyzer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’,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ngram_range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=(2, 2))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X2 = vectorizer2.fit_transform(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vectorizer2.get_feature_names_out()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B39EA1-4D8D-3AE4-8209-E6008E7FC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050" y="3442123"/>
            <a:ext cx="3251120" cy="103388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F3D95F2-C2DC-5084-3CD7-179896669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292" y="5237469"/>
            <a:ext cx="7038109" cy="98726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621DE76-8973-F0C7-8238-41F5D35485C2}"/>
              </a:ext>
            </a:extLst>
          </p:cNvPr>
          <p:cNvSpPr txBox="1"/>
          <p:nvPr/>
        </p:nvSpPr>
        <p:spPr>
          <a:xfrm>
            <a:off x="620347" y="1232572"/>
            <a:ext cx="11393979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 문장으로 이루어진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matrix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of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token</a:t>
            </a:r>
            <a:r>
              <a:rPr lang="ko-KR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ko-KR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counts</a:t>
            </a:r>
            <a:r>
              <a:rPr lang="ko-KR" altLang="en-US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전처리한 후에 각 문장의 </a:t>
            </a:r>
            <a:r>
              <a:rPr lang="ko-KR" altLang="en-US" sz="1600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유클리디언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거리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코사인 거리를 계산하라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017254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3D2-65AE-72AD-5551-2D785AD8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A0FC6-341C-2CA0-3B9E-8A8422CCA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385E1F02-B841-F155-00E0-8B65F1FDB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856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ECA4C-CC8C-D144-7D64-BDE9F82C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D7D5F8-B881-C5B3-0369-D2FFD6B9C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6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Mongo</a:t>
            </a:r>
            <a:r>
              <a:rPr lang="ko-KR" altLang="en-US" sz="6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6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30459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004DF-8890-FB55-22E0-1E6D990C8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AC5760-F2BC-D894-5ED0-014C66BE0E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MongoDB vs. RDBMS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401979-8A86-EC88-C237-FE2FF2368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88</a:t>
            </a:fld>
            <a:endParaRPr lang="en-US" sz="1400" b="1" dirty="0"/>
          </a:p>
        </p:txBody>
      </p:sp>
      <p:pic>
        <p:nvPicPr>
          <p:cNvPr id="1026" name="Picture 2" descr="mongoDB에 대하여">
            <a:extLst>
              <a:ext uri="{FF2B5EF4-FFF2-40B4-BE49-F238E27FC236}">
                <a16:creationId xmlns:a16="http://schemas.microsoft.com/office/drawing/2014/main" id="{D2C4BFA8-296B-715F-7857-DB8CF95C65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424" y="2181224"/>
            <a:ext cx="6443663" cy="42957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4" descr="MongoDB vs Relational Database">
            <a:extLst>
              <a:ext uri="{FF2B5EF4-FFF2-40B4-BE49-F238E27FC236}">
                <a16:creationId xmlns:a16="http://schemas.microsoft.com/office/drawing/2014/main" id="{76BF07E9-4DFB-2214-FD03-5DA59159A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C3E8CBD-896A-FCFE-A12A-DFE0C37AD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88" y="1371599"/>
            <a:ext cx="2770238" cy="25279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2287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714-D393-4C40-E377-D6B9187E0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D26E80-1035-B5F2-D550-FB6332A0A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060C8E6-C6F7-B2AB-A64C-0E6A4C74A3D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래픽 5" descr="보디빌더  윤곽선">
            <a:extLst>
              <a:ext uri="{FF2B5EF4-FFF2-40B4-BE49-F238E27FC236}">
                <a16:creationId xmlns:a16="http://schemas.microsoft.com/office/drawing/2014/main" id="{C92AD3F1-97C2-69B1-0B28-339FE88BB2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1649" y="1990724"/>
            <a:ext cx="1599624" cy="159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8299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3B9A016-8BF2-456C-FF1C-0AD6E0DCC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99" y="2169177"/>
            <a:ext cx="5854776" cy="42068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87CF7-7867-700D-80A6-0DB216C69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CF7098D-FF8E-3719-B92F-672C2FC297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EDAA47-7883-1E06-1E54-C13838B7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과제 제출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CD3EB0-3B9C-5932-7EE7-40F900D9C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80" y="2692774"/>
            <a:ext cx="10487281" cy="37910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F7908C-FA5D-72CD-F361-8A8C9665B67F}"/>
              </a:ext>
            </a:extLst>
          </p:cNvPr>
          <p:cNvSpPr txBox="1"/>
          <p:nvPr/>
        </p:nvSpPr>
        <p:spPr>
          <a:xfrm>
            <a:off x="590551" y="1238250"/>
            <a:ext cx="11010900" cy="148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vectorDB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완성하여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스몰데이터에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대해 설명해줘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답변을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ancestor9@kbu.ac.kr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로 보내는 과제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미래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기술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pdf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upload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Table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을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checkpoints 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차원이 동일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본문 작성기">
            <a:extLst>
              <a:ext uri="{FF2B5EF4-FFF2-40B4-BE49-F238E27FC236}">
                <a16:creationId xmlns:a16="http://schemas.microsoft.com/office/drawing/2014/main" id="{16B871F1-9DB5-8BCE-9765-1EEE115BCB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21440" y="275085"/>
            <a:ext cx="919686" cy="919686"/>
          </a:xfrm>
          <a:prstGeom prst="rect">
            <a:avLst/>
          </a:prstGeom>
        </p:spPr>
      </p:pic>
      <p:pic>
        <p:nvPicPr>
          <p:cNvPr id="13" name="그래픽 12" descr="보디빌더  윤곽선">
            <a:extLst>
              <a:ext uri="{FF2B5EF4-FFF2-40B4-BE49-F238E27FC236}">
                <a16:creationId xmlns:a16="http://schemas.microsoft.com/office/drawing/2014/main" id="{3FED4746-048D-3B07-79F5-C60D8A5AE0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8129" y="299420"/>
            <a:ext cx="895351" cy="89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8045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20749</TotalTime>
  <Words>3993</Words>
  <Application>Microsoft Office PowerPoint</Application>
  <PresentationFormat>와이드스크린</PresentationFormat>
  <Paragraphs>684</Paragraphs>
  <Slides>114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114</vt:i4>
      </vt:variant>
    </vt:vector>
  </HeadingPairs>
  <TitlesOfParts>
    <vt:vector size="126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Convert Text to  - Token ID - One-Hot Encoding Vector - Word Embedding Vector</vt:lpstr>
      <vt:lpstr>PowerPoint 프레젠테이션</vt:lpstr>
      <vt:lpstr>PowerPoint 프레젠테이션</vt:lpstr>
      <vt:lpstr>PowerPoint 프레젠테이션</vt:lpstr>
      <vt:lpstr>PowerPoint 프레젠테이션</vt:lpstr>
      <vt:lpstr>RAG(Retrieval-Augmented Generation) Step 1. Data Indexing</vt:lpstr>
      <vt:lpstr>PowerPoint 프레젠테이션</vt:lpstr>
      <vt:lpstr>PowerPoint 프레젠테이션</vt:lpstr>
      <vt:lpstr>PowerPoint 프레젠테이션</vt:lpstr>
      <vt:lpstr>Mongo DB  document</vt:lpstr>
      <vt:lpstr>PowerPoint 프레젠테이션</vt:lpstr>
      <vt:lpstr>RAG(Retrieval-Augmented Generation) Step 2. Data Retrieval &amp; Generation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279</cp:revision>
  <dcterms:created xsi:type="dcterms:W3CDTF">2026-04-06T01:00:39Z</dcterms:created>
  <dcterms:modified xsi:type="dcterms:W3CDTF">2026-10-12T04:43:19Z</dcterms:modified>
  <cp:version/>
</cp:coreProperties>
</file>