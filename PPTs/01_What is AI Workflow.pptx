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8"/>
  </p:notesMasterIdLst>
  <p:handoutMasterIdLst>
    <p:handoutMasterId r:id="rId39"/>
  </p:handoutMasterIdLst>
  <p:sldIdLst>
    <p:sldId id="1151" r:id="rId2"/>
    <p:sldId id="1149" r:id="rId3"/>
    <p:sldId id="1176" r:id="rId4"/>
    <p:sldId id="1223" r:id="rId5"/>
    <p:sldId id="1224" r:id="rId6"/>
    <p:sldId id="1222" r:id="rId7"/>
    <p:sldId id="1153" r:id="rId8"/>
    <p:sldId id="1226" r:id="rId9"/>
    <p:sldId id="1225" r:id="rId10"/>
    <p:sldId id="1154" r:id="rId11"/>
    <p:sldId id="1155" r:id="rId12"/>
    <p:sldId id="1156" r:id="rId13"/>
    <p:sldId id="1179" r:id="rId14"/>
    <p:sldId id="1171" r:id="rId15"/>
    <p:sldId id="1230" r:id="rId16"/>
    <p:sldId id="1173" r:id="rId17"/>
    <p:sldId id="1172" r:id="rId18"/>
    <p:sldId id="1177" r:id="rId19"/>
    <p:sldId id="401" r:id="rId20"/>
    <p:sldId id="433" r:id="rId21"/>
    <p:sldId id="432" r:id="rId22"/>
    <p:sldId id="1182" r:id="rId23"/>
    <p:sldId id="382" r:id="rId24"/>
    <p:sldId id="1220" r:id="rId25"/>
    <p:sldId id="1196" r:id="rId26"/>
    <p:sldId id="1178" r:id="rId27"/>
    <p:sldId id="1146" r:id="rId28"/>
    <p:sldId id="1145" r:id="rId29"/>
    <p:sldId id="1168" r:id="rId30"/>
    <p:sldId id="1167" r:id="rId31"/>
    <p:sldId id="1147" r:id="rId32"/>
    <p:sldId id="1161" r:id="rId33"/>
    <p:sldId id="1164" r:id="rId34"/>
    <p:sldId id="1180" r:id="rId35"/>
    <p:sldId id="1181" r:id="rId36"/>
    <p:sldId id="1227" r:id="rId37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/>
        </p14:section>
        <p14:section name="디자인, 모핑, 주석 달기, 공동 작업, 입력하세요" id="{B9B51309-D148-4332-87C2-07BE32FBCA3B}">
          <p14:sldIdLst>
            <p14:sldId id="1151"/>
            <p14:sldId id="1149"/>
            <p14:sldId id="1176"/>
            <p14:sldId id="1223"/>
            <p14:sldId id="1224"/>
            <p14:sldId id="1222"/>
            <p14:sldId id="1153"/>
            <p14:sldId id="1226"/>
            <p14:sldId id="1225"/>
            <p14:sldId id="1154"/>
            <p14:sldId id="1155"/>
            <p14:sldId id="1156"/>
            <p14:sldId id="1179"/>
            <p14:sldId id="1171"/>
            <p14:sldId id="1230"/>
            <p14:sldId id="1173"/>
            <p14:sldId id="1172"/>
            <p14:sldId id="1177"/>
            <p14:sldId id="401"/>
            <p14:sldId id="433"/>
            <p14:sldId id="432"/>
            <p14:sldId id="1182"/>
            <p14:sldId id="382"/>
            <p14:sldId id="1220"/>
            <p14:sldId id="1196"/>
            <p14:sldId id="1178"/>
            <p14:sldId id="1146"/>
            <p14:sldId id="1145"/>
            <p14:sldId id="1168"/>
            <p14:sldId id="1167"/>
            <p14:sldId id="1147"/>
            <p14:sldId id="1161"/>
            <p14:sldId id="1164"/>
            <p14:sldId id="1180"/>
            <p14:sldId id="1181"/>
            <p14:sldId id="1227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6E3FF"/>
    <a:srgbClr val="D24726"/>
    <a:srgbClr val="FF9B45"/>
    <a:srgbClr val="DD462F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SorterView">
  <p:normalViewPr>
    <p:restoredLeft sz="13062" autoAdjust="0"/>
    <p:restoredTop sz="94297" autoAdjust="0"/>
  </p:normalViewPr>
  <p:slideViewPr>
    <p:cSldViewPr snapToGrid="0">
      <p:cViewPr varScale="1">
        <p:scale>
          <a:sx n="104" d="100"/>
          <a:sy n="104" d="100"/>
        </p:scale>
        <p:origin x="984" y="108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0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handoutMaster" Target="handoutMasters/handout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2026-09-09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A2362-49C8-3613-71B3-4AB14F8347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DB3F229-4D2B-9C76-B7BC-09DB5E08D7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16EF9BD-3B03-4C4D-3966-0C97B3DE03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841E02-0EA3-463F-A5BA-D664E0C512E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9333303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1C0289-D123-DD35-D4D8-4614510D7A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7868140-1DFC-31B7-5287-8A4D53B166A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5D87B3D-F089-B1E5-BD52-CE965CF175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99E9936-FC3C-1356-9700-DCFAA4A895F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788255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2C9BBB-4A23-E21A-8244-9A16664573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542B148-30DF-9C89-8EB1-0DAC5F0844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39DC16-78A6-4EE7-0852-436C58036F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DCEE036-ABA4-0BFC-663A-BDFAA104B966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13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6943941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FC302-C04D-8312-7A83-4FED4F30B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0210E6C-18CE-44AA-192F-B7F1CA5C8D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5A5CB12-4ED8-271E-A70D-B10A40F83C4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FAF19BE-F39E-32E0-72F3-7D6D8C1CB8CA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18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775391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26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34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35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2026-09-09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2026-09-09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math.asu.edu/datascience/workflow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hyperlink" Target="https://www.kdnuggets.com/2022/02/orchestrate-data-science-project-python-prefect.html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7.jp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hyperlink" Target="https://velog.io/@hsh/series/prefect" TargetMode="Externa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hyperlink" Target="https://github.com/ancestor9/2026_Fall_AI-Workflow/tree/main/scripts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jpe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12" Type="http://schemas.openxmlformats.org/officeDocument/2006/relationships/image" Target="../media/image22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6.png"/><Relationship Id="rId11" Type="http://schemas.openxmlformats.org/officeDocument/2006/relationships/image" Target="../media/image21.png"/><Relationship Id="rId5" Type="http://schemas.openxmlformats.org/officeDocument/2006/relationships/image" Target="../media/image15.png"/><Relationship Id="rId10" Type="http://schemas.openxmlformats.org/officeDocument/2006/relationships/image" Target="../media/image20.png"/><Relationship Id="rId4" Type="http://schemas.openxmlformats.org/officeDocument/2006/relationships/hyperlink" Target="https://huggingface.co/learn/nlp-course/chapter1/4?fw=pt" TargetMode="External"/><Relationship Id="rId9" Type="http://schemas.openxmlformats.org/officeDocument/2006/relationships/image" Target="../media/image19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hyperlink" Target="https://platform.openai.com/tokenizer" TargetMode="Externa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hyperlink" Target="https://gradio.app/" TargetMode="External"/><Relationship Id="rId2" Type="http://schemas.openxmlformats.org/officeDocument/2006/relationships/hyperlink" Target="https://github.com/ancestor9/Special_notes" TargetMode="Externa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26.svg"/><Relationship Id="rId4" Type="http://schemas.openxmlformats.org/officeDocument/2006/relationships/image" Target="../media/image25.sv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antigravity.google/" TargetMode="External"/><Relationship Id="rId2" Type="http://schemas.openxmlformats.org/officeDocument/2006/relationships/image" Target="../media/image26.svg"/><Relationship Id="rId1" Type="http://schemas.openxmlformats.org/officeDocument/2006/relationships/slideLayout" Target="../slideLayouts/slideLayout4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jpeg"/><Relationship Id="rId1" Type="http://schemas.openxmlformats.org/officeDocument/2006/relationships/slideLayout" Target="../slideLayouts/slideLayout4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svg"/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hyperlink" Target="https://colab.research.google.com/github/google-gemini/cookbook/blob/main/quickstarts/Get_started.ipynb#scrollTo=eVmFDcYOSNiV" TargetMode="External"/><Relationship Id="rId1" Type="http://schemas.openxmlformats.org/officeDocument/2006/relationships/slideLayout" Target="../slideLayouts/slideLayout4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20530" TargetMode="External"/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hyperlink" Target="https://wikidocs.net/book/19470" TargetMode="External"/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hyperlink" Target="https://wikidocs.net/book/18092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What is AI Workflow?  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898569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F1806B-3677-1D38-9F7D-896DBF0216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2B71861-A105-753E-F5E8-C57C8BA999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1059EA3-E600-8D96-DF93-F92E75733DC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>
                <a:solidFill>
                  <a:schemeClr val="bg2">
                    <a:lumMod val="25000"/>
                  </a:schemeClr>
                </a:solidFill>
                <a:latin typeface="D2Coding" panose="020B0609020101020101" pitchFamily="49" charset="-127"/>
                <a:ea typeface="D2Coding" panose="020B0609020101020101" pitchFamily="49" charset="-127"/>
                <a:cs typeface="Segoe UI Light" panose="020B0502040204020203" pitchFamily="34" charset="0"/>
              </a:rPr>
              <a:t>Goals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D2Coding" panose="020B0609020101020101" pitchFamily="49" charset="-127"/>
              <a:ea typeface="D2Coding" panose="020B0609020101020101" pitchFamily="49" charset="-127"/>
              <a:cs typeface="Segoe UI Light" panose="020B0502040204020203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C7B32EC-3117-37D9-7774-7F4DAE2BF2FA}"/>
              </a:ext>
            </a:extLst>
          </p:cNvPr>
          <p:cNvSpPr txBox="1"/>
          <p:nvPr/>
        </p:nvSpPr>
        <p:spPr>
          <a:xfrm>
            <a:off x="577530" y="1248422"/>
            <a:ext cx="11233469" cy="44215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Workflow Orchestration Framework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Chatbot : LLM(Large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Language</a:t>
            </a:r>
            <a:r>
              <a:rPr lang="ko-KR" altLang="en-US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Model)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 Agent Coding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Workflow</a:t>
            </a:r>
          </a:p>
          <a:p>
            <a:pPr marL="914400" lvl="1" indent="-4572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400" dirty="0">
                <a:latin typeface="D2Coding" panose="020B0609020101020101" pitchFamily="49" charset="-127"/>
                <a:ea typeface="D2Coding" panose="020B0609020101020101" pitchFamily="49" charset="-127"/>
              </a:rPr>
              <a:t>AI(LLM) Agent</a:t>
            </a:r>
          </a:p>
        </p:txBody>
      </p:sp>
    </p:spTree>
    <p:extLst>
      <p:ext uri="{BB962C8B-B14F-4D97-AF65-F5344CB8AC3E}">
        <p14:creationId xmlns:p14="http://schemas.microsoft.com/office/powerpoint/2010/main" val="16338615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8BA7F-73F0-82DE-3AFA-1DE2BE1C2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4FB44-F38B-8E0C-EE0F-1F690C0B1C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Automation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559035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7B9D45-A906-9EE7-B319-15B784A4CD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2756691-C8EF-AB34-C478-9181C84631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B4F8DFEC-2EC1-8EE0-3F56-982A444CE4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26D29B-27BE-40A9-A98D-2CAED053D668}"/>
              </a:ext>
            </a:extLst>
          </p:cNvPr>
          <p:cNvSpPr txBox="1"/>
          <p:nvPr/>
        </p:nvSpPr>
        <p:spPr>
          <a:xfrm>
            <a:off x="751955" y="1718786"/>
            <a:ext cx="10515601" cy="36999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Feeling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(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Intuition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)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vs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 Data-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is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key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being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driven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.</a:t>
            </a:r>
            <a:endParaRPr lang="en-US" altLang="ko-KR" sz="2000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Automation 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is 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predictable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set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of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predetermined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actions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that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transfers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data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from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one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point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to</a:t>
            </a:r>
            <a:r>
              <a:rPr lang="ko-KR" altLang="en-US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 </a:t>
            </a:r>
            <a:r>
              <a:rPr lang="ko-KR" altLang="en-US" sz="2000" dirty="0" err="1">
                <a:latin typeface="MS Gothic" panose="020B0609070205080204" pitchFamily="49" charset="-128"/>
                <a:ea typeface="D2Coding" panose="020B0609020101020101" pitchFamily="49" charset="-127"/>
              </a:rPr>
              <a:t>another</a:t>
            </a:r>
            <a:r>
              <a:rPr lang="en-US" altLang="ko-KR" sz="2000" dirty="0">
                <a:latin typeface="MS Gothic" panose="020B0609070205080204" pitchFamily="49" charset="-128"/>
                <a:ea typeface="MS Gothic" panose="020B0609070205080204" pitchFamily="49" charset="-128"/>
              </a:rPr>
              <a:t>.</a:t>
            </a: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28089740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A7906-8422-75FB-B686-8A4918F17B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BD60E6B-F2EC-3E3D-8197-E2F168C362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7114697-0109-DBB2-4517-DF6A82EC7BF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Core concept of Automation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211F340-3B1E-6BAA-8FFB-064B9D23B4CE}"/>
              </a:ext>
            </a:extLst>
          </p:cNvPr>
          <p:cNvSpPr txBox="1"/>
          <p:nvPr/>
        </p:nvSpPr>
        <p:spPr>
          <a:xfrm>
            <a:off x="751955" y="1718786"/>
            <a:ext cx="10515601" cy="37135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Trigger : what starts an automation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Filter : to allow or block certain types of data from following a path based on certain conditions. 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2000" dirty="0">
                <a:latin typeface="MS Gothic" panose="020B0609070205080204" pitchFamily="49" charset="-128"/>
                <a:ea typeface="D2Coding" panose="020B0609020101020101" pitchFamily="49" charset="-127"/>
              </a:rPr>
              <a:t>Actions (App) : allow you to interact with internal or external applications.</a:t>
            </a: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en-US" sz="2000" dirty="0">
              <a:latin typeface="MS Gothic" panose="020B0609070205080204" pitchFamily="49" charset="-128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789080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C6C9E3-F66F-7BF7-D744-3CD2487474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379E75-3188-AC9E-B5A7-62FF41D0550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Workflow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6D9FE6C-1C89-F872-1E05-3C878885BE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5813" y="3071813"/>
            <a:ext cx="5310188" cy="8614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234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AF90BD-0B46-D0D6-7007-8D2D1A9A3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EC3FF6-2F84-C946-93A5-E51AE4A97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CB5E933-0C3E-C5BC-19F6-59B973129D4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What is a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5" name="사각형: 둥근 모서리 14">
            <a:extLst>
              <a:ext uri="{FF2B5EF4-FFF2-40B4-BE49-F238E27FC236}">
                <a16:creationId xmlns:a16="http://schemas.microsoft.com/office/drawing/2014/main" id="{DEBD1361-E6D8-F37F-7847-3596F9C8C1CB}"/>
              </a:ext>
            </a:extLst>
          </p:cNvPr>
          <p:cNvSpPr/>
          <p:nvPr/>
        </p:nvSpPr>
        <p:spPr>
          <a:xfrm>
            <a:off x="1181100" y="3045780"/>
            <a:ext cx="1943100" cy="766439"/>
          </a:xfrm>
          <a:prstGeom prst="roundRect">
            <a:avLst/>
          </a:prstGeom>
          <a:solidFill>
            <a:schemeClr val="accent6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사각형: 둥근 모서리 15">
            <a:extLst>
              <a:ext uri="{FF2B5EF4-FFF2-40B4-BE49-F238E27FC236}">
                <a16:creationId xmlns:a16="http://schemas.microsoft.com/office/drawing/2014/main" id="{F476719A-2740-60E0-0EE8-A30122FF98CE}"/>
              </a:ext>
            </a:extLst>
          </p:cNvPr>
          <p:cNvSpPr/>
          <p:nvPr/>
        </p:nvSpPr>
        <p:spPr>
          <a:xfrm>
            <a:off x="4418408" y="2496659"/>
            <a:ext cx="2858295" cy="186468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사각형: 둥근 모서리 16">
            <a:extLst>
              <a:ext uri="{FF2B5EF4-FFF2-40B4-BE49-F238E27FC236}">
                <a16:creationId xmlns:a16="http://schemas.microsoft.com/office/drawing/2014/main" id="{181950A9-9B8E-CA1C-5F23-6339A6DBBE98}"/>
              </a:ext>
            </a:extLst>
          </p:cNvPr>
          <p:cNvSpPr/>
          <p:nvPr/>
        </p:nvSpPr>
        <p:spPr>
          <a:xfrm>
            <a:off x="8570911" y="3045780"/>
            <a:ext cx="1943100" cy="76643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19" name="직선 화살표 연결선 18">
            <a:extLst>
              <a:ext uri="{FF2B5EF4-FFF2-40B4-BE49-F238E27FC236}">
                <a16:creationId xmlns:a16="http://schemas.microsoft.com/office/drawing/2014/main" id="{1085A7EF-645D-1462-E30A-334FF6445118}"/>
              </a:ext>
            </a:extLst>
          </p:cNvPr>
          <p:cNvCxnSpPr>
            <a:cxnSpLocks/>
          </p:cNvCxnSpPr>
          <p:nvPr/>
        </p:nvCxnSpPr>
        <p:spPr>
          <a:xfrm>
            <a:off x="3124200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직선 화살표 연결선 19">
            <a:extLst>
              <a:ext uri="{FF2B5EF4-FFF2-40B4-BE49-F238E27FC236}">
                <a16:creationId xmlns:a16="http://schemas.microsoft.com/office/drawing/2014/main" id="{6F26E8E8-3AE7-E2B2-8810-782ECCD6FFC8}"/>
              </a:ext>
            </a:extLst>
          </p:cNvPr>
          <p:cNvCxnSpPr>
            <a:cxnSpLocks/>
          </p:cNvCxnSpPr>
          <p:nvPr/>
        </p:nvCxnSpPr>
        <p:spPr>
          <a:xfrm>
            <a:off x="7276703" y="3415822"/>
            <a:ext cx="129420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8EE6FB3E-90CB-9372-4351-1825A3EF9036}"/>
              </a:ext>
            </a:extLst>
          </p:cNvPr>
          <p:cNvSpPr txBox="1"/>
          <p:nvPr/>
        </p:nvSpPr>
        <p:spPr>
          <a:xfrm>
            <a:off x="1560113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Trigger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r>
              <a:rPr lang="en-US" altLang="ko-KR" dirty="0"/>
              <a:t>Every day at 8am</a:t>
            </a:r>
          </a:p>
          <a:p>
            <a:pPr>
              <a:buNone/>
            </a:pPr>
            <a:r>
              <a:rPr lang="en-US" altLang="ko-KR" dirty="0"/>
              <a:t>When “this” happens</a:t>
            </a:r>
          </a:p>
          <a:p>
            <a:pPr>
              <a:buNone/>
            </a:pPr>
            <a:r>
              <a:rPr lang="en-US" altLang="ko-KR" dirty="0"/>
              <a:t>When launched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ACD8E9-87A8-78CA-D496-56A7CC739BD2}"/>
              </a:ext>
            </a:extLst>
          </p:cNvPr>
          <p:cNvSpPr txBox="1"/>
          <p:nvPr/>
        </p:nvSpPr>
        <p:spPr>
          <a:xfrm>
            <a:off x="5065512" y="2669739"/>
            <a:ext cx="2858295" cy="31393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Sorting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Filtering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Formatting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Transforming</a:t>
            </a:r>
            <a:endParaRPr lang="en-US" altLang="ko-KR" dirty="0"/>
          </a:p>
          <a:p>
            <a:pPr>
              <a:buNone/>
            </a:pPr>
            <a:r>
              <a:rPr lang="en-US" altLang="ko-KR" b="1" dirty="0"/>
              <a:t>Segmenting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i="1" dirty="0"/>
              <a:t>(based on different criteria)</a:t>
            </a:r>
            <a:endParaRPr lang="en-US" altLang="ko-KR" dirty="0"/>
          </a:p>
          <a:p>
            <a:pPr>
              <a:buNone/>
            </a:pPr>
            <a:r>
              <a:rPr lang="en-US" altLang="ko-KR" dirty="0"/>
              <a:t>If this then</a:t>
            </a:r>
          </a:p>
          <a:p>
            <a:pPr>
              <a:buNone/>
            </a:pPr>
            <a:r>
              <a:rPr lang="en-US" altLang="ko-KR" dirty="0"/>
              <a:t>Only if this</a:t>
            </a:r>
          </a:p>
          <a:p>
            <a:pPr>
              <a:buNone/>
            </a:pPr>
            <a:r>
              <a:rPr lang="en-US" altLang="ko-KR" dirty="0"/>
              <a:t>Change x to y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B4A2D4-5284-212A-27F5-69F48B7D85F6}"/>
              </a:ext>
            </a:extLst>
          </p:cNvPr>
          <p:cNvSpPr txBox="1"/>
          <p:nvPr/>
        </p:nvSpPr>
        <p:spPr>
          <a:xfrm>
            <a:off x="8953500" y="3253085"/>
            <a:ext cx="27432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altLang="ko-KR" b="1" dirty="0"/>
              <a:t>Actions</a:t>
            </a:r>
          </a:p>
          <a:p>
            <a:pPr>
              <a:buNone/>
            </a:pPr>
            <a:endParaRPr lang="en-US" altLang="ko-KR" b="1" dirty="0"/>
          </a:p>
          <a:p>
            <a:pPr>
              <a:buNone/>
            </a:pPr>
            <a:endParaRPr lang="en-US" altLang="ko-KR" dirty="0"/>
          </a:p>
          <a:p>
            <a:pPr>
              <a:buNone/>
            </a:pPr>
            <a:r>
              <a:rPr lang="en-US" altLang="ko-KR" dirty="0"/>
              <a:t>Update a Google Sheet</a:t>
            </a:r>
          </a:p>
          <a:p>
            <a:pPr>
              <a:buNone/>
            </a:pPr>
            <a:r>
              <a:rPr lang="en-US" altLang="ko-KR" dirty="0"/>
              <a:t>Send an email</a:t>
            </a:r>
          </a:p>
          <a:p>
            <a:pPr>
              <a:buNone/>
            </a:pPr>
            <a:r>
              <a:rPr lang="en-US" altLang="ko-KR" dirty="0"/>
              <a:t>Notify person</a:t>
            </a:r>
          </a:p>
        </p:txBody>
      </p:sp>
    </p:spTree>
    <p:extLst>
      <p:ext uri="{BB962C8B-B14F-4D97-AF65-F5344CB8AC3E}">
        <p14:creationId xmlns:p14="http://schemas.microsoft.com/office/powerpoint/2010/main" val="3913412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3D7F52-F3F8-E0D2-03C4-B1F161DB7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7F4A42-D40B-CC26-F592-E0D96BEFDE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C76A262-E7C2-FBE8-B1B3-9679D95EAFB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Modeling 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6572B1-140A-3C3F-1EDE-B2D5437645B4}"/>
              </a:ext>
            </a:extLst>
          </p:cNvPr>
          <p:cNvSpPr txBox="1"/>
          <p:nvPr/>
        </p:nvSpPr>
        <p:spPr>
          <a:xfrm>
            <a:off x="1081087" y="1961066"/>
            <a:ext cx="10029825" cy="33513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  <a:buNone/>
            </a:pPr>
            <a:r>
              <a:rPr lang="en-US" altLang="ko-KR" b="1" dirty="0">
                <a:latin typeface="MS Gothic" panose="020B0609070205080204" pitchFamily="49" charset="-128"/>
                <a:ea typeface="MS Gothic" panose="020B0609070205080204" pitchFamily="49" charset="-128"/>
              </a:rPr>
              <a:t>Mapping is the first step to any good automation.</a:t>
            </a: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>
              <a:lnSpc>
                <a:spcPct val="150000"/>
              </a:lnSpc>
              <a:buNone/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Correctly mapping a process before automation will ensure you have visibility on the:</a:t>
            </a:r>
          </a:p>
          <a:p>
            <a:pPr>
              <a:lnSpc>
                <a:spcPct val="150000"/>
              </a:lnSpc>
              <a:buNone/>
            </a:pPr>
            <a:endParaRPr lang="en-US" altLang="ko-KR" dirty="0">
              <a:latin typeface="MS Gothic" panose="020B0609070205080204" pitchFamily="49" charset="-128"/>
              <a:ea typeface="MS Gothic" panose="020B0609070205080204" pitchFamily="49" charset="-128"/>
            </a:endParaRP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Understanding of the task (understand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biz process &amp; data)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Tools that will be used (JAVA,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 err="1">
                <a:latin typeface="MS Gothic" panose="020B0609070205080204" pitchFamily="49" charset="-128"/>
                <a:ea typeface="MS Gothic" panose="020B0609070205080204" pitchFamily="49" charset="-128"/>
              </a:rPr>
              <a:t>puthon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, n8n,</a:t>
            </a:r>
            <a:r>
              <a:rPr lang="ko-KR" altLang="en-US" dirty="0">
                <a:latin typeface="MS Gothic" panose="020B0609070205080204" pitchFamily="49" charset="-128"/>
                <a:ea typeface="MS Gothic" panose="020B0609070205080204" pitchFamily="49" charset="-128"/>
              </a:rPr>
              <a:t> </a:t>
            </a: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…)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Feasibility of the automation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Estimation of work load</a:t>
            </a:r>
          </a:p>
          <a:p>
            <a:pPr lvl="1">
              <a:lnSpc>
                <a:spcPct val="150000"/>
              </a:lnSpc>
            </a:pPr>
            <a:r>
              <a:rPr lang="en-US" altLang="ko-KR" dirty="0">
                <a:latin typeface="MS Gothic" panose="020B0609070205080204" pitchFamily="49" charset="-128"/>
                <a:ea typeface="MS Gothic" panose="020B0609070205080204" pitchFamily="49" charset="-128"/>
              </a:rPr>
              <a:t>→ (Sometimes) need for human intervention</a:t>
            </a:r>
          </a:p>
        </p:txBody>
      </p:sp>
    </p:spTree>
    <p:extLst>
      <p:ext uri="{BB962C8B-B14F-4D97-AF65-F5344CB8AC3E}">
        <p14:creationId xmlns:p14="http://schemas.microsoft.com/office/powerpoint/2010/main" val="30973880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A3159E-35AD-9476-972C-80774C225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2B33320-8994-E01F-EB3D-4C7FD8F0D0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313E1B7-DB80-1CB6-5921-BD79EC645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>
                <a:latin typeface="Lora" pitchFamily="2" charset="0"/>
              </a:rPr>
              <a:t>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Workflow</a:t>
            </a:r>
            <a:endParaRPr lang="ko-KR" altLang="ko-KR" sz="2800" b="1" cap="none" dirty="0">
              <a:latin typeface="Lora" pitchFamily="2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7FE7D41C-8083-8B29-211B-0A92F55F3E6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137" y="1761079"/>
            <a:ext cx="5692633" cy="415326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FF1D875-7D57-A414-92AB-D0E42A6287F4}"/>
              </a:ext>
            </a:extLst>
          </p:cNvPr>
          <p:cNvSpPr txBox="1"/>
          <p:nvPr/>
        </p:nvSpPr>
        <p:spPr>
          <a:xfrm>
            <a:off x="2603137" y="6218823"/>
            <a:ext cx="36145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3"/>
              </a:rPr>
              <a:t>https://math.asu.edu/datascience/workflow</a:t>
            </a:r>
            <a:endParaRPr lang="ko-KR" altLang="en-US" sz="1400" dirty="0"/>
          </a:p>
        </p:txBody>
      </p:sp>
    </p:spTree>
    <p:extLst>
      <p:ext uri="{BB962C8B-B14F-4D97-AF65-F5344CB8AC3E}">
        <p14:creationId xmlns:p14="http://schemas.microsoft.com/office/powerpoint/2010/main" val="33900497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2204B-E244-99B3-34B7-EEDB50DF13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D175648-4026-87A2-1E7D-D50D1AA43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44180C-87C2-5DB1-94D1-6F90334605D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794F62-7060-F457-BB09-8CDFA2D7E7F4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8" name="그림 7" descr="Orchestrate a Data Science Project in Python With Prefect">
            <a:extLst>
              <a:ext uri="{FF2B5EF4-FFF2-40B4-BE49-F238E27FC236}">
                <a16:creationId xmlns:a16="http://schemas.microsoft.com/office/drawing/2014/main" id="{BAB35102-7A6D-E82D-69A8-5728B64583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79663" y="1667389"/>
            <a:ext cx="6275173" cy="1184439"/>
          </a:xfrm>
          <a:prstGeom prst="rect">
            <a:avLst/>
          </a:prstGeom>
        </p:spPr>
      </p:pic>
      <p:pic>
        <p:nvPicPr>
          <p:cNvPr id="10" name="그림 9" descr="Orchestrate a Data Science Project in Python With Prefect">
            <a:extLst>
              <a:ext uri="{FF2B5EF4-FFF2-40B4-BE49-F238E27FC236}">
                <a16:creationId xmlns:a16="http://schemas.microsoft.com/office/drawing/2014/main" id="{B77324CF-0ED1-B05F-052A-B45F4768B9E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94365" y="3270796"/>
            <a:ext cx="7045768" cy="2765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24099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5B4C47-E289-8753-9E79-FF183A3C25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04B04ED-2915-0FD5-7414-0117E08E8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03C99A5-46C6-9651-2516-907CE520EF2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ko-KR" sz="2800" b="1" cap="none" dirty="0" err="1">
                <a:latin typeface="Lora" pitchFamily="2" charset="0"/>
              </a:rPr>
              <a:t>Orchestrate</a:t>
            </a:r>
            <a:r>
              <a:rPr lang="ko-KR" altLang="ko-KR" sz="2800" b="1" cap="none" dirty="0">
                <a:latin typeface="Lora" pitchFamily="2" charset="0"/>
              </a:rPr>
              <a:t> </a:t>
            </a:r>
            <a:r>
              <a:rPr lang="ko-KR" altLang="ko-KR" sz="2800" b="1" cap="none" dirty="0" err="1">
                <a:latin typeface="Lora" pitchFamily="2" charset="0"/>
              </a:rPr>
              <a:t>a</a:t>
            </a:r>
            <a:r>
              <a:rPr lang="ko-KR" altLang="ko-KR" sz="2800" b="1" cap="none" dirty="0">
                <a:latin typeface="Lora" pitchFamily="2" charset="0"/>
              </a:rPr>
              <a:t> Data </a:t>
            </a:r>
            <a:r>
              <a:rPr lang="ko-KR" altLang="ko-KR" sz="2800" b="1" cap="none" dirty="0" err="1">
                <a:latin typeface="Lora" pitchFamily="2" charset="0"/>
              </a:rPr>
              <a:t>Science</a:t>
            </a:r>
            <a:r>
              <a:rPr lang="ko-KR" altLang="ko-KR" sz="2800" b="1" cap="none" dirty="0">
                <a:latin typeface="Lora" pitchFamily="2" charset="0"/>
              </a:rPr>
              <a:t> Project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1E8E2FE-2764-8001-2A80-04D659F82C39}"/>
              </a:ext>
            </a:extLst>
          </p:cNvPr>
          <p:cNvSpPr txBox="1"/>
          <p:nvPr/>
        </p:nvSpPr>
        <p:spPr>
          <a:xfrm>
            <a:off x="2603137" y="6218823"/>
            <a:ext cx="40334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hlinkClick r:id="rId2"/>
              </a:rPr>
              <a:t>orchestrate-data-science-project-python-prefect</a:t>
            </a:r>
            <a:endParaRPr lang="ko-KR" altLang="en-US" sz="1400" dirty="0"/>
          </a:p>
        </p:txBody>
      </p:sp>
      <p:pic>
        <p:nvPicPr>
          <p:cNvPr id="9" name="그림 8" descr="Orchestrate a Data Science Project in Python With Prefect">
            <a:extLst>
              <a:ext uri="{FF2B5EF4-FFF2-40B4-BE49-F238E27FC236}">
                <a16:creationId xmlns:a16="http://schemas.microsoft.com/office/drawing/2014/main" id="{E563AFD1-D0F5-B00F-188C-A316F685F6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247" y="2421937"/>
            <a:ext cx="5354461" cy="2724082"/>
          </a:xfrm>
          <a:prstGeom prst="rect">
            <a:avLst/>
          </a:prstGeom>
        </p:spPr>
      </p:pic>
      <p:pic>
        <p:nvPicPr>
          <p:cNvPr id="2" name="그림 1" descr="Orchestrate a Data Science Project in Python With Prefect">
            <a:extLst>
              <a:ext uri="{FF2B5EF4-FFF2-40B4-BE49-F238E27FC236}">
                <a16:creationId xmlns:a16="http://schemas.microsoft.com/office/drawing/2014/main" id="{5C84935F-2D7D-69FA-59BE-E2D2609329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35421" y="1773032"/>
            <a:ext cx="5350179" cy="4052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3823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35B68-13BC-82A8-E69A-EBF6368615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002455A-6684-4AFE-7F70-D243495C94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F394978-3A88-4C9F-19C4-6B402CF98A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Homework 01_machine learning with titanic 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E5E77B-3B3E-CE13-A28F-177623F536B2}"/>
              </a:ext>
            </a:extLst>
          </p:cNvPr>
          <p:cNvSpPr txBox="1"/>
          <p:nvPr/>
        </p:nvSpPr>
        <p:spPr>
          <a:xfrm>
            <a:off x="740527" y="1631367"/>
            <a:ext cx="10088880" cy="30968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Python class + </a:t>
            </a:r>
            <a:r>
              <a:rPr lang="en-US" altLang="ko-KR" sz="2000" b="1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endParaRPr lang="en-US" altLang="ko-KR" sz="2000" b="1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endParaRPr lang="en-US" altLang="ko-KR" sz="20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457200" indent="-457200" rtl="0">
              <a:lnSpc>
                <a:spcPct val="150000"/>
              </a:lnSpc>
              <a:buFont typeface="+mj-lt"/>
              <a:buAutoNum type="arabicPeriod"/>
            </a:pPr>
            <a:r>
              <a:rPr lang="en-US" altLang="ko-KR" sz="2000" b="1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Prefect</a:t>
            </a: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Orchestrate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workflows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Build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AI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applications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. 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Open-source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foundations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production-ready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platforms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800100" lvl="1" indent="-342900">
              <a:lnSpc>
                <a:spcPct val="150000"/>
              </a:lnSpc>
              <a:buFont typeface="+mj-lt"/>
              <a:buAutoNum type="arabicPeriod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Prefect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기초부터 활용까지</a:t>
            </a: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화살표: 줄무늬가 있는 오른쪽 9">
            <a:extLst>
              <a:ext uri="{FF2B5EF4-FFF2-40B4-BE49-F238E27FC236}">
                <a16:creationId xmlns:a16="http://schemas.microsoft.com/office/drawing/2014/main" id="{2059E3DA-7196-C207-109D-6D0F9F2D9E1C}"/>
              </a:ext>
            </a:extLst>
          </p:cNvPr>
          <p:cNvSpPr/>
          <p:nvPr/>
        </p:nvSpPr>
        <p:spPr>
          <a:xfrm>
            <a:off x="7707457" y="2228427"/>
            <a:ext cx="1505527" cy="951345"/>
          </a:xfrm>
          <a:prstGeom prst="stripedRightArrow">
            <a:avLst>
              <a:gd name="adj1" fmla="val 73301"/>
              <a:gd name="adj2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/>
              <a:t>App </a:t>
            </a:r>
            <a:r>
              <a:rPr lang="ko-KR" altLang="en-US" dirty="0"/>
              <a:t>서비스</a:t>
            </a:r>
          </a:p>
        </p:txBody>
      </p:sp>
    </p:spTree>
    <p:extLst>
      <p:ext uri="{BB962C8B-B14F-4D97-AF65-F5344CB8AC3E}">
        <p14:creationId xmlns:p14="http://schemas.microsoft.com/office/powerpoint/2010/main" val="1710055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119595-A7A2-8D11-697D-CA319DF335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FD18F6A-7E6A-AD19-2830-0E0A1F92651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Workflow Orchestration Framework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02_workflow orchestration framework.pptx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0292716D-C476-8D34-55FE-086386A1F740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98786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EBF7A9-D1E9-9872-6D87-ACEC8B2AC9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EA39791-8485-7449-EBF2-091799465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DEC0FBD-AE36-9A56-09B4-A72511AB173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Practice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94DF5DA-80C4-8A16-DDE3-735138CF63B9}"/>
              </a:ext>
            </a:extLst>
          </p:cNvPr>
          <p:cNvSpPr txBox="1"/>
          <p:nvPr/>
        </p:nvSpPr>
        <p:spPr>
          <a:xfrm>
            <a:off x="475645" y="1367441"/>
            <a:ext cx="43048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hlinkClick r:id="rId2"/>
              </a:rPr>
              <a:t>2026_Fall_AI-Workflow/tree/main/scripts</a:t>
            </a:r>
            <a:endParaRPr lang="ko-KR" altLang="en-US" dirty="0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AE07C688-982E-A891-62C1-ECEC695F96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222" y="1736773"/>
            <a:ext cx="7864638" cy="4835976"/>
          </a:xfrm>
          <a:prstGeom prst="rect">
            <a:avLst/>
          </a:prstGeom>
        </p:spPr>
      </p:pic>
      <p:sp>
        <p:nvSpPr>
          <p:cNvPr id="9" name="직사각형 8">
            <a:extLst>
              <a:ext uri="{FF2B5EF4-FFF2-40B4-BE49-F238E27FC236}">
                <a16:creationId xmlns:a16="http://schemas.microsoft.com/office/drawing/2014/main" id="{1B504D4B-8C02-E71B-9904-9D6B22BA4E86}"/>
              </a:ext>
            </a:extLst>
          </p:cNvPr>
          <p:cNvSpPr/>
          <p:nvPr/>
        </p:nvSpPr>
        <p:spPr>
          <a:xfrm>
            <a:off x="544950" y="5569527"/>
            <a:ext cx="8469745" cy="369332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1" name="설명선: 굽은 선 10">
            <a:extLst>
              <a:ext uri="{FF2B5EF4-FFF2-40B4-BE49-F238E27FC236}">
                <a16:creationId xmlns:a16="http://schemas.microsoft.com/office/drawing/2014/main" id="{3E3FCC82-7AC9-1AD5-EF9F-9B269DFAA2C2}"/>
              </a:ext>
            </a:extLst>
          </p:cNvPr>
          <p:cNvSpPr/>
          <p:nvPr/>
        </p:nvSpPr>
        <p:spPr>
          <a:xfrm>
            <a:off x="8478983" y="3404924"/>
            <a:ext cx="2788574" cy="483586"/>
          </a:xfrm>
          <a:prstGeom prst="borderCallout2">
            <a:avLst/>
          </a:prstGeom>
          <a:ln>
            <a:solidFill>
              <a:schemeClr val="bg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600" b="1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모든 코드 학습하기</a:t>
            </a:r>
          </a:p>
        </p:txBody>
      </p:sp>
    </p:spTree>
    <p:extLst>
      <p:ext uri="{BB962C8B-B14F-4D97-AF65-F5344CB8AC3E}">
        <p14:creationId xmlns:p14="http://schemas.microsoft.com/office/powerpoint/2010/main" val="375953098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8E0FEE-E04E-ABF8-D664-82F58277A3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8CEE32-D65B-E536-74E5-600710F02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D1ECD02-E2B8-A703-7B8C-56174B99DF6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D466A77-716A-0E4C-08AE-75533D843356}"/>
              </a:ext>
            </a:extLst>
          </p:cNvPr>
          <p:cNvSpPr txBox="1"/>
          <p:nvPr/>
        </p:nvSpPr>
        <p:spPr>
          <a:xfrm>
            <a:off x="638174" y="1659285"/>
            <a:ext cx="9496425" cy="3539430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contextlib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asynccontextmanager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from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apscheduler.schedulers.background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import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1. 백그라운드 스케줄러 및 로그 저장소 세팅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BackgroundScheduler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[]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타이머가 울릴 때마다 실행할 함수 정의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datetime.datetime.now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().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strftime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('%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-%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H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:%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"⏰ [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] {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now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 - 백그라운드 자동화 작업 완료!"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 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터미널 콘솔에 즉시 출력됨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job_logs.append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log_msg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3732474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A34BF4-B6D9-6A36-1039-2C2428ED27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723713-2600-6AF0-4C78-1CB9E99142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D8FF3D3-349A-BA1B-C7AE-A5AF08AA3EBA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6F927E8-8746-9750-A152-D776B908D86A}"/>
              </a:ext>
            </a:extLst>
          </p:cNvPr>
          <p:cNvSpPr txBox="1"/>
          <p:nvPr/>
        </p:nvSpPr>
        <p:spPr>
          <a:xfrm>
            <a:off x="638175" y="1543925"/>
            <a:ext cx="10191232" cy="4832092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2.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이벤트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정의 (시작과 종료를 한 번에 관리)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@asynccontextmanager</a:t>
            </a:r>
          </a:p>
          <a:p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def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lifespan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app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: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):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[STARTUP] 서버가 켜질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10초 주기(*/10)로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작업을 등록하고 스케줄러를 시작합니다.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scheduler.add_job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'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cron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',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second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='*/10')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scheduler.start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("🚀 백그라운드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스케줄러가 성공적으로 시작되었습니다! (10초 주기)") 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 # 💻 이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yield를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기점으로 서버가 정상 구동되며 대기합니다.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# ---- [SHUTDOWN] 서버가 꺼질 때 실행되는 구간 ----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scheduler.shutdown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     # VS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Code에서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Ctrl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+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C를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누르면 이 아랫줄이 실행됩니다.</a:t>
            </a: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print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("🛑 스케줄러가 안전하게 종료되었습니다.")</a:t>
            </a: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3.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애플리케이션 생성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(lifespan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핸들러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등록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app =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FastAPI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title="Hermes Agent Cron Server",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description="Lifespan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적용한 에이전트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서버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lifespan=lifespan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</p:txBody>
      </p:sp>
      <p:sp>
        <p:nvSpPr>
          <p:cNvPr id="6" name="설명선: 굽은 선(테두리 및 강조선) 5">
            <a:extLst>
              <a:ext uri="{FF2B5EF4-FFF2-40B4-BE49-F238E27FC236}">
                <a16:creationId xmlns:a16="http://schemas.microsoft.com/office/drawing/2014/main" id="{E47BCDE6-3759-A338-C072-B0DF567296BB}"/>
              </a:ext>
            </a:extLst>
          </p:cNvPr>
          <p:cNvSpPr/>
          <p:nvPr/>
        </p:nvSpPr>
        <p:spPr>
          <a:xfrm>
            <a:off x="8029662" y="619124"/>
            <a:ext cx="3752850" cy="2371726"/>
          </a:xfrm>
          <a:prstGeom prst="accentBorderCallout2">
            <a:avLst>
              <a:gd name="adj1" fmla="val 18750"/>
              <a:gd name="adj2" fmla="val -3257"/>
              <a:gd name="adj3" fmla="val 47666"/>
              <a:gd name="adj4" fmla="val -36210"/>
              <a:gd name="adj5" fmla="val 62573"/>
              <a:gd name="adj6" fmla="val -144891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1.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contextmanager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open("test.txt", "w") as f: </a:t>
            </a: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  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f.write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("hello") </a:t>
            </a: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with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블록을 나가는 순간 </a:t>
            </a:r>
            <a:r>
              <a:rPr lang="en-US" altLang="ko-KR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f.close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가 자동 실행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!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일반 함수에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yield </a:t>
            </a:r>
          </a:p>
          <a:p>
            <a:pPr marL="171450" indent="-171450">
              <a:buFont typeface="Wingdings" panose="05000000000000000000" pitchFamily="2" charset="2"/>
              <a:buChar char="§"/>
            </a:pP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2. </a:t>
            </a:r>
            <a:r>
              <a:rPr lang="ko-KR" altLang="en-US" sz="11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async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 비동기 방식</a:t>
            </a:r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endParaRPr lang="en-US" altLang="ko-KR" sz="11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71450" indent="-171450">
              <a:buFont typeface="Wingdings" panose="05000000000000000000" pitchFamily="2" charset="2"/>
              <a:buChar char="§"/>
            </a:pP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컴퓨터 자원을 낭비 없이 쥐어짜서 웹 서버와 백그라운드 자동화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(Cron)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를 끊김 없이 동시에 돌리기 위해 </a:t>
            </a:r>
            <a:r>
              <a:rPr lang="en-US" altLang="ko-KR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async </a:t>
            </a:r>
            <a:r>
              <a:rPr lang="ko-KR" altLang="en-US" sz="1100" dirty="0">
                <a:latin typeface="D2Coding" panose="020B0609020101020101" pitchFamily="49" charset="-127"/>
                <a:ea typeface="D2Coding" panose="020B0609020101020101" pitchFamily="49" charset="-127"/>
              </a:rPr>
              <a:t>방식을 사용</a:t>
            </a:r>
          </a:p>
        </p:txBody>
      </p:sp>
    </p:spTree>
    <p:extLst>
      <p:ext uri="{BB962C8B-B14F-4D97-AF65-F5344CB8AC3E}">
        <p14:creationId xmlns:p14="http://schemas.microsoft.com/office/powerpoint/2010/main" val="195440338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1CB75E-F94E-CBF6-1E8E-27C8BE2C91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6F5344-A2CB-E682-10FF-590DD5D521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F304A5-FC66-397D-9069-C83D363136E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FastAPI</a:t>
            </a:r>
            <a:endParaRPr lang="ko-KR" altLang="ko-KR" sz="2800" b="1" cap="none" dirty="0">
              <a:latin typeface="Lora" pitchFamily="2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7F21189-BE23-6266-EBE5-30E58362F9D8}"/>
              </a:ext>
            </a:extLst>
          </p:cNvPr>
          <p:cNvSpPr txBox="1"/>
          <p:nvPr/>
        </p:nvSpPr>
        <p:spPr>
          <a:xfrm>
            <a:off x="628649" y="1400017"/>
            <a:ext cx="9496425" cy="5001369"/>
          </a:xfrm>
          <a:prstGeom prst="rect">
            <a:avLst/>
          </a:prstGeom>
          <a:solidFill>
            <a:srgbClr val="76E3FF"/>
          </a:solidFill>
        </p:spPr>
        <p:txBody>
          <a:bodyPr wrap="square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4. API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엔드포인트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라우터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정의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read_root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"status": "running", 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    "message": "VS Code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로컬 서버가 정상 작동 중입니다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 (Lifespan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적용 완료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@app.get("/logs")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get_logs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크론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작업이 실행된 기록을 확인하는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API"""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total_runs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len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), "history":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job_logs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@app.post("/trigger")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def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trigger_now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"""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예약된 시간과 별개로 사용자가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API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를 통해 즉시 작업을 트리거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"""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my_cron_job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()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return {"message": "⚡ 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에이전트 작업을 즉시 강제 실행했습니다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."}</a:t>
            </a:r>
          </a:p>
          <a:p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# 5. VS Code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에서 직접 실행 </a:t>
            </a:r>
            <a:r>
              <a:rPr lang="ko-KR" altLang="en-US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진입점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if __name__ == "__main__":</a:t>
            </a:r>
          </a:p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    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uvicorn.run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("</a:t>
            </a:r>
            <a:r>
              <a:rPr lang="en-US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main:app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", host="127.0.0.1", port=8000, reload=True)</a:t>
            </a:r>
          </a:p>
        </p:txBody>
      </p:sp>
    </p:spTree>
    <p:extLst>
      <p:ext uri="{BB962C8B-B14F-4D97-AF65-F5344CB8AC3E}">
        <p14:creationId xmlns:p14="http://schemas.microsoft.com/office/powerpoint/2010/main" val="35138109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A6FDC-7223-DD81-8C76-9DD825E9EB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88E5FC7-1A88-E64D-FA75-866F06B5980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r>
              <a:rPr lang="en-US" altLang="ko-KR" sz="4400" dirty="0">
                <a:solidFill>
                  <a:schemeClr val="bg1"/>
                </a:solidFill>
              </a:rPr>
              <a:t>LLM(Large Language Model)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6696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0FA7E8-3898-1642-FC37-F3EC288399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87DE6F0E-CC28-6D91-BE1E-0137F11B9842}"/>
              </a:ext>
            </a:extLst>
          </p:cNvPr>
          <p:cNvSpPr txBox="1">
            <a:spLocks/>
          </p:cNvSpPr>
          <p:nvPr/>
        </p:nvSpPr>
        <p:spPr>
          <a:xfrm>
            <a:off x="718606" y="2056645"/>
            <a:ext cx="648208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블랙       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          ? 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sp>
        <p:nvSpPr>
          <p:cNvPr id="7" name="화살표: 위로 구부러짐 6">
            <a:extLst>
              <a:ext uri="{FF2B5EF4-FFF2-40B4-BE49-F238E27FC236}">
                <a16:creationId xmlns:a16="http://schemas.microsoft.com/office/drawing/2014/main" id="{046724D1-DF42-06F1-FAF0-29BB8535327B}"/>
              </a:ext>
            </a:extLst>
          </p:cNvPr>
          <p:cNvSpPr/>
          <p:nvPr/>
        </p:nvSpPr>
        <p:spPr>
          <a:xfrm>
            <a:off x="1241773" y="2760525"/>
            <a:ext cx="1901477" cy="400337"/>
          </a:xfrm>
          <a:prstGeom prst="curvedUp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D85F735-0A6C-0262-ABC4-C7650839ABEA}"/>
              </a:ext>
            </a:extLst>
          </p:cNvPr>
          <p:cNvSpPr txBox="1"/>
          <p:nvPr/>
        </p:nvSpPr>
        <p:spPr>
          <a:xfrm>
            <a:off x="563430" y="1190610"/>
            <a:ext cx="10990395" cy="79316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들을 기반으로 다음 데이터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단어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픽셀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를 확률적으로 예측하여 텍스트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음악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코드 등 새로운 콘텐츠를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하는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AI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7E723F44-9B2E-5BDF-A6E4-FC6EB276D266}"/>
              </a:ext>
            </a:extLst>
          </p:cNvPr>
          <p:cNvGrpSpPr/>
          <p:nvPr/>
        </p:nvGrpSpPr>
        <p:grpSpPr>
          <a:xfrm>
            <a:off x="2972265" y="2439864"/>
            <a:ext cx="5020496" cy="3660172"/>
            <a:chOff x="2938879" y="2492978"/>
            <a:chExt cx="5020496" cy="3660172"/>
          </a:xfrm>
        </p:grpSpPr>
        <p:sp>
          <p:nvSpPr>
            <p:cNvPr id="5" name="제목 1">
              <a:extLst>
                <a:ext uri="{FF2B5EF4-FFF2-40B4-BE49-F238E27FC236}">
                  <a16:creationId xmlns:a16="http://schemas.microsoft.com/office/drawing/2014/main" id="{611FA2E5-14CD-9CE6-B4C3-AB709E921D99}"/>
                </a:ext>
              </a:extLst>
            </p:cNvPr>
            <p:cNvSpPr txBox="1">
              <a:spLocks/>
            </p:cNvSpPr>
            <p:nvPr/>
          </p:nvSpPr>
          <p:spPr>
            <a:xfrm>
              <a:off x="2938879" y="2978137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핑크</a:t>
              </a:r>
              <a:r>
                <a:rPr lang="en-US" altLang="ko-KR" sz="2800" dirty="0">
                  <a:solidFill>
                    <a:srgbClr val="FF99FF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rgbClr val="FF99FF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31669C79-6E12-C653-721F-8A8D0705C07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579796" y="2492978"/>
              <a:ext cx="3379579" cy="3660172"/>
            </a:xfrm>
            <a:prstGeom prst="rect">
              <a:avLst/>
            </a:prstGeom>
          </p:spPr>
        </p:pic>
      </p:grpSp>
      <p:sp>
        <p:nvSpPr>
          <p:cNvPr id="9" name="제목 1">
            <a:extLst>
              <a:ext uri="{FF2B5EF4-FFF2-40B4-BE49-F238E27FC236}">
                <a16:creationId xmlns:a16="http://schemas.microsoft.com/office/drawing/2014/main" id="{990F8DB8-DDC4-EDCB-893F-F3EABAE4EA45}"/>
              </a:ext>
            </a:extLst>
          </p:cNvPr>
          <p:cNvSpPr txBox="1">
            <a:spLocks/>
          </p:cNvSpPr>
          <p:nvPr/>
        </p:nvSpPr>
        <p:spPr>
          <a:xfrm>
            <a:off x="2941695" y="4026310"/>
            <a:ext cx="2177317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커피</a:t>
            </a:r>
            <a:r>
              <a:rPr lang="en-US" altLang="ko-KR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2800" dirty="0">
              <a:solidFill>
                <a:schemeClr val="tx1"/>
              </a:solidFill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6150" name="Picture 6" descr="커피가 담긴 화이트 세라믹 머그잔">
            <a:extLst>
              <a:ext uri="{FF2B5EF4-FFF2-40B4-BE49-F238E27FC236}">
                <a16:creationId xmlns:a16="http://schemas.microsoft.com/office/drawing/2014/main" id="{A505F6CD-DFF6-B16F-93A7-AEA63D5741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34075" y="2352675"/>
            <a:ext cx="2563707" cy="38455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6" name="그룹 15">
            <a:extLst>
              <a:ext uri="{FF2B5EF4-FFF2-40B4-BE49-F238E27FC236}">
                <a16:creationId xmlns:a16="http://schemas.microsoft.com/office/drawing/2014/main" id="{A2BCF9E2-ED44-0CF7-2A28-6C73929297AE}"/>
              </a:ext>
            </a:extLst>
          </p:cNvPr>
          <p:cNvGrpSpPr/>
          <p:nvPr/>
        </p:nvGrpSpPr>
        <p:grpSpPr>
          <a:xfrm>
            <a:off x="3061575" y="3815616"/>
            <a:ext cx="8492250" cy="2742964"/>
            <a:chOff x="2928225" y="3200636"/>
            <a:chExt cx="8852915" cy="3104914"/>
          </a:xfrm>
        </p:grpSpPr>
        <p:sp>
          <p:nvSpPr>
            <p:cNvPr id="11" name="제목 1">
              <a:extLst>
                <a:ext uri="{FF2B5EF4-FFF2-40B4-BE49-F238E27FC236}">
                  <a16:creationId xmlns:a16="http://schemas.microsoft.com/office/drawing/2014/main" id="{C5B4E57A-7758-2A62-A476-E7A95EB53D66}"/>
                </a:ext>
              </a:extLst>
            </p:cNvPr>
            <p:cNvSpPr txBox="1">
              <a:spLocks/>
            </p:cNvSpPr>
            <p:nvPr/>
          </p:nvSpPr>
          <p:spPr>
            <a:xfrm>
              <a:off x="2928225" y="5123393"/>
              <a:ext cx="2177317" cy="766439"/>
            </a:xfrm>
            <a:prstGeom prst="rect">
              <a:avLst/>
            </a:prstGeom>
            <a:effectLst>
              <a:outerShdw blurRad="25400" dir="17880000">
                <a:srgbClr val="000000">
                  <a:alpha val="46000"/>
                </a:srgbClr>
              </a:outerShdw>
            </a:effectLst>
          </p:spPr>
          <p:txBody>
            <a:bodyPr vert="horz" lIns="91440" tIns="45720" rIns="91440" bIns="45720" rtlCol="0" anchor="ctr">
              <a:normAutofit/>
            </a:bodyPr>
            <a:lstStyle>
              <a:lvl1pPr algn="ctr" defTabSz="457200" rtl="0" eaLnBrk="1" latinLnBrk="1" hangingPunct="1">
                <a:lnSpc>
                  <a:spcPct val="90000"/>
                </a:lnSpc>
                <a:spcBef>
                  <a:spcPct val="0"/>
                </a:spcBef>
                <a:buNone/>
                <a:defRPr sz="3200" kern="1200">
                  <a:ln>
                    <a:solidFill>
                      <a:schemeClr val="bg1">
                        <a:lumMod val="75000"/>
                        <a:lumOff val="25000"/>
                        <a:alpha val="10000"/>
                      </a:schemeClr>
                    </a:solidFill>
                  </a:ln>
                  <a:solidFill>
                    <a:schemeClr val="tx2"/>
                  </a:solidFill>
                  <a:effectLst>
                    <a:outerShdw blurRad="9525" dist="25400" dir="14640000" algn="tl" rotWithShape="0">
                      <a:schemeClr val="bg1">
                        <a:alpha val="30000"/>
                      </a:schemeClr>
                    </a:outerShdw>
                  </a:effectLst>
                  <a:latin typeface="Batang" panose="02030600000101010101" pitchFamily="18" charset="-127"/>
                  <a:ea typeface="Batang" panose="02030600000101010101" pitchFamily="18" charset="-127"/>
                  <a:cs typeface="Batang" panose="02030600000101010101" pitchFamily="18" charset="-127"/>
                </a:defRPr>
              </a:lvl1pPr>
              <a:lvl2pPr eaLnBrk="1" latinLnBrk="1" hangingPunct="1">
                <a:defRPr>
                  <a:solidFill>
                    <a:schemeClr val="tx2"/>
                  </a:solidFill>
                </a:defRPr>
              </a:lvl2pPr>
              <a:lvl3pPr eaLnBrk="1" latinLnBrk="1" hangingPunct="1">
                <a:defRPr>
                  <a:solidFill>
                    <a:schemeClr val="tx2"/>
                  </a:solidFill>
                </a:defRPr>
              </a:lvl3pPr>
              <a:lvl4pPr eaLnBrk="1" latinLnBrk="1" hangingPunct="1">
                <a:defRPr>
                  <a:solidFill>
                    <a:schemeClr val="tx2"/>
                  </a:solidFill>
                </a:defRPr>
              </a:lvl4pPr>
              <a:lvl5pPr eaLnBrk="1" latinLnBrk="1" hangingPunct="1">
                <a:defRPr>
                  <a:solidFill>
                    <a:schemeClr val="tx2"/>
                  </a:solidFill>
                </a:defRPr>
              </a:lvl5pPr>
              <a:lvl6pPr eaLnBrk="1" latinLnBrk="1" hangingPunct="1">
                <a:defRPr>
                  <a:solidFill>
                    <a:schemeClr val="tx2"/>
                  </a:solidFill>
                </a:defRPr>
              </a:lvl6pPr>
              <a:lvl7pPr eaLnBrk="1" latinLnBrk="1" hangingPunct="1">
                <a:defRPr>
                  <a:solidFill>
                    <a:schemeClr val="tx2"/>
                  </a:solidFill>
                </a:defRPr>
              </a:lvl7pPr>
              <a:lvl8pPr eaLnBrk="1" latinLnBrk="1" hangingPunct="1">
                <a:defRPr>
                  <a:solidFill>
                    <a:schemeClr val="tx2"/>
                  </a:solidFill>
                </a:defRPr>
              </a:lvl8pPr>
              <a:lvl9pPr eaLnBrk="1" latinLnBrk="1" hangingPunct="1">
                <a:defRPr>
                  <a:solidFill>
                    <a:schemeClr val="tx2"/>
                  </a:solidFill>
                </a:defRPr>
              </a:lvl9pPr>
            </a:lstStyle>
            <a:p>
              <a:pPr algn="l"/>
              <a:r>
                <a:rPr lang="ko-KR" altLang="en-US" sz="2800" dirty="0">
                  <a:solidFill>
                    <a:srgbClr val="FF0000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홀</a:t>
              </a:r>
              <a:r>
                <a:rPr lang="en-US" altLang="ko-KR" sz="2800" dirty="0">
                  <a:solidFill>
                    <a:schemeClr val="tx1"/>
                  </a:solidFill>
                  <a:latin typeface="한컴 말랑말랑 Bold" panose="020F0803000000000000" pitchFamily="50" charset="-127"/>
                  <a:ea typeface="한컴 말랑말랑 Bold" panose="020F0803000000000000" pitchFamily="50" charset="-127"/>
                </a:rPr>
                <a:t> </a:t>
              </a:r>
              <a:endParaRPr lang="ko-KR" altLang="en-US" sz="2800" dirty="0">
                <a:solidFill>
                  <a:schemeClr val="tx1"/>
                </a:solidFill>
                <a:latin typeface="한컴 말랑말랑 Bold" panose="020F0803000000000000" pitchFamily="50" charset="-127"/>
                <a:ea typeface="한컴 말랑말랑 Bold" panose="020F0803000000000000" pitchFamily="50" charset="-127"/>
              </a:endParaRPr>
            </a:p>
          </p:txBody>
        </p:sp>
        <p:pic>
          <p:nvPicPr>
            <p:cNvPr id="6148" name="Picture 4" descr="어둠 속에서 불의 고리가 보인다">
              <a:extLst>
                <a:ext uri="{FF2B5EF4-FFF2-40B4-BE49-F238E27FC236}">
                  <a16:creationId xmlns:a16="http://schemas.microsoft.com/office/drawing/2014/main" id="{E6DD4576-D0D2-F798-B847-A0C25AD5CE6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262730" y="3200636"/>
              <a:ext cx="5518410" cy="310491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12" name="제목 1">
            <a:extLst>
              <a:ext uri="{FF2B5EF4-FFF2-40B4-BE49-F238E27FC236}">
                <a16:creationId xmlns:a16="http://schemas.microsoft.com/office/drawing/2014/main" id="{12DC4873-8878-1A66-9E65-761AEC1413B3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AC9864EF-57DD-0EF8-EEE2-E30A7B31DB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19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227828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A04049-3842-3F62-B21A-BD6507D0B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그림 14">
            <a:extLst>
              <a:ext uri="{FF2B5EF4-FFF2-40B4-BE49-F238E27FC236}">
                <a16:creationId xmlns:a16="http://schemas.microsoft.com/office/drawing/2014/main" id="{274DC582-07A1-80C0-0395-B53ED416E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17" y="2011520"/>
            <a:ext cx="10541521" cy="4335335"/>
          </a:xfrm>
          <a:prstGeom prst="rect">
            <a:avLst/>
          </a:prstGeom>
        </p:spPr>
      </p:pic>
      <p:sp>
        <p:nvSpPr>
          <p:cNvPr id="4" name="제목 1">
            <a:extLst>
              <a:ext uri="{FF2B5EF4-FFF2-40B4-BE49-F238E27FC236}">
                <a16:creationId xmlns:a16="http://schemas.microsoft.com/office/drawing/2014/main" id="{C54FFA66-55FC-DF67-95A8-C264D5C14FCC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E4E42228-D343-259C-E33F-2EA9C7BE3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20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095200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1891C0-09A2-FBF5-D85B-F929E86B19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A62149A-A199-CCC2-90FE-DA283B99BD0E}"/>
              </a:ext>
            </a:extLst>
          </p:cNvPr>
          <p:cNvSpPr txBox="1"/>
          <p:nvPr/>
        </p:nvSpPr>
        <p:spPr>
          <a:xfrm>
            <a:off x="572955" y="1182490"/>
            <a:ext cx="11143400" cy="7914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데이터를 학습한 </a:t>
            </a:r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딥러닝은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이전 단어들을 기반으로 다음 단어를 확률적으로 예측하여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말을 이어가는 끝 말 이어가기 끝판 왕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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  <a:sym typeface="Wingdings" panose="05000000000000000000" pitchFamily="2" charset="2"/>
              </a:rPr>
              <a:t> </a:t>
            </a:r>
            <a:r>
              <a:rPr lang="en-US" altLang="ko-KR" sz="1600" b="1" dirty="0"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LLM(Large Language Model)</a:t>
            </a:r>
            <a:endParaRPr lang="ko-KR" altLang="en-US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grpSp>
        <p:nvGrpSpPr>
          <p:cNvPr id="2" name="그룹 1">
            <a:extLst>
              <a:ext uri="{FF2B5EF4-FFF2-40B4-BE49-F238E27FC236}">
                <a16:creationId xmlns:a16="http://schemas.microsoft.com/office/drawing/2014/main" id="{903CC034-95A1-22B6-813A-A9AEF578AA6E}"/>
              </a:ext>
            </a:extLst>
          </p:cNvPr>
          <p:cNvGrpSpPr/>
          <p:nvPr/>
        </p:nvGrpSpPr>
        <p:grpSpPr>
          <a:xfrm>
            <a:off x="630711" y="2050117"/>
            <a:ext cx="8621503" cy="4008020"/>
            <a:chOff x="1159339" y="601426"/>
            <a:chExt cx="8621503" cy="4008020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53063706-CD35-9C6A-4CB6-80ED3CE4BE6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59339" y="601427"/>
              <a:ext cx="8621503" cy="4008019"/>
            </a:xfrm>
            <a:prstGeom prst="rect">
              <a:avLst/>
            </a:prstGeom>
          </p:spPr>
        </p:pic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36575486-E78F-E443-AA75-0A87FF1774A8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275880" y="1466342"/>
              <a:ext cx="5366966" cy="2971188"/>
            </a:xfrm>
            <a:prstGeom prst="rect">
              <a:avLst/>
            </a:prstGeom>
          </p:spPr>
        </p:pic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D9D8F261-C778-0BEE-19FF-56F5F5EC488B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207302" y="601426"/>
              <a:ext cx="1268392" cy="3836103"/>
            </a:xfrm>
            <a:prstGeom prst="rect">
              <a:avLst/>
            </a:prstGeom>
          </p:spPr>
        </p:pic>
      </p:grpSp>
      <p:sp>
        <p:nvSpPr>
          <p:cNvPr id="7" name="TextBox 6">
            <a:extLst>
              <a:ext uri="{FF2B5EF4-FFF2-40B4-BE49-F238E27FC236}">
                <a16:creationId xmlns:a16="http://schemas.microsoft.com/office/drawing/2014/main" id="{F6A4B8B2-3F5F-A57F-814F-8B9D867214DC}"/>
              </a:ext>
            </a:extLst>
          </p:cNvPr>
          <p:cNvSpPr txBox="1"/>
          <p:nvPr/>
        </p:nvSpPr>
        <p:spPr>
          <a:xfrm>
            <a:off x="572955" y="6110338"/>
            <a:ext cx="512768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https://huggingface.co/learn/nlp-course/chapter1/4?fw=pt</a:t>
            </a:r>
            <a:r>
              <a:rPr lang="en-US" altLang="ko-KR" sz="12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한컴 말랑말랑 Bold" panose="020F0803000000000000" pitchFamily="50" charset="-127"/>
                <a:ea typeface="한컴 말랑말랑 Bold" panose="020F0803000000000000" pitchFamily="50" charset="-127"/>
              </a:rPr>
              <a:t> </a:t>
            </a:r>
            <a:endParaRPr lang="ko-KR" altLang="en-US" sz="12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ffectLst>
                <a:outerShdw blurRad="9525" dist="25400" dir="14640000" algn="tl" rotWithShape="0">
                  <a:schemeClr val="bg1">
                    <a:alpha val="30000"/>
                  </a:schemeClr>
                </a:outerShdw>
              </a:effectLst>
              <a:latin typeface="한컴 말랑말랑 Bold" panose="020F0803000000000000" pitchFamily="50" charset="-127"/>
              <a:ea typeface="한컴 말랑말랑 Bold" panose="020F0803000000000000" pitchFamily="50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C6CFBF25-FAF7-113C-B329-3B3290862E74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prstClr val="black"/>
              <a:srgbClr val="D9C3A5">
                <a:tint val="50000"/>
                <a:satMod val="180000"/>
              </a:srgbClr>
            </a:duotone>
          </a:blip>
          <a:stretch>
            <a:fillRect/>
          </a:stretch>
        </p:blipFill>
        <p:spPr>
          <a:xfrm>
            <a:off x="9494855" y="2073025"/>
            <a:ext cx="2550213" cy="3213751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22897CF4-C106-CB2B-772B-10044F9CA7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8854" y="2201722"/>
            <a:ext cx="1150720" cy="662997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4F0B4B90-10D3-CD96-7F65-13D0D48F669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4757" y="3202215"/>
            <a:ext cx="2289316" cy="784677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6CF73849-1994-6CC6-66C1-5F5DC3DEA56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751277" y="3202215"/>
            <a:ext cx="1150720" cy="647756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03B95147-8E14-88F2-AE54-F38A428C296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75795" y="4211009"/>
            <a:ext cx="3380148" cy="784677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B899A1B7-FDA2-A969-7E4F-1596039EF5D0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702186" y="4144270"/>
            <a:ext cx="1356478" cy="777307"/>
          </a:xfrm>
          <a:prstGeom prst="rect">
            <a:avLst/>
          </a:prstGeom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6E6B3DD4-1580-FB79-A68B-6B0312B8B2B9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88774" y="5166032"/>
            <a:ext cx="4696050" cy="854554"/>
          </a:xfrm>
          <a:prstGeom prst="rect">
            <a:avLst/>
          </a:prstGeom>
        </p:spPr>
      </p:pic>
      <p:pic>
        <p:nvPicPr>
          <p:cNvPr id="19" name="그림 18">
            <a:extLst>
              <a:ext uri="{FF2B5EF4-FFF2-40B4-BE49-F238E27FC236}">
                <a16:creationId xmlns:a16="http://schemas.microsoft.com/office/drawing/2014/main" id="{35CB67AC-629A-E9B0-4DBA-A87BE860AA2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751277" y="5215876"/>
            <a:ext cx="891617" cy="662997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EFFFE5D0-1147-B9EF-DACA-7CFB027D0670}"/>
              </a:ext>
            </a:extLst>
          </p:cNvPr>
          <p:cNvSpPr txBox="1"/>
          <p:nvPr/>
        </p:nvSpPr>
        <p:spPr>
          <a:xfrm>
            <a:off x="10648985" y="3218316"/>
            <a:ext cx="62388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name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0407F6F-3FB3-E5C9-00C6-FCB477C1A2A1}"/>
              </a:ext>
            </a:extLst>
          </p:cNvPr>
          <p:cNvSpPr txBox="1"/>
          <p:nvPr/>
        </p:nvSpPr>
        <p:spPr>
          <a:xfrm>
            <a:off x="11326175" y="4057120"/>
            <a:ext cx="43152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girl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A09A9DB-AE7E-4B2B-74F9-74B691C5E350}"/>
              </a:ext>
            </a:extLst>
          </p:cNvPr>
          <p:cNvSpPr txBox="1"/>
          <p:nvPr/>
        </p:nvSpPr>
        <p:spPr>
          <a:xfrm>
            <a:off x="9591150" y="2379331"/>
            <a:ext cx="65594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house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0C7E1F-8A86-36B2-6E45-AB7A32DAE995}"/>
              </a:ext>
            </a:extLst>
          </p:cNvPr>
          <p:cNvSpPr txBox="1"/>
          <p:nvPr/>
        </p:nvSpPr>
        <p:spPr>
          <a:xfrm>
            <a:off x="10584158" y="5904248"/>
            <a:ext cx="41229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My</a:t>
            </a:r>
            <a:endParaRPr lang="ko-KR" altLang="en-US" sz="1400" dirty="0">
              <a:latin typeface="Tahoma" panose="020B0604030504040204" pitchFamily="34" charset="0"/>
              <a:cs typeface="Tahoma" panose="020B0604030504040204" pitchFamily="34" charset="0"/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26E32FF-72A5-ECB7-FE1A-1D6180C7DED7}"/>
              </a:ext>
            </a:extLst>
          </p:cNvPr>
          <p:cNvCxnSpPr>
            <a:cxnSpLocks/>
          </p:cNvCxnSpPr>
          <p:nvPr/>
        </p:nvCxnSpPr>
        <p:spPr>
          <a:xfrm flipV="1">
            <a:off x="10816670" y="5424217"/>
            <a:ext cx="0" cy="4620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제목 1">
            <a:extLst>
              <a:ext uri="{FF2B5EF4-FFF2-40B4-BE49-F238E27FC236}">
                <a16:creationId xmlns:a16="http://schemas.microsoft.com/office/drawing/2014/main" id="{3C699B77-FF99-CB64-B75D-7B9921ECC96B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</a:t>
            </a:r>
          </a:p>
        </p:txBody>
      </p:sp>
      <p:sp>
        <p:nvSpPr>
          <p:cNvPr id="13" name="슬라이드 번호 개체 틀 3">
            <a:extLst>
              <a:ext uri="{FF2B5EF4-FFF2-40B4-BE49-F238E27FC236}">
                <a16:creationId xmlns:a16="http://schemas.microsoft.com/office/drawing/2014/main" id="{20B471C4-A2F3-53E6-397D-2F1C0CF7A6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21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17010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2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2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inVertical)">
                                      <p:cBhvr>
                                        <p:cTn id="2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0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35" dur="2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6" presetClass="entr" presetSubtype="16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in)">
                                      <p:cBhvr>
                                        <p:cTn id="40" dur="2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2BB82-A826-F26E-33F3-BE58B9BFB7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생각 풍선: 구름 모양 11">
            <a:extLst>
              <a:ext uri="{FF2B5EF4-FFF2-40B4-BE49-F238E27FC236}">
                <a16:creationId xmlns:a16="http://schemas.microsoft.com/office/drawing/2014/main" id="{836A0981-B06E-7FA9-3C84-1BEB1DD7D66C}"/>
              </a:ext>
            </a:extLst>
          </p:cNvPr>
          <p:cNvSpPr/>
          <p:nvPr/>
        </p:nvSpPr>
        <p:spPr>
          <a:xfrm>
            <a:off x="9114907" y="4441971"/>
            <a:ext cx="1676400" cy="981109"/>
          </a:xfrm>
          <a:prstGeom prst="cloudCallout">
            <a:avLst>
              <a:gd name="adj1" fmla="val -64014"/>
              <a:gd name="adj2" fmla="val -118076"/>
            </a:avLst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solidFill>
                <a:schemeClr val="bg1"/>
              </a:solidFill>
            </a:endParaRPr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5466065-E699-8505-729C-071D8E4E57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확률적 언어모델을 가진 앵무새</a:t>
            </a:r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(Generative AI, LLM)</a:t>
            </a:r>
            <a:endParaRPr lang="ko-KR" altLang="en-US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7E3B534-17F1-16CB-F2B2-D4F954D22BE1}"/>
              </a:ext>
            </a:extLst>
          </p:cNvPr>
          <p:cNvSpPr txBox="1"/>
          <p:nvPr/>
        </p:nvSpPr>
        <p:spPr>
          <a:xfrm>
            <a:off x="640703" y="2212211"/>
            <a:ext cx="6906500" cy="29583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신경망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(Neural Network)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기반으로 문맥을 이해하고 논리적 답변 생성 가능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342900" indent="-34290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대표 모델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: GPT-4, Claude, Gemini,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LLaMA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등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57B3DEC-D9DE-0819-ED6A-4522BD601F7C}"/>
              </a:ext>
            </a:extLst>
          </p:cNvPr>
          <p:cNvSpPr txBox="1"/>
          <p:nvPr/>
        </p:nvSpPr>
        <p:spPr>
          <a:xfrm>
            <a:off x="9925614" y="3590676"/>
            <a:ext cx="1338828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tokenizer</a:t>
            </a:r>
            <a:endParaRPr lang="ko-KR" altLang="en-US" sz="2000" b="1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3A936B0-BF75-16F5-23C6-40015226234C}"/>
              </a:ext>
            </a:extLst>
          </p:cNvPr>
          <p:cNvSpPr txBox="1"/>
          <p:nvPr/>
        </p:nvSpPr>
        <p:spPr>
          <a:xfrm rot="20880952">
            <a:off x="9847025" y="4583788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6902C82-4BA6-FEDC-2B87-D1CF7DBA6ED8}"/>
              </a:ext>
            </a:extLst>
          </p:cNvPr>
          <p:cNvSpPr txBox="1"/>
          <p:nvPr/>
        </p:nvSpPr>
        <p:spPr>
          <a:xfrm rot="18871284">
            <a:off x="10087460" y="491753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DBAB36C-27C3-2D4A-22B2-AC7B1B098554}"/>
              </a:ext>
            </a:extLst>
          </p:cNvPr>
          <p:cNvSpPr txBox="1"/>
          <p:nvPr/>
        </p:nvSpPr>
        <p:spPr>
          <a:xfrm rot="20880952">
            <a:off x="9500627" y="4997583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35F040D-97CF-EDFE-B8F0-1019CB16013B}"/>
              </a:ext>
            </a:extLst>
          </p:cNvPr>
          <p:cNvSpPr txBox="1"/>
          <p:nvPr/>
        </p:nvSpPr>
        <p:spPr>
          <a:xfrm rot="899439">
            <a:off x="9289956" y="4658220"/>
            <a:ext cx="63350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token</a:t>
            </a:r>
            <a:endParaRPr lang="ko-KR" altLang="en-US" sz="1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" name="슬라이드 번호 개체 틀 3">
            <a:extLst>
              <a:ext uri="{FF2B5EF4-FFF2-40B4-BE49-F238E27FC236}">
                <a16:creationId xmlns:a16="http://schemas.microsoft.com/office/drawing/2014/main" id="{23BF0C6E-FCBC-9280-86ED-228EEE52B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22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13" name="그래픽 12" descr="참새">
            <a:extLst>
              <a:ext uri="{FF2B5EF4-FFF2-40B4-BE49-F238E27FC236}">
                <a16:creationId xmlns:a16="http://schemas.microsoft.com/office/drawing/2014/main" id="{BBDD8201-6555-92B7-5E35-4BE0D3251DE0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667106" y="2514599"/>
            <a:ext cx="1593823" cy="15938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432377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7AEAFC-BE00-BAFE-D0FA-D525C34773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2" descr="코드에서 대화로: LLM은 어떻게 작동하나요?">
            <a:extLst>
              <a:ext uri="{FF2B5EF4-FFF2-40B4-BE49-F238E27FC236}">
                <a16:creationId xmlns:a16="http://schemas.microsoft.com/office/drawing/2014/main" id="{1FD4B2C6-0335-9409-DB54-C0E55819C4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69683" y="2585739"/>
            <a:ext cx="7307718" cy="38708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01DFEDB0-1965-79D2-75D3-9E3A6282EA84}"/>
              </a:ext>
            </a:extLst>
          </p:cNvPr>
          <p:cNvSpPr txBox="1">
            <a:spLocks/>
          </p:cNvSpPr>
          <p:nvPr/>
        </p:nvSpPr>
        <p:spPr>
          <a:xfrm>
            <a:off x="524690" y="481142"/>
            <a:ext cx="9308471" cy="76643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solidFill>
                  <a:schemeClr val="tx2"/>
                </a:solidFill>
                <a:effectLst>
                  <a:outerShdw blurRad="9525" dist="25400" dir="14640000" algn="tl" rotWithShape="0">
                    <a:schemeClr val="bg1">
                      <a:alpha val="30000"/>
                    </a:schemeClr>
                  </a:outerShdw>
                </a:effectLst>
                <a:latin typeface="Batang" panose="02030600000101010101" pitchFamily="18" charset="-127"/>
                <a:ea typeface="Batang" panose="02030600000101010101" pitchFamily="18" charset="-127"/>
                <a:cs typeface="Batang" panose="02030600000101010101" pitchFamily="18" charset="-127"/>
              </a:defRPr>
            </a:lvl1pPr>
            <a:lvl2pPr eaLnBrk="1" latinLnBrk="1" hangingPunct="1">
              <a:defRPr>
                <a:solidFill>
                  <a:schemeClr val="tx2"/>
                </a:solidFill>
              </a:defRPr>
            </a:lvl2pPr>
            <a:lvl3pPr eaLnBrk="1" latinLnBrk="1" hangingPunct="1">
              <a:defRPr>
                <a:solidFill>
                  <a:schemeClr val="tx2"/>
                </a:solidFill>
              </a:defRPr>
            </a:lvl3pPr>
            <a:lvl4pPr eaLnBrk="1" latinLnBrk="1" hangingPunct="1">
              <a:defRPr>
                <a:solidFill>
                  <a:schemeClr val="tx2"/>
                </a:solidFill>
              </a:defRPr>
            </a:lvl4pPr>
            <a:lvl5pPr eaLnBrk="1" latinLnBrk="1" hangingPunct="1">
              <a:defRPr>
                <a:solidFill>
                  <a:schemeClr val="tx2"/>
                </a:solidFill>
              </a:defRPr>
            </a:lvl5pPr>
            <a:lvl6pPr eaLnBrk="1" latinLnBrk="1" hangingPunct="1">
              <a:defRPr>
                <a:solidFill>
                  <a:schemeClr val="tx2"/>
                </a:solidFill>
              </a:defRPr>
            </a:lvl6pPr>
            <a:lvl7pPr eaLnBrk="1" latinLnBrk="1" hangingPunct="1">
              <a:defRPr>
                <a:solidFill>
                  <a:schemeClr val="tx2"/>
                </a:solidFill>
              </a:defRPr>
            </a:lvl7pPr>
            <a:lvl8pPr eaLnBrk="1" latinLnBrk="1" hangingPunct="1">
              <a:defRPr>
                <a:solidFill>
                  <a:schemeClr val="tx2"/>
                </a:solidFill>
              </a:defRPr>
            </a:lvl8pPr>
            <a:lvl9pPr eaLnBrk="1" latinLnBrk="1" hangingPunct="1">
              <a:defRPr>
                <a:solidFill>
                  <a:schemeClr val="tx2"/>
                </a:solidFill>
              </a:defRPr>
            </a:lvl9pPr>
          </a:lstStyle>
          <a:p>
            <a:pPr algn="l"/>
            <a:r>
              <a:rPr lang="ko-KR" altLang="en-US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대규모 언어 모델 </a:t>
            </a:r>
            <a:r>
              <a:rPr lang="en-US" altLang="ko-KR" sz="2800" b="1" dirty="0">
                <a:solidFill>
                  <a:schemeClr val="tx1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  <a:cs typeface="Times New Roman" panose="02020603050405020304" pitchFamily="18" charset="0"/>
              </a:rPr>
              <a:t>(Large Language Model, LLM)</a:t>
            </a:r>
            <a:endParaRPr lang="ko-KR" altLang="en-US" sz="2800" b="1" dirty="0">
              <a:solidFill>
                <a:schemeClr val="tx1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  <a:cs typeface="Times New Roman" panose="02020603050405020304" pitchFamily="18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BB4EC25-E590-3BDF-7682-BBA1C5D7A3FF}"/>
              </a:ext>
            </a:extLst>
          </p:cNvPr>
          <p:cNvSpPr txBox="1"/>
          <p:nvPr/>
        </p:nvSpPr>
        <p:spPr>
          <a:xfrm>
            <a:off x="599571" y="1247581"/>
            <a:ext cx="9308471" cy="12020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수십억 개의 단어를 학습하여 사람처럼 자연스럽게 언어를 생성하는 인공지능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신경망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(Neural Network)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기반으로 문맥을 이해하고 논리적 답변 생성 가능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대표 모델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: GPT-4, Claude, Gemini, </a:t>
            </a:r>
            <a:r>
              <a:rPr lang="en-US" altLang="ko-KR" sz="1600" dirty="0" err="1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LLaMA</a:t>
            </a:r>
            <a:r>
              <a:rPr lang="en-US" altLang="ko-KR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n>
                  <a:solidFill>
                    <a:schemeClr val="bg1">
                      <a:lumMod val="75000"/>
                      <a:lumOff val="25000"/>
                      <a:alpha val="10000"/>
                    </a:schemeClr>
                  </a:solidFill>
                </a:ln>
                <a:ea typeface="D2Coding" panose="020B0609020101020101" pitchFamily="49" charset="-127"/>
              </a:rPr>
              <a:t>등</a:t>
            </a:r>
            <a:endParaRPr lang="en-US" altLang="ko-KR" sz="1600" dirty="0">
              <a:ln>
                <a:solidFill>
                  <a:schemeClr val="bg1">
                    <a:lumMod val="75000"/>
                    <a:lumOff val="25000"/>
                    <a:alpha val="10000"/>
                  </a:schemeClr>
                </a:solidFill>
              </a:ln>
              <a:ea typeface="D2Coding" panose="020B0609020101020101" pitchFamily="49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074EE66-6D27-BE42-817E-0B9A49EA28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162487" y="299420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z="1400" b="1" smtClean="0">
                <a:latin typeface="Times New Roman" panose="02020603050405020304" pitchFamily="18" charset="0"/>
                <a:ea typeface="Verdana" panose="020B0604030504040204" pitchFamily="34" charset="0"/>
                <a:cs typeface="Times New Roman" panose="02020603050405020304" pitchFamily="18" charset="0"/>
              </a:rPr>
              <a:pPr/>
              <a:t>23</a:t>
            </a:fld>
            <a:endParaRPr lang="en-US" sz="1400" b="1" dirty="0">
              <a:latin typeface="Times New Roman" panose="02020603050405020304" pitchFamily="18" charset="0"/>
              <a:ea typeface="Verdana" panose="020B0604030504040204" pitchFamily="34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4511292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52879C-ADA7-CCED-8D88-051AC31C09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83D097-5E2D-55F0-4935-0E2A94B3FC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4F9A9CD-06E8-DF8E-97D7-3AE33949897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7A48EA9-9839-49C9-70B3-30C9788433C0}"/>
              </a:ext>
            </a:extLst>
          </p:cNvPr>
          <p:cNvSpPr txBox="1"/>
          <p:nvPr/>
        </p:nvSpPr>
        <p:spPr>
          <a:xfrm>
            <a:off x="475645" y="1538618"/>
            <a:ext cx="46858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제미나이 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</a:t>
            </a:r>
            <a:r>
              <a:rPr lang="ko-KR" altLang="en-US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실습하는 코드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(</a:t>
            </a:r>
            <a:r>
              <a:rPr lang="en-US" altLang="ko-KR" dirty="0" err="1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colab_python</a:t>
            </a:r>
            <a:r>
              <a:rPr lang="en-US" altLang="ko-KR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)</a:t>
            </a:r>
            <a:endParaRPr lang="ko-KR" altLang="en-US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40AF9B-B442-980A-C5A4-DC006F03ACC8}"/>
              </a:ext>
            </a:extLst>
          </p:cNvPr>
          <p:cNvSpPr txBox="1"/>
          <p:nvPr/>
        </p:nvSpPr>
        <p:spPr>
          <a:xfrm>
            <a:off x="3676852" y="2360030"/>
            <a:ext cx="4259862" cy="19934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텍스트 생성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Generate text)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번역하기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(Translate languages)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소설 만들기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(Write creative content)</a:t>
            </a:r>
          </a:p>
          <a:p>
            <a:pPr marL="342900" indent="-342900" algn="l">
              <a:lnSpc>
                <a:spcPct val="200000"/>
              </a:lnSpc>
              <a:buFont typeface="+mj-lt"/>
              <a:buAutoNum type="arabicPeriod"/>
            </a:pP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보이스피싱 탐지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(Categorize text)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71D1F2-1E52-48A8-B34D-CDC25627F90F}"/>
              </a:ext>
            </a:extLst>
          </p:cNvPr>
          <p:cNvSpPr txBox="1"/>
          <p:nvPr/>
        </p:nvSpPr>
        <p:spPr>
          <a:xfrm>
            <a:off x="3862085" y="5172872"/>
            <a:ext cx="446783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4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가지 서비스를 친구에게 휴대폰이나 인터넷으로 제시하자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! using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gradio.app</a:t>
            </a:r>
            <a:endParaRPr lang="ko-KR" altLang="en-US" sz="1600" dirty="0"/>
          </a:p>
        </p:txBody>
      </p:sp>
      <p:sp>
        <p:nvSpPr>
          <p:cNvPr id="8" name="왼쪽 중괄호 7">
            <a:extLst>
              <a:ext uri="{FF2B5EF4-FFF2-40B4-BE49-F238E27FC236}">
                <a16:creationId xmlns:a16="http://schemas.microsoft.com/office/drawing/2014/main" id="{146E1227-8063-B6EA-B8B9-BA67E1D2D5CB}"/>
              </a:ext>
            </a:extLst>
          </p:cNvPr>
          <p:cNvSpPr/>
          <p:nvPr/>
        </p:nvSpPr>
        <p:spPr>
          <a:xfrm>
            <a:off x="3415273" y="2724149"/>
            <a:ext cx="261578" cy="1343025"/>
          </a:xfrm>
          <a:prstGeom prst="leftBrace">
            <a:avLst>
              <a:gd name="adj1" fmla="val 66461"/>
              <a:gd name="adj2" fmla="val 50000"/>
            </a:avLst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래픽 12" descr="줄 화살표: 일자형">
            <a:extLst>
              <a:ext uri="{FF2B5EF4-FFF2-40B4-BE49-F238E27FC236}">
                <a16:creationId xmlns:a16="http://schemas.microsoft.com/office/drawing/2014/main" id="{90D4E2EA-0E67-0DED-DBB8-26969C40507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rot="16200000">
            <a:off x="5396131" y="4503162"/>
            <a:ext cx="584775" cy="58477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81DB374-A3B1-F3AE-D2DF-CE088155D4CC}"/>
              </a:ext>
            </a:extLst>
          </p:cNvPr>
          <p:cNvSpPr txBox="1"/>
          <p:nvPr/>
        </p:nvSpPr>
        <p:spPr>
          <a:xfrm>
            <a:off x="1621290" y="5985923"/>
            <a:ext cx="8892721" cy="338554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r>
              <a:rPr lang="ko-KR" altLang="en-US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gradio를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사용하여 4가지 기능을 만들어줘</a:t>
            </a:r>
          </a:p>
        </p:txBody>
      </p:sp>
      <p:pic>
        <p:nvPicPr>
          <p:cNvPr id="15" name="그래픽 14" descr="일러스트레이터 단색으로 채워진">
            <a:extLst>
              <a:ext uri="{FF2B5EF4-FFF2-40B4-BE49-F238E27FC236}">
                <a16:creationId xmlns:a16="http://schemas.microsoft.com/office/drawing/2014/main" id="{6E873D37-2954-7F03-4527-CFCCB44F2CD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67745" y="5856820"/>
            <a:ext cx="683073" cy="6830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084421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F6BB5-3CE1-EF16-05C4-B635BA55F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CBEBC0B-9B1E-F396-B432-5B9FAA0316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5978D07-459B-C703-E1EC-FF810A7391E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Antigravity </a:t>
            </a:r>
            <a:r>
              <a:rPr lang="ko-KR" altLang="en-US" sz="2800" b="1" cap="none" dirty="0">
                <a:latin typeface="D2Coding" panose="020B0609020101020101" pitchFamily="49" charset="-127"/>
                <a:ea typeface="D2Coding" panose="020B0609020101020101" pitchFamily="49" charset="-127"/>
              </a:rPr>
              <a:t>실습하기</a:t>
            </a:r>
            <a:endParaRPr lang="en-US" altLang="ko-KR" sz="2800" b="1" cap="none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0D05AED-A77D-58EC-0032-536ACE833B97}"/>
              </a:ext>
            </a:extLst>
          </p:cNvPr>
          <p:cNvSpPr txBox="1"/>
          <p:nvPr/>
        </p:nvSpPr>
        <p:spPr>
          <a:xfrm>
            <a:off x="1625600" y="3858614"/>
            <a:ext cx="10021454" cy="465320"/>
          </a:xfrm>
          <a:prstGeom prst="rect">
            <a:avLst/>
          </a:prstGeom>
          <a:solidFill>
            <a:srgbClr val="92D050"/>
          </a:solidFill>
          <a:ln>
            <a:solidFill>
              <a:srgbClr val="00B050"/>
            </a:solidFill>
          </a:ln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HTML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로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쳇봇을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만들어줘</a:t>
            </a:r>
          </a:p>
        </p:txBody>
      </p:sp>
      <p:pic>
        <p:nvPicPr>
          <p:cNvPr id="9" name="그래픽 8" descr="일러스트레이터 단색으로 채워진">
            <a:extLst>
              <a:ext uri="{FF2B5EF4-FFF2-40B4-BE49-F238E27FC236}">
                <a16:creationId xmlns:a16="http://schemas.microsoft.com/office/drawing/2014/main" id="{6D7505B9-1756-C0DD-583A-9B281900700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1200" y="3691755"/>
            <a:ext cx="914400" cy="9144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AD5065-A042-E06E-B322-4A026BC82225}"/>
              </a:ext>
            </a:extLst>
          </p:cNvPr>
          <p:cNvSpPr txBox="1"/>
          <p:nvPr/>
        </p:nvSpPr>
        <p:spPr>
          <a:xfrm>
            <a:off x="628073" y="1415281"/>
            <a:ext cx="2492990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000" b="1" dirty="0">
                <a:solidFill>
                  <a:srgbClr val="00B0F0"/>
                </a:solidFill>
                <a:latin typeface="D2Coding" panose="020B0609020101020101" pitchFamily="49" charset="-127"/>
                <a:ea typeface="D2Coding" panose="020B0609020101020101" pitchFamily="49" charset="-127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Google Antigravity</a:t>
            </a:r>
            <a:endParaRPr lang="ko-KR" altLang="en-US" sz="2000" b="1" dirty="0">
              <a:solidFill>
                <a:srgbClr val="00B0F0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63DE038-76C9-055F-75EC-7DB100B80577}"/>
              </a:ext>
            </a:extLst>
          </p:cNvPr>
          <p:cNvSpPr txBox="1"/>
          <p:nvPr/>
        </p:nvSpPr>
        <p:spPr>
          <a:xfrm>
            <a:off x="1625600" y="4665693"/>
            <a:ext cx="9938327" cy="1162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API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를 사용하면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Google DeepMind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에서 만든 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Gemini 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모델에 액세스할 수 있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으며 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처음부터 </a:t>
            </a:r>
            <a:r>
              <a:rPr lang="ko-KR" altLang="en-US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멀티모달로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b="0" i="0" dirty="0" err="1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빌드되므로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텍스트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이미지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코드</a:t>
            </a:r>
            <a:r>
              <a:rPr lang="en-US" altLang="ko-KR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sz="1600" b="0" i="0" dirty="0"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오디오 등 다양한 종류의 콘텐츠에서 원활한 추론이 가능</a:t>
            </a:r>
          </a:p>
        </p:txBody>
      </p:sp>
    </p:spTree>
    <p:extLst>
      <p:ext uri="{BB962C8B-B14F-4D97-AF65-F5344CB8AC3E}">
        <p14:creationId xmlns:p14="http://schemas.microsoft.com/office/powerpoint/2010/main" val="39265471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 Coding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it-IT" altLang="ko-KR" sz="2400" dirty="0">
                <a:solidFill>
                  <a:schemeClr val="bg1"/>
                </a:solidFill>
              </a:rPr>
              <a:t>03_AI Agent Coding.pptx</a:t>
            </a:r>
            <a:endParaRPr lang="ko-KR" altLang="en-US" sz="36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>
                <a:solidFill>
                  <a:schemeClr val="bg1"/>
                </a:solidFill>
              </a:rPr>
              <a:t>조상구 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3536447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C4A94-8BCA-872D-7423-FE3B127965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0F0001-9411-7C4E-562A-6D52F3C945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2F0FBC7-3D1C-5821-6A59-F4F3C29716CC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Agent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= AI + Harness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D70A8C2-C37F-B9A0-44D8-DF747225DB35}"/>
              </a:ext>
            </a:extLst>
          </p:cNvPr>
          <p:cNvSpPr txBox="1"/>
          <p:nvPr/>
        </p:nvSpPr>
        <p:spPr>
          <a:xfrm>
            <a:off x="7161876" y="2081988"/>
            <a:ext cx="3061624" cy="212731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목적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(Goal)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예측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(Predict)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조정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(Control)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1028" name="Picture 4" descr="말을 타는 사람">
            <a:extLst>
              <a:ext uri="{FF2B5EF4-FFF2-40B4-BE49-F238E27FC236}">
                <a16:creationId xmlns:a16="http://schemas.microsoft.com/office/drawing/2014/main" id="{2AD0284C-07B6-C81F-3E9C-68A18AD39EF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788479" y="2081988"/>
            <a:ext cx="4906962" cy="35771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7991601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48FC5E-E5B2-C51D-B5D1-2FC2224092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BD19EC0-6330-20E9-A1AF-CEDE65FC56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C481E3E-0CDE-9F85-9CC8-DCB1C387C25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Platform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D126A99-3ED1-DD5C-2C9B-97C1CDC02DEF}"/>
              </a:ext>
            </a:extLst>
          </p:cNvPr>
          <p:cNvSpPr txBox="1"/>
          <p:nvPr/>
        </p:nvSpPr>
        <p:spPr>
          <a:xfrm>
            <a:off x="1422400" y="1640603"/>
            <a:ext cx="4821382" cy="480131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① Workflow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n8n, Prefect,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Dagster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Airflow….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endParaRPr lang="en-US" altLang="ko-KR" sz="1800" b="0" i="0" u="none" strike="noStrike" dirty="0">
              <a:solidFill>
                <a:srgbClr val="000000"/>
              </a:solidFill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② Agent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LangGraph, </a:t>
            </a:r>
            <a:r>
              <a:rPr lang="en-US" altLang="ko-KR" dirty="0">
                <a:solidFill>
                  <a:srgbClr val="000000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OpenAI Agents SDK, </a:t>
            </a: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CrewAI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…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↓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>
              <a:buNone/>
            </a:pP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③ Agent Platform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-------------------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rtl="0">
              <a:buNone/>
            </a:pPr>
            <a:r>
              <a:rPr lang="en-US" altLang="ko-KR" sz="1800" b="0" i="0" u="none" strike="noStrike" dirty="0" err="1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LangSmith</a:t>
            </a:r>
            <a:r>
              <a:rPr lang="en-US" altLang="ko-KR" sz="1800" b="0" i="0" u="none" strike="noStrike" dirty="0">
                <a:solidFill>
                  <a:srgbClr val="000000"/>
                </a:solidFill>
                <a:effectLst/>
                <a:latin typeface="D2Coding" panose="020B0609020101020101" pitchFamily="49" charset="-127"/>
                <a:ea typeface="D2Coding" panose="020B0609020101020101" pitchFamily="49" charset="-127"/>
              </a:rPr>
              <a:t> Fleet, Google Agent Engine, Microsoft Copilot Studio, Amazon Bedrock Agents</a:t>
            </a:r>
            <a:endParaRPr lang="en-US" altLang="ko-KR" b="0" dirty="0">
              <a:effectLst/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8" name="그래픽 7" descr="화살표가 있는 원">
            <a:extLst>
              <a:ext uri="{FF2B5EF4-FFF2-40B4-BE49-F238E27FC236}">
                <a16:creationId xmlns:a16="http://schemas.microsoft.com/office/drawing/2014/main" id="{259331E3-58B1-19AC-856F-3155A3D5DDB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437746" y="1745211"/>
            <a:ext cx="2092960" cy="2092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30082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66DA31-192E-5E9F-B13A-4898674DCB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C8CC0FF-C594-64E3-D030-284FC8D507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29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A016194-4469-88E7-BBD2-413D936BCEF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FAB50DF-1463-023A-FA74-17F95F99F0F7}"/>
              </a:ext>
            </a:extLst>
          </p:cNvPr>
          <p:cNvSpPr txBox="1"/>
          <p:nvPr/>
        </p:nvSpPr>
        <p:spPr>
          <a:xfrm>
            <a:off x="549563" y="1352316"/>
            <a:ext cx="11092873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LLM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=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코딩 지식을 가진 상담원, 에이전트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= 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내 컴퓨터 권한을 넘겨받아 대신 일해주는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발자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552348-2241-2DB8-A0AC-41BFE067DFB4}"/>
              </a:ext>
            </a:extLst>
          </p:cNvPr>
          <p:cNvSpPr txBox="1"/>
          <p:nvPr/>
        </p:nvSpPr>
        <p:spPr>
          <a:xfrm>
            <a:off x="858980" y="2231103"/>
            <a:ext cx="10474037" cy="297837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자율적 계획 수립: "이 기능을 구현하려면 어떤 파일들을 수정해야 하지?" 분석하고 계획을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수립</a:t>
            </a: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직접 파일 조작: 프로젝트 폴더 내의 여러 코드를 직접 읽고, 수정하고, 새 파일을 생성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도구 및 명령어 실행: 터미널에서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npm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test나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pytest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같은 테스트 명령어를 직접 실행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디버깅 및 피드백 루프: 테스트를 돌려보고 에러가 나면, 사람이 개입하지 않아도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AI가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에러 로그를 보고 코드를 다시 수정하여 통과할 때까지 반복</a:t>
            </a:r>
          </a:p>
          <a:p>
            <a:pPr marL="285750" indent="-285750">
              <a:lnSpc>
                <a:spcPct val="20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연동: 작업이 끝나면 변경 사항을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스테이징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(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git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add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)하고, 적절한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커밋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메시지까지 작성</a:t>
            </a:r>
          </a:p>
        </p:txBody>
      </p:sp>
    </p:spTree>
    <p:extLst>
      <p:ext uri="{BB962C8B-B14F-4D97-AF65-F5344CB8AC3E}">
        <p14:creationId xmlns:p14="http://schemas.microsoft.com/office/powerpoint/2010/main" val="287119179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28515D-CD48-6D90-B34C-C9DD81045B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CEB32-62BA-FEF5-8CD4-F47AF0C08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8224926-1656-BC2D-D28F-2F89F07FA46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AI coding</a:t>
            </a:r>
            <a:r>
              <a:rPr lang="ko-KR" altLang="en-US" sz="2800" b="1" cap="none" dirty="0">
                <a:latin typeface="Lora" pitchFamily="2" charset="0"/>
              </a:rPr>
              <a:t> </a:t>
            </a:r>
            <a:r>
              <a:rPr lang="en-US" altLang="ko-KR" sz="2800" b="1" cap="none" dirty="0">
                <a:latin typeface="Lora" pitchFamily="2" charset="0"/>
              </a:rPr>
              <a:t>Agent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82A6C08-DF9D-A5D3-944A-EE31C64E3FC4}"/>
              </a:ext>
            </a:extLst>
          </p:cNvPr>
          <p:cNvSpPr txBox="1"/>
          <p:nvPr/>
        </p:nvSpPr>
        <p:spPr>
          <a:xfrm>
            <a:off x="544944" y="1510391"/>
            <a:ext cx="11028219" cy="47221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AI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</a:t>
            </a:r>
            <a:r>
              <a:rPr lang="ko-KR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시장에서 돈을 벌고 있는 서비스</a:t>
            </a:r>
            <a:endParaRPr lang="en-US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IDE(Integrated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Developmenr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Environment)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: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LLM에서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API를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제공하는 서비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(GPT-4o, GPT-3.5 등)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Cloud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Vertex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AI /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API (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3.5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Sonnet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등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en-US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CLI(Command Line Interface) :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터미널</a:t>
            </a:r>
            <a:r>
              <a:rPr lang="en-US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환경에서 명령어를 입력하는 형태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Anthropic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Claude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Google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Gemini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Codex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CLI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이미지, </a:t>
            </a:r>
            <a:r>
              <a:rPr lang="ko-KR" altLang="ko-KR" sz="16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동영상등을</a:t>
            </a: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 제작하는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Midjourney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OpenAI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Sora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&amp;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Runway</a:t>
            </a: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Gen-3 </a:t>
            </a: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endParaRPr lang="ko-KR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742950" lvl="1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600" dirty="0">
                <a:latin typeface="D2Coding" panose="020B0609020101020101" pitchFamily="49" charset="-127"/>
                <a:ea typeface="D2Coding" panose="020B0609020101020101" pitchFamily="49" charset="-127"/>
              </a:rPr>
              <a:t>코딩 에이전트 유료 구독 서비스</a:t>
            </a:r>
            <a:endParaRPr lang="en-US" altLang="ko-KR" sz="1600" dirty="0">
              <a:latin typeface="D2Coding" panose="020B0609020101020101" pitchFamily="49" charset="-127"/>
              <a:ea typeface="D2Coding" panose="020B0609020101020101" pitchFamily="49" charset="-127"/>
            </a:endParaRPr>
          </a:p>
          <a:p>
            <a:pPr marL="1200150" lvl="2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ko-KR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GitHub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Copilot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ko-KR" sz="1400" dirty="0" err="1">
                <a:latin typeface="D2Coding" panose="020B0609020101020101" pitchFamily="49" charset="-127"/>
                <a:ea typeface="D2Coding" panose="020B0609020101020101" pitchFamily="49" charset="-127"/>
              </a:rPr>
              <a:t>Cursor</a:t>
            </a:r>
            <a:endParaRPr lang="ko-KR" altLang="ko-KR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948524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AD4B57-93D9-0468-7551-29306C63B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808D50B-4B99-DF47-3BF4-F81FFA20E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27DB069D-FCC4-495B-B505-098B57F27B2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google </a:t>
            </a:r>
            <a:r>
              <a:rPr lang="en-US" altLang="ko-KR" sz="2800" b="1" cap="none" dirty="0" err="1">
                <a:latin typeface="Lora" pitchFamily="2" charset="0"/>
              </a:rPr>
              <a:t>gemini</a:t>
            </a:r>
            <a:r>
              <a:rPr lang="en-US" altLang="ko-KR" sz="2800" b="1" cap="none" dirty="0">
                <a:latin typeface="Lora" pitchFamily="2" charset="0"/>
              </a:rPr>
              <a:t> SDK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DDC89F-5EA4-AC3B-85CE-98F40FC4AD0B}"/>
              </a:ext>
            </a:extLst>
          </p:cNvPr>
          <p:cNvSpPr txBox="1"/>
          <p:nvPr/>
        </p:nvSpPr>
        <p:spPr>
          <a:xfrm>
            <a:off x="475645" y="1487842"/>
            <a:ext cx="628996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Gemini API: Getting started with Gemini models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A75F4CA2-54FD-8B3E-4974-F83EE3A1578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2144" y="1939576"/>
            <a:ext cx="8381686" cy="44364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09658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C8BD28-DB95-62F9-8D53-79638B3531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C32F9EC-F032-0F7E-ED31-C7237DDB3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47161F7-4E40-9AA5-77DB-5C9C8F8DB00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Harness Engineering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8C134482-2CD9-E3B3-133A-BC9B2BE356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0182823"/>
              </p:ext>
            </p:extLst>
          </p:nvPr>
        </p:nvGraphicFramePr>
        <p:xfrm>
          <a:off x="638885" y="1543208"/>
          <a:ext cx="11114964" cy="4043092"/>
        </p:xfrm>
        <a:graphic>
          <a:graphicData uri="http://schemas.openxmlformats.org/drawingml/2006/table">
            <a:tbl>
              <a:tblPr/>
              <a:tblGrid>
                <a:gridCol w="2675815">
                  <a:extLst>
                    <a:ext uri="{9D8B030D-6E8A-4147-A177-3AD203B41FA5}">
                      <a16:colId xmlns:a16="http://schemas.microsoft.com/office/drawing/2014/main" val="569965403"/>
                    </a:ext>
                  </a:extLst>
                </a:gridCol>
                <a:gridCol w="3724275">
                  <a:extLst>
                    <a:ext uri="{9D8B030D-6E8A-4147-A177-3AD203B41FA5}">
                      <a16:colId xmlns:a16="http://schemas.microsoft.com/office/drawing/2014/main" val="296715999"/>
                    </a:ext>
                  </a:extLst>
                </a:gridCol>
                <a:gridCol w="4714874">
                  <a:extLst>
                    <a:ext uri="{9D8B030D-6E8A-4147-A177-3AD203B41FA5}">
                      <a16:colId xmlns:a16="http://schemas.microsoft.com/office/drawing/2014/main" val="3804051023"/>
                    </a:ext>
                  </a:extLst>
                </a:gridCol>
              </a:tblGrid>
              <a:tr h="258588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요즘 말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떠올리면 되는 고전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한 줄 요약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70B7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9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522137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 err="1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바이브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 코딩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vibe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프로토타이핑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(prototyping)</a:t>
                      </a:r>
                      <a:endParaRPr lang="ko-KR" altLang="en-US" sz="1600" b="0" dirty="0">
                        <a:effectLst/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느낌 가는 대로 빠르게 만들어 던져보는 스케치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맘에 안 들면 버리는 게 당연한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회용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90B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3223978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스펙 코딩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spec coding)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요구공학 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requirements engineering)·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분석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·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설계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코딩하기 전에 무엇을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,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왜 만들어야 하는지 텍스트로 확실히 못 박고 들어가기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50B1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6417974"/>
                  </a:ext>
                </a:extLst>
              </a:tr>
              <a:tr h="974677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루프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loop)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스파이럴 모델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spiral model)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목표 설정 → 측정 → 실행 → 교정의 무한 루프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 </a:t>
                      </a: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측정이 불가능하면 루프도 멈춘다</a:t>
                      </a:r>
                      <a:r>
                        <a:rPr lang="en-US" altLang="ko-KR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.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60C9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7674535"/>
                  </a:ext>
                </a:extLst>
              </a:tr>
              <a:tr h="795655"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</a:t>
                      </a:r>
                      <a:r>
                        <a:rPr 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harness)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테스트 하네스 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(test harness)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 </a:t>
                      </a:r>
                      <a:r>
                        <a:rPr lang="en-US" altLang="ko-KR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+ </a:t>
                      </a:r>
                      <a:r>
                        <a:rPr lang="ko-KR" altLang="en-US" sz="1600" b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그 위의 전부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DCDC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DDD8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fontAlgn="t">
                        <a:buNone/>
                      </a:pPr>
                      <a:r>
                        <a:rPr lang="ko-KR" altLang="en-US" sz="1600" b="0" dirty="0">
                          <a:effectLst/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이 모든 규칙을 기계적으로 강제하는 안전하고 견고한 그릇</a:t>
                      </a:r>
                    </a:p>
                  </a:txBody>
                  <a:tcPr marL="59674" marR="59674" marT="39783" marB="39783">
                    <a:lnL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20CB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60920565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CFFC055-AD74-D401-E12F-0C7E68F52296}"/>
              </a:ext>
            </a:extLst>
          </p:cNvPr>
          <p:cNvSpPr txBox="1"/>
          <p:nvPr/>
        </p:nvSpPr>
        <p:spPr>
          <a:xfrm>
            <a:off x="771525" y="6036261"/>
            <a:ext cx="24574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 err="1">
                <a:hlinkClick r:id="rId2"/>
              </a:rPr>
              <a:t>하네스</a:t>
            </a:r>
            <a:r>
              <a:rPr lang="ko-KR" altLang="en-US" dirty="0">
                <a:hlinkClick r:id="rId2"/>
              </a:rPr>
              <a:t> 엔지니어링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7893905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3628D1-CD1B-B414-7BD1-3AADA5389E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B483BB4-6E97-931D-4C9F-976E16EFDC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762F479A-2AFD-A960-36F9-B5D575BD3C9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>
                <a:latin typeface="Lora" pitchFamily="2" charset="0"/>
              </a:rPr>
              <a:t>Vibe Coding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35D9FF4-0686-1D09-48A6-6B02B02256ED}"/>
              </a:ext>
            </a:extLst>
          </p:cNvPr>
          <p:cNvSpPr txBox="1"/>
          <p:nvPr/>
        </p:nvSpPr>
        <p:spPr>
          <a:xfrm>
            <a:off x="733425" y="2019300"/>
            <a:ext cx="238719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dirty="0">
                <a:hlinkClick r:id="rId2"/>
              </a:rPr>
              <a:t>함께해요 </a:t>
            </a:r>
            <a:r>
              <a:rPr lang="ko-KR" altLang="en-US" dirty="0" err="1">
                <a:hlinkClick r:id="rId2"/>
              </a:rPr>
              <a:t>바이브</a:t>
            </a:r>
            <a:r>
              <a:rPr lang="ko-KR" altLang="en-US" dirty="0">
                <a:hlinkClick r:id="rId2"/>
              </a:rPr>
              <a:t> 코딩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453276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199" y="1164324"/>
            <a:ext cx="10934701" cy="2387600"/>
          </a:xfrm>
        </p:spPr>
        <p:txBody>
          <a:bodyPr rtlCol="0" anchor="ctr" anchorCtr="0">
            <a:normAutofit fontScale="90000"/>
          </a:bodyPr>
          <a:lstStyle/>
          <a:p>
            <a:pPr>
              <a:lnSpc>
                <a:spcPct val="150000"/>
              </a:lnSpc>
            </a:pPr>
            <a:r>
              <a:rPr lang="en-US" altLang="ko-KR" sz="5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n8n</a:t>
            </a:r>
            <a:br>
              <a:rPr lang="en-US" altLang="ko-KR" sz="4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AI Workflow</a:t>
            </a:r>
            <a:br>
              <a:rPr lang="en-US" altLang="ko-KR" sz="4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</a:br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04_AI Workflow_n8n.pptx</a:t>
            </a:r>
            <a:endParaRPr lang="ko-KR" altLang="en-US" sz="4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조상구교수</a:t>
            </a:r>
            <a:endParaRPr lang="en-US" altLang="ko-KR" sz="24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BFA708D-6FDE-3C03-9B19-8B1D1B23914F}"/>
              </a:ext>
            </a:extLst>
          </p:cNvPr>
          <p:cNvSpPr txBox="1"/>
          <p:nvPr/>
        </p:nvSpPr>
        <p:spPr>
          <a:xfrm>
            <a:off x="838199" y="3869237"/>
            <a:ext cx="35894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n8n </a:t>
            </a:r>
            <a:r>
              <a:rPr lang="ko-KR" altLang="en-US" dirty="0" err="1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노코드</a:t>
            </a:r>
            <a:r>
              <a:rPr lang="ko-KR" altLang="en-US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 자동화 한글 가이드북</a:t>
            </a:r>
            <a:endParaRPr lang="ko-KR" altLang="en-US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3436419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581025" y="1164324"/>
            <a:ext cx="11344275" cy="2387600"/>
          </a:xfrm>
        </p:spPr>
        <p:txBody>
          <a:bodyPr rtlCol="0" anchor="ctr" anchorCtr="0">
            <a:normAutofit/>
          </a:bodyPr>
          <a:lstStyle/>
          <a:p>
            <a:pPr>
              <a:lnSpc>
                <a:spcPct val="150000"/>
              </a:lnSpc>
            </a:pPr>
            <a:r>
              <a:rPr lang="en-US" altLang="ko-KR" sz="4400" dirty="0">
                <a:solidFill>
                  <a:schemeClr val="bg1"/>
                </a:solidFill>
              </a:rPr>
              <a:t>AI Agent</a:t>
            </a:r>
            <a:br>
              <a:rPr lang="en-US" altLang="ko-KR" sz="4400" dirty="0">
                <a:solidFill>
                  <a:schemeClr val="bg1"/>
                </a:solidFill>
              </a:rPr>
            </a:br>
            <a:r>
              <a:rPr lang="en-US" altLang="ko-KR" sz="2400" dirty="0">
                <a:solidFill>
                  <a:schemeClr val="bg1"/>
                </a:solidFill>
              </a:rPr>
              <a:t>05_AI Agents.pptx</a:t>
            </a:r>
            <a:endParaRPr lang="ko-KR" altLang="en-US" sz="4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84195" y="4456327"/>
            <a:ext cx="9582736" cy="123734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en-US" altLang="ko-KR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2026 Fall</a:t>
            </a:r>
          </a:p>
          <a:p>
            <a:pPr>
              <a:lnSpc>
                <a:spcPct val="170000"/>
              </a:lnSpc>
              <a:spcBef>
                <a:spcPts val="0"/>
              </a:spcBef>
              <a:spcAft>
                <a:spcPts val="0"/>
              </a:spcAft>
            </a:pPr>
            <a:r>
              <a:rPr lang="ko-KR" altLang="en-US" sz="2000" dirty="0" err="1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조상구</a:t>
            </a:r>
            <a:r>
              <a:rPr lang="ko-KR" altLang="en-US" sz="2000" dirty="0">
                <a:solidFill>
                  <a:schemeClr val="bg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교수</a:t>
            </a:r>
            <a:endParaRPr lang="en-US" altLang="ko-KR" sz="2000" dirty="0">
              <a:solidFill>
                <a:schemeClr val="bg1"/>
              </a:solidFill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1647943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1179A9-7D40-2A4C-A41C-5B1562F78F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A1FDEA-01EC-149E-594B-FAD349A32E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A9DFD731-12C3-888E-640E-7C6AF199DC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b="1" cap="none" dirty="0" err="1">
                <a:latin typeface="Lora" pitchFamily="2" charset="0"/>
              </a:rPr>
              <a:t>Langchain</a:t>
            </a:r>
            <a:endParaRPr lang="en-US" altLang="ko-KR" sz="2800" b="1" cap="none" dirty="0">
              <a:latin typeface="Lora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98342111"/>
      </p:ext>
    </p:extLst>
  </p:cSld>
  <p:clrMapOvr>
    <a:masterClrMapping/>
  </p:clrMapOvr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9928</TotalTime>
  <Words>1636</Words>
  <Application>Microsoft Office PowerPoint</Application>
  <PresentationFormat>와이드스크린</PresentationFormat>
  <Paragraphs>304</Paragraphs>
  <Slides>36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10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36</vt:i4>
      </vt:variant>
    </vt:vector>
  </HeadingPairs>
  <TitlesOfParts>
    <vt:vector size="47" baseType="lpstr">
      <vt:lpstr>D2Coding</vt:lpstr>
      <vt:lpstr>MS Gothic</vt:lpstr>
      <vt:lpstr>맑은 고딕</vt:lpstr>
      <vt:lpstr>Batang</vt:lpstr>
      <vt:lpstr>한컴 말랑말랑 Bold</vt:lpstr>
      <vt:lpstr>Arial</vt:lpstr>
      <vt:lpstr>Lora</vt:lpstr>
      <vt:lpstr>Tahoma</vt:lpstr>
      <vt:lpstr>Times New Roman</vt:lpstr>
      <vt:lpstr>Wingdings</vt:lpstr>
      <vt:lpstr>WelcomeDoc</vt:lpstr>
      <vt:lpstr>What is AI Workflow?  </vt:lpstr>
      <vt:lpstr>PowerPoint 프레젠테이션</vt:lpstr>
      <vt:lpstr>Automation</vt:lpstr>
      <vt:lpstr>PowerPoint 프레젠테이션</vt:lpstr>
      <vt:lpstr>PowerPoint 프레젠테이션</vt:lpstr>
      <vt:lpstr>Workflow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Workflow Orchestration Framework 02_workflow orchestration framework.pptx</vt:lpstr>
      <vt:lpstr>PowerPoint 프레젠테이션</vt:lpstr>
      <vt:lpstr>PowerPoint 프레젠테이션</vt:lpstr>
      <vt:lpstr>PowerPoint 프레젠테이션</vt:lpstr>
      <vt:lpstr>PowerPoint 프레젠테이션</vt:lpstr>
      <vt:lpstr>LLM(Large Language Model)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AI Agent Coding 03_AI Agent Coding.pptx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n8n AI Workflow 04_AI Workflow_n8n.pptx</vt:lpstr>
      <vt:lpstr>AI Agent 05_AI Agents.pptx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조상구</cp:lastModifiedBy>
  <cp:revision>186</cp:revision>
  <dcterms:created xsi:type="dcterms:W3CDTF">2026-04-06T01:00:39Z</dcterms:created>
  <dcterms:modified xsi:type="dcterms:W3CDTF">2026-09-09T01:20:03Z</dcterms:modified>
  <cp:version/>
</cp:coreProperties>
</file>