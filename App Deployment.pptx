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6"/>
  </p:notesMasterIdLst>
  <p:handoutMasterIdLst>
    <p:handoutMasterId r:id="rId67"/>
  </p:handoutMasterIdLst>
  <p:sldIdLst>
    <p:sldId id="256" r:id="rId2"/>
    <p:sldId id="1280" r:id="rId3"/>
    <p:sldId id="1136" r:id="rId4"/>
    <p:sldId id="1288" r:id="rId5"/>
    <p:sldId id="1264" r:id="rId6"/>
    <p:sldId id="1281" r:id="rId7"/>
    <p:sldId id="1286" r:id="rId8"/>
    <p:sldId id="1294" r:id="rId9"/>
    <p:sldId id="1296" r:id="rId10"/>
    <p:sldId id="1295" r:id="rId11"/>
    <p:sldId id="1282" r:id="rId12"/>
    <p:sldId id="1297" r:id="rId13"/>
    <p:sldId id="1298" r:id="rId14"/>
    <p:sldId id="1299" r:id="rId15"/>
    <p:sldId id="1300" r:id="rId16"/>
    <p:sldId id="1284" r:id="rId17"/>
    <p:sldId id="1289" r:id="rId18"/>
    <p:sldId id="1287" r:id="rId19"/>
    <p:sldId id="1283" r:id="rId20"/>
    <p:sldId id="1301" r:id="rId21"/>
    <p:sldId id="1302" r:id="rId22"/>
    <p:sldId id="1278" r:id="rId23"/>
    <p:sldId id="1290" r:id="rId24"/>
    <p:sldId id="1303" r:id="rId25"/>
    <p:sldId id="1263" r:id="rId26"/>
    <p:sldId id="1306" r:id="rId27"/>
    <p:sldId id="1307" r:id="rId28"/>
    <p:sldId id="1305" r:id="rId29"/>
    <p:sldId id="1265" r:id="rId30"/>
    <p:sldId id="1266" r:id="rId31"/>
    <p:sldId id="1268" r:id="rId32"/>
    <p:sldId id="1267" r:id="rId33"/>
    <p:sldId id="1269" r:id="rId34"/>
    <p:sldId id="1277" r:id="rId35"/>
    <p:sldId id="258" r:id="rId36"/>
    <p:sldId id="1271" r:id="rId37"/>
    <p:sldId id="259" r:id="rId38"/>
    <p:sldId id="260" r:id="rId39"/>
    <p:sldId id="353" r:id="rId40"/>
    <p:sldId id="354" r:id="rId41"/>
    <p:sldId id="262" r:id="rId42"/>
    <p:sldId id="263" r:id="rId43"/>
    <p:sldId id="264" r:id="rId44"/>
    <p:sldId id="267" r:id="rId45"/>
    <p:sldId id="268" r:id="rId46"/>
    <p:sldId id="265" r:id="rId47"/>
    <p:sldId id="1275" r:id="rId48"/>
    <p:sldId id="266" r:id="rId49"/>
    <p:sldId id="269" r:id="rId50"/>
    <p:sldId id="274" r:id="rId51"/>
    <p:sldId id="277" r:id="rId52"/>
    <p:sldId id="1276" r:id="rId53"/>
    <p:sldId id="1273" r:id="rId54"/>
    <p:sldId id="1274" r:id="rId55"/>
    <p:sldId id="1304" r:id="rId56"/>
    <p:sldId id="1272" r:id="rId57"/>
    <p:sldId id="1279" r:id="rId58"/>
    <p:sldId id="1292" r:id="rId59"/>
    <p:sldId id="1285" r:id="rId60"/>
    <p:sldId id="1293" r:id="rId61"/>
    <p:sldId id="285" r:id="rId62"/>
    <p:sldId id="286" r:id="rId63"/>
    <p:sldId id="287" r:id="rId64"/>
    <p:sldId id="288" r:id="rId65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280"/>
            <p14:sldId id="1136"/>
            <p14:sldId id="1288"/>
            <p14:sldId id="1264"/>
            <p14:sldId id="1281"/>
            <p14:sldId id="1286"/>
            <p14:sldId id="1294"/>
            <p14:sldId id="1296"/>
            <p14:sldId id="1295"/>
            <p14:sldId id="1282"/>
            <p14:sldId id="1297"/>
            <p14:sldId id="1298"/>
            <p14:sldId id="1299"/>
            <p14:sldId id="1300"/>
            <p14:sldId id="1284"/>
            <p14:sldId id="1289"/>
            <p14:sldId id="1287"/>
            <p14:sldId id="1283"/>
            <p14:sldId id="1301"/>
            <p14:sldId id="1302"/>
            <p14:sldId id="1278"/>
            <p14:sldId id="1290"/>
            <p14:sldId id="1303"/>
            <p14:sldId id="1263"/>
            <p14:sldId id="1306"/>
            <p14:sldId id="1307"/>
            <p14:sldId id="1305"/>
            <p14:sldId id="1265"/>
            <p14:sldId id="1266"/>
            <p14:sldId id="1268"/>
            <p14:sldId id="1267"/>
            <p14:sldId id="1269"/>
            <p14:sldId id="1277"/>
            <p14:sldId id="258"/>
            <p14:sldId id="1271"/>
            <p14:sldId id="259"/>
            <p14:sldId id="260"/>
            <p14:sldId id="353"/>
            <p14:sldId id="354"/>
            <p14:sldId id="262"/>
            <p14:sldId id="263"/>
            <p14:sldId id="264"/>
            <p14:sldId id="267"/>
            <p14:sldId id="268"/>
            <p14:sldId id="265"/>
            <p14:sldId id="1275"/>
            <p14:sldId id="266"/>
            <p14:sldId id="269"/>
            <p14:sldId id="274"/>
            <p14:sldId id="277"/>
            <p14:sldId id="1276"/>
            <p14:sldId id="1273"/>
            <p14:sldId id="1274"/>
            <p14:sldId id="1304"/>
            <p14:sldId id="1272"/>
            <p14:sldId id="1279"/>
            <p14:sldId id="1292"/>
            <p14:sldId id="1285"/>
            <p14:sldId id="1293"/>
            <p14:sldId id="285"/>
            <p14:sldId id="286"/>
            <p14:sldId id="287"/>
            <p14:sldId id="288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404040"/>
    <a:srgbClr val="FF9B45"/>
    <a:srgbClr val="DD462F"/>
    <a:srgbClr val="D24726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25" d="100"/>
        <a:sy n="125" d="100"/>
      </p:scale>
      <p:origin x="0" y="-11616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2026-08-25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2026-08-25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C508-26D1-3E92-13C3-E96A75040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F9DC50-AD30-C94A-AEFA-61C7E0525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A590D0-32EF-A76C-0021-0B9595786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8E9D49-A962-5E84-BD85-F48ACB59E4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2954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2F5FD-E249-651D-FA63-D503EF331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5A6820-CA3D-9343-F847-57584F668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DA4F69-C33C-9549-F10F-431C92CA0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42A695-9D1E-1779-734F-42D3BC89BD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0075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2FA74-B788-104D-4090-0F61104FE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560D38-73E1-F2C1-DE70-9F62083D1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87FD08-475F-C6A6-B769-1FBB4E1B0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8E687C-74C6-337C-2DB0-FE75618D55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8050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2C74C-64B2-619F-33A0-B808C5428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67A537-ED0F-424A-04D9-E0EFBBD88C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1AF416-39F5-996B-8750-E2D2B2105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F4E1C4-7519-4D6E-4285-D6DA6C0A9D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5403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54290-5233-2A8D-0A16-4E64C03F9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9770C1-FF54-8602-A54B-D8779EC5B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52E5E5-DF2C-A44F-8DE2-6BEB2FFE0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1595AB-F56E-ED7F-DE64-BF203EDC42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6957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F4A73-0DF4-6018-8EC1-E24C2C445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A6BCE8-90AA-D178-6A22-9999B9230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33456C-38C3-CF65-F3B2-46F4EC8C5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18726D-52B0-5BA3-FE58-E58B4A5D12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67269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61B78-5575-88F8-0A7E-E53379AF5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50F36F-171E-36E5-3DAF-9968D8C25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FFA43C-EDDB-96A5-0C73-7E04FD414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DFA5DC-B20D-0A3E-0B35-F0C9FEE2A6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9122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2024-03-07</a:t>
            </a:r>
            <a:endParaRPr/>
          </a:p>
        </p:txBody>
      </p:sp>
      <p:sp>
        <p:nvSpPr>
          <p:cNvPr id="169" name="Google Shape;16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70082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82727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2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2024-03-07</a:t>
            </a:r>
            <a:endParaRPr/>
          </a:p>
        </p:txBody>
      </p:sp>
      <p:sp>
        <p:nvSpPr>
          <p:cNvPr id="265" name="Google Shape;26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47554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2024-03-07</a:t>
            </a:r>
            <a:endParaRPr/>
          </a:p>
        </p:txBody>
      </p:sp>
      <p:sp>
        <p:nvSpPr>
          <p:cNvPr id="278" name="Google Shape;27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12022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2024-03-07</a:t>
            </a:r>
            <a:endParaRPr/>
          </a:p>
        </p:txBody>
      </p:sp>
      <p:sp>
        <p:nvSpPr>
          <p:cNvPr id="255" name="Google Shape;25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F5B27-CED0-D4A6-08E9-ACA0C0C32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CDCBD7-78A5-8C83-E811-860DD0EC03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E36E51-BEBD-1B87-D54E-A317AADB1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AFF8CB-B739-548C-21DA-1FEEB73037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687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3B6E5-5A67-5099-D476-B03922D90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87EBFA-07FF-2CF5-D9F4-9A364D0C3F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193E0D-39C1-11C4-B5FB-5BECF9544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372E67-EB21-80A2-230A-54A0F018F6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09060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2026-08-25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2026-08-25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oddy.tech/playground/ko/cpp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huggingface.co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y-gradio-app" TargetMode="External"/><Relationship Id="rId2" Type="http://schemas.openxmlformats.org/officeDocument/2006/relationships/hyperlink" Target="https://hackjsp.tistory.com/72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sv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17.jp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s8HDIAyPD0&amp;list=PLuHgQVnccGMDeMJsGq2O-55Ymtx0IdKWf&amp;index=1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s8HDIAyPD0&amp;list=PLuHgQVnccGMDeMJsGq2O-55Ymtx0IdKWf&amp;index=1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s8HDIAyPD0&amp;list=PLuHgQVnccGMDeMJsGq2O-55Ymtx0IdKWf&amp;index=1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jpg"/><Relationship Id="rId4" Type="http://schemas.openxmlformats.org/officeDocument/2006/relationships/hyperlink" Target="https://www.asustor.com/ko/solution/what_is_docker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ker.com/resources/what-container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jpg"/><Relationship Id="rId4" Type="http://schemas.openxmlformats.org/officeDocument/2006/relationships/image" Target="../media/image2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ocs.docker.com/storage/storagedriver/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medium.com/@deepakshakya/beginners-guide-to-use-docker-build-run-push-and-pull-4a132c094d75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features/codespaces" TargetMode="External"/><Relationship Id="rId4" Type="http://schemas.openxmlformats.org/officeDocument/2006/relationships/image" Target="../media/image39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hyperlink" Target="https://namu.wiki/w/Visual%20Studio%20Code" TargetMode="External"/><Relationship Id="rId7" Type="http://schemas.openxmlformats.org/officeDocument/2006/relationships/hyperlink" Target="https://namu.wiki/w/%ED%86%B5%ED%95%A9%20%EA%B0%9C%EB%B0%9C%20%ED%99%98%EA%B2%BD" TargetMode="External"/><Relationship Id="rId2" Type="http://schemas.openxmlformats.org/officeDocument/2006/relationships/hyperlink" Target="https://namu.wiki/w/GitHub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namu.wiki/w/%ED%81%B4%EB%9D%BC%EC%9A%B0%EB%93%9C%20%EC%BB%B4%ED%93%A8%ED%8C%85" TargetMode="External"/><Relationship Id="rId5" Type="http://schemas.openxmlformats.org/officeDocument/2006/relationships/hyperlink" Target="https://namu.wiki/w/%EA%B0%9C%EB%B0%9C%ED%99%98%EA%B2%BD" TargetMode="External"/><Relationship Id="rId4" Type="http://schemas.openxmlformats.org/officeDocument/2006/relationships/hyperlink" Target="https://namu.wiki/w/GitHub/%EC%A0%80%EC%9E%A5%EC%86%8C" TargetMode="Externa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Vertex_(graph_theory)" TargetMode="External"/><Relationship Id="rId3" Type="http://schemas.openxmlformats.org/officeDocument/2006/relationships/image" Target="../media/image46.png"/><Relationship Id="rId7" Type="http://schemas.openxmlformats.org/officeDocument/2006/relationships/hyperlink" Target="https://en.wikipedia.org/wiki/Cycle_graph#Directed_cycle_graph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en.wikipedia.org/wiki/Directed_graph" TargetMode="External"/><Relationship Id="rId11" Type="http://schemas.openxmlformats.org/officeDocument/2006/relationships/image" Target="../media/image8.svg"/><Relationship Id="rId5" Type="http://schemas.openxmlformats.org/officeDocument/2006/relationships/hyperlink" Target="https://steemit.com/dag/@cryptodreamers/dag-dag-directed-acyclic-graph" TargetMode="External"/><Relationship Id="rId10" Type="http://schemas.openxmlformats.org/officeDocument/2006/relationships/image" Target="../media/image7.png"/><Relationship Id="rId4" Type="http://schemas.openxmlformats.org/officeDocument/2006/relationships/image" Target="../media/image47.png"/><Relationship Id="rId9" Type="http://schemas.openxmlformats.org/officeDocument/2006/relationships/hyperlink" Target="https://en.wikipedia.org/wiki/Edge_(graph_theory)" TargetMode="Externa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Application Deployment</a:t>
            </a:r>
            <a:b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3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코드 작성 → 컴파일</a:t>
            </a:r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빌드 → 형상관리 → </a:t>
            </a:r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CI → </a:t>
            </a:r>
            <a:r>
              <a:rPr lang="ko-KR" altLang="en-US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테스트 → </a:t>
            </a:r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CD </a:t>
            </a:r>
            <a:r>
              <a:rPr lang="ko-KR" altLang="en-US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→ 배포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693DE-47F3-9FEF-BB31-C8C1C7B6F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926D462-2365-3FDB-6CBD-C685819B012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Motivation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4471D64-9C97-1D3F-7DF8-37462ECE7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135419"/>
              </p:ext>
            </p:extLst>
          </p:nvPr>
        </p:nvGraphicFramePr>
        <p:xfrm>
          <a:off x="1066238" y="2009457"/>
          <a:ext cx="10059523" cy="3848420"/>
        </p:xfrm>
        <a:graphic>
          <a:graphicData uri="http://schemas.openxmlformats.org/drawingml/2006/table">
            <a:tbl>
              <a:tblPr/>
              <a:tblGrid>
                <a:gridCol w="3473824">
                  <a:extLst>
                    <a:ext uri="{9D8B030D-6E8A-4147-A177-3AD203B41FA5}">
                      <a16:colId xmlns:a16="http://schemas.microsoft.com/office/drawing/2014/main" val="2926649995"/>
                    </a:ext>
                  </a:extLst>
                </a:gridCol>
                <a:gridCol w="2206052">
                  <a:extLst>
                    <a:ext uri="{9D8B030D-6E8A-4147-A177-3AD203B41FA5}">
                      <a16:colId xmlns:a16="http://schemas.microsoft.com/office/drawing/2014/main" val="661151394"/>
                    </a:ext>
                  </a:extLst>
                </a:gridCol>
                <a:gridCol w="4379647">
                  <a:extLst>
                    <a:ext uri="{9D8B030D-6E8A-4147-A177-3AD203B41FA5}">
                      <a16:colId xmlns:a16="http://schemas.microsoft.com/office/drawing/2014/main" val="302321871"/>
                    </a:ext>
                  </a:extLst>
                </a:gridCol>
              </a:tblGrid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Problems</a:t>
                      </a:r>
                      <a:endParaRPr lang="ko-KR" altLang="en-US" sz="16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Tools</a:t>
                      </a:r>
                      <a:endParaRPr lang="ko-KR" altLang="en-US" sz="16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Solving</a:t>
                      </a:r>
                      <a:endParaRPr lang="ko-KR" altLang="en-US" sz="16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075640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코드 버전 관리가 어려움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Git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변경 이력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버전 관리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113181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협업이 어려움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GitHub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공동 개발 및 코드 공유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040444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코드 변경 후 오류 발견이 늦음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CI / GitHub Actions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자동 테스트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542966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개발환경이 달라 실행 오류 발생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Docker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실행환경 표준화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091785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배포 과정이 복잡함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Docker + CI/CD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빌드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배포 자동화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347952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개발환경 구축에 시간 소요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Codespaces</a:t>
                      </a:r>
                      <a:endParaRPr lang="en-US" sz="16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일관된 개발환경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522320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데이터 작업을 수동 실행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Airflow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작업 스케줄링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841929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데이터 작업 순서 관리 어려움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Airflow DAG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작업 의존성 관리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397863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개별 기술만 알고 전체 구조를 모름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통합 </a:t>
                      </a: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Pipeline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개발→ 테스트→ 빌드→ 실행→ 파이프라인 연결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217185"/>
                  </a:ext>
                </a:extLst>
              </a:tr>
            </a:tbl>
          </a:graphicData>
        </a:graphic>
      </p:graphicFrame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DB3CEFF-E494-23D8-DF1E-5A6259EBBC0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33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25CA11-BB27-9F61-9705-232FBA299991}"/>
              </a:ext>
            </a:extLst>
          </p:cNvPr>
          <p:cNvSpPr txBox="1"/>
          <p:nvPr/>
        </p:nvSpPr>
        <p:spPr>
          <a:xfrm>
            <a:off x="600074" y="1337265"/>
            <a:ext cx="10906126" cy="485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Python/JAVA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코드 개발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컴파일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링크 및 빌드와 테스트과정을 이해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Visual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Studio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Code(</a:t>
            </a:r>
            <a:r>
              <a:rPr lang="it-IT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open source AI code editor)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설치</a:t>
            </a:r>
            <a:r>
              <a:rPr lang="it-IT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및 실습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Module, Library, Package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개념 및 실습</a:t>
            </a:r>
            <a:endParaRPr lang="en-US" altLang="ko-KR" sz="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소프트웨어 형상관리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(Configuration Management)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이해하고 실습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GitHub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Desktop를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설치하여 코드 버전 관리와 CI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(Continuous Integration)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실습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g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Actions를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실습하고 코드 변경이 자동으로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테스트·배포되는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파이프라인을 구축하여 CD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Continuos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Deploymnet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구현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Hugging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Face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Spaces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로 구성된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CI/CD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실습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가상환경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endParaRPr lang="en-US" altLang="ko-KR" sz="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개념 이해와 실습을 위해 애플리케이션을 이미지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(Image)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 컨테이너화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(Container)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하여 개발부터 배포하는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전체 프로세스 이해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git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Codespaces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linux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시스템 실습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Docker, Image &amp; Container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구성 및 배포 실습</a:t>
            </a:r>
            <a:endParaRPr lang="en-US" altLang="ko-KR" sz="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Airflow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Docker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설치하여 실습하고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 Automation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실습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76B93F-1952-6C9D-B7E2-8641854988E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99E74-649D-1033-C865-12E324BF7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4576D94-1332-4F5A-4828-9807992BDF5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개발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프로세스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전체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흐름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0E3C64A-6FE7-686E-BD26-25E57D565BA6}"/>
              </a:ext>
            </a:extLst>
          </p:cNvPr>
          <p:cNvSpPr/>
          <p:nvPr/>
        </p:nvSpPr>
        <p:spPr>
          <a:xfrm>
            <a:off x="640080" y="138558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err="1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개발부터</a:t>
            </a:r>
            <a:r>
              <a:rPr lang="en-US" dirty="0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dirty="0" err="1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배포까지</a:t>
            </a:r>
            <a:r>
              <a:rPr lang="en-US" dirty="0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dirty="0" err="1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하나의</a:t>
            </a:r>
            <a:r>
              <a:rPr lang="en-US" dirty="0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dirty="0" err="1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연속된</a:t>
            </a:r>
            <a:r>
              <a:rPr lang="en-US" dirty="0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dirty="0" err="1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파이프라인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C305331-13EB-288B-C6F9-10812EE2A0A9}"/>
              </a:ext>
            </a:extLst>
          </p:cNvPr>
          <p:cNvSpPr/>
          <p:nvPr/>
        </p:nvSpPr>
        <p:spPr>
          <a:xfrm>
            <a:off x="640080" y="228600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F7FAFA"/>
          </a:solidFill>
          <a:ln>
            <a:solidFill>
              <a:schemeClr val="accent5"/>
            </a:solidFill>
          </a:ln>
          <a:effectLst>
            <a:outerShdw blurRad="76200" dist="25400" dir="5400000" algn="bl" rotWithShape="0">
              <a:srgbClr val="8A9A9A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84BE496-68E7-6419-0080-041D9CC17D8E}"/>
              </a:ext>
            </a:extLst>
          </p:cNvPr>
          <p:cNvSpPr/>
          <p:nvPr/>
        </p:nvSpPr>
        <p:spPr>
          <a:xfrm>
            <a:off x="1257300" y="25603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F6C4504-EB44-FC05-4E63-2F797CF45E32}"/>
              </a:ext>
            </a:extLst>
          </p:cNvPr>
          <p:cNvSpPr/>
          <p:nvPr/>
        </p:nvSpPr>
        <p:spPr>
          <a:xfrm>
            <a:off x="125730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1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8854973-17D9-B6DA-DC15-0DC71FA88BC2}"/>
              </a:ext>
            </a:extLst>
          </p:cNvPr>
          <p:cNvSpPr/>
          <p:nvPr/>
        </p:nvSpPr>
        <p:spPr>
          <a:xfrm>
            <a:off x="640080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개발</a:t>
            </a:r>
            <a:endParaRPr 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EEF99A43-2519-FF46-326F-5A3F2D271825}"/>
              </a:ext>
            </a:extLst>
          </p:cNvPr>
          <p:cNvSpPr/>
          <p:nvPr/>
        </p:nvSpPr>
        <p:spPr>
          <a:xfrm>
            <a:off x="731520" y="3767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코드 작성 및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기능 구현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1B46DB9-EF39-95C2-F92E-AECD34C1A575}"/>
              </a:ext>
            </a:extLst>
          </p:cNvPr>
          <p:cNvSpPr/>
          <p:nvPr/>
        </p:nvSpPr>
        <p:spPr>
          <a:xfrm>
            <a:off x="2514600" y="3063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→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35144EE1-AF85-AEB9-019F-8D608F2ED83E}"/>
              </a:ext>
            </a:extLst>
          </p:cNvPr>
          <p:cNvSpPr/>
          <p:nvPr/>
        </p:nvSpPr>
        <p:spPr>
          <a:xfrm>
            <a:off x="2770632" y="228600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F7FAFA"/>
          </a:solidFill>
          <a:ln>
            <a:solidFill>
              <a:schemeClr val="accent5"/>
            </a:solidFill>
          </a:ln>
          <a:effectLst>
            <a:outerShdw blurRad="76200" dist="25400" dir="5400000" algn="bl" rotWithShape="0">
              <a:srgbClr val="8A9A9A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F12D7A2E-B26F-99D5-6C92-508979AE6CF0}"/>
              </a:ext>
            </a:extLst>
          </p:cNvPr>
          <p:cNvSpPr/>
          <p:nvPr/>
        </p:nvSpPr>
        <p:spPr>
          <a:xfrm>
            <a:off x="3387852" y="25603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15A45659-9C97-A8F4-D245-7CE853C32571}"/>
              </a:ext>
            </a:extLst>
          </p:cNvPr>
          <p:cNvSpPr/>
          <p:nvPr/>
        </p:nvSpPr>
        <p:spPr>
          <a:xfrm>
            <a:off x="3387852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2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1F249C4F-24F9-9BCB-7E6E-227F64D8D4C4}"/>
              </a:ext>
            </a:extLst>
          </p:cNvPr>
          <p:cNvSpPr/>
          <p:nvPr/>
        </p:nvSpPr>
        <p:spPr>
          <a:xfrm>
            <a:off x="2770632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형상관리</a:t>
            </a:r>
            <a:endParaRPr 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B5BB2BC2-B952-845B-D724-471C9B0A4BFA}"/>
              </a:ext>
            </a:extLst>
          </p:cNvPr>
          <p:cNvSpPr/>
          <p:nvPr/>
        </p:nvSpPr>
        <p:spPr>
          <a:xfrm>
            <a:off x="2862072" y="3767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변경 이력 관리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(Git)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74E5A613-E784-7FEC-6977-28D25713C296}"/>
              </a:ext>
            </a:extLst>
          </p:cNvPr>
          <p:cNvSpPr/>
          <p:nvPr/>
        </p:nvSpPr>
        <p:spPr>
          <a:xfrm>
            <a:off x="4645152" y="3063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→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8C2FDEBE-47BC-400E-5E6D-6246A86BA683}"/>
              </a:ext>
            </a:extLst>
          </p:cNvPr>
          <p:cNvSpPr/>
          <p:nvPr/>
        </p:nvSpPr>
        <p:spPr>
          <a:xfrm>
            <a:off x="4901184" y="228600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F7FAFA"/>
          </a:solidFill>
          <a:ln>
            <a:solidFill>
              <a:schemeClr val="accent5"/>
            </a:solidFill>
          </a:ln>
          <a:effectLst>
            <a:outerShdw blurRad="76200" dist="25400" dir="5400000" algn="bl" rotWithShape="0">
              <a:srgbClr val="8A9A9A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E67074C6-5A5D-9F8D-D88E-50767DA61D15}"/>
              </a:ext>
            </a:extLst>
          </p:cNvPr>
          <p:cNvSpPr/>
          <p:nvPr/>
        </p:nvSpPr>
        <p:spPr>
          <a:xfrm>
            <a:off x="5518404" y="25603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04D9A17E-44E1-A468-0343-533D6300AAAE}"/>
              </a:ext>
            </a:extLst>
          </p:cNvPr>
          <p:cNvSpPr/>
          <p:nvPr/>
        </p:nvSpPr>
        <p:spPr>
          <a:xfrm>
            <a:off x="5518404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3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6E9DBF84-7A06-0477-77F8-10B63BEFF532}"/>
              </a:ext>
            </a:extLst>
          </p:cNvPr>
          <p:cNvSpPr/>
          <p:nvPr/>
        </p:nvSpPr>
        <p:spPr>
          <a:xfrm>
            <a:off x="4901184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빌드</a:t>
            </a:r>
            <a:endParaRPr 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FF9C5D6A-19F0-0811-3B62-638D83783A1B}"/>
              </a:ext>
            </a:extLst>
          </p:cNvPr>
          <p:cNvSpPr/>
          <p:nvPr/>
        </p:nvSpPr>
        <p:spPr>
          <a:xfrm>
            <a:off x="4992624" y="3767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소스코드를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실행 가능한 형태로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69D38C6D-512F-8D81-EAD7-69BE2541E879}"/>
              </a:ext>
            </a:extLst>
          </p:cNvPr>
          <p:cNvSpPr/>
          <p:nvPr/>
        </p:nvSpPr>
        <p:spPr>
          <a:xfrm>
            <a:off x="6775704" y="3063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→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3F1D8406-9F97-0CE1-A6E6-BA7AF7BBAF7E}"/>
              </a:ext>
            </a:extLst>
          </p:cNvPr>
          <p:cNvSpPr/>
          <p:nvPr/>
        </p:nvSpPr>
        <p:spPr>
          <a:xfrm>
            <a:off x="7031736" y="228600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F7FAFA"/>
          </a:solidFill>
          <a:ln>
            <a:solidFill>
              <a:schemeClr val="accent5"/>
            </a:solidFill>
          </a:ln>
          <a:effectLst>
            <a:outerShdw blurRad="76200" dist="25400" dir="5400000" algn="bl" rotWithShape="0">
              <a:srgbClr val="8A9A9A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B1BC1EEA-8C75-EED6-719D-DCA3623C6C15}"/>
              </a:ext>
            </a:extLst>
          </p:cNvPr>
          <p:cNvSpPr/>
          <p:nvPr/>
        </p:nvSpPr>
        <p:spPr>
          <a:xfrm>
            <a:off x="7648956" y="25603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A1D26FF5-CA7F-5837-3A81-AD9E7A0E7AD1}"/>
              </a:ext>
            </a:extLst>
          </p:cNvPr>
          <p:cNvSpPr/>
          <p:nvPr/>
        </p:nvSpPr>
        <p:spPr>
          <a:xfrm>
            <a:off x="7648956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4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CEEB059D-7F70-5BFF-4535-F84FABCCD776}"/>
              </a:ext>
            </a:extLst>
          </p:cNvPr>
          <p:cNvSpPr/>
          <p:nvPr/>
        </p:nvSpPr>
        <p:spPr>
          <a:xfrm>
            <a:off x="7031736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테스트</a:t>
            </a:r>
            <a:endParaRPr 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D82F9AF8-50C6-2C52-1443-A1EAFDDFD0B2}"/>
              </a:ext>
            </a:extLst>
          </p:cNvPr>
          <p:cNvSpPr/>
          <p:nvPr/>
        </p:nvSpPr>
        <p:spPr>
          <a:xfrm>
            <a:off x="7123176" y="3767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품질 검증 및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오류 확인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586495AA-4A97-4C47-7D6F-BB50989EFDFC}"/>
              </a:ext>
            </a:extLst>
          </p:cNvPr>
          <p:cNvSpPr/>
          <p:nvPr/>
        </p:nvSpPr>
        <p:spPr>
          <a:xfrm>
            <a:off x="8906256" y="3063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→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8A3DE605-BEE7-5315-9848-CFF62C126EDE}"/>
              </a:ext>
            </a:extLst>
          </p:cNvPr>
          <p:cNvSpPr/>
          <p:nvPr/>
        </p:nvSpPr>
        <p:spPr>
          <a:xfrm>
            <a:off x="9162288" y="228600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F7FAFA"/>
          </a:solidFill>
          <a:ln>
            <a:solidFill>
              <a:schemeClr val="accent5"/>
            </a:solidFill>
          </a:ln>
          <a:effectLst>
            <a:outerShdw blurRad="76200" dist="25400" dir="5400000" algn="bl" rotWithShape="0">
              <a:srgbClr val="8A9A9A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9F84F631-2B90-2D75-8CD2-9CC45BE70758}"/>
              </a:ext>
            </a:extLst>
          </p:cNvPr>
          <p:cNvSpPr/>
          <p:nvPr/>
        </p:nvSpPr>
        <p:spPr>
          <a:xfrm>
            <a:off x="9779508" y="25603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E1D0458F-DE0A-75D7-C09C-A11018C5AAC6}"/>
              </a:ext>
            </a:extLst>
          </p:cNvPr>
          <p:cNvSpPr/>
          <p:nvPr/>
        </p:nvSpPr>
        <p:spPr>
          <a:xfrm>
            <a:off x="9779508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5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6409975A-9706-EBAD-B1F5-996FA211D66B}"/>
              </a:ext>
            </a:extLst>
          </p:cNvPr>
          <p:cNvSpPr/>
          <p:nvPr/>
        </p:nvSpPr>
        <p:spPr>
          <a:xfrm>
            <a:off x="9162288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배포</a:t>
            </a:r>
            <a:endParaRPr 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42078234-7D49-FA9D-53B0-7C1FC2F372A9}"/>
              </a:ext>
            </a:extLst>
          </p:cNvPr>
          <p:cNvSpPr/>
          <p:nvPr/>
        </p:nvSpPr>
        <p:spPr>
          <a:xfrm>
            <a:off x="9253728" y="3767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운영 환경에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적용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672685E4-5E37-06BD-5BC6-F3AA68A4A88C}"/>
              </a:ext>
            </a:extLst>
          </p:cNvPr>
          <p:cNvSpPr/>
          <p:nvPr/>
        </p:nvSpPr>
        <p:spPr>
          <a:xfrm>
            <a:off x="640080" y="489204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036258D9-B2DF-4B4D-C161-F2EF0F30B6B7}"/>
              </a:ext>
            </a:extLst>
          </p:cNvPr>
          <p:cNvSpPr/>
          <p:nvPr/>
        </p:nvSpPr>
        <p:spPr>
          <a:xfrm>
            <a:off x="914400" y="5074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Point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E5413F4A-2EBE-FE1F-DC34-FB4DECE1862A}"/>
              </a:ext>
            </a:extLst>
          </p:cNvPr>
          <p:cNvSpPr/>
          <p:nvPr/>
        </p:nvSpPr>
        <p:spPr>
          <a:xfrm>
            <a:off x="914400" y="539496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각 단계는 독립적이지 않으며, 형상관리 시스템(Git)을 중심으로 자동화된 파이프라인(CI/CD)</a:t>
            </a:r>
            <a:r>
              <a:rPr lang="en-US" sz="1600" dirty="0" err="1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으로</a:t>
            </a:r>
            <a:r>
              <a:rPr lang="en-US" sz="1600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연결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CD7AED09-9346-FDBC-DD88-D70E85F453E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668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85264-DAF7-E028-936A-3E39FB0AE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C317C8E-BF00-9996-5D78-F73C973977E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0AAD77-2BE3-B651-D9E7-0AADA229A2B1}"/>
              </a:ext>
            </a:extLst>
          </p:cNvPr>
          <p:cNvSpPr txBox="1"/>
          <p:nvPr/>
        </p:nvSpPr>
        <p:spPr>
          <a:xfrm>
            <a:off x="2513299" y="1802604"/>
            <a:ext cx="6861610" cy="4200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Source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Build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Install Visual Studio Code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Client-Server Architecture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Create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your own GitHub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CI/CD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Github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Codespaces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Apacher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Airflow Exercise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Vscode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+ Cline</a:t>
            </a:r>
          </a:p>
        </p:txBody>
      </p:sp>
    </p:spTree>
    <p:extLst>
      <p:ext uri="{BB962C8B-B14F-4D97-AF65-F5344CB8AC3E}">
        <p14:creationId xmlns:p14="http://schemas.microsoft.com/office/powerpoint/2010/main" val="2187212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4D586-1125-2FB2-3E03-F236924C8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D1D956-0C5C-2A4E-CE17-D0F9A47AE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1293126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Source Code Build</a:t>
            </a:r>
            <a:endParaRPr lang="ko-KR" altLang="en-US" sz="2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2A6D0A2A-7001-4D52-5517-C1F6A6A29A2F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F23075-9748-2C05-9336-6A9CA4F36952}"/>
              </a:ext>
            </a:extLst>
          </p:cNvPr>
          <p:cNvSpPr txBox="1"/>
          <p:nvPr/>
        </p:nvSpPr>
        <p:spPr>
          <a:xfrm>
            <a:off x="855620" y="2752872"/>
            <a:ext cx="9374230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코드 개발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컴파일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링크 및 빌드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9618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5C927-A56A-F51B-6518-140E5922C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3A52980-41D7-E59A-63AB-724FDA7C36A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프로그래밍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언어별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실행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D1158F-61CA-0E27-4436-967E6F880982}"/>
              </a:ext>
            </a:extLst>
          </p:cNvPr>
          <p:cNvSpPr txBox="1"/>
          <p:nvPr/>
        </p:nvSpPr>
        <p:spPr>
          <a:xfrm>
            <a:off x="8954499" y="2057257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Coddy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DBA1E414-6D70-B76F-A007-94029896F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80" y="2073659"/>
            <a:ext cx="5492639" cy="29487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1EBF04E-A22A-4913-C6C1-24BEEE236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207" y="2395811"/>
            <a:ext cx="5492638" cy="28272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6CDA9A11-2F59-07C8-3F35-337C5C96B1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4161" y="3567791"/>
            <a:ext cx="5506134" cy="17881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61288D1-F30B-83F7-1A05-85CAADC92AA2}"/>
              </a:ext>
            </a:extLst>
          </p:cNvPr>
          <p:cNvSpPr txBox="1"/>
          <p:nvPr/>
        </p:nvSpPr>
        <p:spPr>
          <a:xfrm>
            <a:off x="1176979" y="5040138"/>
            <a:ext cx="1353156" cy="133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main.cpp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↓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main.o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↓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program.exe</a:t>
            </a:r>
            <a:endParaRPr lang="ko-KR" altLang="en-US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C7AA87-4D45-6B4E-6A59-2BD1F29BD0C8}"/>
              </a:ext>
            </a:extLst>
          </p:cNvPr>
          <p:cNvSpPr txBox="1"/>
          <p:nvPr/>
        </p:nvSpPr>
        <p:spPr>
          <a:xfrm>
            <a:off x="1975148" y="5223102"/>
            <a:ext cx="5665391" cy="133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Main.java (소스 코드)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↓ (</a:t>
            </a: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javac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컴파일)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Main.class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(바이트코드)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↓ (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JVM 실행 - JIT 컴파일러 / 인터프리터)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기계어 실행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06482B5-B138-CF1B-FE7C-1C266E45A82C}"/>
              </a:ext>
            </a:extLst>
          </p:cNvPr>
          <p:cNvSpPr txBox="1"/>
          <p:nvPr/>
        </p:nvSpPr>
        <p:spPr>
          <a:xfrm>
            <a:off x="7155859" y="5355935"/>
            <a:ext cx="4294909" cy="133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main.py (소스 코드)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↓ (인터프리터 내부 컴파일)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main.pyc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(바이트코드/__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pycache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__)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↓ (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**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PVM -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Virtual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Machine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기계어 실행</a:t>
            </a:r>
            <a:endParaRPr lang="ko-KR" altLang="en-US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32CE6B-36ED-C06E-321F-AAE1BAB179FD}"/>
              </a:ext>
            </a:extLst>
          </p:cNvPr>
          <p:cNvSpPr txBox="1"/>
          <p:nvPr/>
        </p:nvSpPr>
        <p:spPr>
          <a:xfrm>
            <a:off x="586480" y="1199745"/>
            <a:ext cx="11019039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PVM(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Virtual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Machine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)은 파이썬 컴파일러가 생성한 바이트코드(.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pyc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읽어 실제 컴퓨터(OS/CPU)가 이해할 수 있는 기계어로 해석 및 실행하는 가상 엔진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87C1567E-DBDB-E8CB-99FE-1A85DDD10F7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035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0ECF2-312A-DEF6-0EFA-8EFA7D38C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441BE8-11B6-BF6B-EFBB-6760E81AAC7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빌드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(Build)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0B4F16F-4859-063F-9F23-E744C52C54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2513" y="1291476"/>
            <a:ext cx="11036070" cy="66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빌드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(Build)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란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스코드를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실행·배포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가능한 형태의 결과물(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Artifact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)로 만드는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과정으로 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단순히 "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컴파일＂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만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하는 것이 아니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라 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컴파일 + 의존성 처리 + 테스트 + 패키징 등을 포함하는 전체 과정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05243-991A-F485-E7FA-84CDE5AAD5D2}"/>
              </a:ext>
            </a:extLst>
          </p:cNvPr>
          <p:cNvSpPr txBox="1"/>
          <p:nvPr/>
        </p:nvSpPr>
        <p:spPr>
          <a:xfrm>
            <a:off x="2392218" y="2471156"/>
            <a:ext cx="3629891" cy="2585323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Source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↓</a:t>
            </a:r>
          </a:p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Compile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↓</a:t>
            </a:r>
          </a:p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Test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↓</a:t>
            </a:r>
          </a:p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Package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↓</a:t>
            </a:r>
          </a:p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Executable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/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Artifact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F19711-2259-1CAA-7183-F1B07A1FB54C}"/>
              </a:ext>
            </a:extLst>
          </p:cNvPr>
          <p:cNvSpPr txBox="1"/>
          <p:nvPr/>
        </p:nvSpPr>
        <p:spPr>
          <a:xfrm>
            <a:off x="6419273" y="2471156"/>
            <a:ext cx="3352800" cy="253332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소스코드 컴파일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라이브러리 의존성 확인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테스트 실행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오류 검사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패키징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실행 파일 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C43F18-53C4-F096-DE56-DD30AA85AA32}"/>
              </a:ext>
            </a:extLst>
          </p:cNvPr>
          <p:cNvSpPr txBox="1"/>
          <p:nvPr/>
        </p:nvSpPr>
        <p:spPr>
          <a:xfrm>
            <a:off x="2392218" y="5347209"/>
            <a:ext cx="6096000" cy="10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C/C++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소스 → 기계어 → 실행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Java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소스 →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Bytecode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→ JVM → 실행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소스 →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Bytecode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→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Runtime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→ 실행</a:t>
            </a:r>
          </a:p>
        </p:txBody>
      </p:sp>
      <p:sp>
        <p:nvSpPr>
          <p:cNvPr id="38" name="슬라이드 번호 개체 틀 3">
            <a:extLst>
              <a:ext uri="{FF2B5EF4-FFF2-40B4-BE49-F238E27FC236}">
                <a16:creationId xmlns:a16="http://schemas.microsoft.com/office/drawing/2014/main" id="{55CFFBAC-1729-8DE4-79D5-028CE0E4FE9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660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721CB-E754-43F3-D256-5B60EFCBC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60A807A-A8B0-216C-9C3C-331C3ED8BF4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프로그래밍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언어별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실행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및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빌드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방식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비교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D00312D-B33B-3684-097A-7BBB93E71102}"/>
              </a:ext>
            </a:extLst>
          </p:cNvPr>
          <p:cNvSpPr/>
          <p:nvPr/>
        </p:nvSpPr>
        <p:spPr>
          <a:xfrm>
            <a:off x="640080" y="1392555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컴파일 언어, 중간 코드 언어, 인터프리터 </a:t>
            </a:r>
            <a:r>
              <a:rPr lang="en-US" dirty="0" err="1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언어의</a:t>
            </a:r>
            <a:r>
              <a:rPr 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dirty="0" err="1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차이</a:t>
            </a:r>
            <a:r>
              <a:rPr 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(</a:t>
            </a:r>
            <a:r>
              <a:rPr lang="ko-KR" alt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컴파일</a:t>
            </a:r>
            <a:r>
              <a:rPr lang="en-US" altLang="ko-KR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, </a:t>
            </a:r>
            <a:r>
              <a:rPr lang="ko-KR" alt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링크</a:t>
            </a:r>
            <a:r>
              <a:rPr lang="en-US" altLang="ko-KR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, </a:t>
            </a:r>
            <a:r>
              <a:rPr lang="ko-KR" alt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빌드</a:t>
            </a:r>
            <a:r>
              <a:rPr lang="en-US" altLang="ko-KR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)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93D5724-49D8-01B6-A4F0-02C485941B8F}"/>
              </a:ext>
            </a:extLst>
          </p:cNvPr>
          <p:cNvSpPr/>
          <p:nvPr/>
        </p:nvSpPr>
        <p:spPr>
          <a:xfrm>
            <a:off x="640080" y="2032635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7FAFA"/>
          </a:solidFill>
          <a:ln/>
          <a:effectLst>
            <a:outerShdw blurRad="63500" dist="25400" dir="5400000" algn="bl" rotWithShape="0">
              <a:srgbClr val="8A9A9A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6F36E42-F0EF-0858-ED7F-F4C1C7CBA6EE}"/>
              </a:ext>
            </a:extLst>
          </p:cNvPr>
          <p:cNvSpPr/>
          <p:nvPr/>
        </p:nvSpPr>
        <p:spPr>
          <a:xfrm>
            <a:off x="640080" y="2032635"/>
            <a:ext cx="3520440" cy="594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87D0A4E-F87F-72C7-B10C-2288D6BB9DEE}"/>
              </a:ext>
            </a:extLst>
          </p:cNvPr>
          <p:cNvSpPr/>
          <p:nvPr/>
        </p:nvSpPr>
        <p:spPr>
          <a:xfrm>
            <a:off x="822960" y="2032635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C / C++</a:t>
            </a:r>
            <a:endParaRPr lang="en-US"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AC9A893-8A38-BDDD-EBA8-1CC6AA4486FA}"/>
              </a:ext>
            </a:extLst>
          </p:cNvPr>
          <p:cNvSpPr/>
          <p:nvPr/>
        </p:nvSpPr>
        <p:spPr>
          <a:xfrm>
            <a:off x="822960" y="2764155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컴파일 언어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B1D0AFF-8608-361E-A562-A62370C0F108}"/>
              </a:ext>
            </a:extLst>
          </p:cNvPr>
          <p:cNvSpPr/>
          <p:nvPr/>
        </p:nvSpPr>
        <p:spPr>
          <a:xfrm>
            <a:off x="822960" y="3175635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실행 흐름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9D13E08-D79A-A0A6-50F9-16317CE5FEF1}"/>
              </a:ext>
            </a:extLst>
          </p:cNvPr>
          <p:cNvSpPr/>
          <p:nvPr/>
        </p:nvSpPr>
        <p:spPr>
          <a:xfrm>
            <a:off x="822960" y="3449955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소스코드 → 컴파일 → 오브젝트 파일 → 링커 → 실행파일(기계어)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D5E114E-B11A-4D52-4D2D-6C36D0A328A6}"/>
              </a:ext>
            </a:extLst>
          </p:cNvPr>
          <p:cNvSpPr/>
          <p:nvPr/>
        </p:nvSpPr>
        <p:spPr>
          <a:xfrm>
            <a:off x="822960" y="4547235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gcc</a:t>
            </a:r>
            <a:r>
              <a:rPr lang="en-US" sz="1400" i="1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, g++, clang, MSVC</a:t>
            </a:r>
            <a:endParaRPr lang="en-US" sz="14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1FC41471-8E56-929E-C14E-8F45CC7656CF}"/>
              </a:ext>
            </a:extLst>
          </p:cNvPr>
          <p:cNvSpPr/>
          <p:nvPr/>
        </p:nvSpPr>
        <p:spPr>
          <a:xfrm>
            <a:off x="822960" y="5095875"/>
            <a:ext cx="3154680" cy="0"/>
          </a:xfrm>
          <a:prstGeom prst="line">
            <a:avLst/>
          </a:prstGeom>
          <a:noFill/>
          <a:ln w="12700">
            <a:solidFill>
              <a:srgbClr val="D6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D8E2E736-7729-DD54-E8AC-36C8A1C8A88F}"/>
              </a:ext>
            </a:extLst>
          </p:cNvPr>
          <p:cNvSpPr/>
          <p:nvPr/>
        </p:nvSpPr>
        <p:spPr>
          <a:xfrm>
            <a:off x="822960" y="5233035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실행 전 전체를 기계어로 완전히 변환. 실행 속도가 빠르지만 플랫폼별 재컴파일 필요.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AA3B2AB3-DDB0-A7D1-2797-9D684EC64536}"/>
              </a:ext>
            </a:extLst>
          </p:cNvPr>
          <p:cNvSpPr/>
          <p:nvPr/>
        </p:nvSpPr>
        <p:spPr>
          <a:xfrm>
            <a:off x="4343400" y="2032635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7FAFA"/>
          </a:solidFill>
          <a:ln/>
          <a:effectLst>
            <a:outerShdw blurRad="63500" dist="25400" dir="5400000" algn="bl" rotWithShape="0">
              <a:srgbClr val="8A9A9A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84655D36-C339-3E31-F268-27FC2599F689}"/>
              </a:ext>
            </a:extLst>
          </p:cNvPr>
          <p:cNvSpPr/>
          <p:nvPr/>
        </p:nvSpPr>
        <p:spPr>
          <a:xfrm>
            <a:off x="4343400" y="2032635"/>
            <a:ext cx="3520440" cy="5943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8F23078E-3A1D-8BC7-C48D-8EC55C672354}"/>
              </a:ext>
            </a:extLst>
          </p:cNvPr>
          <p:cNvSpPr/>
          <p:nvPr/>
        </p:nvSpPr>
        <p:spPr>
          <a:xfrm>
            <a:off x="4526280" y="2032635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Java / C#</a:t>
            </a:r>
            <a:endParaRPr lang="en-US"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A4FE8484-DC05-7D49-22CE-EB96E4246B61}"/>
              </a:ext>
            </a:extLst>
          </p:cNvPr>
          <p:cNvSpPr/>
          <p:nvPr/>
        </p:nvSpPr>
        <p:spPr>
          <a:xfrm>
            <a:off x="4526280" y="2764155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중간 코드 언어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D45CAF67-058A-30F7-A6DD-4874BEEF7869}"/>
              </a:ext>
            </a:extLst>
          </p:cNvPr>
          <p:cNvSpPr/>
          <p:nvPr/>
        </p:nvSpPr>
        <p:spPr>
          <a:xfrm>
            <a:off x="4526280" y="3175635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실행 흐름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00A1D6E5-6873-7F17-633C-3EF683ACED1C}"/>
              </a:ext>
            </a:extLst>
          </p:cNvPr>
          <p:cNvSpPr/>
          <p:nvPr/>
        </p:nvSpPr>
        <p:spPr>
          <a:xfrm>
            <a:off x="4526280" y="3449955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소스코드 → 컴파일 → 바이트코드/IL → 가상머신(JVM/CLR) → 실행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6592B4D3-CF6F-FD88-303A-3C498DF3AA5A}"/>
              </a:ext>
            </a:extLst>
          </p:cNvPr>
          <p:cNvSpPr/>
          <p:nvPr/>
        </p:nvSpPr>
        <p:spPr>
          <a:xfrm>
            <a:off x="4526280" y="4547235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javac</a:t>
            </a:r>
            <a:r>
              <a:rPr lang="en-US" sz="1400" i="1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+ JVM, csc + .NET CLR</a:t>
            </a:r>
            <a:endParaRPr lang="en-US" sz="14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7030AC77-3EA7-0C6C-D5BF-B3E9994C9D44}"/>
              </a:ext>
            </a:extLst>
          </p:cNvPr>
          <p:cNvSpPr/>
          <p:nvPr/>
        </p:nvSpPr>
        <p:spPr>
          <a:xfrm>
            <a:off x="4526280" y="5095875"/>
            <a:ext cx="3154680" cy="0"/>
          </a:xfrm>
          <a:prstGeom prst="line">
            <a:avLst/>
          </a:prstGeom>
          <a:noFill/>
          <a:ln w="12700">
            <a:solidFill>
              <a:srgbClr val="D6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2B552949-11A5-0C5E-8A1E-1E0D8974BA32}"/>
              </a:ext>
            </a:extLst>
          </p:cNvPr>
          <p:cNvSpPr/>
          <p:nvPr/>
        </p:nvSpPr>
        <p:spPr>
          <a:xfrm>
            <a:off x="4526280" y="5233035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가상머신이 중간 코드를 해석·실행. 플랫폼 독립적이며 이식성이 높음.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65942169-D6D7-182B-B6A6-7D8A364E7771}"/>
              </a:ext>
            </a:extLst>
          </p:cNvPr>
          <p:cNvSpPr/>
          <p:nvPr/>
        </p:nvSpPr>
        <p:spPr>
          <a:xfrm>
            <a:off x="8046720" y="2032635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7FAFA"/>
          </a:solidFill>
          <a:ln/>
          <a:effectLst>
            <a:outerShdw blurRad="63500" dist="25400" dir="5400000" algn="bl" rotWithShape="0">
              <a:srgbClr val="8A9A9A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F172F242-D1F8-74EF-DE2B-E6405C8F661D}"/>
              </a:ext>
            </a:extLst>
          </p:cNvPr>
          <p:cNvSpPr/>
          <p:nvPr/>
        </p:nvSpPr>
        <p:spPr>
          <a:xfrm>
            <a:off x="8046720" y="2032635"/>
            <a:ext cx="3520440" cy="5943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DD76F462-C47C-9EA4-618B-340C01668591}"/>
              </a:ext>
            </a:extLst>
          </p:cNvPr>
          <p:cNvSpPr/>
          <p:nvPr/>
        </p:nvSpPr>
        <p:spPr>
          <a:xfrm>
            <a:off x="8229600" y="2032635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Python / JavaScript</a:t>
            </a:r>
            <a:endParaRPr lang="en-US"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A5D83736-2BEC-8DA7-6851-C37EDC68B75E}"/>
              </a:ext>
            </a:extLst>
          </p:cNvPr>
          <p:cNvSpPr/>
          <p:nvPr/>
        </p:nvSpPr>
        <p:spPr>
          <a:xfrm>
            <a:off x="8229600" y="2764155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인터프리터 언어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90E2BB63-23E3-91AF-24FF-018959B1050F}"/>
              </a:ext>
            </a:extLst>
          </p:cNvPr>
          <p:cNvSpPr/>
          <p:nvPr/>
        </p:nvSpPr>
        <p:spPr>
          <a:xfrm>
            <a:off x="8229600" y="3175635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실행 흐름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B046100C-6812-AE44-B724-A515EE7FE8CA}"/>
              </a:ext>
            </a:extLst>
          </p:cNvPr>
          <p:cNvSpPr/>
          <p:nvPr/>
        </p:nvSpPr>
        <p:spPr>
          <a:xfrm>
            <a:off x="8229600" y="3449955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소스코드 → 인터프리터가 한 줄씩 즉시 해석·실행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B102FF60-E527-2CA5-BF27-1E4BBB33481A}"/>
              </a:ext>
            </a:extLst>
          </p:cNvPr>
          <p:cNvSpPr/>
          <p:nvPr/>
        </p:nvSpPr>
        <p:spPr>
          <a:xfrm>
            <a:off x="8229600" y="4547235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CPython</a:t>
            </a:r>
            <a:r>
              <a:rPr lang="en-US" sz="1400" i="1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, Node.js(V8, JIT 포함)</a:t>
            </a:r>
            <a:endParaRPr lang="en-US" sz="14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C2EE2FA1-0475-71CF-3A2F-BF3DCA4D5BE8}"/>
              </a:ext>
            </a:extLst>
          </p:cNvPr>
          <p:cNvSpPr/>
          <p:nvPr/>
        </p:nvSpPr>
        <p:spPr>
          <a:xfrm>
            <a:off x="8229600" y="5095875"/>
            <a:ext cx="3154680" cy="0"/>
          </a:xfrm>
          <a:prstGeom prst="line">
            <a:avLst/>
          </a:prstGeom>
          <a:noFill/>
          <a:ln w="12700">
            <a:solidFill>
              <a:srgbClr val="D6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3D74BA10-9FD0-D2D3-9914-1FD03024A2CB}"/>
              </a:ext>
            </a:extLst>
          </p:cNvPr>
          <p:cNvSpPr/>
          <p:nvPr/>
        </p:nvSpPr>
        <p:spPr>
          <a:xfrm>
            <a:off x="8229600" y="5233035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별도의 빌드 단계 없이 바로 실행 가능. 개발 속도는 빠르나 실행 속도는 상대적으로 느림.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AABF1341-AB92-5734-F0D9-F7F2226BF5E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295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D7E1C-4C26-BB62-BCA7-4EB890C08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B08BA0-AAF1-9EAE-D2DE-130940C226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1293126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 Visual Studio Code</a:t>
            </a:r>
            <a:endParaRPr lang="ko-KR" altLang="en-US" sz="2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B5A799B-7FED-BF1E-A600-271950EB13B6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74BBCA-BF0E-7323-23C3-07E0099325BC}"/>
              </a:ext>
            </a:extLst>
          </p:cNvPr>
          <p:cNvSpPr txBox="1"/>
          <p:nvPr/>
        </p:nvSpPr>
        <p:spPr>
          <a:xfrm>
            <a:off x="855620" y="2752872"/>
            <a:ext cx="9374230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8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Colab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VS Code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에서 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Module 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구성 실습 및 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Library, Package 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4798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64C60-E77A-1612-0417-6AC1D9FD0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3FB64-E2D7-2B44-CF30-870DAE311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1293126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Client/Server</a:t>
            </a:r>
            <a:r>
              <a:rPr lang="ko-KR" altLang="en-US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Architecture</a:t>
            </a:r>
            <a:endParaRPr lang="ko-KR" altLang="en-US" sz="2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26638B62-45D9-3E3F-2720-11ECEC2DB006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C5B72C-B96F-4ECB-E721-16083297E251}"/>
              </a:ext>
            </a:extLst>
          </p:cNvPr>
          <p:cNvSpPr txBox="1"/>
          <p:nvPr/>
        </p:nvSpPr>
        <p:spPr>
          <a:xfrm>
            <a:off x="855620" y="2752872"/>
            <a:ext cx="9374230" cy="1296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Requests: HTTP for Humans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실습</a:t>
            </a:r>
            <a:endParaRPr lang="en-US" altLang="ko-KR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Module vs. SW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Build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PyPI</a:t>
            </a:r>
            <a:endParaRPr lang="en-US" altLang="ko-KR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8295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FB110-BF6A-BB90-497C-0D763A661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F8CBCDB-B8E3-4471-3171-3A5D4B698B7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Client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Server Communication Flow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D9CFB56E-1CED-32EB-C150-3B70120A96E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EC1546-FC94-84F1-E7CE-AAE69AA70394}"/>
              </a:ext>
            </a:extLst>
          </p:cNvPr>
          <p:cNvSpPr txBox="1"/>
          <p:nvPr/>
        </p:nvSpPr>
        <p:spPr>
          <a:xfrm>
            <a:off x="7861708" y="4126362"/>
            <a:ext cx="4072598" cy="224965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socket</a:t>
            </a:r>
            <a:endParaRPr lang="ko-KR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b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ko-KR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socket.socket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         # 소켓 생성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s.bind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(("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localhost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", 9999))  # 주소에 연결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s.listen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                  # 연결 대기</a:t>
            </a:r>
          </a:p>
          <a:p>
            <a:pPr>
              <a:lnSpc>
                <a:spcPts val="1425"/>
              </a:lnSpc>
              <a:buNone/>
            </a:pPr>
            <a:b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ko-KR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conn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addr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s.accept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     # 클라이언트 연결 수락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conn.recv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(1024)       # 데이터 받기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("받음:",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data.decode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conn.send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b"hello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client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   # 데이터 보내기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2BDD22-B68B-8597-B3EE-2CF167B8A8BC}"/>
              </a:ext>
            </a:extLst>
          </p:cNvPr>
          <p:cNvSpPr txBox="1"/>
          <p:nvPr/>
        </p:nvSpPr>
        <p:spPr>
          <a:xfrm>
            <a:off x="800540" y="4126362"/>
            <a:ext cx="3771460" cy="151727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socket</a:t>
            </a:r>
            <a:endParaRPr lang="ko-KR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b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ko-KR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socket.socket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            # 소켓 생성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s.connect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(("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localhost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", 9999))  # 서버에 연결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s.send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b"hello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server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         # 데이터 보내기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s.recv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(1024)             # 데이터 받기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("Server 로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부터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받음:",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data.decode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93F7C5-3FCD-805D-3871-A14C1DBD40DA}"/>
              </a:ext>
            </a:extLst>
          </p:cNvPr>
          <p:cNvSpPr txBox="1"/>
          <p:nvPr/>
        </p:nvSpPr>
        <p:spPr>
          <a:xfrm>
            <a:off x="7775809" y="3719472"/>
            <a:ext cx="1690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server.py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D28EF7-7417-EB35-3DCC-906F890EC11B}"/>
              </a:ext>
            </a:extLst>
          </p:cNvPr>
          <p:cNvSpPr txBox="1"/>
          <p:nvPr/>
        </p:nvSpPr>
        <p:spPr>
          <a:xfrm>
            <a:off x="680468" y="375703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client.py 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1CC6D910-760C-D773-7CFC-017A88C0B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688" y="4126581"/>
            <a:ext cx="2906331" cy="1517275"/>
          </a:xfrm>
          <a:prstGeom prst="rect">
            <a:avLst/>
          </a:prstGeom>
        </p:spPr>
      </p:pic>
      <p:pic>
        <p:nvPicPr>
          <p:cNvPr id="43" name="그림 42" descr="Client-server Application - OOSE">
            <a:extLst>
              <a:ext uri="{FF2B5EF4-FFF2-40B4-BE49-F238E27FC236}">
                <a16:creationId xmlns:a16="http://schemas.microsoft.com/office/drawing/2014/main" id="{BF9B3110-2B04-F783-2184-DA4D91434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848" y="1558708"/>
            <a:ext cx="4570009" cy="1850478"/>
          </a:xfrm>
          <a:prstGeom prst="rect">
            <a:avLst/>
          </a:prstGeom>
        </p:spPr>
      </p:pic>
      <p:pic>
        <p:nvPicPr>
          <p:cNvPr id="45" name="그래픽 44" descr="수영">
            <a:extLst>
              <a:ext uri="{FF2B5EF4-FFF2-40B4-BE49-F238E27FC236}">
                <a16:creationId xmlns:a16="http://schemas.microsoft.com/office/drawing/2014/main" id="{FCD7A834-4F17-BDAF-E3AC-B9F03FA39C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316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04B2E-D737-5EF4-8727-93E8A1ED8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0C5A46B-CB98-9BEC-73D7-C964824900E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Module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CAB116F5-6F1D-6E9D-6F92-9B75156111D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8175BE-7248-F824-53E3-DC0D5E7AD211}"/>
              </a:ext>
            </a:extLst>
          </p:cNvPr>
          <p:cNvSpPr txBox="1"/>
          <p:nvPr/>
        </p:nvSpPr>
        <p:spPr>
          <a:xfrm>
            <a:off x="6940769" y="4789254"/>
            <a:ext cx="3888638" cy="107721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mymodule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mymodule.greet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철수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"))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mymodule.pi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49BD8-6097-0080-0050-418A5F98B413}"/>
              </a:ext>
            </a:extLst>
          </p:cNvPr>
          <p:cNvSpPr txBox="1"/>
          <p:nvPr/>
        </p:nvSpPr>
        <p:spPr>
          <a:xfrm>
            <a:off x="1003922" y="4789254"/>
            <a:ext cx="3888638" cy="107721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greet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f"안녕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{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}!"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3.14159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4B1B09E-3422-09F3-D310-C8B7B2404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839272"/>
              </p:ext>
            </p:extLst>
          </p:nvPr>
        </p:nvGraphicFramePr>
        <p:xfrm>
          <a:off x="1877387" y="1625155"/>
          <a:ext cx="9513890" cy="1509432"/>
        </p:xfrm>
        <a:graphic>
          <a:graphicData uri="http://schemas.openxmlformats.org/drawingml/2006/table">
            <a:tbl>
              <a:tblPr/>
              <a:tblGrid>
                <a:gridCol w="2169151">
                  <a:extLst>
                    <a:ext uri="{9D8B030D-6E8A-4147-A177-3AD203B41FA5}">
                      <a16:colId xmlns:a16="http://schemas.microsoft.com/office/drawing/2014/main" val="3045375998"/>
                    </a:ext>
                  </a:extLst>
                </a:gridCol>
                <a:gridCol w="7344739">
                  <a:extLst>
                    <a:ext uri="{9D8B030D-6E8A-4147-A177-3AD203B41FA5}">
                      <a16:colId xmlns:a16="http://schemas.microsoft.com/office/drawing/2014/main" val="1916184777"/>
                    </a:ext>
                  </a:extLst>
                </a:gridCol>
              </a:tblGrid>
              <a:tr h="503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b="1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Module</a:t>
                      </a:r>
                      <a:r>
                        <a:rPr lang="ko-KR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(모듈)</a:t>
                      </a:r>
                      <a:endParaRPr 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파이썬 코드가 담긴 파일 하나 (예: </a:t>
                      </a:r>
                      <a:r>
                        <a:rPr lang="ko-KR" sz="16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math.py</a:t>
                      </a:r>
                      <a:r>
                        <a:rPr 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375530"/>
                  </a:ext>
                </a:extLst>
              </a:tr>
              <a:tr h="503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b="1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Package</a:t>
                      </a:r>
                      <a:r>
                        <a:rPr lang="ko-KR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(패키지)</a:t>
                      </a:r>
                      <a:endParaRPr 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모듈들을 모아놓은 폴더 (내부에 __init__.py 포함)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644220"/>
                  </a:ext>
                </a:extLst>
              </a:tr>
              <a:tr h="503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b="1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Library</a:t>
                      </a:r>
                      <a:r>
                        <a:rPr lang="ko-KR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(라이브러리)</a:t>
                      </a:r>
                      <a:endParaRPr 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여러 모듈/패키지를 모아 배포하는 더 큰 단위 (예: </a:t>
                      </a:r>
                      <a:r>
                        <a:rPr lang="ko-KR" sz="16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numpy</a:t>
                      </a:r>
                      <a:r>
                        <a:rPr 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sz="16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requests</a:t>
                      </a:r>
                      <a:r>
                        <a:rPr 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6306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2B6FA15-F1AF-DC65-60F4-D387DF975EA5}"/>
              </a:ext>
            </a:extLst>
          </p:cNvPr>
          <p:cNvSpPr txBox="1"/>
          <p:nvPr/>
        </p:nvSpPr>
        <p:spPr>
          <a:xfrm>
            <a:off x="6890199" y="4468941"/>
            <a:ext cx="4501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main.py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(모듈을 사용하는 파일)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2ADBB-6F4F-A6A1-FF52-BD87FFE37D14}"/>
              </a:ext>
            </a:extLst>
          </p:cNvPr>
          <p:cNvSpPr txBox="1"/>
          <p:nvPr/>
        </p:nvSpPr>
        <p:spPr>
          <a:xfrm>
            <a:off x="960583" y="4468941"/>
            <a:ext cx="3112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mymodule.py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(모듈 파일)</a:t>
            </a:r>
          </a:p>
        </p:txBody>
      </p:sp>
      <p:pic>
        <p:nvPicPr>
          <p:cNvPr id="15" name="그래픽 14" descr="수영">
            <a:extLst>
              <a:ext uri="{FF2B5EF4-FFF2-40B4-BE49-F238E27FC236}">
                <a16:creationId xmlns:a16="http://schemas.microsoft.com/office/drawing/2014/main" id="{E0785C36-9639-6970-F0D0-6B3484BDC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827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B1EF4-E19F-E283-8CDC-304711A8A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E8BED82-1E4B-12B7-AEF8-195F1583202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PyPI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3B2F3D60-11BF-AD99-92FF-40FD7A29F02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40FC1-3967-66B4-D36D-20C6AADE0BB5}"/>
              </a:ext>
            </a:extLst>
          </p:cNvPr>
          <p:cNvSpPr txBox="1"/>
          <p:nvPr/>
        </p:nvSpPr>
        <p:spPr>
          <a:xfrm>
            <a:off x="563418" y="1248422"/>
            <a:ext cx="11231417" cy="42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600" i="0" dirty="0">
                <a:solidFill>
                  <a:srgbClr val="60606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파이썬 패키지 인덱스(</a:t>
            </a:r>
            <a:r>
              <a:rPr lang="ko-KR" altLang="ko-KR" sz="1600" i="0" dirty="0" err="1">
                <a:solidFill>
                  <a:srgbClr val="60606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PyPI</a:t>
            </a:r>
            <a:r>
              <a:rPr lang="ko-KR" altLang="ko-KR" sz="1600" i="0" dirty="0">
                <a:solidFill>
                  <a:srgbClr val="60606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)는 파이썬 프로그래밍 언어를 위한 소프트웨어</a:t>
            </a:r>
            <a:r>
              <a:rPr lang="en-US" altLang="ko-KR" sz="1600" dirty="0">
                <a:solidFill>
                  <a:srgbClr val="60606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solidFill>
                  <a:srgbClr val="60606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파이썬 </a:t>
            </a:r>
            <a:r>
              <a:rPr lang="en-US" altLang="ko-KR" sz="1600" dirty="0">
                <a:solidFill>
                  <a:srgbClr val="60606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package)</a:t>
            </a:r>
            <a:r>
              <a:rPr lang="ko-KR" altLang="ko-KR" sz="1600" i="0" dirty="0">
                <a:solidFill>
                  <a:srgbClr val="60606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i="0" dirty="0" err="1">
                <a:solidFill>
                  <a:srgbClr val="60606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리포지터리</a:t>
            </a:r>
            <a:r>
              <a:rPr lang="en-US" altLang="ko-KR" sz="1600" i="0" dirty="0">
                <a:solidFill>
                  <a:srgbClr val="60606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(Repository</a:t>
            </a:r>
            <a:r>
              <a:rPr lang="en-US" altLang="ko-KR" sz="1600" dirty="0">
                <a:solidFill>
                  <a:srgbClr val="60606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63CD154-F8E4-640F-40BC-D2B928A5D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250" y="1959435"/>
            <a:ext cx="6891538" cy="41642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A4A94F-E666-BCEA-ED64-633A3B67894C}"/>
              </a:ext>
            </a:extLst>
          </p:cNvPr>
          <p:cNvSpPr txBox="1"/>
          <p:nvPr/>
        </p:nvSpPr>
        <p:spPr>
          <a:xfrm>
            <a:off x="708357" y="1959435"/>
            <a:ext cx="3613979" cy="3009157"/>
          </a:xfrm>
          <a:prstGeom prst="rect">
            <a:avLst/>
          </a:prstGeom>
          <a:solidFill>
            <a:srgbClr val="76E3FF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PyPI에서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패키지 설치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pip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install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설치한 패키지를 코드에서 사용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np.array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([1,2,3]))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requests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9988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EDADB-5520-0FE2-6A7D-7F345E1A4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3E3EE0E-C76C-1BBF-74F4-C2EF9D54199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pip vs.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npm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212B8839-56A0-F5FF-2DAB-FFD5E69C546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C0CBA43E-2CEF-646A-8B01-A29043AE5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569650"/>
              </p:ext>
            </p:extLst>
          </p:nvPr>
        </p:nvGraphicFramePr>
        <p:xfrm>
          <a:off x="1789256" y="2418397"/>
          <a:ext cx="9174308" cy="2717022"/>
        </p:xfrm>
        <a:graphic>
          <a:graphicData uri="http://schemas.openxmlformats.org/drawingml/2006/table">
            <a:tbl>
              <a:tblPr/>
              <a:tblGrid>
                <a:gridCol w="4587154">
                  <a:extLst>
                    <a:ext uri="{9D8B030D-6E8A-4147-A177-3AD203B41FA5}">
                      <a16:colId xmlns:a16="http://schemas.microsoft.com/office/drawing/2014/main" val="677213452"/>
                    </a:ext>
                  </a:extLst>
                </a:gridCol>
                <a:gridCol w="4587154">
                  <a:extLst>
                    <a:ext uri="{9D8B030D-6E8A-4147-A177-3AD203B41FA5}">
                      <a16:colId xmlns:a16="http://schemas.microsoft.com/office/drawing/2014/main" val="3497374252"/>
                    </a:ext>
                  </a:extLst>
                </a:gridCol>
              </a:tblGrid>
              <a:tr h="494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파이썬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JavaScript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Node.js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82001"/>
                  </a:ext>
                </a:extLst>
              </a:tr>
              <a:tr h="864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PyPI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(저장소)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npm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registry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(저장소)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367122"/>
                  </a:ext>
                </a:extLst>
              </a:tr>
              <a:tr h="494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pip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(설치 도구)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npm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(설치 도구)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7576864"/>
                  </a:ext>
                </a:extLst>
              </a:tr>
              <a:tr h="864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pip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install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requests</a:t>
                      </a:r>
                      <a:endParaRPr lang="ko-KR" sz="18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npm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install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express</a:t>
                      </a:r>
                      <a:endParaRPr lang="ko-KR" sz="18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102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8024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4C53C-6099-26F1-4ACA-BFB60E4FE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01CDFC-6760-3F0C-7C97-0418F6CD8B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1588548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Create</a:t>
            </a:r>
            <a:r>
              <a:rPr lang="ko-KR" altLang="en-US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your own </a:t>
            </a:r>
            <a:r>
              <a:rPr lang="en-US" altLang="ko-KR" sz="5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github</a:t>
            </a:r>
            <a:b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Create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your own GitHub(Install git GitHub Desktop)</a:t>
            </a:r>
            <a:endParaRPr lang="ko-KR" altLang="en-US" sz="2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CC85391-272C-61E0-450E-2C98538E0B0A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8E03DF-FCB5-19F3-8626-DE1E2DBE2E3C}"/>
              </a:ext>
            </a:extLst>
          </p:cNvPr>
          <p:cNvSpPr txBox="1"/>
          <p:nvPr/>
        </p:nvSpPr>
        <p:spPr>
          <a:xfrm>
            <a:off x="838199" y="2963680"/>
            <a:ext cx="9374230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소프트웨어 형상관리 실습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7632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24842-69AF-773F-D38B-E9D52BEF7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FBAB160-354F-BDB0-FEF8-2771F2F3E39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형상관리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개념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7B1CE0C-AB55-CA69-3BDC-7380347BDA6B}"/>
              </a:ext>
            </a:extLst>
          </p:cNvPr>
          <p:cNvSpPr/>
          <p:nvPr/>
        </p:nvSpPr>
        <p:spPr>
          <a:xfrm>
            <a:off x="640080" y="1365885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형상관리(Configuration Management)란 변경의 맥락을 기록하고 </a:t>
            </a:r>
            <a:r>
              <a:rPr lang="en-US" dirty="0" err="1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추적하는</a:t>
            </a:r>
            <a:r>
              <a:rPr lang="en-US" dirty="0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것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EA7CADBF-89B3-59BF-2105-56C417AAB64C}"/>
              </a:ext>
            </a:extLst>
          </p:cNvPr>
          <p:cNvSpPr/>
          <p:nvPr/>
        </p:nvSpPr>
        <p:spPr>
          <a:xfrm>
            <a:off x="1463040" y="2005965"/>
            <a:ext cx="9235440" cy="1005840"/>
          </a:xfrm>
          <a:prstGeom prst="roundRect">
            <a:avLst>
              <a:gd name="adj" fmla="val 10909"/>
            </a:avLst>
          </a:prstGeom>
          <a:solidFill>
            <a:srgbClr val="2439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81EC6B50-C0E8-C081-59D1-2162EBEBA7C8}"/>
              </a:ext>
            </a:extLst>
          </p:cNvPr>
          <p:cNvSpPr/>
          <p:nvPr/>
        </p:nvSpPr>
        <p:spPr>
          <a:xfrm>
            <a:off x="1645920" y="2005965"/>
            <a:ext cx="8869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“ 무엇이, 언제, 누가, 왜 변경되었는가? ”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46B57970-56B6-39BF-38FE-82FBCB2DE2DB}"/>
              </a:ext>
            </a:extLst>
          </p:cNvPr>
          <p:cNvSpPr/>
          <p:nvPr/>
        </p:nvSpPr>
        <p:spPr>
          <a:xfrm>
            <a:off x="1005840" y="3377565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24393D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DCE5B930-B2EC-58CC-393E-436B140AE94F}"/>
              </a:ext>
            </a:extLst>
          </p:cNvPr>
          <p:cNvSpPr/>
          <p:nvPr/>
        </p:nvSpPr>
        <p:spPr>
          <a:xfrm>
            <a:off x="1828800" y="3697605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8347CAE4-BA92-EB2A-8D3C-61F01CE59B99}"/>
              </a:ext>
            </a:extLst>
          </p:cNvPr>
          <p:cNvSpPr/>
          <p:nvPr/>
        </p:nvSpPr>
        <p:spPr>
          <a:xfrm>
            <a:off x="1828800" y="3697605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무엇이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BC546CF0-C372-DFE7-B3DB-7ED75373B423}"/>
              </a:ext>
            </a:extLst>
          </p:cNvPr>
          <p:cNvSpPr/>
          <p:nvPr/>
        </p:nvSpPr>
        <p:spPr>
          <a:xfrm>
            <a:off x="1143000" y="4749165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변경된 파일과 내용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(diff)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3B12AE36-E702-D1C1-8025-F29D7D9BB8B7}"/>
              </a:ext>
            </a:extLst>
          </p:cNvPr>
          <p:cNvSpPr/>
          <p:nvPr/>
        </p:nvSpPr>
        <p:spPr>
          <a:xfrm>
            <a:off x="3611880" y="3377565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24393D"/>
          </a:solidFill>
          <a:ln w="1587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C805067E-7E6A-BE19-1EA0-9DF667B6B3C9}"/>
              </a:ext>
            </a:extLst>
          </p:cNvPr>
          <p:cNvSpPr/>
          <p:nvPr/>
        </p:nvSpPr>
        <p:spPr>
          <a:xfrm>
            <a:off x="4434840" y="3697605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DAEBAE22-84C2-B418-FB11-E79EA42AC2B2}"/>
              </a:ext>
            </a:extLst>
          </p:cNvPr>
          <p:cNvSpPr/>
          <p:nvPr/>
        </p:nvSpPr>
        <p:spPr>
          <a:xfrm>
            <a:off x="4434840" y="3697605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언제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9CED88CD-7A71-D74A-D7A2-D468CCB1EF5F}"/>
              </a:ext>
            </a:extLst>
          </p:cNvPr>
          <p:cNvSpPr/>
          <p:nvPr/>
        </p:nvSpPr>
        <p:spPr>
          <a:xfrm>
            <a:off x="3749040" y="4749165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변경이 발생한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시점 (timestamp)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C73CBFC5-4BA9-7495-65C7-B582418D45DA}"/>
              </a:ext>
            </a:extLst>
          </p:cNvPr>
          <p:cNvSpPr/>
          <p:nvPr/>
        </p:nvSpPr>
        <p:spPr>
          <a:xfrm>
            <a:off x="6217920" y="3377565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24393D"/>
          </a:solidFill>
          <a:ln w="1587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42F4A58B-9E89-AAF9-871A-E48E88B36C75}"/>
              </a:ext>
            </a:extLst>
          </p:cNvPr>
          <p:cNvSpPr/>
          <p:nvPr/>
        </p:nvSpPr>
        <p:spPr>
          <a:xfrm>
            <a:off x="7040880" y="3697605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C634A831-C3E7-20C1-7598-EF638D051FC3}"/>
              </a:ext>
            </a:extLst>
          </p:cNvPr>
          <p:cNvSpPr/>
          <p:nvPr/>
        </p:nvSpPr>
        <p:spPr>
          <a:xfrm>
            <a:off x="7040880" y="3697605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누가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60F7F895-71B1-A5C0-8D17-FCA2BB599483}"/>
              </a:ext>
            </a:extLst>
          </p:cNvPr>
          <p:cNvSpPr/>
          <p:nvPr/>
        </p:nvSpPr>
        <p:spPr>
          <a:xfrm>
            <a:off x="6355080" y="4749165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변경을 수행한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작성자 (author)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0E6F9929-6080-9A0D-DC23-F9FCF9AE3311}"/>
              </a:ext>
            </a:extLst>
          </p:cNvPr>
          <p:cNvSpPr/>
          <p:nvPr/>
        </p:nvSpPr>
        <p:spPr>
          <a:xfrm>
            <a:off x="8823960" y="3377565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24393D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C6D89BD9-477A-3427-A498-0C6AE5B2DD58}"/>
              </a:ext>
            </a:extLst>
          </p:cNvPr>
          <p:cNvSpPr/>
          <p:nvPr/>
        </p:nvSpPr>
        <p:spPr>
          <a:xfrm>
            <a:off x="9646920" y="3697605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C0CFE320-1BF1-F045-AEC7-28D22C32C809}"/>
              </a:ext>
            </a:extLst>
          </p:cNvPr>
          <p:cNvSpPr/>
          <p:nvPr/>
        </p:nvSpPr>
        <p:spPr>
          <a:xfrm>
            <a:off x="9646920" y="3697605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왜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9448AEC1-1D1D-CD38-B4DA-9C3EB1C7FB5E}"/>
              </a:ext>
            </a:extLst>
          </p:cNvPr>
          <p:cNvSpPr/>
          <p:nvPr/>
        </p:nvSpPr>
        <p:spPr>
          <a:xfrm>
            <a:off x="8961120" y="4749165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변경의 이유와 목적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(commit message)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7E7BB2-F3DC-926F-F649-2A98ACA7CEB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108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98A1D-C108-7CBD-99EF-C5D3099CE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CEED010-748D-4435-5E81-F12574F8196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전통적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형상관리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개념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vs Git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개념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56A1088C-055F-D008-275C-AC66BB5A97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026385"/>
              </p:ext>
            </p:extLst>
          </p:nvPr>
        </p:nvGraphicFramePr>
        <p:xfrm>
          <a:off x="1463040" y="1506855"/>
          <a:ext cx="9235440" cy="42062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전통적 개념</a:t>
                      </a:r>
                      <a:endParaRPr lang="en-US" sz="18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Git에서의 주요 개념</a:t>
                      </a:r>
                      <a:endParaRPr lang="en-US" sz="18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Repository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Repository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Check-out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Clone / Pull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Check-in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Commit + Push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Version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Commit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Branch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Branch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Baseline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Tag / Release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Lock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일반적으로 Lock 없이 Branch/Merge 방식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2">
            <a:extLst>
              <a:ext uri="{FF2B5EF4-FFF2-40B4-BE49-F238E27FC236}">
                <a16:creationId xmlns:a16="http://schemas.microsoft.com/office/drawing/2014/main" id="{78D1C5B0-2845-DDA0-57C2-246510E4D049}"/>
              </a:ext>
            </a:extLst>
          </p:cNvPr>
          <p:cNvSpPr/>
          <p:nvPr/>
        </p:nvSpPr>
        <p:spPr>
          <a:xfrm>
            <a:off x="1463040" y="5850255"/>
            <a:ext cx="9235440" cy="548640"/>
          </a:xfrm>
          <a:prstGeom prst="roundRect">
            <a:avLst>
              <a:gd name="adj" fmla="val 10000"/>
            </a:avLst>
          </a:prstGeom>
          <a:solidFill>
            <a:srgbClr val="E8F6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3730D5BE-80E5-0DE4-8B58-DF075D03A688}"/>
              </a:ext>
            </a:extLst>
          </p:cNvPr>
          <p:cNvSpPr/>
          <p:nvPr/>
        </p:nvSpPr>
        <p:spPr>
          <a:xfrm>
            <a:off x="1691640" y="5850255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809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Git은 파일을 잠그는 대신, Branch에서 독립적으로 작업 후 Merge하는 방식으로 동시 작업 </a:t>
            </a:r>
            <a:r>
              <a:rPr lang="en-US" sz="1400" i="1" dirty="0" err="1">
                <a:solidFill>
                  <a:srgbClr val="02809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충돌을</a:t>
            </a:r>
            <a:r>
              <a:rPr lang="en-US" sz="1400" i="1" dirty="0">
                <a:solidFill>
                  <a:srgbClr val="02809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sz="1400" i="1" dirty="0" err="1">
                <a:solidFill>
                  <a:srgbClr val="02809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관리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29BD4DE-1847-AD44-96E5-7722216B84A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173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F2216-E6DD-C354-8DE6-CD397973A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96695B-1906-1CDF-ED81-479E0F934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1293126"/>
          </a:xfrm>
        </p:spPr>
        <p:txBody>
          <a:bodyPr rtlCol="0" anchor="ctr" anchorCtr="0">
            <a:no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 git &amp; Install GitHub Desktop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174C4D4D-DEB1-B216-B574-1455BD02CA87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691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F710A-9B4B-B99A-5697-76D644AD7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B0487A8-431F-141A-E5AA-E86C41A1639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Install git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887E94-4CA7-4086-8B31-031B3C67191A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BB4A0C2-1E75-443C-7349-EAFC6D529D3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2" name="그래픽 11" descr="수영">
            <a:extLst>
              <a:ext uri="{FF2B5EF4-FFF2-40B4-BE49-F238E27FC236}">
                <a16:creationId xmlns:a16="http://schemas.microsoft.com/office/drawing/2014/main" id="{8279C13D-97BA-1614-817B-F8BE4787AE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BFEA084-9B97-420F-90A9-FD7462D0B5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982" y="1517072"/>
            <a:ext cx="5032720" cy="38238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E056742-6B0D-265F-1310-460BAEE3257F}"/>
              </a:ext>
            </a:extLst>
          </p:cNvPr>
          <p:cNvSpPr txBox="1"/>
          <p:nvPr/>
        </p:nvSpPr>
        <p:spPr>
          <a:xfrm>
            <a:off x="5430981" y="3575250"/>
            <a:ext cx="6400801" cy="280076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D:\ai_agent&gt;git</a:t>
            </a:r>
          </a:p>
          <a:p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usage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[-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| 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version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| 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help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[-C 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 [-c 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value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</a:t>
            </a: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exec-path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html-path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man-path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info-path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[-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| 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paginate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| 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| 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no-pager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no-replace-objects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no-lazy-fetch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no-optional-locks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no-advice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git-dir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</a:t>
            </a: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work-tree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namespace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config-env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envvar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</a:t>
            </a: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command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[&lt;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args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</a:t>
            </a:r>
          </a:p>
          <a:p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These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common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commands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used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various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situations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start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working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area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also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help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tutorial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clone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Clone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repository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into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new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directory</a:t>
            </a:r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Create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empty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repository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reinitialize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existing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one</a:t>
            </a:r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work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on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current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change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also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help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everyday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85415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1AE5A-56AD-3D56-14A3-D8F3CCACE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270E751-FE5B-CF60-8255-7C707469D01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Download GitHub Desktop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D776EA-F86D-8C17-2A5F-846CABC37B33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7F007F5-62B9-09FD-3DEB-3E227994ABC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2" name="그래픽 11" descr="수영">
            <a:extLst>
              <a:ext uri="{FF2B5EF4-FFF2-40B4-BE49-F238E27FC236}">
                <a16:creationId xmlns:a16="http://schemas.microsoft.com/office/drawing/2014/main" id="{537AC996-3581-51B4-F957-9B49F5757C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9F769FF-1AAC-0461-4847-E3C99F6722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45" y="1288330"/>
            <a:ext cx="6073207" cy="490912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8BC2297-FC37-1195-D69E-F35F52C94D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7601" y="2702793"/>
            <a:ext cx="5478754" cy="378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967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4D940-69A6-74AE-2745-A19228225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2">
            <a:extLst>
              <a:ext uri="{FF2B5EF4-FFF2-40B4-BE49-F238E27FC236}">
                <a16:creationId xmlns:a16="http://schemas.microsoft.com/office/drawing/2014/main" id="{59DA375E-6466-65EA-0528-D944F2783957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EAACF42A-DACC-D4EC-622E-71A8768699CB}"/>
              </a:ext>
            </a:extLst>
          </p:cNvPr>
          <p:cNvSpPr txBox="1">
            <a:spLocks/>
          </p:cNvSpPr>
          <p:nvPr/>
        </p:nvSpPr>
        <p:spPr>
          <a:xfrm>
            <a:off x="838199" y="1164324"/>
            <a:ext cx="10934701" cy="129312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CI/CD</a:t>
            </a:r>
            <a:endParaRPr lang="ko-KR" altLang="en-US" sz="2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7D54A8-C6BB-E04C-4A65-AEFB677DEFE3}"/>
              </a:ext>
            </a:extLst>
          </p:cNvPr>
          <p:cNvSpPr txBox="1"/>
          <p:nvPr/>
        </p:nvSpPr>
        <p:spPr>
          <a:xfrm>
            <a:off x="838199" y="2419350"/>
            <a:ext cx="9374230" cy="170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Virtual Environment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python + </a:t>
            </a: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Huggingface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space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구성</a:t>
            </a:r>
            <a:endParaRPr lang="en-US" altLang="ko-KR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GitHub Actions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실습</a:t>
            </a:r>
            <a:endParaRPr lang="en-US" altLang="ko-KR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CI(Continuous Integration)/CD(Continuous Deployment)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72435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8C0FA-21B6-18F8-F59C-C6BA0242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63D7929-0F0B-9C2B-9B20-E8E6B04018E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Virtual Environment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A53A5EC-CA0C-FE54-F5D7-08AF9885651E}"/>
              </a:ext>
            </a:extLst>
          </p:cNvPr>
          <p:cNvSpPr/>
          <p:nvPr/>
        </p:nvSpPr>
        <p:spPr>
          <a:xfrm>
            <a:off x="641998" y="1128349"/>
            <a:ext cx="11292308" cy="1011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ko-KR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프로젝트마다 독립된 파이썬 실행 공간을 만들어주는 기능</a:t>
            </a:r>
            <a:r>
              <a:rPr lang="ko-KR" altLang="en-US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</a:t>
            </a:r>
            <a:r>
              <a:rPr lang="en-US" altLang="ko-KR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한 컴퓨터에서 여러 프로젝트를 진행할 때,</a:t>
            </a:r>
            <a:r>
              <a:rPr lang="en-US" altLang="ko-KR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프</a:t>
            </a:r>
            <a:r>
              <a:rPr lang="ko-KR" altLang="ko-KR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로젝트마다 필요한 패키지 버전이 다를 수 있는데, 가상환경 없이 전역(</a:t>
            </a:r>
            <a:r>
              <a:rPr lang="ko-KR" altLang="ko-KR" sz="1600" dirty="0" err="1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global</a:t>
            </a:r>
            <a:r>
              <a:rPr lang="ko-KR" altLang="ko-KR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)에 설치하면 충돌이 </a:t>
            </a:r>
            <a:r>
              <a:rPr lang="ko-KR" altLang="en-US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발생</a:t>
            </a:r>
            <a:endParaRPr lang="en-US" sz="1600" dirty="0">
              <a:solidFill>
                <a:srgbClr val="5B6B6E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945096-FA34-F2C6-6E24-6219C7BAA5B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F94951F-ECDA-1254-8E5F-D6F50F95B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98" y="2238278"/>
            <a:ext cx="5287747" cy="421609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A1DCDBB-7CAD-79B4-AF55-A79F6491A827}"/>
              </a:ext>
            </a:extLst>
          </p:cNvPr>
          <p:cNvSpPr txBox="1"/>
          <p:nvPr/>
        </p:nvSpPr>
        <p:spPr>
          <a:xfrm>
            <a:off x="4775199" y="3056622"/>
            <a:ext cx="6908800" cy="33239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1. 가상환경 생성 (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myenv라는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이름의 폴더 생성)</a:t>
            </a:r>
          </a:p>
          <a:p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-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2. 가상환경 활성화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macOS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Linux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source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bin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activate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Windows</a:t>
            </a:r>
          </a:p>
          <a:p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\Scripts\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activate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3. 활성화되면 프롬프트 앞에 (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표시됨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$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pip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requests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# 이 가상환경 안에만 설치됨</a:t>
            </a:r>
          </a:p>
          <a:p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4. 가상환경 비활성화 (원래 상태로 복귀)</a:t>
            </a:r>
          </a:p>
          <a:p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deactivate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93021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4A59B-335B-1F6A-B1F3-88A62DF37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8956231-EA1F-E9D7-5EDA-A9312DD0E34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CI (Continuous Integration)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D1F729E-CAAF-5237-9DCB-ECBD698DE849}"/>
              </a:ext>
            </a:extLst>
          </p:cNvPr>
          <p:cNvSpPr/>
          <p:nvPr/>
        </p:nvSpPr>
        <p:spPr>
          <a:xfrm>
            <a:off x="640080" y="126111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지속적 통합 — 변경사항을 자주, 자동으로 검증하는 개발 방식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01601CAA-779B-321F-A2F5-255AE86C50AB}"/>
              </a:ext>
            </a:extLst>
          </p:cNvPr>
          <p:cNvSpPr/>
          <p:nvPr/>
        </p:nvSpPr>
        <p:spPr>
          <a:xfrm>
            <a:off x="640080" y="190119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9F73631A-8529-E553-0597-86F90A5EEA0E}"/>
              </a:ext>
            </a:extLst>
          </p:cNvPr>
          <p:cNvSpPr/>
          <p:nvPr/>
        </p:nvSpPr>
        <p:spPr>
          <a:xfrm>
            <a:off x="914400" y="190119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개발자들이 작성한 코드를 자주(하루에도 여러 번) 공유 저장소(Repository)에 병합(merge)하고,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그때마다 자동으로 빌드·테스트하여 문제를 조기에 발견하는 개발 방식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DC2B1DF6-D5BA-4FDE-2946-060060F4FFDD}"/>
              </a:ext>
            </a:extLst>
          </p:cNvPr>
          <p:cNvSpPr/>
          <p:nvPr/>
        </p:nvSpPr>
        <p:spPr>
          <a:xfrm>
            <a:off x="685800" y="3199638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1B5091CD-6A0B-0B8A-B381-013DC1B763B6}"/>
              </a:ext>
            </a:extLst>
          </p:cNvPr>
          <p:cNvSpPr/>
          <p:nvPr/>
        </p:nvSpPr>
        <p:spPr>
          <a:xfrm>
            <a:off x="685800" y="319963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1</a:t>
            </a:r>
            <a:endParaRPr lang="en-US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B24FB9B6-CCA8-427D-B4F3-478776F866A9}"/>
              </a:ext>
            </a:extLst>
          </p:cNvPr>
          <p:cNvSpPr/>
          <p:nvPr/>
        </p:nvSpPr>
        <p:spPr>
          <a:xfrm>
            <a:off x="1508760" y="3089910"/>
            <a:ext cx="10012680" cy="868680"/>
          </a:xfrm>
          <a:prstGeom prst="roundRect">
            <a:avLst>
              <a:gd name="adj" fmla="val 8421"/>
            </a:avLst>
          </a:prstGeom>
          <a:solidFill>
            <a:srgbClr val="F7FAFA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ECA97B1B-FA43-02DC-753C-98EBA82B85BE}"/>
              </a:ext>
            </a:extLst>
          </p:cNvPr>
          <p:cNvSpPr/>
          <p:nvPr/>
        </p:nvSpPr>
        <p:spPr>
          <a:xfrm>
            <a:off x="1737360" y="308991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잦은 통합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E3753F3C-B20B-B8EF-B9C6-8772F2A851F1}"/>
              </a:ext>
            </a:extLst>
          </p:cNvPr>
          <p:cNvSpPr/>
          <p:nvPr/>
        </p:nvSpPr>
        <p:spPr>
          <a:xfrm>
            <a:off x="4160520" y="308991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개발자가 작은 단위의 변경사항을 짧은 주기로 공유 저장소에 지속적으로 병합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459BDD8-EDA9-C485-4BEB-4A459DF53578}"/>
              </a:ext>
            </a:extLst>
          </p:cNvPr>
          <p:cNvSpPr/>
          <p:nvPr/>
        </p:nvSpPr>
        <p:spPr>
          <a:xfrm>
            <a:off x="685800" y="4251198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1EB93E2-8A08-00F0-E6D9-EC9D6A41E065}"/>
              </a:ext>
            </a:extLst>
          </p:cNvPr>
          <p:cNvSpPr/>
          <p:nvPr/>
        </p:nvSpPr>
        <p:spPr>
          <a:xfrm>
            <a:off x="685800" y="425119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2</a:t>
            </a:r>
            <a:endParaRPr lang="en-US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300F5D6B-4054-F4CF-8AFC-9470FCFC8802}"/>
              </a:ext>
            </a:extLst>
          </p:cNvPr>
          <p:cNvSpPr/>
          <p:nvPr/>
        </p:nvSpPr>
        <p:spPr>
          <a:xfrm>
            <a:off x="1508760" y="4141470"/>
            <a:ext cx="10012680" cy="868680"/>
          </a:xfrm>
          <a:prstGeom prst="roundRect">
            <a:avLst>
              <a:gd name="adj" fmla="val 8421"/>
            </a:avLst>
          </a:prstGeom>
          <a:solidFill>
            <a:srgbClr val="F7FAFA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1BC0CB0D-37A0-9C14-4CAC-F4FD9ABBA3E8}"/>
              </a:ext>
            </a:extLst>
          </p:cNvPr>
          <p:cNvSpPr/>
          <p:nvPr/>
        </p:nvSpPr>
        <p:spPr>
          <a:xfrm>
            <a:off x="1737360" y="414147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자동 빌드 &amp; 테스트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6BC9F2A9-4D8A-5735-9B56-B15C19A0972A}"/>
              </a:ext>
            </a:extLst>
          </p:cNvPr>
          <p:cNvSpPr/>
          <p:nvPr/>
        </p:nvSpPr>
        <p:spPr>
          <a:xfrm>
            <a:off x="4160520" y="414147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코드가 통합될 때마다 빌드와 테스트가 자동으로 실행되어 사람의 개입을 최소화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500A20C2-5F54-15E5-EC48-C5D883E06655}"/>
              </a:ext>
            </a:extLst>
          </p:cNvPr>
          <p:cNvSpPr/>
          <p:nvPr/>
        </p:nvSpPr>
        <p:spPr>
          <a:xfrm>
            <a:off x="685800" y="530275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DFE1D1AE-D80A-A60F-B4D1-0A3F906146EC}"/>
              </a:ext>
            </a:extLst>
          </p:cNvPr>
          <p:cNvSpPr/>
          <p:nvPr/>
        </p:nvSpPr>
        <p:spPr>
          <a:xfrm>
            <a:off x="685800" y="530275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3</a:t>
            </a:r>
            <a:endParaRPr lang="en-US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9438C446-4AF6-4808-4127-A632D60187B7}"/>
              </a:ext>
            </a:extLst>
          </p:cNvPr>
          <p:cNvSpPr/>
          <p:nvPr/>
        </p:nvSpPr>
        <p:spPr>
          <a:xfrm>
            <a:off x="1508760" y="5193030"/>
            <a:ext cx="10012680" cy="868680"/>
          </a:xfrm>
          <a:prstGeom prst="roundRect">
            <a:avLst>
              <a:gd name="adj" fmla="val 8421"/>
            </a:avLst>
          </a:prstGeom>
          <a:solidFill>
            <a:srgbClr val="F7FAFA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7E9163C2-E0B6-0B25-EF0E-59497C9A3693}"/>
              </a:ext>
            </a:extLst>
          </p:cNvPr>
          <p:cNvSpPr/>
          <p:nvPr/>
        </p:nvSpPr>
        <p:spPr>
          <a:xfrm>
            <a:off x="1737360" y="519303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빠른 피드백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8741F488-C62B-C29A-2507-3A6871FD2B4A}"/>
              </a:ext>
            </a:extLst>
          </p:cNvPr>
          <p:cNvSpPr/>
          <p:nvPr/>
        </p:nvSpPr>
        <p:spPr>
          <a:xfrm>
            <a:off x="4160520" y="519303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오류 발생 시 즉시 알림을 받아, 문제가 커지기 전에 조기 발견 및 수정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0E9A0A-EF64-D05A-3A76-463D89E5574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3899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AD688-81BD-A730-FB4D-15578BA58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E8FE2DB-C78A-59C3-AE94-56541135D3E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GitHub Actions Exercise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59C719-70DA-E335-6E30-7EA20CACB266}"/>
              </a:ext>
            </a:extLst>
          </p:cNvPr>
          <p:cNvSpPr txBox="1"/>
          <p:nvPr/>
        </p:nvSpPr>
        <p:spPr>
          <a:xfrm>
            <a:off x="744020" y="454925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FBACB0A-609D-1358-139D-925052A0D9B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2" name="그래픽 11" descr="수영">
            <a:extLst>
              <a:ext uri="{FF2B5EF4-FFF2-40B4-BE49-F238E27FC236}">
                <a16:creationId xmlns:a16="http://schemas.microsoft.com/office/drawing/2014/main" id="{C1D71D42-D86C-CD8D-0A44-CBB293213A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A5DA0E-A218-DA19-F7C3-A2BBF4DABA76}"/>
              </a:ext>
            </a:extLst>
          </p:cNvPr>
          <p:cNvSpPr txBox="1"/>
          <p:nvPr/>
        </p:nvSpPr>
        <p:spPr>
          <a:xfrm>
            <a:off x="613307" y="1277085"/>
            <a:ext cx="10944226" cy="880819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웹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App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으로 구현하고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Hugging Face Spaces(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무료 호스팅 서비스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GitHub Actions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자동 빌드 및 배포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(CI/CD)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구현하는 실습과제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AE2F31-0B20-DC4B-0331-EE48D0848999}"/>
              </a:ext>
            </a:extLst>
          </p:cNvPr>
          <p:cNvSpPr txBox="1"/>
          <p:nvPr/>
        </p:nvSpPr>
        <p:spPr>
          <a:xfrm>
            <a:off x="1246185" y="4086614"/>
            <a:ext cx="9934576" cy="227049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my-gradio-app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.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github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└──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workflows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└──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deploy.yml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# GitHub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Actions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CI/CD 파이프라인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app.py                #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Pandas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데이터 처리 및 시각화 코드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└── requirements.txt      # 의존성 패키지 목록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A21E49-BE2A-8B88-6220-415B652D68E1}"/>
              </a:ext>
            </a:extLst>
          </p:cNvPr>
          <p:cNvSpPr txBox="1"/>
          <p:nvPr/>
        </p:nvSpPr>
        <p:spPr>
          <a:xfrm>
            <a:off x="1257300" y="374319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📂 프로젝트 파일 구조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16B0BF-D0E0-8339-0674-6F779CED6710}"/>
              </a:ext>
            </a:extLst>
          </p:cNvPr>
          <p:cNvSpPr txBox="1"/>
          <p:nvPr/>
        </p:nvSpPr>
        <p:spPr>
          <a:xfrm>
            <a:off x="5109712" y="347139"/>
            <a:ext cx="6606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화살표: 줄무늬가 있는 오른쪽 14">
            <a:extLst>
              <a:ext uri="{FF2B5EF4-FFF2-40B4-BE49-F238E27FC236}">
                <a16:creationId xmlns:a16="http://schemas.microsoft.com/office/drawing/2014/main" id="{2F7D7142-3213-4FC1-3586-350396205FF1}"/>
              </a:ext>
            </a:extLst>
          </p:cNvPr>
          <p:cNvSpPr/>
          <p:nvPr/>
        </p:nvSpPr>
        <p:spPr>
          <a:xfrm>
            <a:off x="613307" y="2364855"/>
            <a:ext cx="5595874" cy="676145"/>
          </a:xfrm>
          <a:prstGeom prst="stripedRightArrow">
            <a:avLst>
              <a:gd name="adj1" fmla="val 58452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으로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prompting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하면서 과제 진행하기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94837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6C7C2-02A0-06DD-4ECF-9F6B20A88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60CE6CAC-BE31-8457-A813-9A56904613AB}"/>
              </a:ext>
            </a:extLst>
          </p:cNvPr>
          <p:cNvSpPr/>
          <p:nvPr/>
        </p:nvSpPr>
        <p:spPr>
          <a:xfrm>
            <a:off x="639245" y="1834107"/>
            <a:ext cx="7496175" cy="369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59D3560-B1C6-8FCB-B5C0-64CDDE41678A}"/>
              </a:ext>
            </a:extLst>
          </p:cNvPr>
          <p:cNvSpPr/>
          <p:nvPr/>
        </p:nvSpPr>
        <p:spPr>
          <a:xfrm>
            <a:off x="639245" y="2345029"/>
            <a:ext cx="7496175" cy="369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0874F86-025C-A2DC-E8B3-B79F06BF73F0}"/>
              </a:ext>
            </a:extLst>
          </p:cNvPr>
          <p:cNvSpPr/>
          <p:nvPr/>
        </p:nvSpPr>
        <p:spPr>
          <a:xfrm>
            <a:off x="628649" y="3651766"/>
            <a:ext cx="7496175" cy="369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96BC5A-D53E-92F7-6A38-10C8ED6D40B4}"/>
              </a:ext>
            </a:extLst>
          </p:cNvPr>
          <p:cNvSpPr txBox="1"/>
          <p:nvPr/>
        </p:nvSpPr>
        <p:spPr>
          <a:xfrm>
            <a:off x="744020" y="32824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2F8563B-BF22-4732-3506-5E5D54395D3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GitHub Actions Exercise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8E93B15-8AA8-B99D-DE25-A275F90106F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2" name="그래픽 11" descr="수영">
            <a:extLst>
              <a:ext uri="{FF2B5EF4-FFF2-40B4-BE49-F238E27FC236}">
                <a16:creationId xmlns:a16="http://schemas.microsoft.com/office/drawing/2014/main" id="{8CCF1A43-60B7-7E89-5EE8-11B3795F0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EC760439-C38F-4AB7-5572-DFDD66AFF94E}"/>
              </a:ext>
            </a:extLst>
          </p:cNvPr>
          <p:cNvSpPr/>
          <p:nvPr/>
        </p:nvSpPr>
        <p:spPr>
          <a:xfrm>
            <a:off x="628650" y="1296047"/>
            <a:ext cx="7496175" cy="369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640B3F-A2F7-0F11-CB7F-E19D06AAB53D}"/>
              </a:ext>
            </a:extLst>
          </p:cNvPr>
          <p:cNvSpPr txBox="1"/>
          <p:nvPr/>
        </p:nvSpPr>
        <p:spPr>
          <a:xfrm>
            <a:off x="628650" y="1288330"/>
            <a:ext cx="10971730" cy="5109091"/>
          </a:xfrm>
          <a:prstGeom prst="rect">
            <a:avLst/>
          </a:prstGeom>
          <a:noFill/>
          <a:ln>
            <a:solidFill>
              <a:srgbClr val="40404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&amp; Pandas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앱 구현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(app.py)</a:t>
            </a:r>
          </a:p>
          <a:p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의존성 라이브러리 지정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(requirements.txt)</a:t>
            </a:r>
          </a:p>
          <a:p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GitHub Actions CI/CD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구축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github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/workflows/</a:t>
            </a: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deploy.yml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GitHub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코드가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push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될 때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Python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환경 구축 및 문법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패키지 검사 실행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CD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검증 통과 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Hugging Face Spaces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자동 동기화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배포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배포 연동 단계별 가이드</a:t>
            </a:r>
            <a:endParaRPr lang="en-US" altLang="ko-KR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Hugging Face Space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생성</a:t>
            </a:r>
          </a:p>
          <a:p>
            <a:pPr marL="1200150" lvl="2" indent="-28575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Hugging Face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접속 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New Space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생성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(Space Name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설정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my-first-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-app)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SDK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종류는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선택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(SDK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항목에서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선택 후 하단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Create Space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버튼 클릭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Hugging Face Access Token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발급</a:t>
            </a:r>
          </a:p>
          <a:p>
            <a:pPr marL="1200150" lvl="2" indent="-285750"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토큰 발급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Hugging Face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프로필 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Settings ➔ Access Tokens ➔ Create new token (Role: Write)</a:t>
            </a:r>
          </a:p>
          <a:p>
            <a:pPr marL="1200150" lvl="2" indent="-285750"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생성된 토큰 값 복사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GitHub Repository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Secret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등록</a:t>
            </a:r>
          </a:p>
          <a:p>
            <a:pPr marL="1200150" lvl="2" indent="-28575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Secret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본인의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GitHub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저장소 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Settings ➔ Secrets and variables ➔ Actions</a:t>
            </a:r>
          </a:p>
          <a:p>
            <a:pPr marL="1200150" lvl="2" indent="-28575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New repository secret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클릭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Name: HF_TOKEN / Value: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복사한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Hugging Face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토큰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Paste</a:t>
            </a:r>
          </a:p>
        </p:txBody>
      </p:sp>
    </p:spTree>
    <p:extLst>
      <p:ext uri="{BB962C8B-B14F-4D97-AF65-F5344CB8AC3E}">
        <p14:creationId xmlns:p14="http://schemas.microsoft.com/office/powerpoint/2010/main" val="29357854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46505-51A5-8641-3B3A-B0CCC7336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6FA4E5E-2259-2CFC-5635-BCA752A2EA6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GitHub Actions Exercise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F56FE9-FE0B-9E11-AEFD-6CE48CB3A461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ED5973A-9B6F-CACA-2AEE-1B97F72841F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2" name="그래픽 11" descr="수영">
            <a:extLst>
              <a:ext uri="{FF2B5EF4-FFF2-40B4-BE49-F238E27FC236}">
                <a16:creationId xmlns:a16="http://schemas.microsoft.com/office/drawing/2014/main" id="{28FAF306-E841-FA37-3DF0-EA9B18A0A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22E5FA2-DF4B-A67D-1FE0-0A5FA5F3DB87}"/>
              </a:ext>
            </a:extLst>
          </p:cNvPr>
          <p:cNvSpPr txBox="1"/>
          <p:nvPr/>
        </p:nvSpPr>
        <p:spPr>
          <a:xfrm>
            <a:off x="614379" y="1726488"/>
            <a:ext cx="9634522" cy="483209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name: Deploy to Hugging Face Spaces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on: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push: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branches: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- main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jobs: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deploy: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runs-on: ubuntu-latest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steps: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- name: Checkout repository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uses: actions/checkout@v4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with: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fetch-depth: 0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lfs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true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- name: Push to Hugging Face Space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env: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HF_TOKEN: ${{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secrets.HF_TOKEN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}}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run: |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git config --global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user.email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"actions@github.com"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git config --global user.name "GitHub Actions"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git remote add space https://user:$HF_TOKEN@huggingface.co/spaces/ancestor9/my-first-gradio-app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git push --force space 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64F57F-6865-DA0C-D8B2-32765224233B}"/>
              </a:ext>
            </a:extLst>
          </p:cNvPr>
          <p:cNvSpPr txBox="1"/>
          <p:nvPr/>
        </p:nvSpPr>
        <p:spPr>
          <a:xfrm>
            <a:off x="615416" y="1347631"/>
            <a:ext cx="9633485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단계 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8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deploy.yml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deploy.yml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파일 배포 실행 구문 수정</a:t>
            </a:r>
          </a:p>
        </p:txBody>
      </p:sp>
      <p:sp>
        <p:nvSpPr>
          <p:cNvPr id="14" name="설명선: 굽은 선 13">
            <a:extLst>
              <a:ext uri="{FF2B5EF4-FFF2-40B4-BE49-F238E27FC236}">
                <a16:creationId xmlns:a16="http://schemas.microsoft.com/office/drawing/2014/main" id="{4D69CC3C-17CE-C96C-DC2F-1702D1BEAA51}"/>
              </a:ext>
            </a:extLst>
          </p:cNvPr>
          <p:cNvSpPr/>
          <p:nvPr/>
        </p:nvSpPr>
        <p:spPr>
          <a:xfrm>
            <a:off x="9710220" y="5322328"/>
            <a:ext cx="2166662" cy="23566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98421"/>
              <a:gd name="adj6" fmla="val -81561"/>
            </a:avLst>
          </a:prstGeom>
          <a:solidFill>
            <a:schemeClr val="tx1"/>
          </a:solidFill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HuggingFace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아이디</a:t>
            </a:r>
          </a:p>
        </p:txBody>
      </p:sp>
      <p:sp>
        <p:nvSpPr>
          <p:cNvPr id="15" name="설명선: 굽은 선 14">
            <a:extLst>
              <a:ext uri="{FF2B5EF4-FFF2-40B4-BE49-F238E27FC236}">
                <a16:creationId xmlns:a16="http://schemas.microsoft.com/office/drawing/2014/main" id="{16D6258C-27E6-BC1E-7C8B-E8F8AAD8CB74}"/>
              </a:ext>
            </a:extLst>
          </p:cNvPr>
          <p:cNvSpPr/>
          <p:nvPr/>
        </p:nvSpPr>
        <p:spPr>
          <a:xfrm>
            <a:off x="10320614" y="5699115"/>
            <a:ext cx="1556267" cy="23566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32709"/>
              <a:gd name="adj6" fmla="val -50269"/>
            </a:avLst>
          </a:prstGeom>
          <a:solidFill>
            <a:schemeClr val="tx1"/>
          </a:solidFill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Space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이름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58F20E-EEAC-1826-18FE-393FA30EAD63}"/>
              </a:ext>
            </a:extLst>
          </p:cNvPr>
          <p:cNvSpPr txBox="1"/>
          <p:nvPr/>
        </p:nvSpPr>
        <p:spPr>
          <a:xfrm>
            <a:off x="6362700" y="4180382"/>
            <a:ext cx="5514181" cy="73866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Hugging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Face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로그인 후 우측 상단 프로필 아이콘 클릭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메뉴에서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Spaces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클릭 (또는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Profile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➔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Spaces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탭 클릭)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생성해 둔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Space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목록 중 원하는 프로젝트 선택</a:t>
            </a:r>
          </a:p>
        </p:txBody>
      </p:sp>
    </p:spTree>
    <p:extLst>
      <p:ext uri="{BB962C8B-B14F-4D97-AF65-F5344CB8AC3E}">
        <p14:creationId xmlns:p14="http://schemas.microsoft.com/office/powerpoint/2010/main" val="19368206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E33C0-3F5E-0746-7922-EB04747D4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01B1FA7-24D3-7EA0-A53B-0D013A152C8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GitHub Actions Exercise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3709CA-28F5-8B89-FE95-7D4096DF28DB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EC8209C-2CAC-CE32-7B1E-49CACD9A81D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3A1396-494B-F69D-704E-72F53AFFFF65}"/>
              </a:ext>
            </a:extLst>
          </p:cNvPr>
          <p:cNvSpPr txBox="1"/>
          <p:nvPr/>
        </p:nvSpPr>
        <p:spPr>
          <a:xfrm>
            <a:off x="591620" y="1248422"/>
            <a:ext cx="11047930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Github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 Actions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기본 사용 방법 및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CI/CD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워크플로우 구성하기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https://github.com/ancestor9/my-gradio-app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실습 파일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8210C7B-32AE-F1C2-89ED-9F045D12A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870" y="2639855"/>
            <a:ext cx="4056430" cy="3265645"/>
          </a:xfrm>
          <a:prstGeom prst="rect">
            <a:avLst/>
          </a:prstGeom>
        </p:spPr>
      </p:pic>
      <p:pic>
        <p:nvPicPr>
          <p:cNvPr id="12" name="그래픽 11" descr="수영">
            <a:extLst>
              <a:ext uri="{FF2B5EF4-FFF2-40B4-BE49-F238E27FC236}">
                <a16:creationId xmlns:a16="http://schemas.microsoft.com/office/drawing/2014/main" id="{7B0A0425-21A0-7CB5-DAA7-98BEF1730C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0186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D8B7A-DB89-FE54-0CAC-B383B9C95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17C9541-25DE-D61B-075D-D5726EE80C9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deploy.yml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0FAF6E-9718-5E48-D104-52F4CB05D210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EF58C93-CFF4-FCA6-E9D0-DF153293F01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4DB55D-0615-F477-52F2-18CE5A65581B}"/>
              </a:ext>
            </a:extLst>
          </p:cNvPr>
          <p:cNvSpPr txBox="1"/>
          <p:nvPr/>
        </p:nvSpPr>
        <p:spPr>
          <a:xfrm>
            <a:off x="571500" y="1248422"/>
            <a:ext cx="10020300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Deploy to Hugging Face Spaces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on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push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branches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-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main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jobs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deploy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runs-on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ubuntu-latest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steps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-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Checkout repository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actions/checkout@v4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with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fetch-depth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</a:t>
            </a:r>
            <a:r>
              <a:rPr lang="en-US" altLang="ko-KR" sz="1400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lfs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-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Push to Hugging Face Space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env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HF_TOKEN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${{ </a:t>
            </a:r>
            <a:r>
              <a:rPr lang="en-US" altLang="ko-KR" sz="14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secrets.HF_TOKEN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}}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run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|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git config --global </a:t>
            </a:r>
            <a:r>
              <a:rPr lang="en-US" altLang="ko-KR" sz="14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user.email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"actions@github.com"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git config --global user.name "GitHub Actions"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git remote add space https://user:$HF_TOKEN@huggingface.co/spaces/ancestor9/my-first-gradio-app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git push --force space main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1FCC6A42-2846-6649-9444-F49337181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4224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40BBE-3BED-8702-F3E1-32B1EF4B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58B3D03-9960-6D7D-8CE3-BAC50D3E217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Readme.md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5D2030-8F27-04B4-FDF0-BCBAF56618A0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D283702-3058-8EAB-4AA6-37099308AF6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AB97C6-46E6-C890-7A8F-812E312570AA}"/>
              </a:ext>
            </a:extLst>
          </p:cNvPr>
          <p:cNvSpPr txBox="1"/>
          <p:nvPr/>
        </p:nvSpPr>
        <p:spPr>
          <a:xfrm>
            <a:off x="1386423" y="1514207"/>
            <a:ext cx="6462178" cy="462030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---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title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My First 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App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emoji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🚀</a:t>
            </a:r>
            <a:endParaRPr lang="ko-KR" altLang="en-US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colorFrom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blue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colorTo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green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sdk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sdk_version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6.21.0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app_file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app.py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pinned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false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---</a:t>
            </a:r>
          </a:p>
          <a:p>
            <a:pPr>
              <a:lnSpc>
                <a:spcPct val="150000"/>
              </a:lnSpc>
              <a:buNone/>
            </a:pPr>
            <a:r>
              <a:rPr lang="ko-KR" altLang="en-US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간단한 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인터페이스 예제입니다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3F0788F6-5895-75ED-17B6-3C8A2C2F03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7470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3DC86-0CC8-A417-F58C-22184A0B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9EA4143-A38E-0CD8-6467-5120CDAC984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requirements.txt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BD02E-46E6-2C5A-1B01-B09188AFCCA0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522C5B0-A438-DC35-9FFE-74C8EABCDBB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7C320F-5ABD-04AC-F949-ED05A186ABF8}"/>
              </a:ext>
            </a:extLst>
          </p:cNvPr>
          <p:cNvSpPr txBox="1"/>
          <p:nvPr/>
        </p:nvSpPr>
        <p:spPr>
          <a:xfrm>
            <a:off x="619990" y="1434334"/>
            <a:ext cx="3000665" cy="2863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6.21.0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래픽 6" descr="수영">
            <a:extLst>
              <a:ext uri="{FF2B5EF4-FFF2-40B4-BE49-F238E27FC236}">
                <a16:creationId xmlns:a16="http://schemas.microsoft.com/office/drawing/2014/main" id="{32BE3742-7138-BA32-BC09-60BCA80E6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B8D1BFE-2EB6-9044-65B2-6B7383870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001" y="1434334"/>
            <a:ext cx="6217652" cy="507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3213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844CB-6DCE-F00B-D70A-845D2EEFC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CEE76A4-13E6-CE66-4BA6-0D232D13D31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app.py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67E555-8DEE-B4CC-ABE8-9B64A1FBF393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5B52623-F24E-2E31-29C1-DE65F09A7A9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8ECEDC-1BC8-6143-B155-63D4DB892953}"/>
              </a:ext>
            </a:extLst>
          </p:cNvPr>
          <p:cNvSpPr txBox="1"/>
          <p:nvPr/>
        </p:nvSpPr>
        <p:spPr>
          <a:xfrm>
            <a:off x="744020" y="1334482"/>
            <a:ext cx="8668355" cy="526297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gr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spaces</a:t>
            </a: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@spaces.GPU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predict(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input_text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GPU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 추론 코드</a:t>
            </a:r>
            <a:endParaRPr lang="ko-KR" altLang="en-US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output</a:t>
            </a: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greet(name):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"Hello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{name}!"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demo =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gr.Interface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=greet,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inputs=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gr.Textbox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(label=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"Type your name ...."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outputs=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gr.Textbox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(label=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"greeting !!!"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title=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Demo app"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description=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"A simple 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interface example."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__name__ ==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"__main__"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demo.launch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server_name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"0.0.0.0"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server_port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7860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1C32DA7A-F553-08FD-2A13-4CB17DA42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538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B3221-BCC2-E73E-5ECE-FC0D08A21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7E98970-B8B2-8158-00D9-5C45631744D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Deployment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UI(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gradio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3A0A8B-DCEE-4734-094C-DBA1FD8F4C84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3848BC8-1ABE-0BD9-D867-BEF02A368B6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77C49C9-1C30-EB3E-F23D-FDA9073C7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929" y="1529510"/>
            <a:ext cx="7521592" cy="4732430"/>
          </a:xfrm>
          <a:prstGeom prst="rect">
            <a:avLst/>
          </a:prstGeom>
        </p:spPr>
      </p:pic>
      <p:pic>
        <p:nvPicPr>
          <p:cNvPr id="4" name="그래픽 3" descr="수영">
            <a:extLst>
              <a:ext uri="{FF2B5EF4-FFF2-40B4-BE49-F238E27FC236}">
                <a16:creationId xmlns:a16="http://schemas.microsoft.com/office/drawing/2014/main" id="{453B4CE4-3E16-22A3-4EC3-2511DC714D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6831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F85D5-E24E-B833-4C4D-B3B056D31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CD545A-7E04-ABAD-5A16-156673493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endParaRPr lang="ko-KR" altLang="en-US" sz="5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4B690CFB-61F9-C8A8-B334-48F3880A6791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724A80-94EF-A01B-BD87-0B53360B4349}"/>
              </a:ext>
            </a:extLst>
          </p:cNvPr>
          <p:cNvSpPr txBox="1"/>
          <p:nvPr/>
        </p:nvSpPr>
        <p:spPr>
          <a:xfrm>
            <a:off x="855620" y="2752872"/>
            <a:ext cx="9374230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Docker Hub / Docker Desktop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Image, Container</a:t>
            </a:r>
          </a:p>
        </p:txBody>
      </p:sp>
    </p:spTree>
    <p:extLst>
      <p:ext uri="{BB962C8B-B14F-4D97-AF65-F5344CB8AC3E}">
        <p14:creationId xmlns:p14="http://schemas.microsoft.com/office/powerpoint/2010/main" val="21175422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"/>
          <p:cNvSpPr txBox="1">
            <a:spLocks noGrp="1"/>
          </p:cNvSpPr>
          <p:nvPr>
            <p:ph type="body" idx="1"/>
          </p:nvPr>
        </p:nvSpPr>
        <p:spPr>
          <a:xfrm>
            <a:off x="1006159" y="1727911"/>
            <a:ext cx="10353761" cy="449091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 latinLnBrk="0">
              <a:spcBef>
                <a:spcPts val="956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v"/>
            </a:pPr>
            <a:r>
              <a:rPr 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Introduction of Docker</a:t>
            </a:r>
          </a:p>
          <a:p>
            <a:pPr marL="342900" lvl="0" indent="-342900" latinLnBrk="0">
              <a:spcBef>
                <a:spcPts val="956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v"/>
            </a:pPr>
            <a:r>
              <a:rPr 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Understanding Docker</a:t>
            </a:r>
            <a:endParaRPr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lvl="0" indent="-342900" latinLnBrk="0">
              <a:spcBef>
                <a:spcPts val="956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v"/>
            </a:pPr>
            <a:r>
              <a:rPr 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Docker </a:t>
            </a:r>
            <a:r>
              <a:rPr lang="en-US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lvl="0" indent="-342900" latinLnBrk="0">
              <a:spcBef>
                <a:spcPts val="956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v"/>
            </a:pPr>
            <a:r>
              <a:rPr 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Docker </a:t>
            </a:r>
            <a:r>
              <a:rPr lang="en-US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용어</a:t>
            </a:r>
            <a:r>
              <a:rPr 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및 </a:t>
            </a:r>
            <a:r>
              <a:rPr lang="en-US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개념</a:t>
            </a:r>
            <a:r>
              <a:rPr 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분류</a:t>
            </a:r>
            <a:endParaRPr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lvl="0" indent="-342900" latinLnBrk="0">
              <a:spcBef>
                <a:spcPts val="956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v"/>
            </a:pPr>
            <a:r>
              <a:rPr 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Docker Mechanism</a:t>
            </a:r>
            <a:endParaRPr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lvl="0" indent="-342900" latinLnBrk="0">
              <a:spcBef>
                <a:spcPts val="956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v"/>
            </a:pPr>
            <a:r>
              <a:rPr lang="en-US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Docker와</a:t>
            </a:r>
            <a:r>
              <a:rPr 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가상머신</a:t>
            </a:r>
            <a:r>
              <a:rPr 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(VM)</a:t>
            </a:r>
            <a:endParaRPr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ADF75F1B-9C09-4659-7714-4F43B524E9D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학습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내용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D32C9-8831-7BD4-9DD2-7AACBD37C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8B4136D-BB87-5441-BE89-2E19A00EAA1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학습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내용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041BF8-57BD-FF6A-26BC-9BF604EA4BCD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2919CB0-5F55-77BF-0798-AB95E32044F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E56311E5-7256-D3E9-E789-358C2B19F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9D2E4FE6-88CB-4B28-45F1-11126F9C1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995" y="1587267"/>
            <a:ext cx="11154380" cy="457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 실행 (</a:t>
            </a:r>
            <a:r>
              <a:rPr kumimoji="0" lang="ko-KR" altLang="ko-K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run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run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hello-world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도커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허브에서 이미지 자동 다운로드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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 생성 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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테스트 메시지 출력 후 종료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 상태 조회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ps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현재 실행 중인 컨테이너 목록 조회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ps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–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종료된 컨테이너를 포함한 전체 실행 기록(히스토리) 조회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 중지 및 정돈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stop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&lt;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컨테이너ID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/이름&gt;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실행 중인 컨테이너 안전하게 중지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rm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&lt;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컨테이너ID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/이름&gt;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중지된 컨테이너 삭제 (-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옵션 추가 시 실행 중인 컨테이너 강제 삭제)</a:t>
            </a:r>
          </a:p>
        </p:txBody>
      </p:sp>
    </p:spTree>
    <p:extLst>
      <p:ext uri="{BB962C8B-B14F-4D97-AF65-F5344CB8AC3E}">
        <p14:creationId xmlns:p14="http://schemas.microsoft.com/office/powerpoint/2010/main" val="41844785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"/>
          <p:cNvSpPr txBox="1">
            <a:spLocks noGrp="1"/>
          </p:cNvSpPr>
          <p:nvPr>
            <p:ph type="title"/>
          </p:nvPr>
        </p:nvSpPr>
        <p:spPr>
          <a:xfrm>
            <a:off x="627467" y="440880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/>
              <a:t>Why SW Virtualization ?</a:t>
            </a:r>
            <a:endParaRPr dirty="0"/>
          </a:p>
        </p:txBody>
      </p:sp>
      <p:sp>
        <p:nvSpPr>
          <p:cNvPr id="180" name="Google Shape;180;p4"/>
          <p:cNvSpPr txBox="1"/>
          <p:nvPr/>
        </p:nvSpPr>
        <p:spPr>
          <a:xfrm>
            <a:off x="773721" y="1559599"/>
            <a:ext cx="10559297" cy="13388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Char char="❖"/>
            </a:pP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Different Programming Language versions : java, python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Char char="❖"/>
            </a:pP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Different Data Base versions : MySQL, Postgres, Maria DB, Mongo DB</a:t>
            </a:r>
            <a:endParaRPr sz="1800" dirty="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Char char="❖"/>
            </a:pP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Different Operating Systems (OS application Interface, OS Kernel) : Win, Mac, Linux</a:t>
            </a:r>
            <a:endParaRPr sz="1800" dirty="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773721" y="4017146"/>
            <a:ext cx="10559297" cy="175432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Char char="❖"/>
            </a:pP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의존성(Dependency)를 줄이고 독립(격리)시키는 것이 어떨까?</a:t>
            </a:r>
            <a:endParaRPr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Char char="❖"/>
            </a:pP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물리적 독립이 아니라 논리적 가상적(Virtualization) 독립?</a:t>
            </a:r>
            <a:endParaRPr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Char char="❖"/>
            </a:pP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가상화가 가능하다면 누구에게나 배포가 가능</a:t>
            </a:r>
            <a:endParaRPr sz="180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Char char="❖"/>
            </a:pP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Binary File(bin), Library(lib)만 Image로 만들어 Containing하면 어떨까?</a:t>
            </a:r>
            <a:endParaRPr sz="180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</p:txBody>
      </p:sp>
      <p:cxnSp>
        <p:nvCxnSpPr>
          <p:cNvPr id="182" name="Google Shape;182;p4"/>
          <p:cNvCxnSpPr/>
          <p:nvPr/>
        </p:nvCxnSpPr>
        <p:spPr>
          <a:xfrm>
            <a:off x="4985238" y="3182815"/>
            <a:ext cx="0" cy="624254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D36F06EB-5B43-235E-9529-3E169DC953E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 txBox="1">
            <a:spLocks noGrp="1"/>
          </p:cNvSpPr>
          <p:nvPr>
            <p:ph type="title"/>
          </p:nvPr>
        </p:nvSpPr>
        <p:spPr>
          <a:xfrm>
            <a:off x="853098" y="436686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 err="1"/>
              <a:t>사진기로</a:t>
            </a:r>
            <a:r>
              <a:rPr lang="en-US" dirty="0"/>
              <a:t> </a:t>
            </a:r>
            <a:r>
              <a:rPr lang="en-US" dirty="0" err="1"/>
              <a:t>사진찍고</a:t>
            </a:r>
            <a:r>
              <a:rPr lang="en-US" dirty="0"/>
              <a:t> </a:t>
            </a:r>
            <a:r>
              <a:rPr lang="en-US" dirty="0" err="1"/>
              <a:t>인화하기</a:t>
            </a:r>
            <a:r>
              <a:rPr lang="en-US" dirty="0"/>
              <a:t> </a:t>
            </a:r>
            <a:endParaRPr dirty="0"/>
          </a:p>
        </p:txBody>
      </p:sp>
      <p:pic>
        <p:nvPicPr>
          <p:cNvPr id="189" name="Google Shape;189;p5" descr="사람의 손에 검은 니콘 DSLR 카메라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098" y="1872760"/>
            <a:ext cx="2508739" cy="3763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5" descr="해질녘 나하가르 요새에서 바라본 자이푸르의 조감도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73551" y="2368559"/>
            <a:ext cx="2161829" cy="1441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5" descr="해질녘 나하가르 요새에서 바라본 자이푸르의 조감도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25951" y="2520959"/>
            <a:ext cx="2161829" cy="1441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5" descr="해질녘 나하가르 요새에서 바라본 자이푸르의 조감도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78351" y="2673359"/>
            <a:ext cx="2161829" cy="1441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5" descr="해질녘 나하가르 요새에서 바라본 자이푸르의 조감도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30751" y="2825759"/>
            <a:ext cx="2161829" cy="1441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5" descr="낮에는 해변에 있는 갈색 나무 계단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99474" y="3628109"/>
            <a:ext cx="1557337" cy="2336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5" descr="낮에는 해변에 있는 갈색 나무 계단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51874" y="3780509"/>
            <a:ext cx="1557337" cy="2336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5" descr="낮에는 해변에 있는 갈색 나무 계단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04274" y="3932909"/>
            <a:ext cx="1557337" cy="2336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5" descr="낮에는 해변에 있는 갈색 나무 계단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56674" y="4085309"/>
            <a:ext cx="1557337" cy="23360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0" name="Google Shape;200;p5"/>
          <p:cNvCxnSpPr/>
          <p:nvPr/>
        </p:nvCxnSpPr>
        <p:spPr>
          <a:xfrm rot="10800000" flipH="1">
            <a:off x="7546973" y="3408485"/>
            <a:ext cx="386862" cy="8611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C6038D53-5F7A-1203-03D4-1E4E781004C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7EB070-3097-7345-3A7F-ED03FC84DF40}"/>
              </a:ext>
            </a:extLst>
          </p:cNvPr>
          <p:cNvSpPr txBox="1"/>
          <p:nvPr/>
        </p:nvSpPr>
        <p:spPr>
          <a:xfrm>
            <a:off x="1657568" y="1473792"/>
            <a:ext cx="899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2F8501-8873-9D33-3105-CF15644AA24F}"/>
              </a:ext>
            </a:extLst>
          </p:cNvPr>
          <p:cNvSpPr txBox="1"/>
          <p:nvPr/>
        </p:nvSpPr>
        <p:spPr>
          <a:xfrm>
            <a:off x="5367896" y="147379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9069E9-01A8-D957-1100-34908410F015}"/>
              </a:ext>
            </a:extLst>
          </p:cNvPr>
          <p:cNvSpPr txBox="1"/>
          <p:nvPr/>
        </p:nvSpPr>
        <p:spPr>
          <a:xfrm>
            <a:off x="9674318" y="1473792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Container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래픽 9" descr="오른쪽 화살표 단색으로 채워진">
            <a:extLst>
              <a:ext uri="{FF2B5EF4-FFF2-40B4-BE49-F238E27FC236}">
                <a16:creationId xmlns:a16="http://schemas.microsoft.com/office/drawing/2014/main" id="{199C9306-745C-BB7E-4536-EAFB6A9F4F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CB7824A-C33B-9579-481E-DD73B10E7DFA}"/>
              </a:ext>
            </a:extLst>
          </p:cNvPr>
          <p:cNvCxnSpPr>
            <a:cxnSpLocks/>
          </p:cNvCxnSpPr>
          <p:nvPr/>
        </p:nvCxnSpPr>
        <p:spPr>
          <a:xfrm>
            <a:off x="3731491" y="3158836"/>
            <a:ext cx="44611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90" name="Google Shape;190;p5" descr="창문 앞 빨랫줄에 걸려 있는 옷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15331" y="2452146"/>
            <a:ext cx="2493483" cy="1663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822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 txBox="1">
            <a:spLocks noGrp="1"/>
          </p:cNvSpPr>
          <p:nvPr>
            <p:ph type="title"/>
          </p:nvPr>
        </p:nvSpPr>
        <p:spPr>
          <a:xfrm>
            <a:off x="623325" y="361098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ko-KR" altLang="en-US" dirty="0"/>
              <a:t>가상화</a:t>
            </a:r>
            <a:r>
              <a:rPr lang="en-US" altLang="ko-KR" dirty="0"/>
              <a:t>(</a:t>
            </a:r>
            <a:r>
              <a:rPr lang="en-US" altLang="ko-KR" dirty="0" err="1"/>
              <a:t>Virtualizaion</a:t>
            </a:r>
            <a:r>
              <a:rPr lang="en-US" altLang="ko-KR" dirty="0"/>
              <a:t>)</a:t>
            </a:r>
            <a:endParaRPr dirty="0"/>
          </a:p>
        </p:txBody>
      </p:sp>
      <p:sp>
        <p:nvSpPr>
          <p:cNvPr id="4" name="Google Shape;213;p6">
            <a:extLst>
              <a:ext uri="{FF2B5EF4-FFF2-40B4-BE49-F238E27FC236}">
                <a16:creationId xmlns:a16="http://schemas.microsoft.com/office/drawing/2014/main" id="{4E1A47E9-35C4-0260-A6A3-BF25DA21BECC}"/>
              </a:ext>
            </a:extLst>
          </p:cNvPr>
          <p:cNvSpPr txBox="1"/>
          <p:nvPr/>
        </p:nvSpPr>
        <p:spPr>
          <a:xfrm>
            <a:off x="623325" y="1329631"/>
            <a:ext cx="10934701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tx1"/>
              </a:buClr>
              <a:buSzPts val="1600"/>
              <a:buFont typeface="Noto Sans Symbols"/>
              <a:buChar char="❖"/>
            </a:pPr>
            <a:r>
              <a:rPr lang="ko-KR" altLang="en-US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가상화란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컴퓨터 자원을 가상 환경으로 분리하여 프로그램들이 상호 충돌없이 실행 가능하도록 하는 아키텍처 기술</a:t>
            </a:r>
          </a:p>
        </p:txBody>
      </p:sp>
      <p:pic>
        <p:nvPicPr>
          <p:cNvPr id="1028" name="Picture 4" descr="가상화 개념(Virtualization)">
            <a:extLst>
              <a:ext uri="{FF2B5EF4-FFF2-40B4-BE49-F238E27FC236}">
                <a16:creationId xmlns:a16="http://schemas.microsoft.com/office/drawing/2014/main" id="{ECB0EA80-DE4C-4F7E-866E-8F39DDAC6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469" y="2455014"/>
            <a:ext cx="7336341" cy="3581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68F8258D-1789-8DC2-DCB6-50152FCFE37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9704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 txBox="1">
            <a:spLocks noGrp="1"/>
          </p:cNvSpPr>
          <p:nvPr>
            <p:ph type="title"/>
          </p:nvPr>
        </p:nvSpPr>
        <p:spPr>
          <a:xfrm>
            <a:off x="537021" y="456614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ko-KR" altLang="en-US" dirty="0"/>
              <a:t>가상화</a:t>
            </a:r>
            <a:r>
              <a:rPr lang="en-US" altLang="ko-KR" dirty="0"/>
              <a:t>(</a:t>
            </a:r>
            <a:r>
              <a:rPr lang="en-US" altLang="ko-KR" dirty="0" err="1"/>
              <a:t>Virtualizaion</a:t>
            </a:r>
            <a:r>
              <a:rPr lang="en-US" altLang="ko-KR" dirty="0"/>
              <a:t>) </a:t>
            </a:r>
            <a:r>
              <a:rPr lang="ko-KR" altLang="en-US" dirty="0"/>
              <a:t>종류</a:t>
            </a:r>
            <a:endParaRPr dirty="0"/>
          </a:p>
        </p:txBody>
      </p:sp>
      <p:sp>
        <p:nvSpPr>
          <p:cNvPr id="2" name="Google Shape;960;p66">
            <a:extLst>
              <a:ext uri="{FF2B5EF4-FFF2-40B4-BE49-F238E27FC236}">
                <a16:creationId xmlns:a16="http://schemas.microsoft.com/office/drawing/2014/main" id="{9A5E0F03-033D-5F9B-F9D6-8922F594B74B}"/>
              </a:ext>
            </a:extLst>
          </p:cNvPr>
          <p:cNvSpPr txBox="1"/>
          <p:nvPr/>
        </p:nvSpPr>
        <p:spPr>
          <a:xfrm>
            <a:off x="785998" y="1396493"/>
            <a:ext cx="1095159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1. </a:t>
            </a:r>
            <a:r>
              <a:rPr lang="ko-KR" altLang="en-US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머신 가상화 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– (virtual</a:t>
            </a:r>
            <a:r>
              <a:rPr lang="ko-KR" altLang="en-US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machine, </a:t>
            </a: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virtualbox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, WSL)</a:t>
            </a:r>
            <a:endParaRPr lang="ko-KR" altLang="en-US" sz="2000" b="1" dirty="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다수의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OS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를 동시에 실행하는 플랫폼으로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하이퍼바이저에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OS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를 설치하여 운영하는 구조이며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여러 가지 종류의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하이퍼바이저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(Hypervisor)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가 존재하게 되며 대표적으로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virtualbox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wsl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등이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있음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lvl="0">
              <a:lnSpc>
                <a:spcPct val="150000"/>
              </a:lnSpc>
              <a:buClr>
                <a:schemeClr val="tx1"/>
              </a:buClr>
              <a:buSzPts val="1800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2. OS </a:t>
            </a:r>
            <a:r>
              <a:rPr lang="ko-KR" altLang="en-US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수준 가상화 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- (docker)</a:t>
            </a:r>
          </a:p>
          <a:p>
            <a:pPr marL="285750" lvl="8" indent="-285750">
              <a:lnSpc>
                <a:spcPct val="150000"/>
              </a:lnSpc>
              <a:buClr>
                <a:schemeClr val="tx1"/>
              </a:buClr>
              <a:buSzPts val="1800"/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하나의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OS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커널을 여러 개의 공간으로 격리하여 각각의 컨테이너가 마치 독립된 것처럼 사용하여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OS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를 새로 설치하지 않고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host OS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의 커널을 공유하게 되어 실행 속도가 빠르고 성능 상의 손실이 적다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사용자에게는 가상머신처럼 보임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Wingdings" panose="05000000000000000000" pitchFamily="2" charset="2"/>
              <a:buChar char="v"/>
            </a:pPr>
            <a:endParaRPr lang="en-US" altLang="ko-KR" sz="1800" dirty="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3. </a:t>
            </a:r>
            <a:r>
              <a:rPr lang="ko-KR" altLang="en-US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개발 환경 가상화 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venv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등 특정 폴더를 가상환경으로 만들어서 라이브러리나 소스코드를 관리하는 가상화 방식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494A71-942F-03D5-B107-D1137729C03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9140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 txBox="1">
            <a:spLocks noGrp="1"/>
          </p:cNvSpPr>
          <p:nvPr>
            <p:ph type="title"/>
          </p:nvPr>
        </p:nvSpPr>
        <p:spPr>
          <a:xfrm>
            <a:off x="913795" y="456614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b="1" dirty="0"/>
              <a:t>Traditional Installation before docker</a:t>
            </a:r>
            <a:endParaRPr dirty="0"/>
          </a:p>
        </p:txBody>
      </p:sp>
      <p:sp>
        <p:nvSpPr>
          <p:cNvPr id="220" name="Google Shape;220;p7"/>
          <p:cNvSpPr txBox="1"/>
          <p:nvPr/>
        </p:nvSpPr>
        <p:spPr>
          <a:xfrm>
            <a:off x="2363578" y="5004354"/>
            <a:ext cx="1944262" cy="314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생활코딩_Docker</a:t>
            </a:r>
            <a:endParaRPr sz="1400" b="1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21" name="Google Shape;221;p7" descr="Deployment evolution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222" name="Google Shape;22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13871" y="1993204"/>
            <a:ext cx="7153610" cy="287159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 txBox="1"/>
          <p:nvPr/>
        </p:nvSpPr>
        <p:spPr>
          <a:xfrm>
            <a:off x="3688080" y="202692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Network:port</a:t>
            </a:r>
            <a:endParaRPr sz="1800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876A7A97-CD42-2F39-FDE8-7AB301AF41E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"/>
          <p:cNvSpPr txBox="1">
            <a:spLocks noGrp="1"/>
          </p:cNvSpPr>
          <p:nvPr>
            <p:ph type="title"/>
          </p:nvPr>
        </p:nvSpPr>
        <p:spPr>
          <a:xfrm>
            <a:off x="919119" y="445126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/>
              <a:t>1. Virtual Machine (Linux)</a:t>
            </a:r>
            <a:endParaRPr dirty="0"/>
          </a:p>
        </p:txBody>
      </p:sp>
      <p:sp>
        <p:nvSpPr>
          <p:cNvPr id="230" name="Google Shape;230;p8"/>
          <p:cNvSpPr txBox="1"/>
          <p:nvPr/>
        </p:nvSpPr>
        <p:spPr>
          <a:xfrm>
            <a:off x="1022458" y="5773261"/>
            <a:ext cx="1944262" cy="314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생활코딩_Docker</a:t>
            </a:r>
            <a:endParaRPr sz="1400" b="1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31" name="Google Shape;231;p8" descr="Deployment evolution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232" name="Google Shape;232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35490" y="2287035"/>
            <a:ext cx="8025819" cy="364356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B5E3E6E2-0D72-A3AF-4B20-D7F28EBD27D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"/>
          <p:cNvSpPr txBox="1">
            <a:spLocks noGrp="1"/>
          </p:cNvSpPr>
          <p:nvPr>
            <p:ph type="title"/>
          </p:nvPr>
        </p:nvSpPr>
        <p:spPr>
          <a:xfrm>
            <a:off x="913795" y="417887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/>
              <a:t>2. Docker</a:t>
            </a:r>
            <a:endParaRPr dirty="0"/>
          </a:p>
        </p:txBody>
      </p:sp>
      <p:sp>
        <p:nvSpPr>
          <p:cNvPr id="239" name="Google Shape;239;p9"/>
          <p:cNvSpPr txBox="1"/>
          <p:nvPr/>
        </p:nvSpPr>
        <p:spPr>
          <a:xfrm>
            <a:off x="1022458" y="5773261"/>
            <a:ext cx="1944262" cy="314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생활코딩_Docker</a:t>
            </a:r>
            <a:endParaRPr sz="1400" b="1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40" name="Google Shape;240;p9" descr="Deployment evolution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241" name="Google Shape;24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76245" y="2643537"/>
            <a:ext cx="8028862" cy="308493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069A351E-01EE-167F-794F-B8CF36A3DF4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"/>
          <p:cNvSpPr txBox="1">
            <a:spLocks noGrp="1"/>
          </p:cNvSpPr>
          <p:nvPr>
            <p:ph type="title"/>
          </p:nvPr>
        </p:nvSpPr>
        <p:spPr>
          <a:xfrm>
            <a:off x="919119" y="395474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/>
              <a:t>Docker</a:t>
            </a:r>
            <a:endParaRPr dirty="0"/>
          </a:p>
        </p:txBody>
      </p:sp>
      <p:sp>
        <p:nvSpPr>
          <p:cNvPr id="269" name="Google Shape;269;p12"/>
          <p:cNvSpPr txBox="1"/>
          <p:nvPr/>
        </p:nvSpPr>
        <p:spPr>
          <a:xfrm>
            <a:off x="685067" y="1342037"/>
            <a:ext cx="10508739" cy="118056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260"/>
              <a:buFont typeface="Noto Sans Symbols"/>
              <a:buChar char="❖"/>
            </a:pP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도커(Docker)는 </a:t>
            </a:r>
            <a:r>
              <a:rPr lang="en-US" sz="1800" b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컨테이너(Container)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기반의 오픈소스 </a:t>
            </a:r>
            <a:r>
              <a:rPr lang="en-US" sz="1800" b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가상화 플랫폼</a:t>
            </a:r>
            <a:endParaRPr sz="1800" b="1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marL="342900" marR="0" lvl="0" indent="-3060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tx1"/>
              </a:buClr>
              <a:buSzPts val="1260"/>
              <a:buFont typeface="Noto Sans Symbols"/>
              <a:buChar char="❖"/>
            </a:pP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어떤 프로그램을 외부 환경과 격리시켜 구동할 수 있게 해주는 </a:t>
            </a:r>
            <a:r>
              <a:rPr lang="en-US" sz="1800" b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소프트웨어</a:t>
            </a:r>
            <a:endParaRPr sz="1800" b="1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</p:txBody>
      </p:sp>
      <p:grpSp>
        <p:nvGrpSpPr>
          <p:cNvPr id="270" name="Google Shape;270;p12"/>
          <p:cNvGrpSpPr/>
          <p:nvPr/>
        </p:nvGrpSpPr>
        <p:grpSpPr>
          <a:xfrm>
            <a:off x="1096276" y="2522602"/>
            <a:ext cx="4843160" cy="4119214"/>
            <a:chOff x="3878443" y="2702727"/>
            <a:chExt cx="4200328" cy="3637104"/>
          </a:xfrm>
        </p:grpSpPr>
        <p:pic>
          <p:nvPicPr>
            <p:cNvPr id="271" name="Google Shape;271;p12" descr="docker asustor NA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78443" y="2702727"/>
              <a:ext cx="3738415" cy="32254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" name="Google Shape;272;p12"/>
            <p:cNvSpPr txBox="1"/>
            <p:nvPr/>
          </p:nvSpPr>
          <p:spPr>
            <a:xfrm>
              <a:off x="3878443" y="6032054"/>
              <a:ext cx="42003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u="sng">
                  <a:solidFill>
                    <a:schemeClr val="lt1"/>
                  </a:solidFill>
                  <a:latin typeface="Sorts Mill Goudy"/>
                  <a:ea typeface="Sorts Mill Goudy"/>
                  <a:cs typeface="Sorts Mill Goudy"/>
                  <a:sym typeface="Sorts Mill Goudy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https://www.asustor.com/ko/solution/what_is_docker</a:t>
              </a:r>
              <a:r>
                <a:rPr lang="en-US" sz="1400">
                  <a:solidFill>
                    <a:schemeClr val="lt1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 </a:t>
              </a:r>
              <a:endParaRPr/>
            </a:p>
          </p:txBody>
        </p:sp>
      </p:grpSp>
      <p:pic>
        <p:nvPicPr>
          <p:cNvPr id="273" name="Google Shape;273;p12" descr="물 속의 큰 배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95062" y="2522602"/>
            <a:ext cx="3952865" cy="258970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080FDA94-7A96-BD84-66B8-2EAED8618FE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585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"/>
          <p:cNvSpPr txBox="1">
            <a:spLocks noGrp="1"/>
          </p:cNvSpPr>
          <p:nvPr>
            <p:ph type="title"/>
          </p:nvPr>
        </p:nvSpPr>
        <p:spPr>
          <a:xfrm>
            <a:off x="901030" y="446858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/>
              <a:t>Container</a:t>
            </a:r>
            <a:endParaRPr dirty="0"/>
          </a:p>
        </p:txBody>
      </p:sp>
      <p:sp>
        <p:nvSpPr>
          <p:cNvPr id="282" name="Google Shape;282;p13"/>
          <p:cNvSpPr txBox="1"/>
          <p:nvPr/>
        </p:nvSpPr>
        <p:spPr>
          <a:xfrm>
            <a:off x="888267" y="1213842"/>
            <a:ext cx="10888097" cy="118056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0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260"/>
              <a:buFont typeface="Noto Sans Symbols"/>
              <a:buChar char="❖"/>
            </a:pPr>
            <a:r>
              <a:rPr lang="en-US" sz="1800" b="1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컨테이너</a:t>
            </a:r>
            <a:r>
              <a:rPr lang="en-US" sz="18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(Container)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란 OS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사에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논리적인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영역을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구축하여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애플리케이션이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작동하는데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필요한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요소만을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모아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(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오버헤드가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없음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)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별도의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서버처럼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격리되어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동작하는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것</a:t>
            </a:r>
            <a:endParaRPr sz="1800" b="1" dirty="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</p:txBody>
      </p:sp>
      <p:grpSp>
        <p:nvGrpSpPr>
          <p:cNvPr id="283" name="Google Shape;283;p13"/>
          <p:cNvGrpSpPr/>
          <p:nvPr/>
        </p:nvGrpSpPr>
        <p:grpSpPr>
          <a:xfrm>
            <a:off x="1955374" y="2702726"/>
            <a:ext cx="5055025" cy="4002873"/>
            <a:chOff x="1955375" y="2702727"/>
            <a:chExt cx="4371680" cy="3533792"/>
          </a:xfrm>
        </p:grpSpPr>
        <p:sp>
          <p:nvSpPr>
            <p:cNvPr id="284" name="Google Shape;284;p13"/>
            <p:cNvSpPr txBox="1"/>
            <p:nvPr/>
          </p:nvSpPr>
          <p:spPr>
            <a:xfrm>
              <a:off x="1955375" y="5928742"/>
              <a:ext cx="4371680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u="sng">
                  <a:solidFill>
                    <a:schemeClr val="lt1"/>
                  </a:solidFill>
                  <a:latin typeface="Sorts Mill Goudy"/>
                  <a:ea typeface="Sorts Mill Goudy"/>
                  <a:cs typeface="Sorts Mill Goudy"/>
                  <a:sym typeface="Sorts Mill Goudy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https://www.docker.com/resources/what-container/</a:t>
              </a:r>
              <a:r>
                <a:rPr lang="en-US" sz="1400">
                  <a:solidFill>
                    <a:schemeClr val="lt1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 </a:t>
              </a:r>
              <a:endParaRPr/>
            </a:p>
          </p:txBody>
        </p:sp>
        <p:pic>
          <p:nvPicPr>
            <p:cNvPr id="285" name="Google Shape;285;p1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058569" y="2702727"/>
              <a:ext cx="3839845" cy="322547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86" name="Google Shape;286;p13" descr="assorted-color filed 복합 운송 컨테이너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10399" y="2702726"/>
            <a:ext cx="3455378" cy="225290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DAD3C7BA-B471-FC07-C1D8-304176DB9A8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41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"/>
          <p:cNvSpPr txBox="1">
            <a:spLocks noGrp="1"/>
          </p:cNvSpPr>
          <p:nvPr>
            <p:ph type="title"/>
          </p:nvPr>
        </p:nvSpPr>
        <p:spPr>
          <a:xfrm>
            <a:off x="913794" y="456614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/>
              <a:t>Docker </a:t>
            </a:r>
            <a:r>
              <a:rPr lang="en-US" dirty="0" err="1"/>
              <a:t>설치</a:t>
            </a:r>
            <a:r>
              <a:rPr lang="en-US" dirty="0"/>
              <a:t>(WSL)</a:t>
            </a:r>
            <a:endParaRPr dirty="0"/>
          </a:p>
        </p:txBody>
      </p:sp>
      <p:sp>
        <p:nvSpPr>
          <p:cNvPr id="249" name="Google Shape;249;p10" descr="Deployment evolution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250" name="Google Shape;25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7286" y="2320872"/>
            <a:ext cx="9062227" cy="28258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54388E8C-D519-6B2C-100C-D6358F335E5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A1AEC-5624-24F6-8379-98C1F8AD0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DBA8A3E-5CE9-E8C8-625D-3E19FD81B1D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WSL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54D114-5F84-74D5-66B9-0D2969803647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1364800-C37B-DC24-7E14-A3C8A5A5DFC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E6599ACA-B608-7B9B-1C99-777614039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35A25B-E1DD-CBD7-9DCB-F3B98CAB6187}"/>
              </a:ext>
            </a:extLst>
          </p:cNvPr>
          <p:cNvSpPr txBox="1"/>
          <p:nvPr/>
        </p:nvSpPr>
        <p:spPr>
          <a:xfrm>
            <a:off x="2551629" y="1801242"/>
            <a:ext cx="6877051" cy="255454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C:\Users\조상구&gt;wsl --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version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WSL 버전: 2.7.11.0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커널 버전: 6.18.33.2-2</a:t>
            </a:r>
          </a:p>
          <a:p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WSLg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버전: 1.0.73.2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MSRDC 버전: 1.2.7214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Direct3D 버전: 1.611.1-81528511</a:t>
            </a:r>
          </a:p>
          <a:p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DXCore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버전: 10.0.26100.1-240331-1435.ge-release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Windows 버전: 10.0.26200.9168</a:t>
            </a:r>
          </a:p>
          <a:p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C:\Users\조상구&gt;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EF6CBDF-3A34-69BE-7A02-A4BDA8C45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45" y="1217365"/>
            <a:ext cx="11353281" cy="465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WSL(Windows Subsystem for Linux)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설치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33188051-64FB-BF0F-AFBB-814E0FCB0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" y="4610284"/>
            <a:ext cx="11353281" cy="880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Docker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설치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WSL 2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먼저 설치하고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그 위에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Docker Desktop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얹어서 연동</a:t>
            </a:r>
            <a:endParaRPr lang="ko-KR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5374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"/>
          <p:cNvSpPr txBox="1">
            <a:spLocks noGrp="1"/>
          </p:cNvSpPr>
          <p:nvPr>
            <p:ph type="title"/>
          </p:nvPr>
        </p:nvSpPr>
        <p:spPr>
          <a:xfrm>
            <a:off x="913794" y="438519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Windows PowerShell</a:t>
            </a:r>
            <a:endParaRPr/>
          </a:p>
        </p:txBody>
      </p:sp>
      <p:sp>
        <p:nvSpPr>
          <p:cNvPr id="259" name="Google Shape;259;p11"/>
          <p:cNvSpPr txBox="1"/>
          <p:nvPr/>
        </p:nvSpPr>
        <p:spPr>
          <a:xfrm>
            <a:off x="620413" y="1605947"/>
            <a:ext cx="10480459" cy="443031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36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28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PS C:\WINDOWS\system32&gt; </a:t>
            </a:r>
            <a:r>
              <a:rPr lang="en-US" sz="2800" b="1" dirty="0" err="1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wsl</a:t>
            </a:r>
            <a:r>
              <a:rPr lang="en-US" sz="2800" b="1" dirty="0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--version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908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endParaRPr sz="2800" dirty="0">
              <a:solidFill>
                <a:schemeClr val="lt2"/>
              </a:solidFill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908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28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PS C:\WINDOWS\system32&gt; </a:t>
            </a:r>
            <a:r>
              <a:rPr lang="en-US" sz="2700" b="1" dirty="0" err="1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wsl</a:t>
            </a:r>
            <a:r>
              <a:rPr lang="en-US" sz="2700" b="1" dirty="0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--list –online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NAME                                   FRIENDLY NAME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Ubuntu                                 </a:t>
            </a:r>
            <a:r>
              <a:rPr lang="en-US" sz="1400" dirty="0" err="1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Ubuntu</a:t>
            </a:r>
            <a:endParaRPr sz="1400" dirty="0">
              <a:solidFill>
                <a:schemeClr val="lt2"/>
              </a:solidFill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Debian                                 </a:t>
            </a:r>
            <a:r>
              <a:rPr lang="en-US" sz="1400" dirty="0" err="1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Debian</a:t>
            </a: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GNU/Linux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kali-</a:t>
            </a:r>
            <a:r>
              <a:rPr lang="en-US" sz="1400" dirty="0" err="1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linux</a:t>
            </a: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                            Kali Linux Rolling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Ubuntu-18.04                           Ubuntu 18.04 LTS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Ubuntu-20.04                           Ubuntu 20.04 LTS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Ubuntu-22.04                           Ubuntu 22.04 LTS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OracleLinux_7_9                        Oracle Linux 7.9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OracleLinux_8_7                        Oracle Linux 8.7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OracleLinux_9_1                        Oracle Linux 9.1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openSUSE-Leap-15.5                     openSUSE Leap 15.5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SUSE-Linux-Enterprise-Server-15-SP4    SUSE Linux Enterprise Server 15 SP4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SUSE-Linux-Enterprise-15-SP5           SUSE Linux Enterprise 15 SP5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openSUSE-Tumbleweed                    openSUSE Tumbleweed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831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endParaRPr sz="2100" dirty="0">
              <a:solidFill>
                <a:schemeClr val="lt2"/>
              </a:solidFill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908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28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PS C:\WINDOWS\system32&gt; </a:t>
            </a:r>
            <a:r>
              <a:rPr lang="en-US" sz="2700" b="1" dirty="0" err="1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wsl</a:t>
            </a:r>
            <a:r>
              <a:rPr lang="en-US" sz="2700" b="1" dirty="0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--status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60" name="Google Shape;26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0675" y="1396406"/>
            <a:ext cx="5480912" cy="502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3C797678-5E79-C069-4201-77C29A5A67D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4"/>
          <p:cNvSpPr txBox="1">
            <a:spLocks noGrp="1"/>
          </p:cNvSpPr>
          <p:nvPr>
            <p:ph type="title"/>
          </p:nvPr>
        </p:nvSpPr>
        <p:spPr>
          <a:xfrm>
            <a:off x="919119" y="419546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/>
              <a:t>WSL2 Installation</a:t>
            </a:r>
            <a:endParaRPr dirty="0"/>
          </a:p>
        </p:txBody>
      </p:sp>
      <p:sp>
        <p:nvSpPr>
          <p:cNvPr id="293" name="Google Shape;293;p14"/>
          <p:cNvSpPr txBox="1"/>
          <p:nvPr/>
        </p:nvSpPr>
        <p:spPr>
          <a:xfrm>
            <a:off x="585585" y="1416783"/>
            <a:ext cx="11458633" cy="4616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PS C:\WINDOWS\system32&gt; </a:t>
            </a:r>
            <a:r>
              <a:rPr lang="en-US" sz="1400" dirty="0" err="1">
                <a:solidFill>
                  <a:schemeClr val="lt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wsl</a:t>
            </a:r>
            <a:r>
              <a:rPr lang="en-US" sz="1400" dirty="0">
                <a:solidFill>
                  <a:schemeClr val="lt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--install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Ubuntu이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(가)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이미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설치되어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있습니다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.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Ubuntu을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(를)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시작하는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중...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To run a command as administrator (user "root"), use "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sudo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&lt;command&gt;".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See "man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sudo_root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" for details.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lt1"/>
              </a:solidFill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ancestor9@DESKTOP-LMLFU0S:~$ ls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ancestor9@DESKTOP-LMLFU0S:~$ ls -al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total 28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drwxr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-x--- 3 ancestor9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ancestor9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4096 Dec 20 00:06 .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drwxr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xr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-x 3 root     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root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     4096 Dec 19 23:02 ..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rw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------- 1 ancestor9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ancestor9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 179 Dec 20 10:53 .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bash_history</a:t>
            </a:r>
            <a:endParaRPr sz="1400" dirty="0">
              <a:solidFill>
                <a:srgbClr val="00B050"/>
              </a:solidFill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rw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-r--r-- 1 ancestor9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ancestor9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 220 Dec 19 23:02 .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bash_logout</a:t>
            </a:r>
            <a:endParaRPr sz="1400" dirty="0">
              <a:solidFill>
                <a:srgbClr val="00B050"/>
              </a:solidFill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rw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-r--r-- 1 ancestor9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ancestor9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3771 Dec 19 23:02 .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bashrc</a:t>
            </a:r>
            <a:endParaRPr sz="1400" dirty="0">
              <a:solidFill>
                <a:srgbClr val="00B050"/>
              </a:solidFill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drwx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------ 2 ancestor9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ancestor9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4096 Dec 19 23:02 .cache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rw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-r--r-- 1 ancestor9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ancestor9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   0 Dec 20 10:42 .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motd_shown</a:t>
            </a:r>
            <a:endParaRPr sz="1400" dirty="0">
              <a:solidFill>
                <a:srgbClr val="00B050"/>
              </a:solidFill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rw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-r--r-- 1 ancestor9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ancestor9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 807 Dec 19 23:02 .profile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B050"/>
              </a:solidFill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PS C:\WINDOWS\system32&gt; </a:t>
            </a:r>
            <a:r>
              <a:rPr lang="en-US" sz="1400" dirty="0" err="1">
                <a:solidFill>
                  <a:schemeClr val="lt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wsl</a:t>
            </a:r>
            <a:r>
              <a:rPr lang="en-US" sz="1400" dirty="0">
                <a:solidFill>
                  <a:schemeClr val="lt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-l -v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NAME                   STATE           VERSION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Ubuntu                 Running         2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7907414" y="6033391"/>
            <a:ext cx="3836894" cy="766439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 11 Home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7907414" y="5190752"/>
            <a:ext cx="3836894" cy="766439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WSL2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7885843" y="4339105"/>
            <a:ext cx="3836894" cy="766439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Ubuntu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14" descr="리눅스 (Linux) 명령어] 우분투(Ubuntu) 버전 확인하는 방법들! : 네이버 블로그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54435" y="4458107"/>
            <a:ext cx="686696" cy="528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BF6D61E0-D3DF-C556-13C4-F4718251455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7727" y="2248469"/>
            <a:ext cx="6735855" cy="3970354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9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Docker container 구조</a:t>
            </a:r>
            <a:endParaRPr/>
          </a:p>
        </p:txBody>
      </p:sp>
      <p:sp>
        <p:nvSpPr>
          <p:cNvPr id="341" name="Google Shape;341;p19"/>
          <p:cNvSpPr txBox="1"/>
          <p:nvPr/>
        </p:nvSpPr>
        <p:spPr>
          <a:xfrm>
            <a:off x="546846" y="1150229"/>
            <a:ext cx="1141576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</a:pPr>
            <a:r>
              <a:rPr lang="en-US" sz="1800" dirty="0">
                <a:latin typeface="Sorts Mill Goudy"/>
                <a:ea typeface="Sorts Mill Goudy"/>
                <a:cs typeface="Sorts Mill Goudy"/>
                <a:sym typeface="Sorts Mill Goudy"/>
              </a:rPr>
              <a:t>It's important to know how Docker builds and stores </a:t>
            </a:r>
            <a:r>
              <a:rPr lang="en-US" sz="1800" b="1" dirty="0">
                <a:latin typeface="Sorts Mill Goudy"/>
                <a:ea typeface="Sorts Mill Goudy"/>
                <a:cs typeface="Sorts Mill Goudy"/>
                <a:sym typeface="Sorts Mill Goudy"/>
              </a:rPr>
              <a:t>images(R/O)</a:t>
            </a:r>
            <a:r>
              <a:rPr lang="en-US" sz="1800" dirty="0">
                <a:latin typeface="Sorts Mill Goudy"/>
                <a:ea typeface="Sorts Mill Goudy"/>
                <a:cs typeface="Sorts Mill Goudy"/>
                <a:sym typeface="Sorts Mill Goudy"/>
              </a:rPr>
              <a:t>, and how these images are used by </a:t>
            </a:r>
            <a:r>
              <a:rPr lang="en-US" sz="1800" b="1" dirty="0">
                <a:latin typeface="Sorts Mill Goudy"/>
                <a:ea typeface="Sorts Mill Goudy"/>
                <a:cs typeface="Sorts Mill Goudy"/>
                <a:sym typeface="Sorts Mill Goudy"/>
              </a:rPr>
              <a:t>containers(R/W)</a:t>
            </a:r>
            <a:r>
              <a:rPr lang="en-US" sz="1800" dirty="0">
                <a:latin typeface="Sorts Mill Goudy"/>
                <a:ea typeface="Sorts Mill Goudy"/>
                <a:cs typeface="Sorts Mill Goudy"/>
                <a:sym typeface="Sorts Mill Goudy"/>
              </a:rPr>
              <a:t>.</a:t>
            </a:r>
            <a:endParaRPr dirty="0"/>
          </a:p>
        </p:txBody>
      </p:sp>
      <p:sp>
        <p:nvSpPr>
          <p:cNvPr id="342" name="Google Shape;342;p19"/>
          <p:cNvSpPr txBox="1"/>
          <p:nvPr/>
        </p:nvSpPr>
        <p:spPr>
          <a:xfrm>
            <a:off x="1807727" y="6367708"/>
            <a:ext cx="609442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u="sng" dirty="0">
                <a:latin typeface="Sorts Mill Goudy"/>
                <a:ea typeface="Sorts Mill Goudy"/>
                <a:cs typeface="Sorts Mill Goudy"/>
                <a:sym typeface="Sorts Mill Goudy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https://docs.docker.com/storage/storagedriver/</a:t>
            </a:r>
            <a:r>
              <a:rPr lang="en-US" sz="1400" b="1" dirty="0"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endParaRPr sz="1400" dirty="0"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7902156" y="2386860"/>
            <a:ext cx="2205318" cy="37292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60667" y="135406"/>
                </a:lnTo>
              </a:path>
            </a:pathLst>
          </a:custGeom>
          <a:solidFill>
            <a:srgbClr val="A5A5A5"/>
          </a:solidFill>
          <a:ln w="1587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Read/Write</a:t>
            </a:r>
            <a:endParaRPr sz="1800" b="1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344" name="Google Shape;344;p19"/>
          <p:cNvSpPr/>
          <p:nvPr/>
        </p:nvSpPr>
        <p:spPr>
          <a:xfrm>
            <a:off x="7902156" y="4132720"/>
            <a:ext cx="2205318" cy="37292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58103" y="126306"/>
                </a:lnTo>
              </a:path>
            </a:pathLst>
          </a:custGeom>
          <a:solidFill>
            <a:srgbClr val="A5A5A5"/>
          </a:solidFill>
          <a:ln w="1587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Read Only</a:t>
            </a:r>
            <a:endParaRPr sz="1800" b="1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6EBE72D6-5A77-17C5-7742-ECB0E154DA5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2"/>
          <p:cNvSpPr txBox="1">
            <a:spLocks noGrp="1"/>
          </p:cNvSpPr>
          <p:nvPr>
            <p:ph type="title"/>
          </p:nvPr>
        </p:nvSpPr>
        <p:spPr>
          <a:xfrm>
            <a:off x="919119" y="37886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 err="1"/>
              <a:t>실습하기</a:t>
            </a:r>
            <a:endParaRPr dirty="0"/>
          </a:p>
        </p:txBody>
      </p:sp>
      <p:pic>
        <p:nvPicPr>
          <p:cNvPr id="369" name="Google Shape;369;p22" descr="나무 배경에 영화 클래퍼입니다. 3d 그림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5783" y="1574223"/>
            <a:ext cx="9525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2"/>
          <p:cNvSpPr txBox="1"/>
          <p:nvPr/>
        </p:nvSpPr>
        <p:spPr>
          <a:xfrm rot="1558658">
            <a:off x="3140505" y="4832272"/>
            <a:ext cx="33983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docker run / build</a:t>
            </a:r>
            <a:endParaRPr sz="1800" b="1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2"/>
          <p:cNvSpPr txBox="1"/>
          <p:nvPr/>
        </p:nvSpPr>
        <p:spPr>
          <a:xfrm rot="1416959">
            <a:off x="1219750" y="4406350"/>
            <a:ext cx="7458333" cy="45552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Batang"/>
              <a:buNone/>
            </a:pPr>
            <a:r>
              <a:rPr lang="en-US" sz="1600" b="1" u="sng" dirty="0">
                <a:solidFill>
                  <a:srgbClr val="FFFF00"/>
                </a:solidFill>
                <a:latin typeface="Batang"/>
                <a:ea typeface="Batang"/>
                <a:cs typeface="Batang"/>
                <a:sym typeface="Batang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Beginner’s guide to use docker (Build, Run, Push and Pull)</a:t>
            </a:r>
            <a:endParaRPr sz="1600" b="1" dirty="0">
              <a:solidFill>
                <a:srgbClr val="FFFF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E6001-3FEC-77DB-8683-7FD5DBF9A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E00CBC-B28C-2C6A-126F-3004A7725CC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docker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desktop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설치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A1FDCF-EFFF-AD30-2847-C6A182B18169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FFEE19D-4E72-8DEE-AD86-EFC39E64A8C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A8BDD442-F296-7A5A-E1FE-F8268414B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82B21F8-E3B2-3124-A7A1-C89690B27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491" y="1356475"/>
            <a:ext cx="7668814" cy="5071656"/>
          </a:xfrm>
          <a:prstGeom prst="rect">
            <a:avLst/>
          </a:prstGeom>
        </p:spPr>
      </p:pic>
      <p:sp>
        <p:nvSpPr>
          <p:cNvPr id="4" name="설명선: 굽은 선 3">
            <a:extLst>
              <a:ext uri="{FF2B5EF4-FFF2-40B4-BE49-F238E27FC236}">
                <a16:creationId xmlns:a16="http://schemas.microsoft.com/office/drawing/2014/main" id="{A00BA074-3502-A522-021F-D1C1E6C7374A}"/>
              </a:ext>
            </a:extLst>
          </p:cNvPr>
          <p:cNvSpPr/>
          <p:nvPr/>
        </p:nvSpPr>
        <p:spPr>
          <a:xfrm>
            <a:off x="7946380" y="3112532"/>
            <a:ext cx="3901023" cy="76643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42942"/>
              <a:gd name="adj6" fmla="val -33726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이미지 다운받고 </a:t>
            </a:r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container </a:t>
            </a:r>
            <a:r>
              <a:rPr lang="ko-KR" altLang="en-US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실행</a:t>
            </a:r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중단</a:t>
            </a:r>
          </a:p>
        </p:txBody>
      </p:sp>
    </p:spTree>
    <p:extLst>
      <p:ext uri="{BB962C8B-B14F-4D97-AF65-F5344CB8AC3E}">
        <p14:creationId xmlns:p14="http://schemas.microsoft.com/office/powerpoint/2010/main" val="30842300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E7208-FD41-51A5-10D0-162555D90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9FAE5FF-C735-D784-1683-049AAD3021F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docker hub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95112-72D8-FE99-8BD9-68DA6A7D836B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495CDA8-7D3C-3E63-9A35-7918D2A62E6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8C62E094-C837-DF31-CAFF-5547EF2FE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39196BC-0F86-B1BC-1AC1-973A59B2F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38" y="1356475"/>
            <a:ext cx="8250976" cy="506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720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5FDCF-A514-1757-9A1C-523CEC8B9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C103821-8849-6408-57BE-E15F46AA90E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docker run hello-world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F93CA0-8854-EE15-F1F5-D29149C7B62D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A36BF2F-A6AE-22B4-7A69-1EB160D2DB4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E3FF34DC-DBC1-9AB0-4F91-1857C2F5D4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C65908D-1062-EFC7-8AD9-484EF86D3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565" y="1369484"/>
            <a:ext cx="7135685" cy="5006533"/>
          </a:xfrm>
          <a:prstGeom prst="rect">
            <a:avLst/>
          </a:prstGeom>
        </p:spPr>
      </p:pic>
      <p:sp>
        <p:nvSpPr>
          <p:cNvPr id="7" name="설명선: 굽은 선 6">
            <a:extLst>
              <a:ext uri="{FF2B5EF4-FFF2-40B4-BE49-F238E27FC236}">
                <a16:creationId xmlns:a16="http://schemas.microsoft.com/office/drawing/2014/main" id="{BBBC5263-FFEF-C04E-AD21-EE8282FE1DE2}"/>
              </a:ext>
            </a:extLst>
          </p:cNvPr>
          <p:cNvSpPr/>
          <p:nvPr/>
        </p:nvSpPr>
        <p:spPr>
          <a:xfrm>
            <a:off x="7879705" y="1398032"/>
            <a:ext cx="3901023" cy="2215634"/>
          </a:xfrm>
          <a:prstGeom prst="borderCallout2">
            <a:avLst/>
          </a:prstGeom>
          <a:ln>
            <a:solidFill>
              <a:srgbClr val="FFFF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Hello from Docker! This message shows that your installation appears to be working correctly. 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 generate this message, Docker took the following steps: </a:t>
            </a:r>
          </a:p>
          <a:p>
            <a:pPr marL="342900" indent="-342900">
              <a:buAutoNum type="arabicPeriod"/>
            </a:pP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 Docker client contacted the Docker daemon. </a:t>
            </a:r>
          </a:p>
          <a:p>
            <a:pPr marL="342900" indent="-342900">
              <a:buAutoNum type="arabicPeriod"/>
            </a:pP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 Docker daemon pulled the "hello-world" image from the Docker Hub. </a:t>
            </a:r>
          </a:p>
          <a:p>
            <a:pPr marL="342900" indent="-342900">
              <a:buAutoNum type="arabicPeriod"/>
            </a:pP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 Docker daemon created a new container from that image... </a:t>
            </a:r>
          </a:p>
          <a:p>
            <a:pPr marL="342900" indent="-342900">
              <a:buAutoNum type="arabicPeriod"/>
            </a:pP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4. The Docker daemon streamed that output to the Docker client...</a:t>
            </a:r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0140836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CAAB9-ACA9-AEBC-886C-4678B6856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5E9E7-1BC6-5A3D-FC8C-6F2131DC11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Github</a:t>
            </a: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5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Codespaces</a:t>
            </a: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5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7E3231D0-C6EE-2D2D-206A-E9E51806B7D4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C1B9FD-E9D4-3878-D360-358CDCC97F39}"/>
              </a:ext>
            </a:extLst>
          </p:cNvPr>
          <p:cNvSpPr txBox="1"/>
          <p:nvPr/>
        </p:nvSpPr>
        <p:spPr>
          <a:xfrm>
            <a:off x="855620" y="2752872"/>
            <a:ext cx="9374230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Linux</a:t>
            </a:r>
          </a:p>
        </p:txBody>
      </p:sp>
    </p:spTree>
    <p:extLst>
      <p:ext uri="{BB962C8B-B14F-4D97-AF65-F5344CB8AC3E}">
        <p14:creationId xmlns:p14="http://schemas.microsoft.com/office/powerpoint/2010/main" val="29014687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C5853-55A3-21A1-6500-18AADD4A1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12E6410-D7D9-0CBC-5C8D-28B178C4F80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Github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codespaces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71A9EF-4531-27E6-C4EF-FB1306627CCF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3D6EB26-833B-3896-5929-885651239E3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DFCC15D7-E24D-A137-FEA2-BA51A2D94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3DA2F47-8A5F-BFDC-FC08-8CDE00E07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0364" y="2960717"/>
            <a:ext cx="7372862" cy="34153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5C3380A7-E7F0-646C-F442-EB15EA65C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620" y="1171129"/>
            <a:ext cx="11353281" cy="1531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웹 브라우저 안에서 VS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에디터와 리눅스 터미널을 함께 쓰는 클라우드 IDE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에디터 화면에서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Dockerfile이나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docker-compose.yml을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직접 작성하고 터미널에서 빌드/실행(월 60시간 무료)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Dockerfile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작성, 소스코드 패키징, 다중 컨테이너(DB 연동) 실습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사이트: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5"/>
              </a:rPr>
              <a:t>github.com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5"/>
              </a:rPr>
              <a:t>/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5"/>
              </a:rPr>
              <a:t>features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5"/>
              </a:rPr>
              <a:t>/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5"/>
              </a:rPr>
              <a:t>codespaces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AutoShape 2" descr="codespaces-diagr...">
            <a:extLst>
              <a:ext uri="{FF2B5EF4-FFF2-40B4-BE49-F238E27FC236}">
                <a16:creationId xmlns:a16="http://schemas.microsoft.com/office/drawing/2014/main" id="{22D80AF1-1BA7-25AE-13B6-263E11B5E0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9132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937A0-DE77-F3AC-2CB0-4D90EAE22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A548B2E-94A5-B89C-754B-778BDB592E6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Github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codespaces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DD36D7-FC47-DDC0-856E-F11AB6AB1F37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3460571-FE90-E8BB-9C24-39216547748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7C64428-29F6-5EA8-CC81-0343F2EBB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" y="1228241"/>
            <a:ext cx="11353281" cy="793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 tooltip="GitHu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제공하는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 tooltip="Visual Studio Co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Visual Studio Code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기반 클라우드 서비스로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 tooltip="GitHub/저장소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4" tooltip="GitHub/저장소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저장소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내의 코드를 편집할 수 있는 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5" tooltip="개발환경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개발환경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 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6" tooltip="클라우드 컴퓨팅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클라우드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구성해 원격으로 접속할 수 있는 가상 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7" tooltip="통합 개발 환경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통합 개발 환경</a:t>
            </a: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AutoShape 2" descr="codespaces-diagr...">
            <a:extLst>
              <a:ext uri="{FF2B5EF4-FFF2-40B4-BE49-F238E27FC236}">
                <a16:creationId xmlns:a16="http://schemas.microsoft.com/office/drawing/2014/main" id="{8BA51481-8FCF-1F90-6F29-2A12E77296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7A7C590-F4C2-6337-351B-A49F55F4D3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7334" y="2184725"/>
            <a:ext cx="6332531" cy="432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0288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01277-9A88-504F-5FAA-393191183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73F94AF-1626-69A4-4C1D-8C37A04FE2D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Linux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F14F2A-AFC4-ED2F-58BA-29DD27630EDC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43B6768-0300-4858-09FE-DAAE8BD7A79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356D100-5BEC-9993-1A67-E434265B0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710" y="1867783"/>
            <a:ext cx="10438823" cy="41573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2AA199-28E0-B14F-DEED-0EE84441D7EC}"/>
              </a:ext>
            </a:extLst>
          </p:cNvPr>
          <p:cNvSpPr txBox="1"/>
          <p:nvPr/>
        </p:nvSpPr>
        <p:spPr>
          <a:xfrm>
            <a:off x="561975" y="1320931"/>
            <a:ext cx="6096000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Linux</a:t>
            </a:r>
            <a:r>
              <a:rPr lang="ko-KR" altLang="en-US" dirty="0">
                <a:solidFill>
                  <a:schemeClr val="bg1"/>
                </a:solidFill>
              </a:rPr>
              <a:t> System.pptx</a:t>
            </a:r>
          </a:p>
        </p:txBody>
      </p:sp>
    </p:spTree>
    <p:extLst>
      <p:ext uri="{BB962C8B-B14F-4D97-AF65-F5344CB8AC3E}">
        <p14:creationId xmlns:p14="http://schemas.microsoft.com/office/powerpoint/2010/main" val="16221774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34CE3-2724-28A6-9699-5C4F247AA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941EB2-FD8B-3629-F2DB-1ADCA17A1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Apache Airflow</a:t>
            </a:r>
            <a:endParaRPr lang="ko-KR" altLang="en-US" sz="5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96C0A9A7-5201-41CE-B556-6C2A634ED8AA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A63A90-C263-64E6-28E4-C072CF6E8D7D}"/>
              </a:ext>
            </a:extLst>
          </p:cNvPr>
          <p:cNvSpPr txBox="1"/>
          <p:nvPr/>
        </p:nvSpPr>
        <p:spPr>
          <a:xfrm>
            <a:off x="855620" y="2752872"/>
            <a:ext cx="9374230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Workflow Automation</a:t>
            </a:r>
          </a:p>
        </p:txBody>
      </p:sp>
    </p:spTree>
    <p:extLst>
      <p:ext uri="{BB962C8B-B14F-4D97-AF65-F5344CB8AC3E}">
        <p14:creationId xmlns:p14="http://schemas.microsoft.com/office/powerpoint/2010/main" val="36359761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8AA46-FDE1-7FFE-7FA9-DF236D68A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7A62FEF-35EE-36C6-7706-FB2E3546710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Apache Airflow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273801-4693-3C9E-328C-56B7463C64A9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F4898D9-988A-2F9B-9C63-0357DA2B64A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62A705E5-F0F2-1BA0-A48C-1629D01549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76C1C24-AFB2-E59D-AD58-0E106CBD0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558" y="2007555"/>
            <a:ext cx="10467975" cy="41690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8630BA-9DB0-92E3-F5F8-F7556B141E78}"/>
              </a:ext>
            </a:extLst>
          </p:cNvPr>
          <p:cNvSpPr txBox="1"/>
          <p:nvPr/>
        </p:nvSpPr>
        <p:spPr>
          <a:xfrm>
            <a:off x="591620" y="1288330"/>
            <a:ext cx="3094555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WSL2-docker_airflow.pptx</a:t>
            </a:r>
          </a:p>
        </p:txBody>
      </p:sp>
    </p:spTree>
    <p:extLst>
      <p:ext uri="{BB962C8B-B14F-4D97-AF65-F5344CB8AC3E}">
        <p14:creationId xmlns:p14="http://schemas.microsoft.com/office/powerpoint/2010/main" val="11276573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5459" y="1357808"/>
            <a:ext cx="5217459" cy="2121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56558" y="3636788"/>
            <a:ext cx="7948054" cy="296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67718" y="1357808"/>
            <a:ext cx="4231564" cy="236646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E4A340BF-22FB-7DBB-F75C-9AF673DF8F2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Apache Airflow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6D44355-1EC3-F684-98BB-1F306B8FE2C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B7DFFE2F-DC25-3914-A692-9A10F94598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0462" y="3533724"/>
            <a:ext cx="5143500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38476" y="3533724"/>
            <a:ext cx="3228975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31"/>
          <p:cNvSpPr txBox="1"/>
          <p:nvPr/>
        </p:nvSpPr>
        <p:spPr>
          <a:xfrm>
            <a:off x="7538476" y="3021458"/>
            <a:ext cx="35948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latin typeface="D2Coding" panose="020B0609020101020101" pitchFamily="49" charset="-127"/>
                <a:ea typeface="D2Coding" panose="020B0609020101020101" pitchFamily="49" charset="-127"/>
                <a:cs typeface="Arial"/>
                <a:sym typeface="Arial"/>
              </a:rPr>
              <a:t>DAG(Directed Acyclic Graph)</a:t>
            </a:r>
            <a:endParaRPr sz="180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465" name="Google Shape;465;p31"/>
          <p:cNvSpPr txBox="1"/>
          <p:nvPr/>
        </p:nvSpPr>
        <p:spPr>
          <a:xfrm>
            <a:off x="2313974" y="3021458"/>
            <a:ext cx="29124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latin typeface="D2Coding" panose="020B0609020101020101" pitchFamily="49" charset="-127"/>
                <a:ea typeface="D2Coding" panose="020B0609020101020101" pitchFamily="49" charset="-127"/>
                <a:cs typeface="Arial"/>
                <a:sym typeface="Arial"/>
              </a:rPr>
              <a:t>Negative Graph</a:t>
            </a:r>
            <a:endParaRPr sz="180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466" name="Google Shape;466;p31"/>
          <p:cNvSpPr txBox="1"/>
          <p:nvPr/>
        </p:nvSpPr>
        <p:spPr>
          <a:xfrm>
            <a:off x="840462" y="5564924"/>
            <a:ext cx="6096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https://steemit.com/dag/@cryptodreamers/dag-dag-directed-acyclic-graph</a:t>
            </a: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endParaRPr/>
          </a:p>
        </p:txBody>
      </p:sp>
      <p:sp>
        <p:nvSpPr>
          <p:cNvPr id="467" name="Google Shape;467;p31"/>
          <p:cNvSpPr txBox="1"/>
          <p:nvPr/>
        </p:nvSpPr>
        <p:spPr>
          <a:xfrm>
            <a:off x="490817" y="1296293"/>
            <a:ext cx="109677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The Directed Acyclic Graph (DAG) 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is a </a:t>
            </a:r>
            <a:r>
              <a:rPr lang="en-US" sz="1800" u="sng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directed graph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 with no </a:t>
            </a:r>
            <a:r>
              <a:rPr lang="en-US" sz="1800" u="sng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directed cycles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. That is, it consists of </a:t>
            </a:r>
            <a:r>
              <a:rPr lang="en-US" sz="1800" u="sng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vertices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 and </a:t>
            </a:r>
            <a:r>
              <a:rPr lang="en-US" sz="1800" u="sng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edges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 (also called arcs), with each edge directed from one vertex to another, such that following those directions will never form a closed loop.</a:t>
            </a:r>
            <a:endParaRPr sz="180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070DC4F7-EA1D-D76D-9CD8-033374E5117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Apache Airflow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FC63DA0E-969C-C3BC-8268-0BA9060D891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167A975D-EE24-9C89-6AD2-7654534A7A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460" y="2388864"/>
            <a:ext cx="9983400" cy="3777786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2"/>
          <p:cNvSpPr/>
          <p:nvPr/>
        </p:nvSpPr>
        <p:spPr>
          <a:xfrm>
            <a:off x="1035984" y="1577143"/>
            <a:ext cx="2232212" cy="6253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Names of registered workflows</a:t>
            </a:r>
            <a:endParaRPr sz="1600" dirty="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76" name="Google Shape;476;p32"/>
          <p:cNvCxnSpPr>
            <a:cxnSpLocks/>
            <a:stCxn id="477" idx="0"/>
            <a:endCxn id="475" idx="2"/>
          </p:cNvCxnSpPr>
          <p:nvPr/>
        </p:nvCxnSpPr>
        <p:spPr>
          <a:xfrm rot="5400000" flipH="1" flipV="1">
            <a:off x="354515" y="3999788"/>
            <a:ext cx="3594848" cy="302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8" name="Google Shape;478;p32"/>
          <p:cNvSpPr/>
          <p:nvPr/>
        </p:nvSpPr>
        <p:spPr>
          <a:xfrm>
            <a:off x="3761126" y="1520285"/>
            <a:ext cx="1610009" cy="5827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Workflow Schedules</a:t>
            </a:r>
            <a:endParaRPr sz="160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79" name="Google Shape;479;p32"/>
          <p:cNvCxnSpPr>
            <a:stCxn id="480" idx="0"/>
            <a:endCxn id="478" idx="2"/>
          </p:cNvCxnSpPr>
          <p:nvPr/>
        </p:nvCxnSpPr>
        <p:spPr>
          <a:xfrm rot="5400000" flipH="1">
            <a:off x="3259506" y="3409638"/>
            <a:ext cx="3681300" cy="1068300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1" name="Google Shape;481;p32"/>
          <p:cNvSpPr/>
          <p:nvPr/>
        </p:nvSpPr>
        <p:spPr>
          <a:xfrm>
            <a:off x="6486525" y="1577143"/>
            <a:ext cx="2497615" cy="5827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State of workflow tasks from recent runs</a:t>
            </a:r>
            <a:endParaRPr sz="160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82" name="Google Shape;482;p32"/>
          <p:cNvCxnSpPr>
            <a:stCxn id="483" idx="0"/>
            <a:endCxn id="481" idx="2"/>
          </p:cNvCxnSpPr>
          <p:nvPr/>
        </p:nvCxnSpPr>
        <p:spPr>
          <a:xfrm rot="5400000" flipH="1">
            <a:off x="6641904" y="3253269"/>
            <a:ext cx="3626400" cy="1439400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7" name="Google Shape;477;p32"/>
          <p:cNvSpPr/>
          <p:nvPr/>
        </p:nvSpPr>
        <p:spPr>
          <a:xfrm>
            <a:off x="1035379" y="5797363"/>
            <a:ext cx="2232817" cy="496073"/>
          </a:xfrm>
          <a:prstGeom prst="rect">
            <a:avLst/>
          </a:prstGeom>
          <a:noFill/>
          <a:ln w="15875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80" name="Google Shape;480;p32"/>
          <p:cNvSpPr/>
          <p:nvPr/>
        </p:nvSpPr>
        <p:spPr>
          <a:xfrm>
            <a:off x="5208752" y="5784438"/>
            <a:ext cx="851108" cy="508998"/>
          </a:xfrm>
          <a:prstGeom prst="rect">
            <a:avLst/>
          </a:prstGeom>
          <a:noFill/>
          <a:ln w="15875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83" name="Google Shape;483;p32"/>
          <p:cNvSpPr/>
          <p:nvPr/>
        </p:nvSpPr>
        <p:spPr>
          <a:xfrm>
            <a:off x="7981365" y="5786169"/>
            <a:ext cx="2386877" cy="496073"/>
          </a:xfrm>
          <a:prstGeom prst="rect">
            <a:avLst/>
          </a:prstGeom>
          <a:noFill/>
          <a:ln w="15875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397D237E-F690-C51E-315B-E8D8EA3F6B3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Apache Airflow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3962647-0DDC-DB8C-B470-D5A31F9A9C7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255D95AF-62B1-EB72-9748-CBE3F94F47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14626" y="1922317"/>
            <a:ext cx="8154446" cy="337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81183" y="1928926"/>
            <a:ext cx="3583929" cy="3362569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3"/>
          <p:cNvSpPr/>
          <p:nvPr/>
        </p:nvSpPr>
        <p:spPr>
          <a:xfrm>
            <a:off x="785833" y="1911670"/>
            <a:ext cx="1407459" cy="5699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All runs of one task</a:t>
            </a:r>
            <a:endParaRPr sz="1800" dirty="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93" name="Google Shape;493;p33"/>
          <p:cNvCxnSpPr>
            <a:cxnSpLocks/>
            <a:stCxn id="494" idx="1"/>
            <a:endCxn id="492" idx="3"/>
          </p:cNvCxnSpPr>
          <p:nvPr/>
        </p:nvCxnSpPr>
        <p:spPr>
          <a:xfrm rot="10800000">
            <a:off x="2193292" y="2196625"/>
            <a:ext cx="2271132" cy="1546140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4" name="Google Shape;494;p33"/>
          <p:cNvSpPr/>
          <p:nvPr/>
        </p:nvSpPr>
        <p:spPr>
          <a:xfrm>
            <a:off x="4464424" y="3621742"/>
            <a:ext cx="770964" cy="24204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95" name="Google Shape;495;p33"/>
          <p:cNvSpPr/>
          <p:nvPr/>
        </p:nvSpPr>
        <p:spPr>
          <a:xfrm>
            <a:off x="4939253" y="3636733"/>
            <a:ext cx="287170" cy="1766044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96" name="Google Shape;496;p33"/>
          <p:cNvSpPr/>
          <p:nvPr/>
        </p:nvSpPr>
        <p:spPr>
          <a:xfrm>
            <a:off x="4479021" y="4280704"/>
            <a:ext cx="268948" cy="24204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97" name="Google Shape;497;p33"/>
          <p:cNvSpPr/>
          <p:nvPr/>
        </p:nvSpPr>
        <p:spPr>
          <a:xfrm>
            <a:off x="6786284" y="5402778"/>
            <a:ext cx="2405341" cy="6334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One run of a workflow</a:t>
            </a:r>
            <a:endParaRPr sz="180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98" name="Google Shape;498;p33"/>
          <p:cNvCxnSpPr>
            <a:cxnSpLocks/>
            <a:stCxn id="495" idx="2"/>
            <a:endCxn id="497" idx="1"/>
          </p:cNvCxnSpPr>
          <p:nvPr/>
        </p:nvCxnSpPr>
        <p:spPr>
          <a:xfrm rot="16200000" flipH="1">
            <a:off x="5776190" y="4709425"/>
            <a:ext cx="316743" cy="1703446"/>
          </a:xfrm>
          <a:prstGeom prst="curvedConnector2">
            <a:avLst/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9" name="Google Shape;499;p33"/>
          <p:cNvSpPr/>
          <p:nvPr/>
        </p:nvSpPr>
        <p:spPr>
          <a:xfrm>
            <a:off x="829483" y="5769746"/>
            <a:ext cx="1703400" cy="66324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State of a single task</a:t>
            </a:r>
            <a:endParaRPr sz="180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500" name="Google Shape;500;p33"/>
          <p:cNvCxnSpPr>
            <a:cxnSpLocks/>
            <a:stCxn id="499" idx="3"/>
            <a:endCxn id="496" idx="1"/>
          </p:cNvCxnSpPr>
          <p:nvPr/>
        </p:nvCxnSpPr>
        <p:spPr>
          <a:xfrm flipV="1">
            <a:off x="2532883" y="4401727"/>
            <a:ext cx="1946138" cy="1699643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548A5392-A46D-CCAC-66AE-206054A575E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Apache Airflow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BB119AD6-555D-3BFD-57B9-7490756D644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C24F9766-CA3B-E8B6-4104-DE031F764C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18428</TotalTime>
  <Words>3706</Words>
  <Application>Microsoft Office PowerPoint</Application>
  <PresentationFormat>와이드스크린</PresentationFormat>
  <Paragraphs>678</Paragraphs>
  <Slides>64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64</vt:i4>
      </vt:variant>
    </vt:vector>
  </HeadingPairs>
  <TitlesOfParts>
    <vt:vector size="73" baseType="lpstr">
      <vt:lpstr>D2Coding</vt:lpstr>
      <vt:lpstr>Noto Sans Symbols</vt:lpstr>
      <vt:lpstr>Sorts Mill Goudy</vt:lpstr>
      <vt:lpstr>맑은 고딕</vt:lpstr>
      <vt:lpstr>Batang</vt:lpstr>
      <vt:lpstr>Arial</vt:lpstr>
      <vt:lpstr>Segoe UI Emoji</vt:lpstr>
      <vt:lpstr>Wingdings</vt:lpstr>
      <vt:lpstr>WelcomeDoc</vt:lpstr>
      <vt:lpstr>Application Deployment  코드 작성 → 컴파일/빌드 → 형상관리 → CI → 테스트 → CD → 배포</vt:lpstr>
      <vt:lpstr>PowerPoint 프레젠테이션</vt:lpstr>
      <vt:lpstr>PowerPoint 프레젠테이션</vt:lpstr>
      <vt:lpstr>PowerPoint 프레젠테이션</vt:lpstr>
      <vt:lpstr>PowerPoint 프레젠테이션</vt:lpstr>
      <vt:lpstr>Source Code Build</vt:lpstr>
      <vt:lpstr>PowerPoint 프레젠테이션</vt:lpstr>
      <vt:lpstr>PowerPoint 프레젠테이션</vt:lpstr>
      <vt:lpstr>PowerPoint 프레젠테이션</vt:lpstr>
      <vt:lpstr>Install Visual Studio Code</vt:lpstr>
      <vt:lpstr>Client/Server Architecture</vt:lpstr>
      <vt:lpstr>PowerPoint 프레젠테이션</vt:lpstr>
      <vt:lpstr>PowerPoint 프레젠테이션</vt:lpstr>
      <vt:lpstr>PowerPoint 프레젠테이션</vt:lpstr>
      <vt:lpstr>PowerPoint 프레젠테이션</vt:lpstr>
      <vt:lpstr>Create your own github Create your own GitHub(Install git GitHub Desktop)</vt:lpstr>
      <vt:lpstr>PowerPoint 프레젠테이션</vt:lpstr>
      <vt:lpstr>PowerPoint 프레젠테이션</vt:lpstr>
      <vt:lpstr>Install git &amp; Install GitHub Desktop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Docker</vt:lpstr>
      <vt:lpstr>PowerPoint 프레젠테이션</vt:lpstr>
      <vt:lpstr>PowerPoint 프레젠테이션</vt:lpstr>
      <vt:lpstr>Why SW Virtualization ?</vt:lpstr>
      <vt:lpstr>사진기로 사진찍고 인화하기 </vt:lpstr>
      <vt:lpstr>가상화(Virtualizaion)</vt:lpstr>
      <vt:lpstr>가상화(Virtualizaion) 종류</vt:lpstr>
      <vt:lpstr>Traditional Installation before docker</vt:lpstr>
      <vt:lpstr>1. Virtual Machine (Linux)</vt:lpstr>
      <vt:lpstr>2. Docker</vt:lpstr>
      <vt:lpstr>Docker</vt:lpstr>
      <vt:lpstr>Container</vt:lpstr>
      <vt:lpstr>Docker 설치(WSL)</vt:lpstr>
      <vt:lpstr>PowerPoint 프레젠테이션</vt:lpstr>
      <vt:lpstr>Windows PowerShell</vt:lpstr>
      <vt:lpstr>WSL2 Installation</vt:lpstr>
      <vt:lpstr>Docker container 구조</vt:lpstr>
      <vt:lpstr>실습하기</vt:lpstr>
      <vt:lpstr>PowerPoint 프레젠테이션</vt:lpstr>
      <vt:lpstr>PowerPoint 프레젠테이션</vt:lpstr>
      <vt:lpstr>PowerPoint 프레젠테이션</vt:lpstr>
      <vt:lpstr>Github Codespaces </vt:lpstr>
      <vt:lpstr>PowerPoint 프레젠테이션</vt:lpstr>
      <vt:lpstr>PowerPoint 프레젠테이션</vt:lpstr>
      <vt:lpstr>PowerPoint 프레젠테이션</vt:lpstr>
      <vt:lpstr>Apache Airflow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250</cp:revision>
  <dcterms:created xsi:type="dcterms:W3CDTF">2026-04-06T01:00:39Z</dcterms:created>
  <dcterms:modified xsi:type="dcterms:W3CDTF">2026-08-25T11:06:38Z</dcterms:modified>
  <cp:version/>
</cp:coreProperties>
</file>