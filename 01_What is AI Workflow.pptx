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1151" r:id="rId2"/>
    <p:sldId id="1149" r:id="rId3"/>
    <p:sldId id="1176" r:id="rId4"/>
    <p:sldId id="1223" r:id="rId5"/>
    <p:sldId id="1224" r:id="rId6"/>
    <p:sldId id="1222" r:id="rId7"/>
    <p:sldId id="1153" r:id="rId8"/>
    <p:sldId id="1226" r:id="rId9"/>
    <p:sldId id="1225" r:id="rId10"/>
    <p:sldId id="1154" r:id="rId11"/>
    <p:sldId id="1155" r:id="rId12"/>
    <p:sldId id="1156" r:id="rId13"/>
    <p:sldId id="1231" r:id="rId14"/>
    <p:sldId id="1171" r:id="rId15"/>
    <p:sldId id="1173" r:id="rId16"/>
    <p:sldId id="1172" r:id="rId17"/>
    <p:sldId id="1230" r:id="rId18"/>
    <p:sldId id="1232" r:id="rId19"/>
    <p:sldId id="1233" r:id="rId20"/>
    <p:sldId id="1234" r:id="rId21"/>
    <p:sldId id="1235" r:id="rId22"/>
    <p:sldId id="1179" r:id="rId23"/>
    <p:sldId id="1177" r:id="rId24"/>
    <p:sldId id="401" r:id="rId25"/>
    <p:sldId id="433" r:id="rId26"/>
    <p:sldId id="432" r:id="rId27"/>
    <p:sldId id="1182" r:id="rId28"/>
    <p:sldId id="382" r:id="rId29"/>
    <p:sldId id="1220" r:id="rId30"/>
    <p:sldId id="1196" r:id="rId31"/>
    <p:sldId id="1178" r:id="rId32"/>
    <p:sldId id="1146" r:id="rId33"/>
    <p:sldId id="1145" r:id="rId34"/>
    <p:sldId id="1168" r:id="rId35"/>
    <p:sldId id="1167" r:id="rId36"/>
    <p:sldId id="1169" r:id="rId37"/>
    <p:sldId id="1170" r:id="rId38"/>
    <p:sldId id="1147" r:id="rId39"/>
    <p:sldId id="1161" r:id="rId40"/>
    <p:sldId id="1164" r:id="rId41"/>
    <p:sldId id="1180" r:id="rId42"/>
    <p:sldId id="1228" r:id="rId43"/>
    <p:sldId id="1229" r:id="rId44"/>
    <p:sldId id="1181" r:id="rId45"/>
    <p:sldId id="1227" r:id="rId4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/>
        </p14:section>
        <p14:section name="디자인, 모핑, 주석 달기, 공동 작업, 입력하세요" id="{B9B51309-D148-4332-87C2-07BE32FBCA3B}">
          <p14:sldIdLst>
            <p14:sldId id="1151"/>
            <p14:sldId id="1149"/>
            <p14:sldId id="1176"/>
            <p14:sldId id="1223"/>
            <p14:sldId id="1224"/>
            <p14:sldId id="1222"/>
            <p14:sldId id="1153"/>
            <p14:sldId id="1226"/>
            <p14:sldId id="1225"/>
            <p14:sldId id="1154"/>
            <p14:sldId id="1155"/>
            <p14:sldId id="1156"/>
            <p14:sldId id="1231"/>
            <p14:sldId id="1171"/>
            <p14:sldId id="1173"/>
            <p14:sldId id="1172"/>
            <p14:sldId id="1230"/>
            <p14:sldId id="1232"/>
            <p14:sldId id="1233"/>
            <p14:sldId id="1234"/>
            <p14:sldId id="1235"/>
            <p14:sldId id="1179"/>
            <p14:sldId id="1177"/>
            <p14:sldId id="401"/>
            <p14:sldId id="433"/>
            <p14:sldId id="432"/>
            <p14:sldId id="1182"/>
            <p14:sldId id="382"/>
            <p14:sldId id="1220"/>
            <p14:sldId id="1196"/>
            <p14:sldId id="1178"/>
            <p14:sldId id="1146"/>
            <p14:sldId id="1145"/>
            <p14:sldId id="1168"/>
            <p14:sldId id="1167"/>
            <p14:sldId id="1169"/>
            <p14:sldId id="1170"/>
            <p14:sldId id="1147"/>
            <p14:sldId id="1161"/>
            <p14:sldId id="1164"/>
            <p14:sldId id="1180"/>
            <p14:sldId id="1228"/>
            <p14:sldId id="1229"/>
            <p14:sldId id="1181"/>
            <p14:sldId id="122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21888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2026-08-19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9BBB-4A23-E21A-8244-9A166645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2B148-30DF-9C89-8EB1-0DAC5F08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9DC16-78A6-4EE7-0852-436C5803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E036-ABA4-0BFC-663A-BDFAA104B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39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2362-49C8-3613-71B3-4AB14F83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B3F229-4D2B-9C76-B7BC-09DB5E08D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EF9BD-3B03-4C4D-3966-0C97B3DE0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41E02-0EA3-463F-A5BA-D664E0C51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3333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C0289-D123-DD35-D4D8-4614510D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868140-1DFC-31B7-5287-8A4D53B16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D87B3D-F089-B1E5-BD52-CE965CF17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E9936-FC3C-1356-9700-DCFAA4A89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8825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9BBB-4A23-E21A-8244-9A166645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2B148-30DF-9C89-8EB1-0DAC5F08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9DC16-78A6-4EE7-0852-436C5803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E036-ABA4-0BFC-663A-BDFAA104B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394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C302-C04D-8312-7A83-4FED4F30B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210E6C-18CE-44AA-192F-B7F1CA5C8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A5CB12-4ED8-271E-A70D-B10A40F83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AF19BE-F39E-32E0-72F3-7D6D8C1CB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539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2026-08-19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2026-08-19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%EC%82%B0%EC%97%85_%EA%B3%B5%EC%A0%95" TargetMode="External"/><Relationship Id="rId2" Type="http://schemas.openxmlformats.org/officeDocument/2006/relationships/hyperlink" Target="https://ko.wikipedia.org/wiki/%EC%A0%9C%EC%96%B4_%EC%8B%9C%EC%8A%A4%ED%85%9C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asu.edu/datascience/workflow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www.kdnuggets.com/2022/02/orchestrate-data-science-project-python-prefect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www.kdnuggets.com/2022/02/orchestrate-data-science-project-python-prefect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velog.io/@hsh/series/prefect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radio.app/" TargetMode="External"/><Relationship Id="rId7" Type="http://schemas.openxmlformats.org/officeDocument/2006/relationships/image" Target="../media/image36.svg"/><Relationship Id="rId2" Type="http://schemas.openxmlformats.org/officeDocument/2006/relationships/hyperlink" Target="https://github.com/ancestor9/Special_note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ntigravity.google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bacus.ai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?hl=ko#scrollTo=-sdyeRMXPvU_" TargetMode="Externa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book/20530" TargetMode="Externa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book/19470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book/1809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9595-A7A2-8D11-697D-CA319DF3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8F6A-7E6A-AD19-2830-0E0A1F92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What is AI Workflow?  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292716D-C476-8D34-55FE-086386A1F74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5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577530" y="1248422"/>
            <a:ext cx="11233469" cy="4315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Automation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Orchestration Framework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 Chatbot : LLM(Large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Language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Model)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 Agent Coding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AI(LLM) Workflow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AI(LLM) Agent</a:t>
            </a: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BA7F-73F0-82DE-3AFA-1DE2BE1C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FB44-F38B-8E0C-EE0F-1F690C0B1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Automation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pic>
        <p:nvPicPr>
          <p:cNvPr id="7170" name="Picture 2" descr="많은 오렌지 기계로 가득 찬 공장">
            <a:extLst>
              <a:ext uri="{FF2B5EF4-FFF2-40B4-BE49-F238E27FC236}">
                <a16:creationId xmlns:a16="http://schemas.microsoft.com/office/drawing/2014/main" id="{1D648FF8-E00D-59D9-B845-CE749F529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0" y="2247900"/>
            <a:ext cx="540067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90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B9D45-A906-9EE7-B319-15B784A4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756691-C8EF-AB34-C478-9181C846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6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4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F8DFEC-2EC1-8EE0-3F56-982A444CE4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DCBD9-9ED6-9C09-9B7C-A2148F05704C}"/>
              </a:ext>
            </a:extLst>
          </p:cNvPr>
          <p:cNvSpPr txBox="1"/>
          <p:nvPr/>
        </p:nvSpPr>
        <p:spPr>
          <a:xfrm>
            <a:off x="581025" y="1216115"/>
            <a:ext cx="11001375" cy="453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자동화</a:t>
            </a:r>
            <a:r>
              <a:rPr lang="en-US" altLang="ko-KR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(Automation)</a:t>
            </a:r>
            <a:r>
              <a:rPr lang="ko-KR" altLang="en-US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이란</a:t>
            </a:r>
            <a:r>
              <a:rPr lang="en-US" altLang="ko-KR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0" i="0" u="none" strike="noStrike" dirty="0">
                <a:solidFill>
                  <a:srgbClr val="3366C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2" tooltip="제어 시스템"/>
              </a:rPr>
              <a:t>제어시스템</a:t>
            </a:r>
            <a:r>
              <a:rPr lang="ko-KR" altLang="en-US" sz="1600" b="0" i="0" dirty="0">
                <a:solidFill>
                  <a:srgbClr val="20212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과 정보기술을 조화롭게 사용하여 기계류 및 </a:t>
            </a:r>
            <a:r>
              <a:rPr lang="ko-KR" altLang="en-US" sz="1600" b="0" i="0" u="none" strike="noStrike" dirty="0">
                <a:solidFill>
                  <a:srgbClr val="3366C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 tooltip="산업 공정"/>
              </a:rPr>
              <a:t>공정</a:t>
            </a:r>
            <a:r>
              <a:rPr lang="ko-KR" altLang="en-US" sz="1600" b="0" i="0" dirty="0">
                <a:solidFill>
                  <a:srgbClr val="20212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제어</a:t>
            </a:r>
            <a:r>
              <a:rPr lang="ko-KR" altLang="en-US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하여</a:t>
            </a:r>
            <a:r>
              <a:rPr lang="en-US" altLang="ko-KR" sz="1600" b="0" i="0" dirty="0">
                <a:solidFill>
                  <a:srgbClr val="20212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0" i="0" dirty="0">
                <a:solidFill>
                  <a:srgbClr val="20212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사람이 관여하는</a:t>
            </a:r>
            <a:r>
              <a:rPr lang="en-US" altLang="ko-KR" sz="1600" b="0" i="0" dirty="0">
                <a:solidFill>
                  <a:srgbClr val="20212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0" i="0" dirty="0">
                <a:solidFill>
                  <a:srgbClr val="20212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필요성을 최소화하여 줄이는 것</a:t>
            </a:r>
            <a:endParaRPr lang="en-US" altLang="ko-KR" sz="1600" b="0" i="0" dirty="0">
              <a:solidFill>
                <a:srgbClr val="202122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b="0" i="0" dirty="0">
              <a:solidFill>
                <a:srgbClr val="202122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프로그램을</a:t>
            </a:r>
            <a:r>
              <a:rPr lang="en-US" altLang="ko-KR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배우는</a:t>
            </a:r>
            <a:r>
              <a:rPr lang="en-US" altLang="ko-KR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목적은</a:t>
            </a:r>
            <a:r>
              <a:rPr lang="en-US" altLang="ko-KR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rgbClr val="20212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자동화로 사람이 반복해서 해야 하는 일이나 계산을 컴퓨터에게 대신 시키는 지시서로 자동화의 본질은 </a:t>
            </a:r>
            <a:endParaRPr lang="en-US" altLang="ko-KR" sz="1600" dirty="0">
              <a:solidFill>
                <a:srgbClr val="20212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solidFill>
                <a:srgbClr val="20212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Feeling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Intuition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Data-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driven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Automation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driven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Automation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is 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predictable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predetermined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transfers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point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another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solidFill>
                <a:srgbClr val="20212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089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7906-8422-75FB-B686-8A4918F1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7114697-0109-DBB2-4517-DF6A82EC7BF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Core concept of 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1F340-3B1E-6BAA-8FFB-064B9D23B4CE}"/>
              </a:ext>
            </a:extLst>
          </p:cNvPr>
          <p:cNvSpPr txBox="1"/>
          <p:nvPr/>
        </p:nvSpPr>
        <p:spPr>
          <a:xfrm>
            <a:off x="751955" y="1718786"/>
            <a:ext cx="10515601" cy="312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MS Gothic" panose="020B0609070205080204" pitchFamily="49" charset="-128"/>
                <a:ea typeface="D2Coding" panose="020B0609020101020101" pitchFamily="49" charset="-127"/>
              </a:rPr>
              <a:t>Trigger</a:t>
            </a: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: what starts an automation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1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MS Gothic" panose="020B0609070205080204" pitchFamily="49" charset="-128"/>
                <a:ea typeface="D2Coding" panose="020B0609020101020101" pitchFamily="49" charset="-127"/>
              </a:rPr>
              <a:t>Filter</a:t>
            </a: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: to allow or block certain types of data from following a path based on certain conditions.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05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MS Gothic" panose="020B0609070205080204" pitchFamily="49" charset="-128"/>
                <a:ea typeface="D2Coding" panose="020B0609020101020101" pitchFamily="49" charset="-127"/>
              </a:rPr>
              <a:t>Actions(App) </a:t>
            </a: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: allow you to interact with internal or external applications.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3B1678F-8CAF-7578-D8AB-C24C4541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6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5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90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6C9E3-F66F-7BF7-D744-3CD24874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79E75-3188-AC9E-B5A7-62FF41D05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Workflow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pic>
        <p:nvPicPr>
          <p:cNvPr id="6146" name="Picture 2" descr="종이에 다이어그램을 그리는 사람">
            <a:extLst>
              <a:ext uri="{FF2B5EF4-FFF2-40B4-BE49-F238E27FC236}">
                <a16:creationId xmlns:a16="http://schemas.microsoft.com/office/drawing/2014/main" id="{55CF86DD-9D04-A1C1-C562-AA777C5A9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2705100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2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90BD-0B46-D0D6-7007-8D2D1A9A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B5E933-0C3E-C5BC-19F6-59B973129D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workflow?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EBD1361-E6D8-F37F-7847-3596F9C8C1CB}"/>
              </a:ext>
            </a:extLst>
          </p:cNvPr>
          <p:cNvSpPr/>
          <p:nvPr/>
        </p:nvSpPr>
        <p:spPr>
          <a:xfrm>
            <a:off x="1181100" y="3045780"/>
            <a:ext cx="1943100" cy="76643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76719A-2740-60E0-0EE8-A30122FF98CE}"/>
              </a:ext>
            </a:extLst>
          </p:cNvPr>
          <p:cNvSpPr/>
          <p:nvPr/>
        </p:nvSpPr>
        <p:spPr>
          <a:xfrm>
            <a:off x="4418408" y="2496659"/>
            <a:ext cx="2858295" cy="186468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81950A9-9B8E-CA1C-5F23-6339A6DBBE98}"/>
              </a:ext>
            </a:extLst>
          </p:cNvPr>
          <p:cNvSpPr/>
          <p:nvPr/>
        </p:nvSpPr>
        <p:spPr>
          <a:xfrm>
            <a:off x="8570911" y="3045780"/>
            <a:ext cx="1943100" cy="7664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085A7EF-645D-1462-E30A-334FF6445118}"/>
              </a:ext>
            </a:extLst>
          </p:cNvPr>
          <p:cNvCxnSpPr>
            <a:cxnSpLocks/>
          </p:cNvCxnSpPr>
          <p:nvPr/>
        </p:nvCxnSpPr>
        <p:spPr>
          <a:xfrm>
            <a:off x="3124200" y="3415822"/>
            <a:ext cx="1294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F26E8E8-3AE7-E2B2-8810-782ECCD6FFC8}"/>
              </a:ext>
            </a:extLst>
          </p:cNvPr>
          <p:cNvCxnSpPr>
            <a:cxnSpLocks/>
          </p:cNvCxnSpPr>
          <p:nvPr/>
        </p:nvCxnSpPr>
        <p:spPr>
          <a:xfrm>
            <a:off x="7276703" y="3415822"/>
            <a:ext cx="1294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E6FB3E-90CB-9372-4351-1825A3EF9036}"/>
              </a:ext>
            </a:extLst>
          </p:cNvPr>
          <p:cNvSpPr txBox="1"/>
          <p:nvPr/>
        </p:nvSpPr>
        <p:spPr>
          <a:xfrm>
            <a:off x="1560113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Trigger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en-US" altLang="ko-KR" dirty="0"/>
              <a:t>Every day at 8am</a:t>
            </a:r>
          </a:p>
          <a:p>
            <a:pPr>
              <a:buNone/>
            </a:pPr>
            <a:r>
              <a:rPr lang="en-US" altLang="ko-KR" dirty="0"/>
              <a:t>When “this” happens</a:t>
            </a:r>
          </a:p>
          <a:p>
            <a:pPr>
              <a:buNone/>
            </a:pPr>
            <a:r>
              <a:rPr lang="en-US" altLang="ko-KR" dirty="0"/>
              <a:t>When launched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ACD8E9-87A8-78CA-D496-56A7CC739BD2}"/>
              </a:ext>
            </a:extLst>
          </p:cNvPr>
          <p:cNvSpPr txBox="1"/>
          <p:nvPr/>
        </p:nvSpPr>
        <p:spPr>
          <a:xfrm>
            <a:off x="5065512" y="2669739"/>
            <a:ext cx="28582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Sorting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Filtering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Formatting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Transforming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Segmenting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i="1" dirty="0"/>
              <a:t>(based on different criteria)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If this then, Only if this</a:t>
            </a:r>
          </a:p>
          <a:p>
            <a:pPr>
              <a:buNone/>
            </a:pPr>
            <a:r>
              <a:rPr lang="en-US" altLang="ko-KR" dirty="0"/>
              <a:t>Change x to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B4A2D4-5284-212A-27F5-69F48B7D85F6}"/>
              </a:ext>
            </a:extLst>
          </p:cNvPr>
          <p:cNvSpPr txBox="1"/>
          <p:nvPr/>
        </p:nvSpPr>
        <p:spPr>
          <a:xfrm>
            <a:off x="8953500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Actions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Update a Google Sheet</a:t>
            </a:r>
          </a:p>
          <a:p>
            <a:pPr>
              <a:buNone/>
            </a:pPr>
            <a:r>
              <a:rPr lang="en-US" altLang="ko-KR" dirty="0"/>
              <a:t>Send an email</a:t>
            </a:r>
          </a:p>
          <a:p>
            <a:pPr>
              <a:buNone/>
            </a:pPr>
            <a:r>
              <a:rPr lang="en-US" altLang="ko-KR" dirty="0"/>
              <a:t>Notify person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8EC4B2-3DFD-657C-FA31-40B18A56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6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7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41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7F52-F3F8-E0D2-03C4-B1F161DB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C76A262-E7C2-FBE8-B1B3-9679D95EAFB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Modeling 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572B1-140A-3C3F-1EDE-B2D5437645B4}"/>
              </a:ext>
            </a:extLst>
          </p:cNvPr>
          <p:cNvSpPr txBox="1"/>
          <p:nvPr/>
        </p:nvSpPr>
        <p:spPr>
          <a:xfrm>
            <a:off x="860958" y="1608641"/>
            <a:ext cx="10029825" cy="381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Mapping is the first step to any good automation.</a:t>
            </a:r>
            <a:endParaRPr lang="en-US" altLang="ko-KR" sz="20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>
              <a:lnSpc>
                <a:spcPct val="150000"/>
              </a:lnSpc>
              <a:buNone/>
            </a:pPr>
            <a:endParaRPr lang="en-US" altLang="ko-KR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Correctly mapping a process before automation will ensure you have visibility on the: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Understanding of the task (understand</a:t>
            </a:r>
            <a:r>
              <a:rPr lang="ko-KR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biz process &amp; data)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Tools that will be used (JAVA,</a:t>
            </a:r>
            <a:r>
              <a:rPr lang="ko-KR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ko-KR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puthon</a:t>
            </a: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, n8n,</a:t>
            </a:r>
            <a:r>
              <a:rPr lang="ko-KR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…)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Feasibility of the automation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Estimation of work load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(Sometimes) need for human intervention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6EAEB0B-8762-820C-CE73-841D76A9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6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38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159E-35AD-9476-972C-80774C22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313E1B7-DB80-1CB6-5921-BD79EC64520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>
                <a:latin typeface="Lora" pitchFamily="2" charset="0"/>
              </a:rPr>
              <a:t>Data </a:t>
            </a:r>
            <a:r>
              <a:rPr lang="ko-KR" altLang="ko-KR" sz="2800" b="1" cap="none" dirty="0" err="1">
                <a:latin typeface="Lora" pitchFamily="2" charset="0"/>
              </a:rPr>
              <a:t>Science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E7D41C-8083-8B29-211B-0A92F55F3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137" y="1761079"/>
            <a:ext cx="5692633" cy="4153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F1D875-7D57-A414-92AB-D0E42A6287F4}"/>
              </a:ext>
            </a:extLst>
          </p:cNvPr>
          <p:cNvSpPr txBox="1"/>
          <p:nvPr/>
        </p:nvSpPr>
        <p:spPr>
          <a:xfrm>
            <a:off x="2603137" y="6036261"/>
            <a:ext cx="3865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https://math.asu.edu/datascience/workflow</a:t>
            </a:r>
            <a:endParaRPr lang="ko-KR" altLang="en-US" sz="14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6E42C91-E2CB-3BF6-719D-C700B0B8DFCD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9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04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204B-E244-99B3-34B7-EEDB50DF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544180C-87C2-5DB1-94D1-6F90334605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Orchestrate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</a:t>
            </a:r>
            <a:r>
              <a:rPr lang="ko-KR" altLang="ko-KR" sz="2800" b="1" cap="none" dirty="0">
                <a:latin typeface="Lora" pitchFamily="2" charset="0"/>
              </a:rPr>
              <a:t> Data </a:t>
            </a:r>
            <a:r>
              <a:rPr lang="ko-KR" altLang="ko-KR" sz="2800" b="1" cap="none" dirty="0" err="1">
                <a:latin typeface="Lora" pitchFamily="2" charset="0"/>
              </a:rPr>
              <a:t>Science</a:t>
            </a:r>
            <a:r>
              <a:rPr lang="ko-KR" altLang="ko-KR" sz="2800" b="1" cap="none" dirty="0">
                <a:latin typeface="Lora" pitchFamily="2" charset="0"/>
              </a:rPr>
              <a:t>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94F62-7060-F457-BB09-8CDFA2D7E7F4}"/>
              </a:ext>
            </a:extLst>
          </p:cNvPr>
          <p:cNvSpPr txBox="1"/>
          <p:nvPr/>
        </p:nvSpPr>
        <p:spPr>
          <a:xfrm>
            <a:off x="1164539" y="6376017"/>
            <a:ext cx="4033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2"/>
              </a:rPr>
              <a:t>orchestrate-data-science-project-python-prefect</a:t>
            </a:r>
            <a:endParaRPr lang="ko-KR" altLang="en-US" sz="1400" dirty="0"/>
          </a:p>
        </p:txBody>
      </p:sp>
      <p:pic>
        <p:nvPicPr>
          <p:cNvPr id="8" name="그림 7" descr="Orchestrate a Data Science Project in Python With Prefect">
            <a:extLst>
              <a:ext uri="{FF2B5EF4-FFF2-40B4-BE49-F238E27FC236}">
                <a16:creationId xmlns:a16="http://schemas.microsoft.com/office/drawing/2014/main" id="{BAB35102-7A6D-E82D-69A8-5728B6458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88" y="1269350"/>
            <a:ext cx="7994273" cy="1508919"/>
          </a:xfrm>
          <a:prstGeom prst="rect">
            <a:avLst/>
          </a:prstGeom>
        </p:spPr>
      </p:pic>
      <p:pic>
        <p:nvPicPr>
          <p:cNvPr id="10" name="그림 9" descr="Orchestrate a Data Science Project in Python With Prefect">
            <a:extLst>
              <a:ext uri="{FF2B5EF4-FFF2-40B4-BE49-F238E27FC236}">
                <a16:creationId xmlns:a16="http://schemas.microsoft.com/office/drawing/2014/main" id="{B77324CF-0ED1-B05F-052A-B45F4768B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539" y="2852946"/>
            <a:ext cx="8975974" cy="3523071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3F7DBF1-E26F-2F8E-EFDE-A30B3DBC0FE4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10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40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4C47-E289-8753-9E79-FF183A3C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3C99A5-46C6-9651-2516-907CE520EF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Orchestrate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</a:t>
            </a:r>
            <a:r>
              <a:rPr lang="ko-KR" altLang="ko-KR" sz="2800" b="1" cap="none" dirty="0">
                <a:latin typeface="Lora" pitchFamily="2" charset="0"/>
              </a:rPr>
              <a:t> Data </a:t>
            </a:r>
            <a:r>
              <a:rPr lang="ko-KR" altLang="ko-KR" sz="2800" b="1" cap="none" dirty="0" err="1">
                <a:latin typeface="Lora" pitchFamily="2" charset="0"/>
              </a:rPr>
              <a:t>Science</a:t>
            </a:r>
            <a:r>
              <a:rPr lang="ko-KR" altLang="ko-KR" sz="2800" b="1" cap="none" dirty="0">
                <a:latin typeface="Lora" pitchFamily="2" charset="0"/>
              </a:rPr>
              <a:t>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8E2FE-2764-8001-2A80-04D659F82C39}"/>
              </a:ext>
            </a:extLst>
          </p:cNvPr>
          <p:cNvSpPr txBox="1"/>
          <p:nvPr/>
        </p:nvSpPr>
        <p:spPr>
          <a:xfrm>
            <a:off x="650512" y="6093609"/>
            <a:ext cx="4033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2"/>
              </a:rPr>
              <a:t>orchestrate-data-science-project-python-prefect</a:t>
            </a:r>
            <a:endParaRPr lang="ko-KR" altLang="en-US" sz="1400" dirty="0"/>
          </a:p>
        </p:txBody>
      </p:sp>
      <p:pic>
        <p:nvPicPr>
          <p:cNvPr id="9" name="그림 8" descr="Orchestrate a Data Science Project in Python With Prefect">
            <a:extLst>
              <a:ext uri="{FF2B5EF4-FFF2-40B4-BE49-F238E27FC236}">
                <a16:creationId xmlns:a16="http://schemas.microsoft.com/office/drawing/2014/main" id="{E563AFD1-D0F5-B00F-188C-A316F685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55" y="2421936"/>
            <a:ext cx="5694154" cy="2896901"/>
          </a:xfrm>
          <a:prstGeom prst="rect">
            <a:avLst/>
          </a:prstGeom>
        </p:spPr>
      </p:pic>
      <p:pic>
        <p:nvPicPr>
          <p:cNvPr id="2" name="그림 1" descr="Orchestrate a Data Science Project in Python With Prefect">
            <a:extLst>
              <a:ext uri="{FF2B5EF4-FFF2-40B4-BE49-F238E27FC236}">
                <a16:creationId xmlns:a16="http://schemas.microsoft.com/office/drawing/2014/main" id="{5C84935F-2D7D-69FA-59BE-E2D260932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6" y="1744457"/>
            <a:ext cx="5689600" cy="4309872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F78E78C-E4BC-0EEA-4A2D-0B666CB6CEC8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11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82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5B68-13BC-82A8-E69A-EBF63686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F394978-3A88-4C9F-19C4-6B402CF98A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 01 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5E77B-3B3E-CE13-A28F-177623F536B2}"/>
              </a:ext>
            </a:extLst>
          </p:cNvPr>
          <p:cNvSpPr txBox="1"/>
          <p:nvPr/>
        </p:nvSpPr>
        <p:spPr>
          <a:xfrm>
            <a:off x="740527" y="1631367"/>
            <a:ext cx="10088880" cy="50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altLang="ko-KR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 과제 </a:t>
            </a:r>
            <a:r>
              <a:rPr lang="en-US" altLang="ko-KR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Python class +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화살표: 줄무늬가 있는 오른쪽 9">
            <a:extLst>
              <a:ext uri="{FF2B5EF4-FFF2-40B4-BE49-F238E27FC236}">
                <a16:creationId xmlns:a16="http://schemas.microsoft.com/office/drawing/2014/main" id="{2059E3DA-7196-C207-109D-6D0F9F2D9E1C}"/>
              </a:ext>
            </a:extLst>
          </p:cNvPr>
          <p:cNvSpPr/>
          <p:nvPr/>
        </p:nvSpPr>
        <p:spPr>
          <a:xfrm>
            <a:off x="6364432" y="1662436"/>
            <a:ext cx="1505527" cy="951345"/>
          </a:xfrm>
          <a:prstGeom prst="stripedRightArrow">
            <a:avLst>
              <a:gd name="adj1" fmla="val 733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App </a:t>
            </a:r>
            <a:r>
              <a:rPr lang="ko-KR" altLang="en-US" dirty="0"/>
              <a:t>서비스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89165D9-F1DA-94F0-236B-4AED352CB915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12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05322-595C-4656-B963-341A092551ED}"/>
              </a:ext>
            </a:extLst>
          </p:cNvPr>
          <p:cNvSpPr txBox="1"/>
          <p:nvPr/>
        </p:nvSpPr>
        <p:spPr>
          <a:xfrm>
            <a:off x="740527" y="3164184"/>
            <a:ext cx="10463515" cy="26398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📌 과제명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로컬 에이전트 관제 및 자동화 서버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'Hermes Cron'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개발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시나리오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백그라운드에서 정기적인 작업을 수행하는 에이전트 시스템을 구축해야 사용자가 웹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통해 에이전트의 동작 로그를 확인하고 필요 시 즉시 작업을 명령할 수 있는 관제 서버를 구현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구현 과제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초마다 시스템 상태를 백그라운드에서 기록하는 스케줄링 기능을 만들기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서버가 켜지고 꺼질 때 스케줄러도 함께 동작 및 안전 종료되도록 생명주기를 맞추기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작업의 로그를 확인할 수 있는 조회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즉시 명령을 내리는 강제 실행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만들기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005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8F948-3548-5E6A-0659-7B884C7E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BF04EA7-CD40-7D8A-E2D7-2F6896E69C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 01 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55C168D-AA57-8ED2-23BC-A0FD2268687E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13</a:t>
            </a:fld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6235D8F-DF9B-9EB6-D098-9BC0A0ABA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022140"/>
              </p:ext>
            </p:extLst>
          </p:nvPr>
        </p:nvGraphicFramePr>
        <p:xfrm>
          <a:off x="671753" y="1832299"/>
          <a:ext cx="10939222" cy="1720526"/>
        </p:xfrm>
        <a:graphic>
          <a:graphicData uri="http://schemas.openxmlformats.org/drawingml/2006/table">
            <a:tbl>
              <a:tblPr/>
              <a:tblGrid>
                <a:gridCol w="547447">
                  <a:extLst>
                    <a:ext uri="{9D8B030D-6E8A-4147-A177-3AD203B41FA5}">
                      <a16:colId xmlns:a16="http://schemas.microsoft.com/office/drawing/2014/main" val="3314546219"/>
                    </a:ext>
                  </a:extLst>
                </a:gridCol>
                <a:gridCol w="1687743">
                  <a:extLst>
                    <a:ext uri="{9D8B030D-6E8A-4147-A177-3AD203B41FA5}">
                      <a16:colId xmlns:a16="http://schemas.microsoft.com/office/drawing/2014/main" val="3514405929"/>
                    </a:ext>
                  </a:extLst>
                </a:gridCol>
                <a:gridCol w="8704032">
                  <a:extLst>
                    <a:ext uri="{9D8B030D-6E8A-4147-A177-3AD203B41FA5}">
                      <a16:colId xmlns:a16="http://schemas.microsoft.com/office/drawing/2014/main" val="3359525847"/>
                    </a:ext>
                  </a:extLst>
                </a:gridCol>
              </a:tblGrid>
              <a:tr h="285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</a:p>
                  </a:txBody>
                  <a:tcPr marL="23402" marR="23402" marT="15601" marB="15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기능명</a:t>
                      </a:r>
                      <a:endParaRPr lang="ko-KR" altLang="en-US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세부 요구사항 설명</a:t>
                      </a: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271998"/>
                  </a:ext>
                </a:extLst>
              </a:tr>
              <a:tr h="285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FR-01</a:t>
                      </a:r>
                    </a:p>
                  </a:txBody>
                  <a:tcPr marL="23402" marR="23402" marT="15601" marB="15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백그라운드 스케줄링</a:t>
                      </a: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서버 구동 시 백그라운드 스케줄러가 자동으로 실행되어 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초 주기로 </a:t>
                      </a:r>
                      <a:r>
                        <a:rPr lang="ko-KR" altLang="en-US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크론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작업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alt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my_cron_job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을 수행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531393"/>
                  </a:ext>
                </a:extLst>
              </a:tr>
              <a:tr h="291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FR-02</a:t>
                      </a:r>
                    </a:p>
                  </a:txBody>
                  <a:tcPr marL="23402" marR="23402" marT="15601" marB="15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로깅</a:t>
                      </a: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스케줄러 작업 실행 시 현재 일시와 실행 메시지를 표준 출력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터미널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후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메모리 리스트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alt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job_logs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 기록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497028"/>
                  </a:ext>
                </a:extLst>
              </a:tr>
              <a:tr h="285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FR-03</a:t>
                      </a:r>
                    </a:p>
                  </a:txBody>
                  <a:tcPr marL="23402" marR="23402" marT="15601" marB="15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서버 상태 확인</a:t>
                      </a: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 / 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요청 시 서버의 현재 동작 상태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(running) 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및 안내 메시지를 반환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213086"/>
                  </a:ext>
                </a:extLst>
              </a:tr>
              <a:tr h="285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FR-04</a:t>
                      </a:r>
                    </a:p>
                  </a:txBody>
                  <a:tcPr marL="23402" marR="23402" marT="15601" marB="15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이력 조회</a:t>
                      </a: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 /logs 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요청 시 지금까지 실행된 </a:t>
                      </a:r>
                      <a:r>
                        <a:rPr lang="ko-KR" altLang="en-US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크론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작업의 총 횟수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alt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total_runs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와 누적 이력 리스트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(history)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JSON 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형태로 반환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717396"/>
                  </a:ext>
                </a:extLst>
              </a:tr>
              <a:tr h="285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FR-05</a:t>
                      </a:r>
                    </a:p>
                  </a:txBody>
                  <a:tcPr marL="23402" marR="23402" marT="15601" marB="15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수동 강제 실행</a:t>
                      </a: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POST /trigger 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요청 시 정해진 </a:t>
                      </a:r>
                      <a:r>
                        <a:rPr lang="ko-KR" altLang="en-US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크론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주기와 상관없이 즉시 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 백그라운드 작업을 실행하고 이력을 추가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3402" marR="23402" marT="15601" marB="1560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719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0F649620-EDF5-EB0B-8993-234F9FF6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73" y="3886062"/>
            <a:ext cx="7202453" cy="21337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544D54-657F-12C8-5248-653915C78DEE}"/>
              </a:ext>
            </a:extLst>
          </p:cNvPr>
          <p:cNvSpPr txBox="1"/>
          <p:nvPr/>
        </p:nvSpPr>
        <p:spPr>
          <a:xfrm>
            <a:off x="652703" y="1351584"/>
            <a:ext cx="123825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main.py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main_01.py</a:t>
            </a:r>
          </a:p>
        </p:txBody>
      </p:sp>
    </p:spTree>
    <p:extLst>
      <p:ext uri="{BB962C8B-B14F-4D97-AF65-F5344CB8AC3E}">
        <p14:creationId xmlns:p14="http://schemas.microsoft.com/office/powerpoint/2010/main" val="3521802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F7A9-D1E9-9872-6D87-ACEC8B2A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A39791-8485-7449-EBF2-09179946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DEC0FBD-AE36-9A56-09B4-A72511AB17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FastAPI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CEDA6A-1D38-FA5D-2186-C1A3183B2D11}"/>
              </a:ext>
            </a:extLst>
          </p:cNvPr>
          <p:cNvSpPr txBox="1"/>
          <p:nvPr/>
        </p:nvSpPr>
        <p:spPr>
          <a:xfrm>
            <a:off x="638174" y="1659285"/>
            <a:ext cx="9496425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datetime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contextlib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asynccontextmanager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apscheduler.schedulers.background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BackgroundScheduler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백그라운드 스케줄러 및 로그 저장소 세팅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BackgroundScheduler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job_logs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[]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타이머가 울릴 때마다 실행할 함수 정의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my_cron_job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datetime.datetime.now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strftime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log_msg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"⏰ 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 - 백그라운드 자동화 작업 완료!"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log_msg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 # VS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터미널 콘솔에 즉시 출력됨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job_logs.append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log_msg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4513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4BF4-B6D9-6A36-1039-2C2428ED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23713-2600-6AF0-4C78-1CB9E991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D8FF3D3-349A-BA1B-C7AE-A5AF08AA3EB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FastAPI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F927E8-8746-9750-A152-D776B908D86A}"/>
              </a:ext>
            </a:extLst>
          </p:cNvPr>
          <p:cNvSpPr txBox="1"/>
          <p:nvPr/>
        </p:nvSpPr>
        <p:spPr>
          <a:xfrm>
            <a:off x="638175" y="1543925"/>
            <a:ext cx="10191232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Lifespan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이벤트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핸들러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(시작과 종료를 한 번에 관리)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@asynccontextmanager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async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lifespan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---- [STARTUP] 서버가 켜질 때 실행되는 구간 ----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10초 주기(*/10)로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작업을 등록하고 스케줄러를 시작합니다.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scheduler.add_job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my_cron_job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second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='*/10')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scheduler.start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("🚀 백그라운드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스케줄러가 성공적으로 시작되었습니다! (10초 주기)")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yield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 # 💻 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yield를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기점으로 서버가 정상 구동되며 대기합니다.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---- [SHUTDOWN] 서버가 꺼질 때 실행되는 구간 ----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scheduler.shutdown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    # VS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Ctrl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누르면 이 아랫줄이 실행됩니다.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("🛑 스케줄러가 안전하게 종료되었습니다.")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애플리케이션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(lifespan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핸들러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app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title="Hermes Agent Cron Server",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description="Lifespan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방식을 적용한 에이전트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서버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lifespan=lifespan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6" name="설명선: 굽은 선(테두리 및 강조선) 5">
            <a:extLst>
              <a:ext uri="{FF2B5EF4-FFF2-40B4-BE49-F238E27FC236}">
                <a16:creationId xmlns:a16="http://schemas.microsoft.com/office/drawing/2014/main" id="{E47BCDE6-3759-A338-C072-B0DF567296BB}"/>
              </a:ext>
            </a:extLst>
          </p:cNvPr>
          <p:cNvSpPr/>
          <p:nvPr/>
        </p:nvSpPr>
        <p:spPr>
          <a:xfrm>
            <a:off x="8029662" y="619124"/>
            <a:ext cx="3752850" cy="2371726"/>
          </a:xfrm>
          <a:prstGeom prst="accentBorderCallout2">
            <a:avLst>
              <a:gd name="adj1" fmla="val 18750"/>
              <a:gd name="adj2" fmla="val -3257"/>
              <a:gd name="adj3" fmla="val 47666"/>
              <a:gd name="adj4" fmla="val -36210"/>
              <a:gd name="adj5" fmla="val 62573"/>
              <a:gd name="adj6" fmla="val -1448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1. 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contextmanager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with open("test.txt", "w") as f: </a:t>
            </a:r>
          </a:p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f.write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("hello") </a:t>
            </a:r>
          </a:p>
          <a:p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블록을 나가는 순간 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f.close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가 자동 실행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!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일반 함수에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yield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async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비동기 방식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 자원을 낭비 없이 쥐어짜서 웹 서버와 백그라운드 자동화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(Cron)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를 끊김 없이 동시에 돌리기 위해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async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방식을 사용</a:t>
            </a:r>
          </a:p>
        </p:txBody>
      </p:sp>
    </p:spTree>
    <p:extLst>
      <p:ext uri="{BB962C8B-B14F-4D97-AF65-F5344CB8AC3E}">
        <p14:creationId xmlns:p14="http://schemas.microsoft.com/office/powerpoint/2010/main" val="4025871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B75E-F94E-CBF6-1E8E-27C8BE2C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6F5344-A2CB-E682-10FF-590DD5D5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4F304A5-FC66-397D-9069-C83D363136E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FastAPI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F21189-BE23-6266-EBE5-30E58362F9D8}"/>
              </a:ext>
            </a:extLst>
          </p:cNvPr>
          <p:cNvSpPr txBox="1"/>
          <p:nvPr/>
        </p:nvSpPr>
        <p:spPr>
          <a:xfrm>
            <a:off x="628649" y="1400017"/>
            <a:ext cx="9496425" cy="500136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4. API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엔드포인트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라우터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정의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@app.get("/")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read_root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{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"status": "running",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"message": "VS Code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로컬 서버가 정상 작동 중입니다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(Lifespan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적용 완료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@app.get("/logs")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get_logs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작업이 실행된 기록을 확인하는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API"""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{"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total_runs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job_logs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), "history":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job_logs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@app.post("/trigger")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trigger_now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예약된 시간과 별개로 사용자가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통해 즉시 작업을 트리거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"""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my_cron_job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{"message": "⚡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작업을 즉시 강제 실행했습니다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."}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5. VS 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직접 실행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진입점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if __name__ == "__main__":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uvicorn.run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main:app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host="127.0.0.1", port=8000, reload=True)</a:t>
            </a:r>
          </a:p>
        </p:txBody>
      </p:sp>
    </p:spTree>
    <p:extLst>
      <p:ext uri="{BB962C8B-B14F-4D97-AF65-F5344CB8AC3E}">
        <p14:creationId xmlns:p14="http://schemas.microsoft.com/office/powerpoint/2010/main" val="1566956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772F-2A6A-B1CE-8E5D-61F0932F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CD33EC-E3C9-F91A-9891-7DC0EB6CB7A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 02 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08BB7-87F8-A4D7-A778-6C379EAC50CD}"/>
              </a:ext>
            </a:extLst>
          </p:cNvPr>
          <p:cNvSpPr txBox="1"/>
          <p:nvPr/>
        </p:nvSpPr>
        <p:spPr>
          <a:xfrm>
            <a:off x="740527" y="1631367"/>
            <a:ext cx="10088880" cy="263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번 과제</a:t>
            </a:r>
            <a:r>
              <a:rPr lang="ko-KR" altLang="en-US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Prefect</a:t>
            </a:r>
          </a:p>
          <a:p>
            <a:pPr rtl="0">
              <a:lnSpc>
                <a:spcPct val="150000"/>
              </a:lnSpc>
            </a:pPr>
            <a:endParaRPr lang="en-US" altLang="ko-KR" sz="2000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Orchestrate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workflows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AI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applications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Open-source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foundations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production-ready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platforms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Prefect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기초부터 활용까지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화살표: 줄무늬가 있는 오른쪽 9">
            <a:extLst>
              <a:ext uri="{FF2B5EF4-FFF2-40B4-BE49-F238E27FC236}">
                <a16:creationId xmlns:a16="http://schemas.microsoft.com/office/drawing/2014/main" id="{A0FCC355-6AC2-E79A-E665-A68377F4181A}"/>
              </a:ext>
            </a:extLst>
          </p:cNvPr>
          <p:cNvSpPr/>
          <p:nvPr/>
        </p:nvSpPr>
        <p:spPr>
          <a:xfrm>
            <a:off x="7707457" y="2228427"/>
            <a:ext cx="1505527" cy="951345"/>
          </a:xfrm>
          <a:prstGeom prst="stripedRightArrow">
            <a:avLst>
              <a:gd name="adj1" fmla="val 733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App </a:t>
            </a:r>
            <a:r>
              <a:rPr lang="ko-KR" altLang="en-US" dirty="0"/>
              <a:t>서비스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DE29BE2-1EF0-0DA7-DA29-B8BC02054A2E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17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801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1C40A-32AF-1202-D159-AFE6167C1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5030465-7653-2460-EE4E-0C6FB61824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 02 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9BD4263-820C-B795-8EFC-E132678D2D8E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18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3AEC5-F197-1565-FF7A-ACD61E027232}"/>
              </a:ext>
            </a:extLst>
          </p:cNvPr>
          <p:cNvSpPr txBox="1"/>
          <p:nvPr/>
        </p:nvSpPr>
        <p:spPr>
          <a:xfrm>
            <a:off x="551931" y="1263520"/>
            <a:ext cx="112299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파이썬 기반 데이터 파이프라인 오케스트레이션 도구인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활용해 여러 고객 데이터를 동적으로 수집하고 병렬로 자동 처리하는 워크플로우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(Workflow)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작업 단위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get_customer_ids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():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 외부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고객 목록을 가져오는 시뮬레이션 함수로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0~99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사이의 무작위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 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생성해 리스트로 반환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process_customer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전달받아 실제로 비즈니스 로직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변환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이메일 발송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처리하는 단일 작업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전체 파이프라인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main():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작성한 태스크들을 하나의 흐름으로 묶어 실행 순서를 제어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.map()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동적 병렬 처리 핵심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process_customer.map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customer_ids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리스트를 받아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반복문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없이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개별 태스크로 자동 분할 및 병렬 처리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2BBCD-2106-0B88-6F77-7489C512D118}"/>
              </a:ext>
            </a:extLst>
          </p:cNvPr>
          <p:cNvSpPr txBox="1"/>
          <p:nvPr/>
        </p:nvSpPr>
        <p:spPr>
          <a:xfrm>
            <a:off x="767002" y="5825021"/>
            <a:ext cx="2776297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01_getting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started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338837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0918E-CB47-06A8-E6D0-A993F414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48E5A11-9B09-8F1D-DA23-303CD868B3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 02 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02DFC6D-B478-7B60-1544-65C6C4487E1E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19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BF91DA-451B-631A-2D7C-50D4CBEC8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21" y="1348559"/>
            <a:ext cx="7712108" cy="41608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A678A0-7085-9C39-563C-72BC6A42F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363" y="1820462"/>
            <a:ext cx="6462112" cy="5037538"/>
          </a:xfrm>
          <a:prstGeom prst="rect">
            <a:avLst/>
          </a:prstGeom>
        </p:spPr>
      </p:pic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24D69BEC-442B-6B82-0A97-BB6A2F496DA5}"/>
              </a:ext>
            </a:extLst>
          </p:cNvPr>
          <p:cNvSpPr/>
          <p:nvPr/>
        </p:nvSpPr>
        <p:spPr>
          <a:xfrm>
            <a:off x="8635505" y="4838701"/>
            <a:ext cx="2952750" cy="60959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1562"/>
              <a:gd name="adj6" fmla="val -30215"/>
            </a:avLst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실행과 관계없이 계속 대시보드를 켜두고 싶다면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터미널에서 요 명령어로 정식 서버를 실행해 두고 접속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BE7729-24A7-B1F9-B0D8-A92306FC3DCD}"/>
              </a:ext>
            </a:extLst>
          </p:cNvPr>
          <p:cNvSpPr/>
          <p:nvPr/>
        </p:nvSpPr>
        <p:spPr>
          <a:xfrm>
            <a:off x="5419725" y="2143125"/>
            <a:ext cx="6381750" cy="2447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D5EDDD-7404-B3F3-2454-75B112A972D3}"/>
              </a:ext>
            </a:extLst>
          </p:cNvPr>
          <p:cNvSpPr txBox="1"/>
          <p:nvPr/>
        </p:nvSpPr>
        <p:spPr>
          <a:xfrm>
            <a:off x="8570419" y="5448300"/>
            <a:ext cx="2352676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prefect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2329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B070-E283-9DAC-C141-A4943CDF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F0FA59-714E-8CF4-6714-34D351A86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76" y="1542852"/>
            <a:ext cx="5624047" cy="4572396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BA8207C8-A072-8577-F4EA-E86BE4D7B33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 03 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69472BA-755A-C816-E7D3-F47986E72B18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20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0C57EA-330B-E074-1586-87880D9C654C}"/>
              </a:ext>
            </a:extLst>
          </p:cNvPr>
          <p:cNvSpPr/>
          <p:nvPr/>
        </p:nvSpPr>
        <p:spPr>
          <a:xfrm>
            <a:off x="671977" y="3829050"/>
            <a:ext cx="5597621" cy="7143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554E41-C080-99D3-A1CF-0E68BD435C3A}"/>
              </a:ext>
            </a:extLst>
          </p:cNvPr>
          <p:cNvSpPr/>
          <p:nvPr/>
        </p:nvSpPr>
        <p:spPr>
          <a:xfrm>
            <a:off x="658763" y="5661643"/>
            <a:ext cx="5597621" cy="453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4C695A9-9514-00DB-1225-51E6792FA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356" y="2752670"/>
            <a:ext cx="7181850" cy="3581510"/>
          </a:xfrm>
          <a:prstGeom prst="rect">
            <a:avLst/>
          </a:prstGeom>
        </p:spPr>
      </p:pic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22AC59E2-7AF2-42D0-19E2-4E619D749FCF}"/>
              </a:ext>
            </a:extLst>
          </p:cNvPr>
          <p:cNvSpPr/>
          <p:nvPr/>
        </p:nvSpPr>
        <p:spPr>
          <a:xfrm>
            <a:off x="6406655" y="1947863"/>
            <a:ext cx="2952750" cy="6143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0674"/>
              <a:gd name="adj6" fmla="val -109893"/>
            </a:avLst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코드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분석하고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refactoring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하고 대시보드에서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1214615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FD7B-AAE3-8A1B-005A-1BF6FAEC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895B78F-F41C-3BE1-F0BF-F6860D43D70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 04 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A12BE71-0151-FBB9-2D81-A9DC3617AEA4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solidFill>
                  <a:schemeClr val="tx1"/>
                </a:solidFill>
              </a:rPr>
              <a:pPr/>
              <a:t>21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6370499-5917-8D72-85AA-30875FAC0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02" y="1296047"/>
            <a:ext cx="6757768" cy="522922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10BC5E8-0C3A-3884-BF2F-376981928045}"/>
              </a:ext>
            </a:extLst>
          </p:cNvPr>
          <p:cNvSpPr/>
          <p:nvPr/>
        </p:nvSpPr>
        <p:spPr>
          <a:xfrm>
            <a:off x="5068718" y="3415665"/>
            <a:ext cx="1955018" cy="2080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설명선: 굽은 선 5">
            <a:extLst>
              <a:ext uri="{FF2B5EF4-FFF2-40B4-BE49-F238E27FC236}">
                <a16:creationId xmlns:a16="http://schemas.microsoft.com/office/drawing/2014/main" id="{7AE1E313-1D0F-BAA9-9B92-0E2A889531E4}"/>
              </a:ext>
            </a:extLst>
          </p:cNvPr>
          <p:cNvSpPr/>
          <p:nvPr/>
        </p:nvSpPr>
        <p:spPr>
          <a:xfrm>
            <a:off x="977405" y="2481263"/>
            <a:ext cx="2952750" cy="614362"/>
          </a:xfrm>
          <a:prstGeom prst="borderCallout2">
            <a:avLst>
              <a:gd name="adj1" fmla="val 105572"/>
              <a:gd name="adj2" fmla="val 51667"/>
              <a:gd name="adj3" fmla="val 265262"/>
              <a:gd name="adj4" fmla="val 58494"/>
              <a:gd name="adj5" fmla="val 365093"/>
              <a:gd name="adj6" fmla="val 135268"/>
            </a:avLst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코드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분석하고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refactoring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하고 대시보드에서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4116015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9595-A7A2-8D11-697D-CA319DF3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8F6A-7E6A-AD19-2830-0E0A1F92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bg1"/>
                </a:solidFill>
              </a:rPr>
              <a:t>Workflow Orchestration Framework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2400" dirty="0">
                <a:solidFill>
                  <a:schemeClr val="bg1"/>
                </a:solidFill>
              </a:rPr>
              <a:t>02_workflow orchestration framework.pptx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292716D-C476-8D34-55FE-086386A1F74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9AEA31C2-6BA1-FFFB-2087-D219FEF16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78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A6FDC-7223-DD81-8C76-9DD825E9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E5FC7-1A88-E64D-FA75-866F06B59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LLM(Large Language Model)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pic>
        <p:nvPicPr>
          <p:cNvPr id="2050" name="Picture 2" descr="검은색 배경에 인간의 뇌가 클로즈업된 모습">
            <a:extLst>
              <a:ext uri="{FF2B5EF4-FFF2-40B4-BE49-F238E27FC236}">
                <a16:creationId xmlns:a16="http://schemas.microsoft.com/office/drawing/2014/main" id="{171DE0B0-D0E6-D016-6B12-42E7D596F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863" y="3048000"/>
            <a:ext cx="5380037" cy="3027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9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63430" y="1190610"/>
            <a:ext cx="1099039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기반으로 다음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확률적으로 예측하여 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72265" y="2439864"/>
            <a:ext cx="5020496" cy="3660172"/>
            <a:chOff x="2938879" y="2492978"/>
            <a:chExt cx="5020496" cy="3660172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rgbClr val="FF99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9796" y="2492978"/>
              <a:ext cx="3379579" cy="3660172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563707" cy="384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3061575" y="3815616"/>
            <a:ext cx="8492250" cy="274296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5123393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12DC4873-8878-1A66-9E65-761AEC1413B3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C9864EF-57DD-0EF8-EEE2-E30A7B31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54FFA66-55FC-DF67-95A8-C264D5C14FCC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E42228-D343-259C-E33F-2EA9C7BE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1182490"/>
            <a:ext cx="11143400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말을 이어가는 끝 말 이어가기 끝판 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LLM(Large Language Model)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">
            <a:extLst>
              <a:ext uri="{FF2B5EF4-FFF2-40B4-BE49-F238E27FC236}">
                <a16:creationId xmlns:a16="http://schemas.microsoft.com/office/drawing/2014/main" id="{3C699B77-FF99-CB64-B75D-7B9921ECC9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</a:t>
            </a: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20B471C4-A2F3-53E6-397D-2F1C0CF7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BB82-A826-F26E-33F3-BE58B9BF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836A0981-B06E-7FA9-3C84-1BEB1DD7D66C}"/>
              </a:ext>
            </a:extLst>
          </p:cNvPr>
          <p:cNvSpPr/>
          <p:nvPr/>
        </p:nvSpPr>
        <p:spPr>
          <a:xfrm>
            <a:off x="9114907" y="4441971"/>
            <a:ext cx="1676400" cy="981109"/>
          </a:xfrm>
          <a:prstGeom prst="cloudCallout">
            <a:avLst>
              <a:gd name="adj1" fmla="val -64014"/>
              <a:gd name="adj2" fmla="val -11807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466065-E699-8505-729C-071D8E4E57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AI, LLM)</a:t>
            </a:r>
            <a:endParaRPr lang="ko-KR" altLang="en-US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3B534-17F1-16CB-F2B2-D4F954D22BE1}"/>
              </a:ext>
            </a:extLst>
          </p:cNvPr>
          <p:cNvSpPr txBox="1"/>
          <p:nvPr/>
        </p:nvSpPr>
        <p:spPr>
          <a:xfrm>
            <a:off x="640703" y="2212211"/>
            <a:ext cx="6906500" cy="295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B3DEC-D9DE-0819-ED6A-4522BD601F7C}"/>
              </a:ext>
            </a:extLst>
          </p:cNvPr>
          <p:cNvSpPr txBox="1"/>
          <p:nvPr/>
        </p:nvSpPr>
        <p:spPr>
          <a:xfrm>
            <a:off x="9925614" y="3590676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tokenizer</a:t>
            </a:r>
            <a:endParaRPr lang="ko-KR" altLang="en-US" sz="2000" b="1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936B0-BF75-16F5-23C6-40015226234C}"/>
              </a:ext>
            </a:extLst>
          </p:cNvPr>
          <p:cNvSpPr txBox="1"/>
          <p:nvPr/>
        </p:nvSpPr>
        <p:spPr>
          <a:xfrm rot="20880952">
            <a:off x="9847025" y="4583788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02C82-4BA6-FEDC-2B87-D1CF7DBA6ED8}"/>
              </a:ext>
            </a:extLst>
          </p:cNvPr>
          <p:cNvSpPr txBox="1"/>
          <p:nvPr/>
        </p:nvSpPr>
        <p:spPr>
          <a:xfrm rot="18871284">
            <a:off x="10087460" y="4917533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AB36C-27C3-2D4A-22B2-AC7B1B098554}"/>
              </a:ext>
            </a:extLst>
          </p:cNvPr>
          <p:cNvSpPr txBox="1"/>
          <p:nvPr/>
        </p:nvSpPr>
        <p:spPr>
          <a:xfrm rot="20880952">
            <a:off x="9500627" y="4997583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F040D-97CF-EDFE-B8F0-1019CB16013B}"/>
              </a:ext>
            </a:extLst>
          </p:cNvPr>
          <p:cNvSpPr txBox="1"/>
          <p:nvPr/>
        </p:nvSpPr>
        <p:spPr>
          <a:xfrm rot="899439">
            <a:off x="9289956" y="465822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BF0C6E-FCBC-9280-86ED-228EEE52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그래픽 12" descr="참새">
            <a:extLst>
              <a:ext uri="{FF2B5EF4-FFF2-40B4-BE49-F238E27FC236}">
                <a16:creationId xmlns:a16="http://schemas.microsoft.com/office/drawing/2014/main" id="{BBDD8201-6555-92B7-5E35-4BE0D3251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7106" y="2514599"/>
            <a:ext cx="1593823" cy="159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23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683" y="2585739"/>
            <a:ext cx="7307718" cy="387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599571" y="1247581"/>
            <a:ext cx="9308471" cy="120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등</a:t>
            </a:r>
            <a:endParaRPr lang="en-US" altLang="ko-KR" sz="16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74EE66-6D27-BE42-817E-0B9A49EA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112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879C-ADA7-CCED-8D88-051AC31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F9A9CD-06E8-DF8E-97D7-3AE3394989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8EA9-9839-49C9-70B3-30C9788433C0}"/>
              </a:ext>
            </a:extLst>
          </p:cNvPr>
          <p:cNvSpPr txBox="1"/>
          <p:nvPr/>
        </p:nvSpPr>
        <p:spPr>
          <a:xfrm>
            <a:off x="3266470" y="1841060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실습하는 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colab_python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0AF9B-B442-980A-C5A4-DC006F03ACC8}"/>
              </a:ext>
            </a:extLst>
          </p:cNvPr>
          <p:cNvSpPr txBox="1"/>
          <p:nvPr/>
        </p:nvSpPr>
        <p:spPr>
          <a:xfrm>
            <a:off x="3676852" y="2360030"/>
            <a:ext cx="4259862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 text)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번역하기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(Translate languages)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소설 만들기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(Write creative content)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보이스피싱 탐지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(Categorize 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D1F2-1E52-48A8-B34D-CDC25627F90F}"/>
              </a:ext>
            </a:extLst>
          </p:cNvPr>
          <p:cNvSpPr txBox="1"/>
          <p:nvPr/>
        </p:nvSpPr>
        <p:spPr>
          <a:xfrm>
            <a:off x="3862085" y="5172872"/>
            <a:ext cx="446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서비스를 친구에게 휴대폰이나 인터넷으로 제시하자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 using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gradio.app</a:t>
            </a:r>
            <a:endParaRPr lang="ko-KR" altLang="en-US" sz="160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146E1227-8063-B6EA-B8B9-BA67E1D2D5CB}"/>
              </a:ext>
            </a:extLst>
          </p:cNvPr>
          <p:cNvSpPr/>
          <p:nvPr/>
        </p:nvSpPr>
        <p:spPr>
          <a:xfrm>
            <a:off x="3415273" y="2724149"/>
            <a:ext cx="261578" cy="1343025"/>
          </a:xfrm>
          <a:prstGeom prst="leftBrace">
            <a:avLst>
              <a:gd name="adj1" fmla="val 6646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90D4E2EA-0E67-0DED-DBB8-26969C405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396131" y="4503162"/>
            <a:ext cx="584775" cy="584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1DB374-A3B1-F3AE-D2DF-CE088155D4CC}"/>
              </a:ext>
            </a:extLst>
          </p:cNvPr>
          <p:cNvSpPr txBox="1"/>
          <p:nvPr/>
        </p:nvSpPr>
        <p:spPr>
          <a:xfrm>
            <a:off x="1621290" y="5985923"/>
            <a:ext cx="8892721" cy="33855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4가지 기능을 만들어줘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6E873D37-2954-7F03-4527-CFCCB44F2C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745" y="5856820"/>
            <a:ext cx="683073" cy="68307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0402A52-7FDC-053B-85A0-382B765E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844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6BB5-3CE1-EF16-05C4-B635BA55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978D07-459B-C703-E1EC-FF810A7391E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Antigravity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05AED-A77D-58EC-0032-536ACE833B97}"/>
              </a:ext>
            </a:extLst>
          </p:cNvPr>
          <p:cNvSpPr txBox="1"/>
          <p:nvPr/>
        </p:nvSpPr>
        <p:spPr>
          <a:xfrm>
            <a:off x="1625600" y="3858614"/>
            <a:ext cx="10021454" cy="4653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쳇봇을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만들어줘</a:t>
            </a:r>
          </a:p>
        </p:txBody>
      </p:sp>
      <p:pic>
        <p:nvPicPr>
          <p:cNvPr id="9" name="그래픽 8" descr="일러스트레이터 단색으로 채워진">
            <a:extLst>
              <a:ext uri="{FF2B5EF4-FFF2-40B4-BE49-F238E27FC236}">
                <a16:creationId xmlns:a16="http://schemas.microsoft.com/office/drawing/2014/main" id="{6D7505B9-1756-C0DD-583A-9B2819007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3691755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D5065-A042-E06E-B322-4A026BC82225}"/>
              </a:ext>
            </a:extLst>
          </p:cNvPr>
          <p:cNvSpPr txBox="1"/>
          <p:nvPr/>
        </p:nvSpPr>
        <p:spPr>
          <a:xfrm>
            <a:off x="628073" y="1415281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Antigravity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DE038-76C9-055F-75EC-7DB100B80577}"/>
              </a:ext>
            </a:extLst>
          </p:cNvPr>
          <p:cNvSpPr txBox="1"/>
          <p:nvPr/>
        </p:nvSpPr>
        <p:spPr>
          <a:xfrm>
            <a:off x="1625600" y="4665693"/>
            <a:ext cx="8525163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API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사용하면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Google DeepMind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만든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모델에 액세스할 수 있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으며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처음부터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멀티모달로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빌드되므로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코드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오디오 등 다양한 종류의 콘텐츠에서 원활한 추론이 가능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D26C370-C8F1-B27B-BCD0-DFA19045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547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bg1"/>
                </a:solidFill>
              </a:rPr>
              <a:t>AI Agent Coding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it-IT" altLang="ko-KR" sz="2400" dirty="0">
                <a:solidFill>
                  <a:schemeClr val="bg1"/>
                </a:solidFill>
              </a:rPr>
              <a:t>03_AI Agent Coding.pptx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808028-05A2-80F4-D7D9-E87F7EFC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771" y="2001971"/>
            <a:ext cx="3894157" cy="4244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814FD-E379-39D7-CB67-C3E49C6F4CAA}"/>
              </a:ext>
            </a:extLst>
          </p:cNvPr>
          <p:cNvSpPr txBox="1"/>
          <p:nvPr/>
        </p:nvSpPr>
        <p:spPr>
          <a:xfrm>
            <a:off x="6667499" y="6246679"/>
            <a:ext cx="203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https://abacus.ai/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5364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4A94-8BCA-872D-7423-FE3B1279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2F0FBC7-3D1C-5821-6A59-F4F3C29716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Agent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= AI + Harness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0A8C2-C37F-B9A0-44D8-DF747225DB35}"/>
              </a:ext>
            </a:extLst>
          </p:cNvPr>
          <p:cNvSpPr txBox="1"/>
          <p:nvPr/>
        </p:nvSpPr>
        <p:spPr>
          <a:xfrm>
            <a:off x="8100863" y="2167713"/>
            <a:ext cx="3061624" cy="212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목적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(Goal)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(Predict)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조정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(Control)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8" name="Picture 4" descr="말을 타는 사람">
            <a:extLst>
              <a:ext uri="{FF2B5EF4-FFF2-40B4-BE49-F238E27FC236}">
                <a16:creationId xmlns:a16="http://schemas.microsoft.com/office/drawing/2014/main" id="{2AD0284C-07B6-C81F-3E9C-68A18AD39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479" y="2081988"/>
            <a:ext cx="4906962" cy="3577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248611-7D5C-5A86-C2D8-1B64C994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0EF1410D-BB2A-DF7D-AFE4-5A28EB7F87B2}"/>
              </a:ext>
            </a:extLst>
          </p:cNvPr>
          <p:cNvSpPr/>
          <p:nvPr/>
        </p:nvSpPr>
        <p:spPr>
          <a:xfrm>
            <a:off x="7724775" y="2438400"/>
            <a:ext cx="247650" cy="1609725"/>
          </a:xfrm>
          <a:prstGeom prst="leftBrace">
            <a:avLst>
              <a:gd name="adj1" fmla="val 3991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916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FC5E-E5B2-C51D-B5D1-2FC22240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C481E3E-0CDE-9F85-9CC8-DCB1C387C25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26A99-3ED1-DD5C-2C9B-97C1CDC02DEF}"/>
              </a:ext>
            </a:extLst>
          </p:cNvPr>
          <p:cNvSpPr txBox="1"/>
          <p:nvPr/>
        </p:nvSpPr>
        <p:spPr>
          <a:xfrm>
            <a:off x="1422400" y="1640603"/>
            <a:ext cx="100888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8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① Workflow</a:t>
            </a:r>
            <a:endParaRPr lang="en-US" altLang="ko-KR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n8n, Prefect, 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Airflow….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endParaRPr lang="en-US" altLang="ko-KR" sz="1800" b="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② Agent</a:t>
            </a:r>
            <a:endParaRPr lang="en-US" altLang="ko-KR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LangGraph, </a:t>
            </a: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 Agents SDK, 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CrewAI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…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③ Agent Platform</a:t>
            </a:r>
            <a:endParaRPr lang="en-US" altLang="ko-KR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LangSmith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Fleet, Google Agent Engine, Microsoft Copilot Studio, Amazon Bedrock Agents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래픽 7" descr="화살표가 있는 원">
            <a:extLst>
              <a:ext uri="{FF2B5EF4-FFF2-40B4-BE49-F238E27FC236}">
                <a16:creationId xmlns:a16="http://schemas.microsoft.com/office/drawing/2014/main" id="{259331E3-58B1-19AC-856F-3155A3D5D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382520"/>
            <a:ext cx="2092960" cy="209296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A16E70C-ACDF-C221-9A38-5043529B4CA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008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DA31-192E-5E9F-B13A-4898674D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A016194-4469-88E7-BBD2-413D936BCEF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coding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B50DF-1463-023A-FA74-17F95F99F0F7}"/>
              </a:ext>
            </a:extLst>
          </p:cNvPr>
          <p:cNvSpPr txBox="1"/>
          <p:nvPr/>
        </p:nvSpPr>
        <p:spPr>
          <a:xfrm>
            <a:off x="549563" y="1352316"/>
            <a:ext cx="1109287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코딩 지식을 가진 상담원, 에이전트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내 컴퓨터 권한을 넘겨받아 대신 일해주는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발자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52348-2241-2DB8-A0AC-41BFE067DFB4}"/>
              </a:ext>
            </a:extLst>
          </p:cNvPr>
          <p:cNvSpPr txBox="1"/>
          <p:nvPr/>
        </p:nvSpPr>
        <p:spPr>
          <a:xfrm>
            <a:off x="858980" y="2231103"/>
            <a:ext cx="10474037" cy="29783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자율적 계획 수립: "이 기능을 구현하려면 어떤 파일들을 수정해야 하지?" 분석하고 계획을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수립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직접 파일 조작: 프로젝트 폴더 내의 여러 코드를 직접 읽고, 수정하고, 새 파일을 생성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 및 명령어 실행: 터미널에서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npm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pytest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테스트 명령어를 직접 실행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디버깅 및 피드백 루프: 테스트를 돌려보고 에러가 나면, 사람이 개입하지 않아도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에러 로그를 보고 코드를 다시 수정하여 통과할 때까지 반복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연동: 작업이 끝나면 변경 사항을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스테이징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)하고, 적절한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커밋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메시지까지 작성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683084E-896A-DF70-5313-42878B8B7D3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91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515D-CD48-6D90-B34C-C9DD8104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224926-1656-BC2D-D28F-2F89F07FA4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coding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A6C08-DF9D-A5D3-944A-EE31C64E3FC4}"/>
              </a:ext>
            </a:extLst>
          </p:cNvPr>
          <p:cNvSpPr txBox="1"/>
          <p:nvPr/>
        </p:nvSpPr>
        <p:spPr>
          <a:xfrm>
            <a:off x="544944" y="1510391"/>
            <a:ext cx="11028219" cy="4722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코딩 에이전트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시장에서 돈을 벌고 있는 서비스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IDE(Integrated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Developmenr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Environment)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제공하는 서비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(GPT-4o, GPT-3.5 등)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Cloud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Vertex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AI /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Anthropic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3.5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Sonnet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CLI(Command Line Interface)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환경에서 명령어를 입력하는 형태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Anthropic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Google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CLI,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CLI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동영상등을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제작하는 서비스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Midjourney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Sora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Runway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Gen-3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코딩 에이전트 유료 구독 서비스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Copilot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Cursor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E631CF8-3566-1E3A-B152-8AEF7A8A1C1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852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30CD-4BA5-FF9A-FA8A-248DEC96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ADD2B8E-3F9B-9F4E-4BCD-CD2A128F52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BB9A3-B4CC-6D56-9BCC-D79C476B62E4}"/>
              </a:ext>
            </a:extLst>
          </p:cNvPr>
          <p:cNvSpPr txBox="1"/>
          <p:nvPr/>
        </p:nvSpPr>
        <p:spPr>
          <a:xfrm>
            <a:off x="964044" y="2457451"/>
            <a:ext cx="10437381" cy="337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Microsoft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플러그인으로 설치하는 오픈 소스 AI 개발 어시스턴트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IDE인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LLM(대규모 언어 모델) 연동 기능을 제공하고,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코드를 작성/수정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기능을 확장하여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대화하고, 코드를 생성하거나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리팩토링하는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 개발 워크플로우에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통합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터미널(CLI)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IDE(통합개발환경) 환경을 결합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기능을 쓸 수 있게 만든 도구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29F8A24-40A2-4C56-5F4F-0EB94EF9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line - AI Coding, Open Source and Uncompromised">
            <a:extLst>
              <a:ext uri="{FF2B5EF4-FFF2-40B4-BE49-F238E27FC236}">
                <a16:creationId xmlns:a16="http://schemas.microsoft.com/office/drawing/2014/main" id="{D268E0F2-C5D2-E2F6-04BE-BE543823D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19" y="1319214"/>
            <a:ext cx="909636" cy="90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1849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C4B3-3BBC-1CC5-8F0A-9151144B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8327ECC-9959-5AFE-7237-F43E91A0F2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 </a:t>
            </a:r>
            <a:r>
              <a:rPr lang="ko-KR" altLang="en-US" sz="2800" b="1" cap="none" dirty="0">
                <a:latin typeface="Lora" pitchFamily="2" charset="0"/>
              </a:rPr>
              <a:t>주요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기능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및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특징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818D7-538E-939A-40B0-74D19780A209}"/>
              </a:ext>
            </a:extLst>
          </p:cNvPr>
          <p:cNvSpPr txBox="1"/>
          <p:nvPr/>
        </p:nvSpPr>
        <p:spPr>
          <a:xfrm>
            <a:off x="544944" y="1510391"/>
            <a:ext cx="11028219" cy="522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개발 지원: 컨텍스트를 인식하는 코드 제안, 자동 완성 및 지능적인 권장 사항을 제공하여 개발 시간을 단축하고 코딩 오류를 최소화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작업 수행: 파일 읽기/쓰기, 명령 실행, 웹 브라우저 사용 등 다양한 시스템 수준 작업을 수행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유연성: 다양한 AI 모델의 강점을 활용하는 정교한 워크플로우를 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 피로 감소: 프롬프트 피로를 줄이고 상호 작용을 더욱 자연스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러움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확장성 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MCP):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사용자 정의 도구 및 워크플로우와 통합할 수 있어 특정 요구 사항에 맞게 조정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시스템에 적합: 제어, 유연성 및 시스템 수준 통합이 중요한 복잡한 시스템을 구축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적합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CC0ABB9-3C0E-C170-3BF1-9930A6302E7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391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4B57-93D9-0468-7551-29306C63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DB069D-FCC4-495B-B505-098B57F27B2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google </a:t>
            </a:r>
            <a:r>
              <a:rPr lang="en-US" altLang="ko-KR" sz="2800" b="1" cap="none" dirty="0" err="1">
                <a:latin typeface="Lora" pitchFamily="2" charset="0"/>
              </a:rPr>
              <a:t>gemini</a:t>
            </a:r>
            <a:r>
              <a:rPr lang="en-US" altLang="ko-KR" sz="2800" b="1" cap="none" dirty="0">
                <a:latin typeface="Lora" pitchFamily="2" charset="0"/>
              </a:rPr>
              <a:t> SDK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448FD-C14E-92DF-BCEC-2802271E4081}"/>
              </a:ext>
            </a:extLst>
          </p:cNvPr>
          <p:cNvSpPr txBox="1"/>
          <p:nvPr/>
        </p:nvSpPr>
        <p:spPr>
          <a:xfrm>
            <a:off x="685800" y="1857375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google </a:t>
            </a:r>
            <a:r>
              <a:rPr lang="en-US" altLang="ko-KR" dirty="0" err="1">
                <a:hlinkClick r:id="rId2"/>
              </a:rPr>
              <a:t>gemini</a:t>
            </a:r>
            <a:r>
              <a:rPr lang="en-US" altLang="ko-KR" dirty="0">
                <a:hlinkClick r:id="rId2"/>
              </a:rPr>
              <a:t> SDK</a:t>
            </a:r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CD1FCCF-6E19-1630-5B7B-33E33D06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0965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BD28-DB95-62F9-8D53-79638B35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47161F7-4E40-9AA5-77DB-5C9C8F8DB0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Harness Engineering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134482-2CD9-E3B3-133A-BC9B2BE35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182823"/>
              </p:ext>
            </p:extLst>
          </p:nvPr>
        </p:nvGraphicFramePr>
        <p:xfrm>
          <a:off x="638885" y="1543208"/>
          <a:ext cx="11114964" cy="4043092"/>
        </p:xfrm>
        <a:graphic>
          <a:graphicData uri="http://schemas.openxmlformats.org/drawingml/2006/table">
            <a:tbl>
              <a:tblPr/>
              <a:tblGrid>
                <a:gridCol w="2675815">
                  <a:extLst>
                    <a:ext uri="{9D8B030D-6E8A-4147-A177-3AD203B41FA5}">
                      <a16:colId xmlns:a16="http://schemas.microsoft.com/office/drawing/2014/main" val="569965403"/>
                    </a:ext>
                  </a:extLst>
                </a:gridCol>
                <a:gridCol w="3724275">
                  <a:extLst>
                    <a:ext uri="{9D8B030D-6E8A-4147-A177-3AD203B41FA5}">
                      <a16:colId xmlns:a16="http://schemas.microsoft.com/office/drawing/2014/main" val="296715999"/>
                    </a:ext>
                  </a:extLst>
                </a:gridCol>
                <a:gridCol w="4714874">
                  <a:extLst>
                    <a:ext uri="{9D8B030D-6E8A-4147-A177-3AD203B41FA5}">
                      <a16:colId xmlns:a16="http://schemas.microsoft.com/office/drawing/2014/main" val="3804051023"/>
                    </a:ext>
                  </a:extLst>
                </a:gridCol>
              </a:tblGrid>
              <a:tr h="2585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요즘 말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떠올리면 되는 고전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B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한 줄 요약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70B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70B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B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22137"/>
                  </a:ext>
                </a:extLst>
              </a:tr>
              <a:tr h="9746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바이브</a:t>
                      </a: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코딩 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vibe coding)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프로토타이핑 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(prototyping)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B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느낌 가는 대로 빠르게 만들어 던져보는 스케치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 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맘에 안 들면 버리는 게 당연한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회용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90B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0B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B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39784"/>
                  </a:ext>
                </a:extLst>
              </a:tr>
              <a:tr h="9746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스펙 코딩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spec coding)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요구공학 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requirements engineering)·</a:t>
                      </a: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분석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설계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B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코딩하기 전에 무엇을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왜 만들어야 하는지 텍스트로 확실히 못 박고 들어가기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50B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50B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C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417974"/>
                  </a:ext>
                </a:extLst>
              </a:tr>
              <a:tr h="9746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루프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loop)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스파이럴 모델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spiral model)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C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목표 설정 → 측정 → 실행 → 교정의 무한 루프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 </a:t>
                      </a: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측정이 불가능하면 루프도 멈춘다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60C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60C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74535"/>
                  </a:ext>
                </a:extLst>
              </a:tr>
              <a:tr h="79565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하네스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harness)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테스트 하네스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(test harness)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+ 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그 위의 전부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 모든 규칙을 기계적으로 강제하는 안전하고 견고한 그릇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9205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FFC055-AD74-D401-E12F-0C7E68F52296}"/>
              </a:ext>
            </a:extLst>
          </p:cNvPr>
          <p:cNvSpPr txBox="1"/>
          <p:nvPr/>
        </p:nvSpPr>
        <p:spPr>
          <a:xfrm>
            <a:off x="771525" y="6036261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hlinkClick r:id="rId2"/>
              </a:rPr>
              <a:t>하네스</a:t>
            </a:r>
            <a:r>
              <a:rPr lang="ko-KR" altLang="en-US" dirty="0">
                <a:hlinkClick r:id="rId2"/>
              </a:rPr>
              <a:t> 엔지니어링</a:t>
            </a:r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14F34BD-6A4F-25C4-3F7F-9B1CDA74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939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28D1-CD1B-B414-7BD1-3AADA538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62F479A-2AFD-A960-36F9-B5D575BD3C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Vibe Coding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5D9FF4-0686-1D09-48A6-6B02B02256ED}"/>
              </a:ext>
            </a:extLst>
          </p:cNvPr>
          <p:cNvSpPr txBox="1"/>
          <p:nvPr/>
        </p:nvSpPr>
        <p:spPr>
          <a:xfrm>
            <a:off x="733425" y="2019300"/>
            <a:ext cx="238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2"/>
              </a:rPr>
              <a:t>함께해요 </a:t>
            </a:r>
            <a:r>
              <a:rPr lang="ko-KR" altLang="en-US" dirty="0" err="1">
                <a:hlinkClick r:id="rId2"/>
              </a:rPr>
              <a:t>바이브</a:t>
            </a:r>
            <a:r>
              <a:rPr lang="ko-KR" altLang="en-US" dirty="0">
                <a:hlinkClick r:id="rId2"/>
              </a:rPr>
              <a:t> 코딩</a:t>
            </a:r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20067C3-1E2A-B388-5F9E-7177EF16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327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Workflow</a:t>
            </a:r>
            <a:b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04_AI Workflow_n8n.pptx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A708D-6FDE-3C03-9B19-8B1D1B23914F}"/>
              </a:ext>
            </a:extLst>
          </p:cNvPr>
          <p:cNvSpPr txBox="1"/>
          <p:nvPr/>
        </p:nvSpPr>
        <p:spPr>
          <a:xfrm>
            <a:off x="838199" y="3869237"/>
            <a:ext cx="358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 </a:t>
            </a:r>
            <a:r>
              <a:rPr lang="ko-KR" altLang="en-US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노코드</a:t>
            </a:r>
            <a:r>
              <a:rPr lang="ko-KR" alt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자동화 한글 가이드북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3641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D1AC-C48D-A42C-9FB0-5AD27899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22965B5-A81A-2008-5062-EB1615BEF70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API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95BCE-20D1-BBC0-F7A6-829398008ADF}"/>
              </a:ext>
            </a:extLst>
          </p:cNvPr>
          <p:cNvSpPr txBox="1"/>
          <p:nvPr/>
        </p:nvSpPr>
        <p:spPr>
          <a:xfrm>
            <a:off x="581024" y="1978410"/>
            <a:ext cx="11229975" cy="291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2800" dirty="0"/>
              <a:t>→ What is an API? 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000" dirty="0"/>
              <a:t>An API (Application Programming interface) exposes a service. Developers write programs to consume it.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800" dirty="0"/>
              <a:t>→ Definition &amp; 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56DEA-739D-5B5A-1209-54B0F5E8F1D6}"/>
              </a:ext>
            </a:extLst>
          </p:cNvPr>
          <p:cNvSpPr txBox="1"/>
          <p:nvPr/>
        </p:nvSpPr>
        <p:spPr>
          <a:xfrm>
            <a:off x="3048000" y="3148955"/>
            <a:ext cx="6096000" cy="56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1800" dirty="0"/>
              <a:t>→ Webhooks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54F1A35-5A3D-8CF7-6AB0-21C11AC8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2688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E1567-E565-83D2-55B9-C0AC16CF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5C1CD59F-A5F7-D540-0D28-AB7ACE6997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b="1" cap="none" dirty="0">
                    <a:latin typeface="Lora" pitchFamily="2" charset="0"/>
                  </a:rPr>
                  <a:t>Webhooks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cap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1" i="1" cap="none" smtClean="0">
                            <a:latin typeface="Cambria Math" panose="02040503050406030204" pitchFamily="18" charset="0"/>
                          </a:rPr>
                          <m:t>API</m:t>
                        </m:r>
                      </m:e>
                      <m:sup>
                        <m:r>
                          <a:rPr lang="en-US" altLang="ko-KR" b="1" i="1" cap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2800" b="1" cap="none" dirty="0">
                    <a:latin typeface="Lora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5C1CD59F-A5F7-D540-0D28-AB7ACE699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2"/>
                <a:stretch>
                  <a:fillRect l="-1178"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A293E56-7678-9DC4-C8B7-0A1EABCC4A95}"/>
              </a:ext>
            </a:extLst>
          </p:cNvPr>
          <p:cNvSpPr txBox="1"/>
          <p:nvPr/>
        </p:nvSpPr>
        <p:spPr>
          <a:xfrm>
            <a:off x="581024" y="1978410"/>
            <a:ext cx="11229975" cy="291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2800" dirty="0"/>
              <a:t>→ What is an API? 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000" dirty="0"/>
              <a:t>An API (Application Programming interface) exposes a service. Developers write programs to consume it.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800" dirty="0"/>
              <a:t>→ Definition &amp; Components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F84DC68-37E0-37CE-8BD6-848C8576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961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bg1"/>
                </a:solidFill>
              </a:rPr>
              <a:t>AI Agent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2400" dirty="0">
                <a:solidFill>
                  <a:schemeClr val="bg1"/>
                </a:solidFill>
              </a:rPr>
              <a:t>05_AI Agents.pptx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84195" y="4456327"/>
            <a:ext cx="9582736" cy="1237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교수</a:t>
            </a:r>
            <a:endParaRPr lang="en-US" altLang="ko-KR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6479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179A9-7D40-2A4C-A41C-5B1562F78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9DFD731-12C3-888E-640E-7C6AF199DC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Langchain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6C240F-2D2A-FB20-4439-7B6EF1ACD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4211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10152</TotalTime>
  <Words>2326</Words>
  <Application>Microsoft Office PowerPoint</Application>
  <PresentationFormat>와이드스크린</PresentationFormat>
  <Paragraphs>394</Paragraphs>
  <Slides>45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7" baseType="lpstr">
      <vt:lpstr>D2Coding</vt:lpstr>
      <vt:lpstr>MS Gothic</vt:lpstr>
      <vt:lpstr>맑은 고딕</vt:lpstr>
      <vt:lpstr>바탕</vt:lpstr>
      <vt:lpstr>한컴 말랑말랑 Bold</vt:lpstr>
      <vt:lpstr>Arial</vt:lpstr>
      <vt:lpstr>Cambria Math</vt:lpstr>
      <vt:lpstr>Lora</vt:lpstr>
      <vt:lpstr>Tahoma</vt:lpstr>
      <vt:lpstr>Times New Roman</vt:lpstr>
      <vt:lpstr>Wingdings</vt:lpstr>
      <vt:lpstr>WelcomeDoc</vt:lpstr>
      <vt:lpstr>What is AI Workflow?  </vt:lpstr>
      <vt:lpstr>PowerPoint 프레젠테이션</vt:lpstr>
      <vt:lpstr>Automation</vt:lpstr>
      <vt:lpstr>PowerPoint 프레젠테이션</vt:lpstr>
      <vt:lpstr>PowerPoint 프레젠테이션</vt:lpstr>
      <vt:lpstr>Workflow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Workflow Orchestration Framework 02_workflow orchestration framework.pptx</vt:lpstr>
      <vt:lpstr>LLM(Large Language Model)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AI Agent Coding 03_AI Agent Coding.pptx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AI Workflow 04_AI Workflow_n8n.pptx</vt:lpstr>
      <vt:lpstr>PowerPoint 프레젠테이션</vt:lpstr>
      <vt:lpstr>PowerPoint 프레젠테이션</vt:lpstr>
      <vt:lpstr>AI Agent 05_AI Agents.pptx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186</cp:revision>
  <dcterms:created xsi:type="dcterms:W3CDTF">2026-04-06T01:00:39Z</dcterms:created>
  <dcterms:modified xsi:type="dcterms:W3CDTF">2026-08-19T07:17:54Z</dcterms:modified>
  <cp:version/>
</cp:coreProperties>
</file>