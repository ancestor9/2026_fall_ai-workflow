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7"/>
  </p:notesMasterIdLst>
  <p:handoutMasterIdLst>
    <p:handoutMasterId r:id="rId68"/>
  </p:handoutMasterIdLst>
  <p:sldIdLst>
    <p:sldId id="256" r:id="rId2"/>
    <p:sldId id="1280" r:id="rId3"/>
    <p:sldId id="1136" r:id="rId4"/>
    <p:sldId id="1288" r:id="rId5"/>
    <p:sldId id="1264" r:id="rId6"/>
    <p:sldId id="1281" r:id="rId7"/>
    <p:sldId id="1286" r:id="rId8"/>
    <p:sldId id="1294" r:id="rId9"/>
    <p:sldId id="1296" r:id="rId10"/>
    <p:sldId id="1295" r:id="rId11"/>
    <p:sldId id="1282" r:id="rId12"/>
    <p:sldId id="1297" r:id="rId13"/>
    <p:sldId id="1298" r:id="rId14"/>
    <p:sldId id="1299" r:id="rId15"/>
    <p:sldId id="1300" r:id="rId16"/>
    <p:sldId id="1284" r:id="rId17"/>
    <p:sldId id="1289" r:id="rId18"/>
    <p:sldId id="1287" r:id="rId19"/>
    <p:sldId id="1283" r:id="rId20"/>
    <p:sldId id="1301" r:id="rId21"/>
    <p:sldId id="1302" r:id="rId22"/>
    <p:sldId id="1278" r:id="rId23"/>
    <p:sldId id="1290" r:id="rId24"/>
    <p:sldId id="1303" r:id="rId25"/>
    <p:sldId id="1263" r:id="rId26"/>
    <p:sldId id="1265" r:id="rId27"/>
    <p:sldId id="1266" r:id="rId28"/>
    <p:sldId id="1268" r:id="rId29"/>
    <p:sldId id="1267" r:id="rId30"/>
    <p:sldId id="1269" r:id="rId31"/>
    <p:sldId id="1277" r:id="rId32"/>
    <p:sldId id="258" r:id="rId33"/>
    <p:sldId id="1271" r:id="rId34"/>
    <p:sldId id="259" r:id="rId35"/>
    <p:sldId id="260" r:id="rId36"/>
    <p:sldId id="353" r:id="rId37"/>
    <p:sldId id="354" r:id="rId38"/>
    <p:sldId id="262" r:id="rId39"/>
    <p:sldId id="263" r:id="rId40"/>
    <p:sldId id="264" r:id="rId41"/>
    <p:sldId id="265" r:id="rId42"/>
    <p:sldId id="266" r:id="rId43"/>
    <p:sldId id="267" r:id="rId44"/>
    <p:sldId id="268" r:id="rId45"/>
    <p:sldId id="269" r:id="rId46"/>
    <p:sldId id="270" r:id="rId47"/>
    <p:sldId id="271" r:id="rId48"/>
    <p:sldId id="273" r:id="rId49"/>
    <p:sldId id="274" r:id="rId50"/>
    <p:sldId id="275" r:id="rId51"/>
    <p:sldId id="277" r:id="rId52"/>
    <p:sldId id="1273" r:id="rId53"/>
    <p:sldId id="1274" r:id="rId54"/>
    <p:sldId id="1275" r:id="rId55"/>
    <p:sldId id="1276" r:id="rId56"/>
    <p:sldId id="1304" r:id="rId57"/>
    <p:sldId id="1272" r:id="rId58"/>
    <p:sldId id="1279" r:id="rId59"/>
    <p:sldId id="1292" r:id="rId60"/>
    <p:sldId id="1285" r:id="rId61"/>
    <p:sldId id="1293" r:id="rId62"/>
    <p:sldId id="285" r:id="rId63"/>
    <p:sldId id="286" r:id="rId64"/>
    <p:sldId id="287" r:id="rId65"/>
    <p:sldId id="288" r:id="rId66"/>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280"/>
            <p14:sldId id="1136"/>
            <p14:sldId id="1288"/>
            <p14:sldId id="1264"/>
            <p14:sldId id="1281"/>
            <p14:sldId id="1286"/>
            <p14:sldId id="1294"/>
            <p14:sldId id="1296"/>
            <p14:sldId id="1295"/>
            <p14:sldId id="1282"/>
            <p14:sldId id="1297"/>
            <p14:sldId id="1298"/>
            <p14:sldId id="1299"/>
            <p14:sldId id="1300"/>
            <p14:sldId id="1284"/>
            <p14:sldId id="1289"/>
            <p14:sldId id="1287"/>
            <p14:sldId id="1283"/>
            <p14:sldId id="1301"/>
            <p14:sldId id="1302"/>
            <p14:sldId id="1278"/>
            <p14:sldId id="1290"/>
            <p14:sldId id="1303"/>
            <p14:sldId id="1263"/>
            <p14:sldId id="1265"/>
            <p14:sldId id="1266"/>
            <p14:sldId id="1268"/>
            <p14:sldId id="1267"/>
            <p14:sldId id="1269"/>
            <p14:sldId id="1277"/>
            <p14:sldId id="258"/>
            <p14:sldId id="1271"/>
            <p14:sldId id="259"/>
            <p14:sldId id="260"/>
            <p14:sldId id="353"/>
            <p14:sldId id="354"/>
            <p14:sldId id="262"/>
            <p14:sldId id="263"/>
            <p14:sldId id="264"/>
            <p14:sldId id="265"/>
            <p14:sldId id="266"/>
            <p14:sldId id="267"/>
            <p14:sldId id="268"/>
            <p14:sldId id="269"/>
            <p14:sldId id="270"/>
            <p14:sldId id="271"/>
            <p14:sldId id="273"/>
            <p14:sldId id="274"/>
            <p14:sldId id="275"/>
            <p14:sldId id="277"/>
            <p14:sldId id="1273"/>
            <p14:sldId id="1274"/>
            <p14:sldId id="1275"/>
            <p14:sldId id="1276"/>
            <p14:sldId id="1304"/>
            <p14:sldId id="1272"/>
            <p14:sldId id="1279"/>
            <p14:sldId id="1292"/>
            <p14:sldId id="1285"/>
            <p14:sldId id="1293"/>
            <p14:sldId id="285"/>
            <p14:sldId id="286"/>
            <p14:sldId id="287"/>
            <p14:sldId id="288"/>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FF9B45"/>
    <a:srgbClr val="DD462F"/>
    <a:srgbClr val="D24726"/>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4995" autoAdjust="0"/>
    <p:restoredTop sz="94297" autoAdjust="0"/>
  </p:normalViewPr>
  <p:slideViewPr>
    <p:cSldViewPr snapToGrid="0">
      <p:cViewPr varScale="1">
        <p:scale>
          <a:sx n="104" d="100"/>
          <a:sy n="104" d="100"/>
        </p:scale>
        <p:origin x="870" y="108"/>
      </p:cViewPr>
      <p:guideLst>
        <p:guide orient="horz" pos="2160"/>
        <p:guide pos="3840"/>
      </p:guideLst>
    </p:cSldViewPr>
  </p:slideViewPr>
  <p:outlineViewPr>
    <p:cViewPr>
      <p:scale>
        <a:sx n="33" d="100"/>
        <a:sy n="33" d="100"/>
      </p:scale>
      <p:origin x="0" y="-59582"/>
    </p:cViewPr>
  </p:outlineViewPr>
  <p:notesTextViewPr>
    <p:cViewPr>
      <p:scale>
        <a:sx n="125" d="100"/>
        <a:sy n="125" d="100"/>
      </p:scale>
      <p:origin x="0" y="0"/>
    </p:cViewPr>
  </p:notesTextViewPr>
  <p:sorterViewPr>
    <p:cViewPr>
      <p:scale>
        <a:sx n="125" d="100"/>
        <a:sy n="125" d="100"/>
      </p:scale>
      <p:origin x="0" y="0"/>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2026-08-25</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2026-08-25</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C508-26D1-3E92-13C3-E96A7504087F}"/>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8BF9DC50-AD30-C94A-AEFA-61C7E05253D9}"/>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ACA590D0-32EF-A76C-0021-0B9595786ACC}"/>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728E9D49-A962-5E84-BD85-F48ACB59E4DE}"/>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9829541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2F5FD-E249-651D-FA63-D503EF331C42}"/>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375A6820-CA3D-9343-F847-57584F668436}"/>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84DA4F69-C33C-9549-F10F-431C92CA0DD1}"/>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8142A695-9D1E-1779-734F-42D3BC89BD5E}"/>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10</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6700753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02FA74-B788-104D-4090-0F61104FEF39}"/>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79560D38-73E1-F2C1-DE70-9F62083D1832}"/>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CE87FD08-475F-C6A6-B769-1FBB4E1B03BB}"/>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9F8E687C-74C6-337C-2DB0-FE75618D55DE}"/>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8280508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82C74C-64B2-619F-33A0-B808C54281F5}"/>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6D67A537-ED0F-424A-04D9-E0EFBBD88CBC}"/>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741AF416-39F5-996B-8750-E2D2B2105627}"/>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DFF4E1C4-7519-4D6E-4285-D6DA6C0A9DA0}"/>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16</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1754032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54290-5233-2A8D-0A16-4E64C03F958A}"/>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BD9770C1-FF54-8602-A54B-D8779EC5BFD1}"/>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B452E5E5-DF2C-A44F-8DE2-6BEB2FFE01FB}"/>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411595AB-F56E-ED7F-DE64-BF203EDC428F}"/>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19</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8569577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F4A73-0DF4-6018-8EC1-E24C2C445A1B}"/>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D9A6BCE8-90AA-D178-6A22-9999B923009B}"/>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0E33456C-38C3-CF65-F3B2-46F4EC8C5666}"/>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C118726D-52B0-5BA3-FE58-E58B4A5D1274}"/>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22</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2067269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C61B78-5575-88F8-0A7E-E53379AF5097}"/>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A350F36F-171E-36E5-3DAF-9968D8C25767}"/>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C9FFA43C-EDDB-96A5-0C73-7E04FD4144C3}"/>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C1DFA5DC-B20D-0A3E-0B35-F0C9FEE2A6A0}"/>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31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159122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7" name="Google Shape;167;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8" name="Google Shape;168;p3: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2024-03-07</a:t>
            </a:r>
            <a:endParaRPr/>
          </a:p>
        </p:txBody>
      </p:sp>
      <p:sp>
        <p:nvSpPr>
          <p:cNvPr id="169" name="Google Shape;169;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6" name="Google Shape;176;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1700828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5" name="Google Shape;185;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082727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6" name="Google Shape;216;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4"/>
        <p:cNvGrpSpPr/>
        <p:nvPr/>
      </p:nvGrpSpPr>
      <p:grpSpPr>
        <a:xfrm>
          <a:off x="0" y="0"/>
          <a:ext cx="0" cy="0"/>
          <a:chOff x="0" y="0"/>
          <a:chExt cx="0" cy="0"/>
        </a:xfrm>
      </p:grpSpPr>
      <p:sp>
        <p:nvSpPr>
          <p:cNvPr id="225" name="Google Shape;225;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6" name="Google Shape;226;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3"/>
        <p:cNvGrpSpPr/>
        <p:nvPr/>
      </p:nvGrpSpPr>
      <p:grpSpPr>
        <a:xfrm>
          <a:off x="0" y="0"/>
          <a:ext cx="0" cy="0"/>
          <a:chOff x="0" y="0"/>
          <a:chExt cx="0" cy="0"/>
        </a:xfrm>
      </p:grpSpPr>
      <p:sp>
        <p:nvSpPr>
          <p:cNvPr id="244" name="Google Shape;244;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5" name="Google Shape;245;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3" name="Google Shape;253;p1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4" name="Google Shape;254;p11: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2024-03-07</a:t>
            </a:r>
            <a:endParaRPr/>
          </a:p>
        </p:txBody>
      </p:sp>
      <p:sp>
        <p:nvSpPr>
          <p:cNvPr id="255" name="Google Shape;255;p1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3" name="Google Shape;263;p1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4" name="Google Shape;264;p12: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2024-03-07</a:t>
            </a:r>
            <a:endParaRPr/>
          </a:p>
        </p:txBody>
      </p:sp>
      <p:sp>
        <p:nvSpPr>
          <p:cNvPr id="265" name="Google Shape;265;p1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4"/>
        <p:cNvGrpSpPr/>
        <p:nvPr/>
      </p:nvGrpSpPr>
      <p:grpSpPr>
        <a:xfrm>
          <a:off x="0" y="0"/>
          <a:ext cx="0" cy="0"/>
          <a:chOff x="0" y="0"/>
          <a:chExt cx="0" cy="0"/>
        </a:xfrm>
      </p:grpSpPr>
      <p:sp>
        <p:nvSpPr>
          <p:cNvPr id="275" name="Google Shape;275;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76" name="Google Shape;276;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7" name="Google Shape;277;p13:notes"/>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r>
              <a:rPr lang="en-US"/>
              <a:t>2024-03-07</a:t>
            </a:r>
            <a:endParaRPr/>
          </a:p>
        </p:txBody>
      </p:sp>
      <p:sp>
        <p:nvSpPr>
          <p:cNvPr id="278" name="Google Shape;278;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7"/>
        <p:cNvGrpSpPr/>
        <p:nvPr/>
      </p:nvGrpSpPr>
      <p:grpSpPr>
        <a:xfrm>
          <a:off x="0" y="0"/>
          <a:ext cx="0" cy="0"/>
          <a:chOff x="0" y="0"/>
          <a:chExt cx="0" cy="0"/>
        </a:xfrm>
      </p:grpSpPr>
      <p:sp>
        <p:nvSpPr>
          <p:cNvPr id="288" name="Google Shape;288;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9" name="Google Shape;289;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0" name="Google Shape;300;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8" name="Google Shape;308;p1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7" name="Google Shape;327;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6" name="Google Shape;336;p1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7" name="Google Shape;347;p2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3"/>
        <p:cNvGrpSpPr/>
        <p:nvPr/>
      </p:nvGrpSpPr>
      <p:grpSpPr>
        <a:xfrm>
          <a:off x="0" y="0"/>
          <a:ext cx="0" cy="0"/>
          <a:chOff x="0" y="0"/>
          <a:chExt cx="0" cy="0"/>
        </a:xfrm>
      </p:grpSpPr>
      <p:sp>
        <p:nvSpPr>
          <p:cNvPr id="364" name="Google Shape;364;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5" name="Google Shape;365;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F5B27-CED0-D4A6-08E9-ACA0C0C32234}"/>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7CCDCBD7-78A5-8C83-E811-860DD0EC037A}"/>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90E36E51-BEBD-1B87-D54E-A317AADB1C6F}"/>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56AFF8CB-B739-548C-21DA-1FEEB73037B2}"/>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56</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400687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3B6E5-5A67-5099-D476-B03922D903BD}"/>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4F87EBFA-07FF-2CF5-D9F4-9A364D0C3F14}"/>
              </a:ext>
            </a:extLst>
          </p:cNvPr>
          <p:cNvSpPr>
            <a:spLocks noGrp="1" noRot="1" noChangeAspect="1"/>
          </p:cNvSpPr>
          <p:nvPr>
            <p:ph type="sldImg"/>
          </p:nvPr>
        </p:nvSpPr>
        <p:spPr>
          <a:xfrm>
            <a:off x="685800" y="1143000"/>
            <a:ext cx="5486400" cy="3086100"/>
          </a:xfrm>
        </p:spPr>
      </p:sp>
      <p:sp>
        <p:nvSpPr>
          <p:cNvPr id="3" name="슬라이드 노트 개체 틀 2">
            <a:extLst>
              <a:ext uri="{FF2B5EF4-FFF2-40B4-BE49-F238E27FC236}">
                <a16:creationId xmlns:a16="http://schemas.microsoft.com/office/drawing/2014/main" id="{A6193E0D-39C1-11C4-B5FB-5BECF9544621}"/>
              </a:ext>
            </a:extLst>
          </p:cNvPr>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a:extLst>
              <a:ext uri="{FF2B5EF4-FFF2-40B4-BE49-F238E27FC236}">
                <a16:creationId xmlns:a16="http://schemas.microsoft.com/office/drawing/2014/main" id="{33372E67-EB21-80A2-230A-54A0F018F6E1}"/>
              </a:ext>
            </a:extLst>
          </p:cNvPr>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60</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392090607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9" name="Google Shape;44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8" name="Google Shape;458;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8"/>
        <p:cNvGrpSpPr/>
        <p:nvPr/>
      </p:nvGrpSpPr>
      <p:grpSpPr>
        <a:xfrm>
          <a:off x="0" y="0"/>
          <a:ext cx="0" cy="0"/>
          <a:chOff x="0" y="0"/>
          <a:chExt cx="0" cy="0"/>
        </a:xfrm>
      </p:grpSpPr>
      <p:sp>
        <p:nvSpPr>
          <p:cNvPr id="469" name="Google Shape;469;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70" name="Google Shape;470;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86" name="Google Shape;486;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2026-08-25</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8/25/2026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2026-08-25</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https://coddy.tech/playground/ko/cpp" TargetMode="External"/><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7.svg"/></Relationships>
</file>

<file path=ppt/slides/_rels/slide1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svg"/><Relationship Id="rId1" Type="http://schemas.openxmlformats.org/officeDocument/2006/relationships/slideLayout" Target="../slideLayouts/slideLayout4.xml"/><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hyperlink" Target="https://github.com/ancestor9/my-gradio-app" TargetMode="External"/><Relationship Id="rId2" Type="http://schemas.openxmlformats.org/officeDocument/2006/relationships/hyperlink" Target="https://hackjsp.tistory.com/72" TargetMode="External"/><Relationship Id="rId1" Type="http://schemas.openxmlformats.org/officeDocument/2006/relationships/slideLayout" Target="../slideLayouts/slideLayout4.xml"/><Relationship Id="rId5" Type="http://schemas.openxmlformats.org/officeDocument/2006/relationships/image" Target="../media/image7.svg"/><Relationship Id="rId4" Type="http://schemas.openxmlformats.org/officeDocument/2006/relationships/image" Target="../media/image13.png"/></Relationships>
</file>

<file path=ppt/slides/_rels/slide26.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19.jpg"/><Relationship Id="rId5" Type="http://schemas.openxmlformats.org/officeDocument/2006/relationships/image" Target="../media/image18.jpg"/><Relationship Id="rId4" Type="http://schemas.openxmlformats.org/officeDocument/2006/relationships/image" Target="../media/image17.jpg"/></Relationships>
</file>

<file path=ppt/slides/_rels/slide3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hyperlink" Target="https://www.youtube.com/watch?v=Ps8HDIAyPD0&amp;list=PLuHgQVnccGMDeMJsGq2O-55Ymtx0IdKWf&amp;index=1" TargetMode="External"/><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39.xml.rels><?xml version="1.0" encoding="UTF-8" standalone="yes"?>
<Relationships xmlns="http://schemas.openxmlformats.org/package/2006/relationships"><Relationship Id="rId3" Type="http://schemas.openxmlformats.org/officeDocument/2006/relationships/hyperlink" Target="https://www.youtube.com/watch?v=Ps8HDIAyPD0&amp;list=PLuHgQVnccGMDeMJsGq2O-55Ymtx0IdKWf&amp;index=1" TargetMode="External"/><Relationship Id="rId2" Type="http://schemas.openxmlformats.org/officeDocument/2006/relationships/notesSlide" Target="../notesSlides/notesSlide15.xml"/><Relationship Id="rId1" Type="http://schemas.openxmlformats.org/officeDocument/2006/relationships/slideLayout" Target="../slideLayouts/slideLayout4.xml"/><Relationship Id="rId4" Type="http://schemas.openxmlformats.org/officeDocument/2006/relationships/image" Target="../media/image22.png"/></Relationships>
</file>

<file path=ppt/slides/_rels/slide40.xml.rels><?xml version="1.0" encoding="UTF-8" standalone="yes"?>
<Relationships xmlns="http://schemas.openxmlformats.org/package/2006/relationships"><Relationship Id="rId3" Type="http://schemas.openxmlformats.org/officeDocument/2006/relationships/hyperlink" Target="https://www.youtube.com/watch?v=Ps8HDIAyPD0&amp;list=PLuHgQVnccGMDeMJsGq2O-55Ymtx0IdKWf&amp;index=1" TargetMode="External"/><Relationship Id="rId2" Type="http://schemas.openxmlformats.org/officeDocument/2006/relationships/notesSlide" Target="../notesSlides/notesSlide16.xml"/><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4.xml"/><Relationship Id="rId5" Type="http://schemas.openxmlformats.org/officeDocument/2006/relationships/image" Target="../media/image28.jpg"/><Relationship Id="rId4" Type="http://schemas.openxmlformats.org/officeDocument/2006/relationships/hyperlink" Target="https://www.asustor.com/ko/solution/what_is_docker"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www.docker.com/resources/what-container/" TargetMode="External"/><Relationship Id="rId2" Type="http://schemas.openxmlformats.org/officeDocument/2006/relationships/notesSlide" Target="../notesSlides/notesSlide20.xml"/><Relationship Id="rId1" Type="http://schemas.openxmlformats.org/officeDocument/2006/relationships/slideLayout" Target="../slideLayouts/slideLayout4.xml"/><Relationship Id="rId5" Type="http://schemas.openxmlformats.org/officeDocument/2006/relationships/image" Target="../media/image30.jp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hyperlink" Target="https://docs.docker.com/engine/install/ubuntu/" TargetMode="External"/><Relationship Id="rId2" Type="http://schemas.openxmlformats.org/officeDocument/2006/relationships/notesSlide" Target="../notesSlides/notesSlide22.xml"/><Relationship Id="rId1" Type="http://schemas.openxmlformats.org/officeDocument/2006/relationships/slideLayout" Target="../slideLayouts/slideLayout4.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3.xml"/><Relationship Id="rId1" Type="http://schemas.openxmlformats.org/officeDocument/2006/relationships/slideLayout" Target="../slideLayouts/slideLayout4.xml"/><Relationship Id="rId4" Type="http://schemas.openxmlformats.org/officeDocument/2006/relationships/hyperlink" Target="https://hub.docker.com/"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docs.docker.com/manuals/" TargetMode="External"/><Relationship Id="rId2" Type="http://schemas.openxmlformats.org/officeDocument/2006/relationships/notesSlide" Target="../notesSlides/notesSlide24.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5.xml"/><Relationship Id="rId1" Type="http://schemas.openxmlformats.org/officeDocument/2006/relationships/slideLayout" Target="../slideLayouts/slideLayout4.xml"/><Relationship Id="rId4" Type="http://schemas.openxmlformats.org/officeDocument/2006/relationships/hyperlink" Target="https://docs.docker.com/storage/storagedriver/" TargetMode="External"/></Relationships>
</file>

<file path=ppt/slides/_rels/slide5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6.xml"/><Relationship Id="rId1" Type="http://schemas.openxmlformats.org/officeDocument/2006/relationships/slideLayout" Target="../slideLayouts/slideLayout4.xml"/><Relationship Id="rId4" Type="http://schemas.openxmlformats.org/officeDocument/2006/relationships/hyperlink" Target="https://docs.docker.com/storage/storagedriver/" TargetMode="External"/></Relationships>
</file>

<file path=ppt/slides/_rels/slide51.xml.rels><?xml version="1.0" encoding="UTF-8" standalone="yes"?>
<Relationships xmlns="http://schemas.openxmlformats.org/package/2006/relationships"><Relationship Id="rId3" Type="http://schemas.openxmlformats.org/officeDocument/2006/relationships/image" Target="../media/image37.jpg"/><Relationship Id="rId2" Type="http://schemas.openxmlformats.org/officeDocument/2006/relationships/notesSlide" Target="../notesSlides/notesSlide27.xml"/><Relationship Id="rId1" Type="http://schemas.openxmlformats.org/officeDocument/2006/relationships/slideLayout" Target="../slideLayouts/slideLayout4.xml"/><Relationship Id="rId4" Type="http://schemas.openxmlformats.org/officeDocument/2006/relationships/hyperlink" Target="https://medium.com/@deepakshakya/beginners-guide-to-use-docker-build-run-push-and-pull-4a132c094d75" TargetMode="External"/></Relationships>
</file>

<file path=ppt/slides/_rels/slide5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7.svg"/><Relationship Id="rId1" Type="http://schemas.openxmlformats.org/officeDocument/2006/relationships/slideLayout" Target="../slideLayouts/slideLayout4.xml"/><Relationship Id="rId4" Type="http://schemas.openxmlformats.org/officeDocument/2006/relationships/hyperlink" Target="https://github.com/features/codespaces" TargetMode="External"/></Relationships>
</file>

<file path=ppt/slides/_rels/slide58.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hyperlink" Target="https://namu.wiki/w/Visual%20Studio%20Code" TargetMode="External"/><Relationship Id="rId7" Type="http://schemas.openxmlformats.org/officeDocument/2006/relationships/hyperlink" Target="https://namu.wiki/w/%ED%86%B5%ED%95%A9%20%EA%B0%9C%EB%B0%9C%20%ED%99%98%EA%B2%BD" TargetMode="External"/><Relationship Id="rId2" Type="http://schemas.openxmlformats.org/officeDocument/2006/relationships/hyperlink" Target="https://namu.wiki/w/GitHub" TargetMode="External"/><Relationship Id="rId1" Type="http://schemas.openxmlformats.org/officeDocument/2006/relationships/slideLayout" Target="../slideLayouts/slideLayout4.xml"/><Relationship Id="rId6" Type="http://schemas.openxmlformats.org/officeDocument/2006/relationships/hyperlink" Target="https://namu.wiki/w/%ED%81%B4%EB%9D%BC%EC%9A%B0%EB%93%9C%20%EC%BB%B4%ED%93%A8%ED%8C%85" TargetMode="External"/><Relationship Id="rId5" Type="http://schemas.openxmlformats.org/officeDocument/2006/relationships/hyperlink" Target="https://namu.wiki/w/%EA%B0%9C%EB%B0%9C%ED%99%98%EA%B2%BD" TargetMode="External"/><Relationship Id="rId4" Type="http://schemas.openxmlformats.org/officeDocument/2006/relationships/hyperlink" Target="https://namu.wiki/w/GitHub/%EC%A0%80%EC%9E%A5%EC%86%8C" TargetMode="External"/></Relationships>
</file>

<file path=ppt/slides/_rels/slide5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7.sv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0.xml"/><Relationship Id="rId1" Type="http://schemas.openxmlformats.org/officeDocument/2006/relationships/slideLayout" Target="../slideLayouts/slideLayout4.xml"/><Relationship Id="rId6" Type="http://schemas.openxmlformats.org/officeDocument/2006/relationships/image" Target="../media/image7.svg"/><Relationship Id="rId5" Type="http://schemas.openxmlformats.org/officeDocument/2006/relationships/image" Target="../media/image47.png"/><Relationship Id="rId4" Type="http://schemas.openxmlformats.org/officeDocument/2006/relationships/image" Target="../media/image46.png"/></Relationships>
</file>

<file path=ppt/slides/_rels/slide63.xml.rels><?xml version="1.0" encoding="UTF-8" standalone="yes"?>
<Relationships xmlns="http://schemas.openxmlformats.org/package/2006/relationships"><Relationship Id="rId8" Type="http://schemas.openxmlformats.org/officeDocument/2006/relationships/hyperlink" Target="https://en.wikipedia.org/wiki/Vertex_(graph_theory)" TargetMode="External"/><Relationship Id="rId3" Type="http://schemas.openxmlformats.org/officeDocument/2006/relationships/image" Target="../media/image48.png"/><Relationship Id="rId7" Type="http://schemas.openxmlformats.org/officeDocument/2006/relationships/hyperlink" Target="https://en.wikipedia.org/wiki/Cycle_graph#Directed_cycle_graph" TargetMode="External"/><Relationship Id="rId2" Type="http://schemas.openxmlformats.org/officeDocument/2006/relationships/notesSlide" Target="../notesSlides/notesSlide31.xml"/><Relationship Id="rId1" Type="http://schemas.openxmlformats.org/officeDocument/2006/relationships/slideLayout" Target="../slideLayouts/slideLayout4.xml"/><Relationship Id="rId6" Type="http://schemas.openxmlformats.org/officeDocument/2006/relationships/hyperlink" Target="https://en.wikipedia.org/wiki/Directed_graph" TargetMode="External"/><Relationship Id="rId5" Type="http://schemas.openxmlformats.org/officeDocument/2006/relationships/hyperlink" Target="https://steemit.com/dag/@cryptodreamers/dag-dag-directed-acyclic-graph" TargetMode="External"/><Relationship Id="rId10" Type="http://schemas.openxmlformats.org/officeDocument/2006/relationships/image" Target="../media/image7.svg"/><Relationship Id="rId4" Type="http://schemas.openxmlformats.org/officeDocument/2006/relationships/image" Target="../media/image49.png"/><Relationship Id="rId9" Type="http://schemas.openxmlformats.org/officeDocument/2006/relationships/hyperlink" Target="https://en.wikipedia.org/wiki/Edge_(graph_theory)" TargetMode="External"/></Relationships>
</file>

<file path=ppt/slides/_rels/slide6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2.xml"/><Relationship Id="rId1" Type="http://schemas.openxmlformats.org/officeDocument/2006/relationships/slideLayout" Target="../slideLayouts/slideLayout4.xml"/><Relationship Id="rId4" Type="http://schemas.openxmlformats.org/officeDocument/2006/relationships/image" Target="../media/image7.svg"/></Relationships>
</file>

<file path=ppt/slides/_rels/slide6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3.xml"/><Relationship Id="rId1" Type="http://schemas.openxmlformats.org/officeDocument/2006/relationships/slideLayout" Target="../slideLayouts/slideLayout4.xml"/><Relationship Id="rId5" Type="http://schemas.openxmlformats.org/officeDocument/2006/relationships/image" Target="../media/image7.svg"/><Relationship Id="rId4" Type="http://schemas.openxmlformats.org/officeDocument/2006/relationships/image" Target="../media/image5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199" y="1164324"/>
            <a:ext cx="10934701" cy="2387600"/>
          </a:xfrm>
        </p:spPr>
        <p:txBody>
          <a:bodyPr rtlCol="0" anchor="ctr" anchorCtr="0">
            <a:normAutofit/>
          </a:bodyPr>
          <a:lstStyle/>
          <a:p>
            <a:r>
              <a:rPr lang="en-US" altLang="ko-KR" sz="5400" dirty="0">
                <a:solidFill>
                  <a:schemeClr val="bg1"/>
                </a:solidFill>
                <a:latin typeface="D2Coding" panose="020B0609020101020101" pitchFamily="49" charset="-127"/>
                <a:ea typeface="D2Coding" panose="020B0609020101020101" pitchFamily="49" charset="-127"/>
              </a:rPr>
              <a:t>Application Deployment</a:t>
            </a:r>
            <a:br>
              <a:rPr lang="en-US" altLang="ko-KR" sz="5400" dirty="0">
                <a:solidFill>
                  <a:schemeClr val="bg1"/>
                </a:solidFill>
                <a:latin typeface="D2Coding" panose="020B0609020101020101" pitchFamily="49" charset="-127"/>
                <a:ea typeface="D2Coding" panose="020B0609020101020101" pitchFamily="49" charset="-127"/>
              </a:rPr>
            </a:br>
            <a:br>
              <a:rPr lang="en-US" altLang="ko-KR" sz="3600" dirty="0">
                <a:solidFill>
                  <a:schemeClr val="bg1"/>
                </a:solidFill>
                <a:latin typeface="D2Coding" panose="020B0609020101020101" pitchFamily="49" charset="-127"/>
                <a:ea typeface="D2Coding" panose="020B0609020101020101" pitchFamily="49" charset="-127"/>
              </a:rPr>
            </a:br>
            <a:r>
              <a:rPr lang="ko-KR" altLang="en-US" sz="2400" dirty="0">
                <a:solidFill>
                  <a:schemeClr val="bg1"/>
                </a:solidFill>
                <a:latin typeface="D2Coding" panose="020B0609020101020101" pitchFamily="49" charset="-127"/>
                <a:ea typeface="D2Coding" panose="020B0609020101020101" pitchFamily="49" charset="-127"/>
              </a:rPr>
              <a:t>코드 작성 → 컴파일</a:t>
            </a:r>
            <a:r>
              <a:rPr lang="en-US" altLang="ko-KR" sz="2400" dirty="0">
                <a:solidFill>
                  <a:schemeClr val="bg1"/>
                </a:solidFill>
                <a:latin typeface="D2Coding" panose="020B0609020101020101" pitchFamily="49" charset="-127"/>
                <a:ea typeface="D2Coding" panose="020B0609020101020101" pitchFamily="49" charset="-127"/>
              </a:rPr>
              <a:t>/</a:t>
            </a:r>
            <a:r>
              <a:rPr lang="ko-KR" altLang="en-US" sz="2400" dirty="0">
                <a:solidFill>
                  <a:schemeClr val="bg1"/>
                </a:solidFill>
                <a:latin typeface="D2Coding" panose="020B0609020101020101" pitchFamily="49" charset="-127"/>
                <a:ea typeface="D2Coding" panose="020B0609020101020101" pitchFamily="49" charset="-127"/>
              </a:rPr>
              <a:t>빌드 → 형상관리 → </a:t>
            </a:r>
            <a:r>
              <a:rPr lang="en-US" altLang="ko-KR" sz="2400" dirty="0">
                <a:solidFill>
                  <a:schemeClr val="bg1"/>
                </a:solidFill>
                <a:latin typeface="D2Coding" panose="020B0609020101020101" pitchFamily="49" charset="-127"/>
                <a:ea typeface="D2Coding" panose="020B0609020101020101" pitchFamily="49" charset="-127"/>
              </a:rPr>
              <a:t>CI → </a:t>
            </a:r>
            <a:r>
              <a:rPr lang="ko-KR" altLang="en-US" sz="2400" dirty="0">
                <a:solidFill>
                  <a:schemeClr val="bg1"/>
                </a:solidFill>
                <a:latin typeface="D2Coding" panose="020B0609020101020101" pitchFamily="49" charset="-127"/>
                <a:ea typeface="D2Coding" panose="020B0609020101020101" pitchFamily="49" charset="-127"/>
              </a:rPr>
              <a:t>테스트 → </a:t>
            </a:r>
            <a:r>
              <a:rPr lang="en-US" altLang="ko-KR" sz="2400" dirty="0">
                <a:solidFill>
                  <a:schemeClr val="bg1"/>
                </a:solidFill>
                <a:latin typeface="D2Coding" panose="020B0609020101020101" pitchFamily="49" charset="-127"/>
                <a:ea typeface="D2Coding" panose="020B0609020101020101" pitchFamily="49" charset="-127"/>
              </a:rPr>
              <a:t>CD </a:t>
            </a:r>
            <a:r>
              <a:rPr lang="ko-KR" altLang="en-US" sz="2400" dirty="0">
                <a:solidFill>
                  <a:schemeClr val="bg1"/>
                </a:solidFill>
                <a:latin typeface="D2Coding" panose="020B0609020101020101" pitchFamily="49" charset="-127"/>
                <a:ea typeface="D2Coding" panose="020B0609020101020101" pitchFamily="49" charset="-127"/>
              </a:rPr>
              <a:t>→ 배포</a:t>
            </a:r>
            <a:endParaRPr lang="ko-KR" altLang="en-US" sz="4400" dirty="0">
              <a:solidFill>
                <a:schemeClr val="bg1"/>
              </a:solidFill>
              <a:latin typeface="D2Coding" panose="020B0609020101020101" pitchFamily="49" charset="-127"/>
              <a:ea typeface="D2Coding" panose="020B0609020101020101" pitchFamily="49" charset="-127"/>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latin typeface="D2Coding" panose="020B0609020101020101" pitchFamily="49" charset="-127"/>
                <a:ea typeface="D2Coding" panose="020B0609020101020101" pitchFamily="49" charset="-127"/>
              </a:rPr>
              <a:t>2026 Fall</a:t>
            </a:r>
          </a:p>
          <a:p>
            <a:r>
              <a:rPr lang="ko-KR" altLang="en-US" sz="2400" dirty="0" err="1">
                <a:solidFill>
                  <a:schemeClr val="bg1"/>
                </a:solidFill>
                <a:latin typeface="D2Coding" panose="020B0609020101020101" pitchFamily="49" charset="-127"/>
                <a:ea typeface="D2Coding" panose="020B0609020101020101" pitchFamily="49" charset="-127"/>
              </a:rPr>
              <a:t>조상구교수</a:t>
            </a:r>
            <a:endParaRPr lang="en-US" altLang="ko-KR" sz="2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693DE-47F3-9FEF-BB31-C8C1C7B6F97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0926D462-2365-3FDB-6CBD-C685819B01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Motivation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graphicFrame>
        <p:nvGraphicFramePr>
          <p:cNvPr id="2" name="표 1">
            <a:extLst>
              <a:ext uri="{FF2B5EF4-FFF2-40B4-BE49-F238E27FC236}">
                <a16:creationId xmlns:a16="http://schemas.microsoft.com/office/drawing/2014/main" id="{14471D64-9C97-1D3F-7DF8-37462ECE7BF5}"/>
              </a:ext>
            </a:extLst>
          </p:cNvPr>
          <p:cNvGraphicFramePr>
            <a:graphicFrameLocks noGrp="1"/>
          </p:cNvGraphicFramePr>
          <p:nvPr>
            <p:extLst>
              <p:ext uri="{D42A27DB-BD31-4B8C-83A1-F6EECF244321}">
                <p14:modId xmlns:p14="http://schemas.microsoft.com/office/powerpoint/2010/main" val="3331062921"/>
              </p:ext>
            </p:extLst>
          </p:nvPr>
        </p:nvGraphicFramePr>
        <p:xfrm>
          <a:off x="1066238" y="2009457"/>
          <a:ext cx="10059523" cy="3848420"/>
        </p:xfrm>
        <a:graphic>
          <a:graphicData uri="http://schemas.openxmlformats.org/drawingml/2006/table">
            <a:tbl>
              <a:tblPr/>
              <a:tblGrid>
                <a:gridCol w="3473824">
                  <a:extLst>
                    <a:ext uri="{9D8B030D-6E8A-4147-A177-3AD203B41FA5}">
                      <a16:colId xmlns:a16="http://schemas.microsoft.com/office/drawing/2014/main" val="2926649995"/>
                    </a:ext>
                  </a:extLst>
                </a:gridCol>
                <a:gridCol w="2206052">
                  <a:extLst>
                    <a:ext uri="{9D8B030D-6E8A-4147-A177-3AD203B41FA5}">
                      <a16:colId xmlns:a16="http://schemas.microsoft.com/office/drawing/2014/main" val="661151394"/>
                    </a:ext>
                  </a:extLst>
                </a:gridCol>
                <a:gridCol w="4379647">
                  <a:extLst>
                    <a:ext uri="{9D8B030D-6E8A-4147-A177-3AD203B41FA5}">
                      <a16:colId xmlns:a16="http://schemas.microsoft.com/office/drawing/2014/main" val="302321871"/>
                    </a:ext>
                  </a:extLst>
                </a:gridCol>
              </a:tblGrid>
              <a:tr h="384842">
                <a:tc>
                  <a:txBody>
                    <a:bodyPr/>
                    <a:lstStyle/>
                    <a:p>
                      <a:pPr>
                        <a:buNone/>
                      </a:pPr>
                      <a:r>
                        <a:rPr lang="en-US" altLang="ko-KR" sz="1600" b="0" dirty="0">
                          <a:latin typeface="D2Coding" panose="020B0609020101020101" pitchFamily="49" charset="-127"/>
                          <a:ea typeface="D2Coding" panose="020B0609020101020101" pitchFamily="49" charset="-127"/>
                        </a:rPr>
                        <a:t>Problems</a:t>
                      </a:r>
                      <a:endParaRPr lang="ko-KR" altLang="en-US" sz="1600" b="0" dirty="0">
                        <a:latin typeface="D2Coding" panose="020B0609020101020101" pitchFamily="49" charset="-127"/>
                        <a:ea typeface="D2Coding" panose="020B0609020101020101" pitchFamily="49" charset="-127"/>
                      </a:endParaRPr>
                    </a:p>
                  </a:txBody>
                  <a:tcPr marL="45208" marR="45208" marT="22604" marB="22604"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buNone/>
                      </a:pPr>
                      <a:r>
                        <a:rPr lang="en-US" altLang="ko-KR" sz="1600" b="0" dirty="0">
                          <a:latin typeface="D2Coding" panose="020B0609020101020101" pitchFamily="49" charset="-127"/>
                          <a:ea typeface="D2Coding" panose="020B0609020101020101" pitchFamily="49" charset="-127"/>
                        </a:rPr>
                        <a:t>Tools</a:t>
                      </a:r>
                      <a:endParaRPr lang="ko-KR" altLang="en-US" sz="1600" b="0" dirty="0">
                        <a:latin typeface="D2Coding" panose="020B0609020101020101" pitchFamily="49" charset="-127"/>
                        <a:ea typeface="D2Coding" panose="020B0609020101020101" pitchFamily="49" charset="-127"/>
                      </a:endParaRPr>
                    </a:p>
                  </a:txBody>
                  <a:tcPr marL="45208" marR="45208" marT="22604" marB="226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buNone/>
                      </a:pPr>
                      <a:r>
                        <a:rPr lang="en-US" altLang="ko-KR" sz="1600" b="0" dirty="0">
                          <a:latin typeface="D2Coding" panose="020B0609020101020101" pitchFamily="49" charset="-127"/>
                          <a:ea typeface="D2Coding" panose="020B0609020101020101" pitchFamily="49" charset="-127"/>
                        </a:rPr>
                        <a:t>Solving</a:t>
                      </a:r>
                      <a:endParaRPr lang="ko-KR" altLang="en-US" sz="1600" b="0" dirty="0">
                        <a:latin typeface="D2Coding" panose="020B0609020101020101" pitchFamily="49" charset="-127"/>
                        <a:ea typeface="D2Coding" panose="020B0609020101020101" pitchFamily="49" charset="-127"/>
                      </a:endParaRPr>
                    </a:p>
                  </a:txBody>
                  <a:tcPr marL="45208" marR="45208" marT="22604" marB="22604"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336075640"/>
                  </a:ext>
                </a:extLst>
              </a:tr>
              <a:tr h="384842">
                <a:tc>
                  <a:txBody>
                    <a:bodyPr/>
                    <a:lstStyle/>
                    <a:p>
                      <a:pPr>
                        <a:buNone/>
                      </a:pPr>
                      <a:r>
                        <a:rPr lang="ko-KR" altLang="en-US" sz="1600" b="0" dirty="0">
                          <a:latin typeface="D2Coding" panose="020B0609020101020101" pitchFamily="49" charset="-127"/>
                          <a:ea typeface="D2Coding" panose="020B0609020101020101" pitchFamily="49" charset="-127"/>
                        </a:rPr>
                        <a:t>코드 버전 관리가 어려움</a:t>
                      </a:r>
                    </a:p>
                  </a:txBody>
                  <a:tcPr marL="45208" marR="45208" marT="22604" marB="22604"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0" dirty="0">
                          <a:latin typeface="D2Coding" panose="020B0609020101020101" pitchFamily="49" charset="-127"/>
                          <a:ea typeface="D2Coding" panose="020B0609020101020101" pitchFamily="49" charset="-127"/>
                        </a:rPr>
                        <a:t>Git</a:t>
                      </a:r>
                    </a:p>
                  </a:txBody>
                  <a:tcPr marL="45208" marR="45208" marT="22604" marB="226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altLang="en-US" sz="1600" b="0" dirty="0">
                          <a:latin typeface="D2Coding" panose="020B0609020101020101" pitchFamily="49" charset="-127"/>
                          <a:ea typeface="D2Coding" panose="020B0609020101020101" pitchFamily="49" charset="-127"/>
                        </a:rPr>
                        <a:t>변경 이력</a:t>
                      </a:r>
                      <a:r>
                        <a:rPr lang="en-US" altLang="ko-KR" sz="1600" b="0" dirty="0">
                          <a:latin typeface="D2Coding" panose="020B0609020101020101" pitchFamily="49" charset="-127"/>
                          <a:ea typeface="D2Coding" panose="020B0609020101020101" pitchFamily="49" charset="-127"/>
                        </a:rPr>
                        <a:t>·</a:t>
                      </a:r>
                      <a:r>
                        <a:rPr lang="ko-KR" altLang="en-US" sz="1600" b="0" dirty="0">
                          <a:latin typeface="D2Coding" panose="020B0609020101020101" pitchFamily="49" charset="-127"/>
                          <a:ea typeface="D2Coding" panose="020B0609020101020101" pitchFamily="49" charset="-127"/>
                        </a:rPr>
                        <a:t>버전 관리</a:t>
                      </a:r>
                    </a:p>
                  </a:txBody>
                  <a:tcPr marL="45208" marR="45208" marT="22604" marB="22604"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02113181"/>
                  </a:ext>
                </a:extLst>
              </a:tr>
              <a:tr h="384842">
                <a:tc>
                  <a:txBody>
                    <a:bodyPr/>
                    <a:lstStyle/>
                    <a:p>
                      <a:pPr>
                        <a:buNone/>
                      </a:pPr>
                      <a:r>
                        <a:rPr lang="ko-KR" altLang="en-US" sz="1600" b="0" dirty="0">
                          <a:latin typeface="D2Coding" panose="020B0609020101020101" pitchFamily="49" charset="-127"/>
                          <a:ea typeface="D2Coding" panose="020B0609020101020101" pitchFamily="49" charset="-127"/>
                        </a:rPr>
                        <a:t>협업이 어려움</a:t>
                      </a:r>
                    </a:p>
                  </a:txBody>
                  <a:tcPr marL="45208" marR="45208" marT="22604" marB="22604"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0" dirty="0">
                          <a:latin typeface="D2Coding" panose="020B0609020101020101" pitchFamily="49" charset="-127"/>
                          <a:ea typeface="D2Coding" panose="020B0609020101020101" pitchFamily="49" charset="-127"/>
                        </a:rPr>
                        <a:t>GitHub</a:t>
                      </a:r>
                    </a:p>
                  </a:txBody>
                  <a:tcPr marL="45208" marR="45208" marT="22604" marB="226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altLang="en-US" sz="1600" b="0" dirty="0">
                          <a:latin typeface="D2Coding" panose="020B0609020101020101" pitchFamily="49" charset="-127"/>
                          <a:ea typeface="D2Coding" panose="020B0609020101020101" pitchFamily="49" charset="-127"/>
                        </a:rPr>
                        <a:t>공동 개발 및 코드 공유</a:t>
                      </a:r>
                    </a:p>
                  </a:txBody>
                  <a:tcPr marL="45208" marR="45208" marT="22604" marB="22604"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67040444"/>
                  </a:ext>
                </a:extLst>
              </a:tr>
              <a:tr h="384842">
                <a:tc>
                  <a:txBody>
                    <a:bodyPr/>
                    <a:lstStyle/>
                    <a:p>
                      <a:pPr>
                        <a:buNone/>
                      </a:pPr>
                      <a:r>
                        <a:rPr lang="ko-KR" altLang="en-US" sz="1600" b="0" dirty="0">
                          <a:latin typeface="D2Coding" panose="020B0609020101020101" pitchFamily="49" charset="-127"/>
                          <a:ea typeface="D2Coding" panose="020B0609020101020101" pitchFamily="49" charset="-127"/>
                        </a:rPr>
                        <a:t>코드 변경 후 오류 발견이 늦음</a:t>
                      </a:r>
                    </a:p>
                  </a:txBody>
                  <a:tcPr marL="45208" marR="45208" marT="22604" marB="22604"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0" dirty="0">
                          <a:latin typeface="D2Coding" panose="020B0609020101020101" pitchFamily="49" charset="-127"/>
                          <a:ea typeface="D2Coding" panose="020B0609020101020101" pitchFamily="49" charset="-127"/>
                        </a:rPr>
                        <a:t>CI / GitHub Actions</a:t>
                      </a:r>
                    </a:p>
                  </a:txBody>
                  <a:tcPr marL="45208" marR="45208" marT="22604" marB="226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altLang="en-US" sz="1600" b="0" dirty="0">
                          <a:latin typeface="D2Coding" panose="020B0609020101020101" pitchFamily="49" charset="-127"/>
                          <a:ea typeface="D2Coding" panose="020B0609020101020101" pitchFamily="49" charset="-127"/>
                        </a:rPr>
                        <a:t>자동 테스트</a:t>
                      </a:r>
                    </a:p>
                  </a:txBody>
                  <a:tcPr marL="45208" marR="45208" marT="22604" marB="22604"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86542966"/>
                  </a:ext>
                </a:extLst>
              </a:tr>
              <a:tr h="384842">
                <a:tc>
                  <a:txBody>
                    <a:bodyPr/>
                    <a:lstStyle/>
                    <a:p>
                      <a:pPr>
                        <a:buNone/>
                      </a:pPr>
                      <a:r>
                        <a:rPr lang="ko-KR" altLang="en-US" sz="1600" b="0" dirty="0">
                          <a:latin typeface="D2Coding" panose="020B0609020101020101" pitchFamily="49" charset="-127"/>
                          <a:ea typeface="D2Coding" panose="020B0609020101020101" pitchFamily="49" charset="-127"/>
                        </a:rPr>
                        <a:t>개발환경이 달라 실행 오류 발생</a:t>
                      </a:r>
                    </a:p>
                  </a:txBody>
                  <a:tcPr marL="45208" marR="45208" marT="22604" marB="22604"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0" dirty="0">
                          <a:latin typeface="D2Coding" panose="020B0609020101020101" pitchFamily="49" charset="-127"/>
                          <a:ea typeface="D2Coding" panose="020B0609020101020101" pitchFamily="49" charset="-127"/>
                        </a:rPr>
                        <a:t>Docker</a:t>
                      </a:r>
                    </a:p>
                  </a:txBody>
                  <a:tcPr marL="45208" marR="45208" marT="22604" marB="226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altLang="en-US" sz="1600" b="0" dirty="0">
                          <a:latin typeface="D2Coding" panose="020B0609020101020101" pitchFamily="49" charset="-127"/>
                          <a:ea typeface="D2Coding" panose="020B0609020101020101" pitchFamily="49" charset="-127"/>
                        </a:rPr>
                        <a:t>실행환경 표준화</a:t>
                      </a:r>
                    </a:p>
                  </a:txBody>
                  <a:tcPr marL="45208" marR="45208" marT="22604" marB="22604"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47091785"/>
                  </a:ext>
                </a:extLst>
              </a:tr>
              <a:tr h="384842">
                <a:tc>
                  <a:txBody>
                    <a:bodyPr/>
                    <a:lstStyle/>
                    <a:p>
                      <a:pPr>
                        <a:buNone/>
                      </a:pPr>
                      <a:r>
                        <a:rPr lang="ko-KR" altLang="en-US" sz="1600" b="0" dirty="0">
                          <a:latin typeface="D2Coding" panose="020B0609020101020101" pitchFamily="49" charset="-127"/>
                          <a:ea typeface="D2Coding" panose="020B0609020101020101" pitchFamily="49" charset="-127"/>
                        </a:rPr>
                        <a:t>배포 과정이 복잡함</a:t>
                      </a:r>
                    </a:p>
                  </a:txBody>
                  <a:tcPr marL="45208" marR="45208" marT="22604" marB="22604"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0" dirty="0">
                          <a:latin typeface="D2Coding" panose="020B0609020101020101" pitchFamily="49" charset="-127"/>
                          <a:ea typeface="D2Coding" panose="020B0609020101020101" pitchFamily="49" charset="-127"/>
                        </a:rPr>
                        <a:t>Docker + CI/CD</a:t>
                      </a:r>
                    </a:p>
                  </a:txBody>
                  <a:tcPr marL="45208" marR="45208" marT="22604" marB="226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altLang="en-US" sz="1600" b="0" dirty="0">
                          <a:latin typeface="D2Coding" panose="020B0609020101020101" pitchFamily="49" charset="-127"/>
                          <a:ea typeface="D2Coding" panose="020B0609020101020101" pitchFamily="49" charset="-127"/>
                        </a:rPr>
                        <a:t>빌드</a:t>
                      </a:r>
                      <a:r>
                        <a:rPr lang="en-US" altLang="ko-KR" sz="1600" b="0" dirty="0">
                          <a:latin typeface="D2Coding" panose="020B0609020101020101" pitchFamily="49" charset="-127"/>
                          <a:ea typeface="D2Coding" panose="020B0609020101020101" pitchFamily="49" charset="-127"/>
                        </a:rPr>
                        <a:t>·</a:t>
                      </a:r>
                      <a:r>
                        <a:rPr lang="ko-KR" altLang="en-US" sz="1600" b="0" dirty="0">
                          <a:latin typeface="D2Coding" panose="020B0609020101020101" pitchFamily="49" charset="-127"/>
                          <a:ea typeface="D2Coding" panose="020B0609020101020101" pitchFamily="49" charset="-127"/>
                        </a:rPr>
                        <a:t>배포 자동화</a:t>
                      </a:r>
                    </a:p>
                  </a:txBody>
                  <a:tcPr marL="45208" marR="45208" marT="22604" marB="22604"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08347952"/>
                  </a:ext>
                </a:extLst>
              </a:tr>
              <a:tr h="384842">
                <a:tc>
                  <a:txBody>
                    <a:bodyPr/>
                    <a:lstStyle/>
                    <a:p>
                      <a:pPr>
                        <a:buNone/>
                      </a:pPr>
                      <a:r>
                        <a:rPr lang="ko-KR" altLang="en-US" sz="1600" b="0" dirty="0">
                          <a:latin typeface="D2Coding" panose="020B0609020101020101" pitchFamily="49" charset="-127"/>
                          <a:ea typeface="D2Coding" panose="020B0609020101020101" pitchFamily="49" charset="-127"/>
                        </a:rPr>
                        <a:t>개발환경 구축에 시간 소요</a:t>
                      </a:r>
                    </a:p>
                  </a:txBody>
                  <a:tcPr marL="45208" marR="45208" marT="22604" marB="22604"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0" dirty="0" err="1">
                          <a:latin typeface="D2Coding" panose="020B0609020101020101" pitchFamily="49" charset="-127"/>
                          <a:ea typeface="D2Coding" panose="020B0609020101020101" pitchFamily="49" charset="-127"/>
                        </a:rPr>
                        <a:t>Codespaces</a:t>
                      </a:r>
                      <a:endParaRPr lang="en-US" sz="1600" b="0" dirty="0">
                        <a:latin typeface="D2Coding" panose="020B0609020101020101" pitchFamily="49" charset="-127"/>
                        <a:ea typeface="D2Coding" panose="020B0609020101020101" pitchFamily="49" charset="-127"/>
                      </a:endParaRPr>
                    </a:p>
                  </a:txBody>
                  <a:tcPr marL="45208" marR="45208" marT="22604" marB="226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altLang="en-US" sz="1600" b="0" dirty="0">
                          <a:latin typeface="D2Coding" panose="020B0609020101020101" pitchFamily="49" charset="-127"/>
                          <a:ea typeface="D2Coding" panose="020B0609020101020101" pitchFamily="49" charset="-127"/>
                        </a:rPr>
                        <a:t>일관된 개발환경</a:t>
                      </a:r>
                    </a:p>
                  </a:txBody>
                  <a:tcPr marL="45208" marR="45208" marT="22604" marB="22604"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97522320"/>
                  </a:ext>
                </a:extLst>
              </a:tr>
              <a:tr h="384842">
                <a:tc>
                  <a:txBody>
                    <a:bodyPr/>
                    <a:lstStyle/>
                    <a:p>
                      <a:pPr>
                        <a:buNone/>
                      </a:pPr>
                      <a:r>
                        <a:rPr lang="ko-KR" altLang="en-US" sz="1600" b="0" dirty="0">
                          <a:latin typeface="D2Coding" panose="020B0609020101020101" pitchFamily="49" charset="-127"/>
                          <a:ea typeface="D2Coding" panose="020B0609020101020101" pitchFamily="49" charset="-127"/>
                        </a:rPr>
                        <a:t>데이터 작업을 수동 실행</a:t>
                      </a:r>
                    </a:p>
                  </a:txBody>
                  <a:tcPr marL="45208" marR="45208" marT="22604" marB="22604"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0" dirty="0">
                          <a:latin typeface="D2Coding" panose="020B0609020101020101" pitchFamily="49" charset="-127"/>
                          <a:ea typeface="D2Coding" panose="020B0609020101020101" pitchFamily="49" charset="-127"/>
                        </a:rPr>
                        <a:t>Airflow</a:t>
                      </a:r>
                    </a:p>
                  </a:txBody>
                  <a:tcPr marL="45208" marR="45208" marT="22604" marB="226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altLang="en-US" sz="1600" b="0" dirty="0">
                          <a:latin typeface="D2Coding" panose="020B0609020101020101" pitchFamily="49" charset="-127"/>
                          <a:ea typeface="D2Coding" panose="020B0609020101020101" pitchFamily="49" charset="-127"/>
                        </a:rPr>
                        <a:t>작업 스케줄링</a:t>
                      </a:r>
                    </a:p>
                  </a:txBody>
                  <a:tcPr marL="45208" marR="45208" marT="22604" marB="22604"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9841929"/>
                  </a:ext>
                </a:extLst>
              </a:tr>
              <a:tr h="384842">
                <a:tc>
                  <a:txBody>
                    <a:bodyPr/>
                    <a:lstStyle/>
                    <a:p>
                      <a:pPr>
                        <a:buNone/>
                      </a:pPr>
                      <a:r>
                        <a:rPr lang="ko-KR" altLang="en-US" sz="1600" b="0" dirty="0">
                          <a:latin typeface="D2Coding" panose="020B0609020101020101" pitchFamily="49" charset="-127"/>
                          <a:ea typeface="D2Coding" panose="020B0609020101020101" pitchFamily="49" charset="-127"/>
                        </a:rPr>
                        <a:t>데이터 작업 순서 관리 어려움</a:t>
                      </a:r>
                    </a:p>
                  </a:txBody>
                  <a:tcPr marL="45208" marR="45208" marT="22604" marB="22604"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b="0" dirty="0">
                          <a:latin typeface="D2Coding" panose="020B0609020101020101" pitchFamily="49" charset="-127"/>
                          <a:ea typeface="D2Coding" panose="020B0609020101020101" pitchFamily="49" charset="-127"/>
                        </a:rPr>
                        <a:t>Airflow DAG</a:t>
                      </a:r>
                    </a:p>
                  </a:txBody>
                  <a:tcPr marL="45208" marR="45208" marT="22604" marB="226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altLang="en-US" sz="1600" b="0" dirty="0">
                          <a:latin typeface="D2Coding" panose="020B0609020101020101" pitchFamily="49" charset="-127"/>
                          <a:ea typeface="D2Coding" panose="020B0609020101020101" pitchFamily="49" charset="-127"/>
                        </a:rPr>
                        <a:t>작업 의존성 관리</a:t>
                      </a:r>
                    </a:p>
                  </a:txBody>
                  <a:tcPr marL="45208" marR="45208" marT="22604" marB="22604"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1397863"/>
                  </a:ext>
                </a:extLst>
              </a:tr>
              <a:tr h="384842">
                <a:tc>
                  <a:txBody>
                    <a:bodyPr/>
                    <a:lstStyle/>
                    <a:p>
                      <a:pPr>
                        <a:buNone/>
                      </a:pPr>
                      <a:r>
                        <a:rPr lang="ko-KR" altLang="en-US" sz="1600" b="0" dirty="0">
                          <a:latin typeface="D2Coding" panose="020B0609020101020101" pitchFamily="49" charset="-127"/>
                          <a:ea typeface="D2Coding" panose="020B0609020101020101" pitchFamily="49" charset="-127"/>
                        </a:rPr>
                        <a:t>개별 기술만 알고 전체 구조를 모름</a:t>
                      </a:r>
                    </a:p>
                  </a:txBody>
                  <a:tcPr marL="45208" marR="45208" marT="22604" marB="22604"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altLang="en-US" sz="1600" b="0" dirty="0">
                          <a:latin typeface="D2Coding" panose="020B0609020101020101" pitchFamily="49" charset="-127"/>
                          <a:ea typeface="D2Coding" panose="020B0609020101020101" pitchFamily="49" charset="-127"/>
                        </a:rPr>
                        <a:t>통합 </a:t>
                      </a:r>
                      <a:r>
                        <a:rPr lang="en-US" sz="1600" b="0" dirty="0">
                          <a:latin typeface="D2Coding" panose="020B0609020101020101" pitchFamily="49" charset="-127"/>
                          <a:ea typeface="D2Coding" panose="020B0609020101020101" pitchFamily="49" charset="-127"/>
                        </a:rPr>
                        <a:t>Pipeline</a:t>
                      </a:r>
                    </a:p>
                  </a:txBody>
                  <a:tcPr marL="45208" marR="45208" marT="22604" marB="2260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altLang="en-US" sz="1600" b="0" dirty="0">
                          <a:latin typeface="D2Coding" panose="020B0609020101020101" pitchFamily="49" charset="-127"/>
                          <a:ea typeface="D2Coding" panose="020B0609020101020101" pitchFamily="49" charset="-127"/>
                        </a:rPr>
                        <a:t>개발→ 테스트→ 빌드→ 실행→ 파이프라인 연결</a:t>
                      </a:r>
                    </a:p>
                  </a:txBody>
                  <a:tcPr marL="45208" marR="45208" marT="22604" marB="22604"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2217185"/>
                  </a:ext>
                </a:extLst>
              </a:tr>
            </a:tbl>
          </a:graphicData>
        </a:graphic>
      </p:graphicFrame>
      <p:sp>
        <p:nvSpPr>
          <p:cNvPr id="5" name="슬라이드 번호 개체 틀 3">
            <a:extLst>
              <a:ext uri="{FF2B5EF4-FFF2-40B4-BE49-F238E27FC236}">
                <a16:creationId xmlns:a16="http://schemas.microsoft.com/office/drawing/2014/main" id="{DDB3CEFF-E494-23D8-DF1E-5A6259EBBC05}"/>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2</a:t>
            </a:fld>
            <a:endParaRPr lang="en-US" b="1" dirty="0">
              <a:latin typeface="Segoe UI Emoji" panose="020B0502040204020203" pitchFamily="34" charset="0"/>
              <a:ea typeface="Segoe UI Emoji" panose="020B0502040204020203" pitchFamily="34" charset="0"/>
            </a:endParaRPr>
          </a:p>
        </p:txBody>
      </p:sp>
    </p:spTree>
    <p:extLst>
      <p:ext uri="{BB962C8B-B14F-4D97-AF65-F5344CB8AC3E}">
        <p14:creationId xmlns:p14="http://schemas.microsoft.com/office/powerpoint/2010/main" val="22363389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7" name="TextBox 6">
            <a:extLst>
              <a:ext uri="{FF2B5EF4-FFF2-40B4-BE49-F238E27FC236}">
                <a16:creationId xmlns:a16="http://schemas.microsoft.com/office/drawing/2014/main" id="{5425CA11-BB27-9F61-9705-232FBA299991}"/>
              </a:ext>
            </a:extLst>
          </p:cNvPr>
          <p:cNvSpPr txBox="1"/>
          <p:nvPr/>
        </p:nvSpPr>
        <p:spPr>
          <a:xfrm>
            <a:off x="600074" y="1337265"/>
            <a:ext cx="10906126" cy="4855816"/>
          </a:xfrm>
          <a:prstGeom prst="rect">
            <a:avLst/>
          </a:prstGeom>
          <a:noFill/>
        </p:spPr>
        <p:txBody>
          <a:bodyPr wrap="square">
            <a:spAutoFit/>
          </a:bodyPr>
          <a:lstStyle/>
          <a:p>
            <a:pPr marL="342900" indent="-342900">
              <a:lnSpc>
                <a:spcPct val="150000"/>
              </a:lnSpc>
              <a:buFont typeface="+mj-lt"/>
              <a:buAutoNum type="arabicParenR"/>
            </a:pPr>
            <a:r>
              <a:rPr lang="en-US" altLang="ko-KR" sz="1600" dirty="0">
                <a:latin typeface="D2Coding" panose="020B0609020101020101" pitchFamily="49" charset="-127"/>
                <a:ea typeface="D2Coding" panose="020B0609020101020101" pitchFamily="49" charset="-127"/>
              </a:rPr>
              <a:t>Python/JAVA</a:t>
            </a:r>
            <a:r>
              <a:rPr lang="ko-KR" altLang="en-US" sz="1600" dirty="0">
                <a:latin typeface="D2Coding" panose="020B0609020101020101" pitchFamily="49" charset="-127"/>
                <a:ea typeface="D2Coding" panose="020B0609020101020101" pitchFamily="49" charset="-127"/>
              </a:rPr>
              <a:t> 코드 개발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컴파일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링크 및 빌드와 테스트과정을 이해</a:t>
            </a:r>
            <a:endParaRPr lang="en-US" altLang="ko-KR" sz="1600" dirty="0">
              <a:latin typeface="D2Coding" panose="020B0609020101020101" pitchFamily="49" charset="-127"/>
              <a:ea typeface="D2Coding" panose="020B0609020101020101" pitchFamily="49" charset="-127"/>
            </a:endParaRPr>
          </a:p>
          <a:p>
            <a:pPr marL="800100" lvl="1" indent="-34290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Visual</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Studio</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Code(</a:t>
            </a:r>
            <a:r>
              <a:rPr lang="it-IT" altLang="ko-KR" sz="1400" dirty="0">
                <a:latin typeface="D2Coding" panose="020B0609020101020101" pitchFamily="49" charset="-127"/>
                <a:ea typeface="D2Coding" panose="020B0609020101020101" pitchFamily="49" charset="-127"/>
              </a:rPr>
              <a:t>open source AI code editor) </a:t>
            </a:r>
            <a:r>
              <a:rPr lang="ko-KR" altLang="en-US" sz="1400" dirty="0">
                <a:latin typeface="D2Coding" panose="020B0609020101020101" pitchFamily="49" charset="-127"/>
                <a:ea typeface="D2Coding" panose="020B0609020101020101" pitchFamily="49" charset="-127"/>
              </a:rPr>
              <a:t>설치</a:t>
            </a:r>
            <a:r>
              <a:rPr lang="it-IT"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및 실습</a:t>
            </a:r>
            <a:endParaRPr lang="en-US" altLang="ko-KR" sz="1400" dirty="0">
              <a:latin typeface="D2Coding" panose="020B0609020101020101" pitchFamily="49" charset="-127"/>
              <a:ea typeface="D2Coding" panose="020B0609020101020101" pitchFamily="49" charset="-127"/>
            </a:endParaRPr>
          </a:p>
          <a:p>
            <a:pPr marL="800100" lvl="1" indent="-34290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Module, Library, Package </a:t>
            </a:r>
            <a:r>
              <a:rPr lang="ko-KR" altLang="en-US" sz="1400" dirty="0">
                <a:latin typeface="D2Coding" panose="020B0609020101020101" pitchFamily="49" charset="-127"/>
                <a:ea typeface="D2Coding" panose="020B0609020101020101" pitchFamily="49" charset="-127"/>
              </a:rPr>
              <a:t>개념 및 실습</a:t>
            </a:r>
            <a:endParaRPr lang="en-US" altLang="ko-KR" sz="300" dirty="0">
              <a:latin typeface="D2Coding" panose="020B0609020101020101" pitchFamily="49" charset="-127"/>
              <a:ea typeface="D2Coding" panose="020B0609020101020101" pitchFamily="49" charset="-127"/>
            </a:endParaRPr>
          </a:p>
          <a:p>
            <a:pPr marL="800100" lvl="1" indent="-342900">
              <a:lnSpc>
                <a:spcPct val="150000"/>
              </a:lnSpc>
              <a:buFont typeface="Wingdings" panose="05000000000000000000" pitchFamily="2" charset="2"/>
              <a:buChar char="v"/>
            </a:pPr>
            <a:endParaRPr lang="en-US" altLang="ko-KR" sz="1000" dirty="0">
              <a:latin typeface="D2Coding" panose="020B0609020101020101" pitchFamily="49" charset="-127"/>
              <a:ea typeface="D2Coding" panose="020B0609020101020101" pitchFamily="49" charset="-127"/>
            </a:endParaRPr>
          </a:p>
          <a:p>
            <a:pPr marL="342900" indent="-342900">
              <a:lnSpc>
                <a:spcPct val="150000"/>
              </a:lnSpc>
              <a:buFont typeface="+mj-lt"/>
              <a:buAutoNum type="arabicParenR"/>
            </a:pPr>
            <a:r>
              <a:rPr lang="ko-KR" altLang="en-US" sz="1600" dirty="0">
                <a:latin typeface="D2Coding" panose="020B0609020101020101" pitchFamily="49" charset="-127"/>
                <a:ea typeface="D2Coding" panose="020B0609020101020101" pitchFamily="49" charset="-127"/>
              </a:rPr>
              <a:t>소프트웨어 형상관리</a:t>
            </a:r>
            <a:r>
              <a:rPr lang="en-US" altLang="ko-KR" sz="1600" dirty="0">
                <a:latin typeface="D2Coding" panose="020B0609020101020101" pitchFamily="49" charset="-127"/>
                <a:ea typeface="D2Coding" panose="020B0609020101020101" pitchFamily="49" charset="-127"/>
              </a:rPr>
              <a:t>(Configuration Management)</a:t>
            </a:r>
            <a:r>
              <a:rPr lang="ko-KR" altLang="en-US" sz="1600" dirty="0">
                <a:latin typeface="D2Coding" panose="020B0609020101020101" pitchFamily="49" charset="-127"/>
                <a:ea typeface="D2Coding" panose="020B0609020101020101" pitchFamily="49" charset="-127"/>
              </a:rPr>
              <a:t>를 이해하고 실습</a:t>
            </a:r>
            <a:endParaRPr lang="en-US" altLang="ko-KR" sz="1600" dirty="0">
              <a:latin typeface="D2Coding" panose="020B0609020101020101" pitchFamily="49" charset="-127"/>
              <a:ea typeface="D2Coding" panose="020B0609020101020101" pitchFamily="49" charset="-127"/>
            </a:endParaRPr>
          </a:p>
          <a:p>
            <a:pPr marL="800100" lvl="1" indent="-342900">
              <a:lnSpc>
                <a:spcPct val="150000"/>
              </a:lnSpc>
              <a:buFont typeface="Wingdings" panose="05000000000000000000" pitchFamily="2" charset="2"/>
              <a:buChar char="v"/>
            </a:pPr>
            <a:r>
              <a:rPr lang="ko-KR" altLang="en-US" sz="1400" dirty="0" err="1">
                <a:latin typeface="D2Coding" panose="020B0609020101020101" pitchFamily="49" charset="-127"/>
                <a:ea typeface="D2Coding" panose="020B0609020101020101" pitchFamily="49" charset="-127"/>
              </a:rPr>
              <a:t>Git과</a:t>
            </a:r>
            <a:r>
              <a:rPr lang="ko-KR" altLang="en-US" sz="1400" dirty="0">
                <a:latin typeface="D2Coding" panose="020B0609020101020101" pitchFamily="49" charset="-127"/>
                <a:ea typeface="D2Coding" panose="020B0609020101020101" pitchFamily="49" charset="-127"/>
              </a:rPr>
              <a:t> GitHub </a:t>
            </a:r>
            <a:r>
              <a:rPr lang="ko-KR" altLang="en-US" sz="1400" dirty="0" err="1">
                <a:latin typeface="D2Coding" panose="020B0609020101020101" pitchFamily="49" charset="-127"/>
                <a:ea typeface="D2Coding" panose="020B0609020101020101" pitchFamily="49" charset="-127"/>
              </a:rPr>
              <a:t>Desktop를</a:t>
            </a:r>
            <a:r>
              <a:rPr lang="ko-KR" altLang="en-US" sz="1400" dirty="0">
                <a:latin typeface="D2Coding" panose="020B0609020101020101" pitchFamily="49" charset="-127"/>
                <a:ea typeface="D2Coding" panose="020B0609020101020101" pitchFamily="49" charset="-127"/>
              </a:rPr>
              <a:t> 설치하여 코드 버전 관리와 CI</a:t>
            </a:r>
            <a:r>
              <a:rPr lang="en-US" altLang="ko-KR" sz="1400" dirty="0">
                <a:latin typeface="D2Coding" panose="020B0609020101020101" pitchFamily="49" charset="-127"/>
                <a:ea typeface="D2Coding" panose="020B0609020101020101" pitchFamily="49" charset="-127"/>
              </a:rPr>
              <a:t>(Continuous Integration)</a:t>
            </a:r>
            <a:r>
              <a:rPr lang="ko-KR" altLang="en-US" sz="1400" dirty="0">
                <a:latin typeface="D2Coding" panose="020B0609020101020101" pitchFamily="49" charset="-127"/>
                <a:ea typeface="D2Coding" panose="020B0609020101020101" pitchFamily="49" charset="-127"/>
              </a:rPr>
              <a:t>을 실습</a:t>
            </a:r>
            <a:endParaRPr lang="en-US" altLang="ko-KR" sz="1400" dirty="0">
              <a:latin typeface="D2Coding" panose="020B0609020101020101" pitchFamily="49" charset="-127"/>
              <a:ea typeface="D2Coding" panose="020B0609020101020101" pitchFamily="49" charset="-127"/>
            </a:endParaRPr>
          </a:p>
          <a:p>
            <a:pPr marL="800100" lvl="1" indent="-34290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g</a:t>
            </a:r>
            <a:r>
              <a:rPr lang="ko-KR" altLang="en-US" sz="1400" dirty="0" err="1">
                <a:latin typeface="D2Coding" panose="020B0609020101020101" pitchFamily="49" charset="-127"/>
                <a:ea typeface="D2Coding" panose="020B0609020101020101" pitchFamily="49" charset="-127"/>
              </a:rPr>
              <a:t>it</a:t>
            </a: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Actions를</a:t>
            </a:r>
            <a:r>
              <a:rPr lang="ko-KR" altLang="en-US" sz="1400" dirty="0">
                <a:latin typeface="D2Coding" panose="020B0609020101020101" pitchFamily="49" charset="-127"/>
                <a:ea typeface="D2Coding" panose="020B0609020101020101" pitchFamily="49" charset="-127"/>
              </a:rPr>
              <a:t> 실습하고 코드 변경이 자동으로 </a:t>
            </a:r>
            <a:r>
              <a:rPr lang="ko-KR" altLang="en-US" sz="1400" dirty="0" err="1">
                <a:latin typeface="D2Coding" panose="020B0609020101020101" pitchFamily="49" charset="-127"/>
                <a:ea typeface="D2Coding" panose="020B0609020101020101" pitchFamily="49" charset="-127"/>
              </a:rPr>
              <a:t>테스트·배포되는</a:t>
            </a:r>
            <a:r>
              <a:rPr lang="ko-KR" altLang="en-US" sz="1400" dirty="0">
                <a:latin typeface="D2Coding" panose="020B0609020101020101" pitchFamily="49" charset="-127"/>
                <a:ea typeface="D2Coding" panose="020B0609020101020101" pitchFamily="49" charset="-127"/>
              </a:rPr>
              <a:t> 파이프라인을 구축하여 CD</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Continuos</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Deploymnet</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구현</a:t>
            </a:r>
            <a:endParaRPr lang="en-US" altLang="ko-KR" sz="1400" dirty="0">
              <a:latin typeface="D2Coding" panose="020B0609020101020101" pitchFamily="49" charset="-127"/>
              <a:ea typeface="D2Coding" panose="020B0609020101020101" pitchFamily="49" charset="-127"/>
            </a:endParaRPr>
          </a:p>
          <a:p>
            <a:pPr marL="800100" lvl="1" indent="-342900">
              <a:lnSpc>
                <a:spcPct val="150000"/>
              </a:lnSpc>
              <a:buFont typeface="Wingdings" panose="05000000000000000000" pitchFamily="2" charset="2"/>
              <a:buChar char="v"/>
            </a:pPr>
            <a:r>
              <a:rPr lang="ko-KR" altLang="en-US" sz="1400" dirty="0" err="1">
                <a:latin typeface="D2Coding" panose="020B0609020101020101" pitchFamily="49" charset="-127"/>
                <a:ea typeface="D2Coding" panose="020B0609020101020101" pitchFamily="49" charset="-127"/>
              </a:rPr>
              <a:t>Python</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Gradio</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Hugging</a:t>
            </a: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Face</a:t>
            </a: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Spaces</a:t>
            </a:r>
            <a:r>
              <a:rPr lang="ko-KR" altLang="en-US" sz="1400" dirty="0">
                <a:latin typeface="D2Coding" panose="020B0609020101020101" pitchFamily="49" charset="-127"/>
                <a:ea typeface="D2Coding" panose="020B0609020101020101" pitchFamily="49" charset="-127"/>
              </a:rPr>
              <a:t> 로 구성된 </a:t>
            </a:r>
            <a:r>
              <a:rPr lang="en-US" altLang="ko-KR" sz="1400" dirty="0">
                <a:latin typeface="D2Coding" panose="020B0609020101020101" pitchFamily="49" charset="-127"/>
                <a:ea typeface="D2Coding" panose="020B0609020101020101" pitchFamily="49" charset="-127"/>
              </a:rPr>
              <a:t>CI/CD </a:t>
            </a:r>
            <a:r>
              <a:rPr lang="ko-KR" altLang="en-US" sz="1400" dirty="0">
                <a:latin typeface="D2Coding" panose="020B0609020101020101" pitchFamily="49" charset="-127"/>
                <a:ea typeface="D2Coding" panose="020B0609020101020101" pitchFamily="49" charset="-127"/>
              </a:rPr>
              <a:t>실습</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가상환경</a:t>
            </a:r>
            <a:r>
              <a:rPr lang="en-US" altLang="ko-KR" sz="1400" dirty="0">
                <a:latin typeface="D2Coding" panose="020B0609020101020101" pitchFamily="49" charset="-127"/>
                <a:ea typeface="D2Coding" panose="020B0609020101020101" pitchFamily="49" charset="-127"/>
              </a:rPr>
              <a:t>) </a:t>
            </a:r>
            <a:endParaRPr lang="en-US" altLang="ko-KR" sz="300" dirty="0">
              <a:latin typeface="D2Coding" panose="020B0609020101020101" pitchFamily="49" charset="-127"/>
              <a:ea typeface="D2Coding" panose="020B0609020101020101" pitchFamily="49" charset="-127"/>
            </a:endParaRPr>
          </a:p>
          <a:p>
            <a:pPr marL="800100" lvl="1" indent="-342900">
              <a:lnSpc>
                <a:spcPct val="150000"/>
              </a:lnSpc>
              <a:buFont typeface="Wingdings" panose="05000000000000000000" pitchFamily="2" charset="2"/>
              <a:buChar char="v"/>
            </a:pPr>
            <a:endParaRPr lang="en-US" altLang="ko-KR" sz="1000" dirty="0">
              <a:latin typeface="D2Coding" panose="020B0609020101020101" pitchFamily="49" charset="-127"/>
              <a:ea typeface="D2Coding" panose="020B0609020101020101" pitchFamily="49" charset="-127"/>
            </a:endParaRPr>
          </a:p>
          <a:p>
            <a:pPr marL="342900" indent="-342900">
              <a:lnSpc>
                <a:spcPct val="150000"/>
              </a:lnSpc>
              <a:buFont typeface="+mj-lt"/>
              <a:buAutoNum type="arabicParenR"/>
            </a:pPr>
            <a:r>
              <a:rPr lang="ko-KR" altLang="en-US" sz="1600" dirty="0" err="1">
                <a:latin typeface="D2Coding" panose="020B0609020101020101" pitchFamily="49" charset="-127"/>
                <a:ea typeface="D2Coding" panose="020B0609020101020101" pitchFamily="49" charset="-127"/>
              </a:rPr>
              <a:t>Docker</a:t>
            </a:r>
            <a:r>
              <a:rPr lang="ko-KR" altLang="en-US" sz="1600" dirty="0">
                <a:latin typeface="D2Coding" panose="020B0609020101020101" pitchFamily="49" charset="-127"/>
                <a:ea typeface="D2Coding" panose="020B0609020101020101" pitchFamily="49" charset="-127"/>
              </a:rPr>
              <a:t> 개념 이해와 실습을 위해 애플리케이션을 이미지</a:t>
            </a:r>
            <a:r>
              <a:rPr lang="en-US" altLang="ko-KR" sz="1600" dirty="0">
                <a:latin typeface="D2Coding" panose="020B0609020101020101" pitchFamily="49" charset="-127"/>
                <a:ea typeface="D2Coding" panose="020B0609020101020101" pitchFamily="49" charset="-127"/>
              </a:rPr>
              <a:t>(Image)</a:t>
            </a:r>
            <a:r>
              <a:rPr lang="ko-KR" altLang="en-US" sz="1600" dirty="0">
                <a:latin typeface="D2Coding" panose="020B0609020101020101" pitchFamily="49" charset="-127"/>
                <a:ea typeface="D2Coding" panose="020B0609020101020101" pitchFamily="49" charset="-127"/>
              </a:rPr>
              <a:t>와 컨테이너화</a:t>
            </a:r>
            <a:r>
              <a:rPr lang="en-US" altLang="ko-KR" sz="1600" dirty="0">
                <a:latin typeface="D2Coding" panose="020B0609020101020101" pitchFamily="49" charset="-127"/>
                <a:ea typeface="D2Coding" panose="020B0609020101020101" pitchFamily="49" charset="-127"/>
              </a:rPr>
              <a:t>(Container)</a:t>
            </a:r>
            <a:r>
              <a:rPr lang="ko-KR" altLang="en-US" sz="1600" dirty="0">
                <a:latin typeface="D2Coding" panose="020B0609020101020101" pitchFamily="49" charset="-127"/>
                <a:ea typeface="D2Coding" panose="020B0609020101020101" pitchFamily="49" charset="-127"/>
              </a:rPr>
              <a:t>하여 개발부터 배포하는</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전체 프로세스 이해</a:t>
            </a:r>
            <a:endParaRPr lang="en-US" altLang="ko-KR" sz="1600" dirty="0">
              <a:latin typeface="D2Coding" panose="020B0609020101020101" pitchFamily="49" charset="-127"/>
              <a:ea typeface="D2Coding" panose="020B0609020101020101" pitchFamily="49" charset="-127"/>
            </a:endParaRPr>
          </a:p>
          <a:p>
            <a:pPr marL="800100" lvl="1" indent="-34290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git </a:t>
            </a:r>
            <a:r>
              <a:rPr lang="en-US" altLang="ko-KR" sz="1400" dirty="0" err="1">
                <a:latin typeface="D2Coding" panose="020B0609020101020101" pitchFamily="49" charset="-127"/>
                <a:ea typeface="D2Coding" panose="020B0609020101020101" pitchFamily="49" charset="-127"/>
              </a:rPr>
              <a:t>Codespaces</a:t>
            </a:r>
            <a:r>
              <a:rPr lang="ko-KR" altLang="en-US" sz="1400" dirty="0">
                <a:latin typeface="D2Coding" panose="020B0609020101020101" pitchFamily="49" charset="-127"/>
                <a:ea typeface="D2Coding" panose="020B0609020101020101" pitchFamily="49" charset="-127"/>
              </a:rPr>
              <a:t>과 </a:t>
            </a:r>
            <a:r>
              <a:rPr lang="en-US" altLang="ko-KR" sz="1400" dirty="0" err="1">
                <a:latin typeface="D2Coding" panose="020B0609020101020101" pitchFamily="49" charset="-127"/>
                <a:ea typeface="D2Coding" panose="020B0609020101020101" pitchFamily="49" charset="-127"/>
              </a:rPr>
              <a:t>linux</a:t>
            </a:r>
            <a:r>
              <a:rPr lang="ko-KR" altLang="en-US" sz="1400" dirty="0">
                <a:latin typeface="D2Coding" panose="020B0609020101020101" pitchFamily="49" charset="-127"/>
                <a:ea typeface="D2Coding" panose="020B0609020101020101" pitchFamily="49" charset="-127"/>
              </a:rPr>
              <a:t> 시스템 실습</a:t>
            </a:r>
            <a:endParaRPr lang="en-US" altLang="ko-KR" sz="1400" dirty="0">
              <a:latin typeface="D2Coding" panose="020B0609020101020101" pitchFamily="49" charset="-127"/>
              <a:ea typeface="D2Coding" panose="020B0609020101020101" pitchFamily="49" charset="-127"/>
            </a:endParaRPr>
          </a:p>
          <a:p>
            <a:pPr marL="800100" lvl="1" indent="-342900">
              <a:lnSpc>
                <a:spcPct val="150000"/>
              </a:lnSpc>
              <a:buFont typeface="Wingdings" panose="05000000000000000000" pitchFamily="2" charset="2"/>
              <a:buChar char="v"/>
            </a:pPr>
            <a:r>
              <a:rPr lang="en-US" altLang="ko-KR" sz="1400" dirty="0">
                <a:latin typeface="D2Coding" panose="020B0609020101020101" pitchFamily="49" charset="-127"/>
                <a:ea typeface="D2Coding" panose="020B0609020101020101" pitchFamily="49" charset="-127"/>
              </a:rPr>
              <a:t>Docker, Image &amp; Container </a:t>
            </a:r>
            <a:r>
              <a:rPr lang="ko-KR" altLang="en-US" sz="1400" dirty="0">
                <a:latin typeface="D2Coding" panose="020B0609020101020101" pitchFamily="49" charset="-127"/>
                <a:ea typeface="D2Coding" panose="020B0609020101020101" pitchFamily="49" charset="-127"/>
              </a:rPr>
              <a:t>구성 및 배포 실습</a:t>
            </a:r>
            <a:endParaRPr lang="en-US" altLang="ko-KR" sz="300" dirty="0">
              <a:latin typeface="D2Coding" panose="020B0609020101020101" pitchFamily="49" charset="-127"/>
              <a:ea typeface="D2Coding" panose="020B0609020101020101" pitchFamily="49" charset="-127"/>
            </a:endParaRPr>
          </a:p>
          <a:p>
            <a:pPr marL="800100" lvl="1" indent="-342900">
              <a:lnSpc>
                <a:spcPct val="150000"/>
              </a:lnSpc>
              <a:buFont typeface="Wingdings" panose="05000000000000000000" pitchFamily="2" charset="2"/>
              <a:buChar char="v"/>
            </a:pPr>
            <a:endParaRPr lang="en-US" altLang="ko-KR" sz="1000" dirty="0">
              <a:latin typeface="D2Coding" panose="020B0609020101020101" pitchFamily="49" charset="-127"/>
              <a:ea typeface="D2Coding" panose="020B0609020101020101" pitchFamily="49" charset="-127"/>
            </a:endParaRPr>
          </a:p>
          <a:p>
            <a:pPr marL="342900" indent="-342900">
              <a:lnSpc>
                <a:spcPct val="150000"/>
              </a:lnSpc>
              <a:buFont typeface="+mj-lt"/>
              <a:buAutoNum type="arabicParenR"/>
            </a:pPr>
            <a:r>
              <a:rPr lang="en-US" altLang="ko-KR" sz="1600" dirty="0">
                <a:latin typeface="D2Coding" panose="020B0609020101020101" pitchFamily="49" charset="-127"/>
                <a:ea typeface="D2Coding" panose="020B0609020101020101" pitchFamily="49" charset="-127"/>
              </a:rPr>
              <a:t>Airflow</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Docker</a:t>
            </a:r>
            <a:r>
              <a:rPr lang="ko-KR" altLang="en-US" sz="1600" dirty="0">
                <a:latin typeface="D2Coding" panose="020B0609020101020101" pitchFamily="49" charset="-127"/>
                <a:ea typeface="D2Coding" panose="020B0609020101020101" pitchFamily="49" charset="-127"/>
              </a:rPr>
              <a:t>로 설치하여 실습하고 </a:t>
            </a:r>
            <a:r>
              <a:rPr lang="en-US" altLang="ko-KR" sz="1600" dirty="0">
                <a:latin typeface="D2Coding" panose="020B0609020101020101" pitchFamily="49" charset="-127"/>
                <a:ea typeface="D2Coding" panose="020B0609020101020101" pitchFamily="49" charset="-127"/>
              </a:rPr>
              <a:t>Workflow Automation</a:t>
            </a:r>
            <a:r>
              <a:rPr lang="ko-KR" altLang="en-US" sz="1600" dirty="0">
                <a:latin typeface="D2Coding" panose="020B0609020101020101" pitchFamily="49" charset="-127"/>
                <a:ea typeface="D2Coding" panose="020B0609020101020101" pitchFamily="49" charset="-127"/>
              </a:rPr>
              <a:t> 실습</a:t>
            </a:r>
            <a:endParaRPr lang="en-US" altLang="ko-KR" sz="1600" dirty="0">
              <a:latin typeface="D2Coding" panose="020B0609020101020101" pitchFamily="49" charset="-127"/>
              <a:ea typeface="D2Coding" panose="020B0609020101020101" pitchFamily="49" charset="-127"/>
            </a:endParaRPr>
          </a:p>
        </p:txBody>
      </p:sp>
      <p:sp>
        <p:nvSpPr>
          <p:cNvPr id="4" name="슬라이드 번호 개체 틀 3">
            <a:extLst>
              <a:ext uri="{FF2B5EF4-FFF2-40B4-BE49-F238E27FC236}">
                <a16:creationId xmlns:a16="http://schemas.microsoft.com/office/drawing/2014/main" id="{0576B93F-1952-6C9D-B7E2-8641854988E6}"/>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3</a:t>
            </a:fld>
            <a:endParaRPr lang="en-US" b="1" dirty="0">
              <a:latin typeface="Segoe UI Emoji" panose="020B0502040204020203" pitchFamily="34" charset="0"/>
              <a:ea typeface="Segoe UI Emoji" panose="020B0502040204020203" pitchFamily="34" charset="0"/>
            </a:endParaRPr>
          </a:p>
        </p:txBody>
      </p:sp>
    </p:spTree>
    <p:extLst>
      <p:ext uri="{BB962C8B-B14F-4D97-AF65-F5344CB8AC3E}">
        <p14:creationId xmlns:p14="http://schemas.microsoft.com/office/powerpoint/2010/main" val="28270702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99E74-649D-1033-C865-12E324BF797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4576D94-1332-4F5A-4828-9807992BDF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개발</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프로세스</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전체</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흐름</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 1">
            <a:extLst>
              <a:ext uri="{FF2B5EF4-FFF2-40B4-BE49-F238E27FC236}">
                <a16:creationId xmlns:a16="http://schemas.microsoft.com/office/drawing/2014/main" id="{50E3C64A-6FE7-686E-BD26-25E57D565BA6}"/>
              </a:ext>
            </a:extLst>
          </p:cNvPr>
          <p:cNvSpPr/>
          <p:nvPr/>
        </p:nvSpPr>
        <p:spPr>
          <a:xfrm>
            <a:off x="640080" y="1385582"/>
            <a:ext cx="10515600" cy="411480"/>
          </a:xfrm>
          <a:prstGeom prst="rect">
            <a:avLst/>
          </a:prstGeom>
          <a:noFill/>
          <a:ln/>
        </p:spPr>
        <p:txBody>
          <a:bodyPr wrap="square" lIns="0" tIns="0" rIns="0" bIns="0" rtlCol="0" anchor="ctr"/>
          <a:lstStyle/>
          <a:p>
            <a:pPr marL="0" indent="0">
              <a:buNone/>
            </a:pPr>
            <a:r>
              <a:rPr lang="en-US" dirty="0" err="1">
                <a:latin typeface="D2Coding" panose="020B0609020101020101" pitchFamily="49" charset="-127"/>
                <a:ea typeface="D2Coding" panose="020B0609020101020101" pitchFamily="49" charset="-127"/>
                <a:cs typeface="Malgun Gothic" pitchFamily="34" charset="-120"/>
              </a:rPr>
              <a:t>개발부터</a:t>
            </a:r>
            <a:r>
              <a:rPr lang="en-US" dirty="0">
                <a:latin typeface="D2Coding" panose="020B0609020101020101" pitchFamily="49" charset="-127"/>
                <a:ea typeface="D2Coding" panose="020B0609020101020101" pitchFamily="49" charset="-127"/>
                <a:cs typeface="Malgun Gothic" pitchFamily="34" charset="-120"/>
              </a:rPr>
              <a:t> </a:t>
            </a:r>
            <a:r>
              <a:rPr lang="en-US" dirty="0" err="1">
                <a:latin typeface="D2Coding" panose="020B0609020101020101" pitchFamily="49" charset="-127"/>
                <a:ea typeface="D2Coding" panose="020B0609020101020101" pitchFamily="49" charset="-127"/>
                <a:cs typeface="Malgun Gothic" pitchFamily="34" charset="-120"/>
              </a:rPr>
              <a:t>배포까지</a:t>
            </a:r>
            <a:r>
              <a:rPr lang="en-US" dirty="0">
                <a:latin typeface="D2Coding" panose="020B0609020101020101" pitchFamily="49" charset="-127"/>
                <a:ea typeface="D2Coding" panose="020B0609020101020101" pitchFamily="49" charset="-127"/>
                <a:cs typeface="Malgun Gothic" pitchFamily="34" charset="-120"/>
              </a:rPr>
              <a:t> </a:t>
            </a:r>
            <a:r>
              <a:rPr lang="en-US" dirty="0" err="1">
                <a:latin typeface="D2Coding" panose="020B0609020101020101" pitchFamily="49" charset="-127"/>
                <a:ea typeface="D2Coding" panose="020B0609020101020101" pitchFamily="49" charset="-127"/>
                <a:cs typeface="Malgun Gothic" pitchFamily="34" charset="-120"/>
              </a:rPr>
              <a:t>하나의</a:t>
            </a:r>
            <a:r>
              <a:rPr lang="en-US" dirty="0">
                <a:latin typeface="D2Coding" panose="020B0609020101020101" pitchFamily="49" charset="-127"/>
                <a:ea typeface="D2Coding" panose="020B0609020101020101" pitchFamily="49" charset="-127"/>
                <a:cs typeface="Malgun Gothic" pitchFamily="34" charset="-120"/>
              </a:rPr>
              <a:t> </a:t>
            </a:r>
            <a:r>
              <a:rPr lang="en-US" dirty="0" err="1">
                <a:latin typeface="D2Coding" panose="020B0609020101020101" pitchFamily="49" charset="-127"/>
                <a:ea typeface="D2Coding" panose="020B0609020101020101" pitchFamily="49" charset="-127"/>
                <a:cs typeface="Malgun Gothic" pitchFamily="34" charset="-120"/>
              </a:rPr>
              <a:t>연속된</a:t>
            </a:r>
            <a:r>
              <a:rPr lang="en-US" dirty="0">
                <a:latin typeface="D2Coding" panose="020B0609020101020101" pitchFamily="49" charset="-127"/>
                <a:ea typeface="D2Coding" panose="020B0609020101020101" pitchFamily="49" charset="-127"/>
                <a:cs typeface="Malgun Gothic" pitchFamily="34" charset="-120"/>
              </a:rPr>
              <a:t> </a:t>
            </a:r>
            <a:r>
              <a:rPr lang="en-US" dirty="0" err="1">
                <a:latin typeface="D2Coding" panose="020B0609020101020101" pitchFamily="49" charset="-127"/>
                <a:ea typeface="D2Coding" panose="020B0609020101020101" pitchFamily="49" charset="-127"/>
                <a:cs typeface="Malgun Gothic" pitchFamily="34" charset="-120"/>
              </a:rPr>
              <a:t>파이프라인</a:t>
            </a:r>
            <a:endParaRPr lang="en-US" dirty="0">
              <a:latin typeface="D2Coding" panose="020B0609020101020101" pitchFamily="49" charset="-127"/>
              <a:ea typeface="D2Coding" panose="020B0609020101020101" pitchFamily="49" charset="-127"/>
            </a:endParaRPr>
          </a:p>
        </p:txBody>
      </p:sp>
      <p:sp>
        <p:nvSpPr>
          <p:cNvPr id="5" name="Shape 2">
            <a:extLst>
              <a:ext uri="{FF2B5EF4-FFF2-40B4-BE49-F238E27FC236}">
                <a16:creationId xmlns:a16="http://schemas.microsoft.com/office/drawing/2014/main" id="{7C305331-13EB-288B-C6F9-10812EE2A0A9}"/>
              </a:ext>
            </a:extLst>
          </p:cNvPr>
          <p:cNvSpPr/>
          <p:nvPr/>
        </p:nvSpPr>
        <p:spPr>
          <a:xfrm>
            <a:off x="640080" y="2286000"/>
            <a:ext cx="1874520" cy="2194560"/>
          </a:xfrm>
          <a:prstGeom prst="roundRect">
            <a:avLst>
              <a:gd name="adj" fmla="val 5854"/>
            </a:avLst>
          </a:prstGeom>
          <a:solidFill>
            <a:srgbClr val="F7FAFA"/>
          </a:solidFill>
          <a:ln>
            <a:solidFill>
              <a:schemeClr val="accent5"/>
            </a:solidFill>
          </a:ln>
          <a:effectLst>
            <a:outerShdw blurRad="76200" dist="25400" dir="5400000" algn="bl" rotWithShape="0">
              <a:srgbClr val="8A9A9A">
                <a:alpha val="25000"/>
              </a:srgbClr>
            </a:outerShdw>
          </a:effectLst>
        </p:spPr>
        <p:txBody>
          <a:bodyPr/>
          <a:lstStyle/>
          <a:p>
            <a:endParaRPr lang="ko-KR" altLang="en-US"/>
          </a:p>
        </p:txBody>
      </p:sp>
      <p:sp>
        <p:nvSpPr>
          <p:cNvPr id="6" name="Shape 3">
            <a:extLst>
              <a:ext uri="{FF2B5EF4-FFF2-40B4-BE49-F238E27FC236}">
                <a16:creationId xmlns:a16="http://schemas.microsoft.com/office/drawing/2014/main" id="{384BE496-68E7-6419-0080-041D9CC17D8E}"/>
              </a:ext>
            </a:extLst>
          </p:cNvPr>
          <p:cNvSpPr/>
          <p:nvPr/>
        </p:nvSpPr>
        <p:spPr>
          <a:xfrm>
            <a:off x="1257300" y="2560320"/>
            <a:ext cx="640080" cy="640080"/>
          </a:xfrm>
          <a:prstGeom prst="ellipse">
            <a:avLst/>
          </a:prstGeom>
          <a:solidFill>
            <a:srgbClr val="028090"/>
          </a:solidFill>
          <a:ln/>
        </p:spPr>
        <p:txBody>
          <a:bodyPr/>
          <a:lstStyle/>
          <a:p>
            <a:endParaRPr lang="ko-KR" altLang="en-US"/>
          </a:p>
        </p:txBody>
      </p:sp>
      <p:sp>
        <p:nvSpPr>
          <p:cNvPr id="8" name="Text 4">
            <a:extLst>
              <a:ext uri="{FF2B5EF4-FFF2-40B4-BE49-F238E27FC236}">
                <a16:creationId xmlns:a16="http://schemas.microsoft.com/office/drawing/2014/main" id="{5F6C4504-EB44-FC05-4E63-2F797CF45E32}"/>
              </a:ext>
            </a:extLst>
          </p:cNvPr>
          <p:cNvSpPr/>
          <p:nvPr/>
        </p:nvSpPr>
        <p:spPr>
          <a:xfrm>
            <a:off x="1257300" y="2560320"/>
            <a:ext cx="640080" cy="640080"/>
          </a:xfrm>
          <a:prstGeom prst="rect">
            <a:avLst/>
          </a:prstGeom>
          <a:noFill/>
          <a:ln/>
        </p:spPr>
        <p:txBody>
          <a:bodyPr wrap="square" lIns="0" tIns="0" rIns="0" bIns="0" rtlCol="0" anchor="ctr"/>
          <a:lstStyle/>
          <a:p>
            <a:pPr marL="0" indent="0" algn="ctr">
              <a:buNone/>
            </a:pPr>
            <a:r>
              <a:rPr lang="en-US" sz="2800" b="1" dirty="0">
                <a:solidFill>
                  <a:srgbClr val="FFFFFF"/>
                </a:solidFill>
                <a:latin typeface="D2Coding" panose="020B0609020101020101" pitchFamily="49" charset="-127"/>
                <a:ea typeface="D2Coding" panose="020B0609020101020101" pitchFamily="49" charset="-127"/>
                <a:cs typeface="Malgun Gothic" pitchFamily="34" charset="-120"/>
              </a:rPr>
              <a:t>1</a:t>
            </a:r>
            <a:endParaRPr lang="en-US" sz="2800" dirty="0">
              <a:latin typeface="D2Coding" panose="020B0609020101020101" pitchFamily="49" charset="-127"/>
              <a:ea typeface="D2Coding" panose="020B0609020101020101" pitchFamily="49" charset="-127"/>
            </a:endParaRPr>
          </a:p>
        </p:txBody>
      </p:sp>
      <p:sp>
        <p:nvSpPr>
          <p:cNvPr id="9" name="Text 5">
            <a:extLst>
              <a:ext uri="{FF2B5EF4-FFF2-40B4-BE49-F238E27FC236}">
                <a16:creationId xmlns:a16="http://schemas.microsoft.com/office/drawing/2014/main" id="{D8854973-17D9-B6DA-DC15-0DC71FA88BC2}"/>
              </a:ext>
            </a:extLst>
          </p:cNvPr>
          <p:cNvSpPr/>
          <p:nvPr/>
        </p:nvSpPr>
        <p:spPr>
          <a:xfrm>
            <a:off x="640080" y="3337560"/>
            <a:ext cx="1874520" cy="411480"/>
          </a:xfrm>
          <a:prstGeom prst="rect">
            <a:avLst/>
          </a:prstGeom>
          <a:noFill/>
          <a:ln/>
        </p:spPr>
        <p:txBody>
          <a:bodyPr wrap="square" lIns="0" tIns="0" rIns="0" bIns="0" rtlCol="0" anchor="ctr"/>
          <a:lstStyle/>
          <a:p>
            <a:pPr marL="0" indent="0" algn="ctr">
              <a:buNone/>
            </a:pPr>
            <a:r>
              <a:rPr lang="en-US" sz="2000" b="1" dirty="0">
                <a:solidFill>
                  <a:srgbClr val="1B2A2E"/>
                </a:solidFill>
                <a:latin typeface="D2Coding" panose="020B0609020101020101" pitchFamily="49" charset="-127"/>
                <a:ea typeface="D2Coding" panose="020B0609020101020101" pitchFamily="49" charset="-127"/>
                <a:cs typeface="Malgun Gothic" pitchFamily="34" charset="-120"/>
              </a:rPr>
              <a:t>개발</a:t>
            </a:r>
            <a:endParaRPr lang="en-US" sz="2000" dirty="0">
              <a:latin typeface="D2Coding" panose="020B0609020101020101" pitchFamily="49" charset="-127"/>
              <a:ea typeface="D2Coding" panose="020B0609020101020101" pitchFamily="49" charset="-127"/>
            </a:endParaRPr>
          </a:p>
        </p:txBody>
      </p:sp>
      <p:sp>
        <p:nvSpPr>
          <p:cNvPr id="10" name="Text 6">
            <a:extLst>
              <a:ext uri="{FF2B5EF4-FFF2-40B4-BE49-F238E27FC236}">
                <a16:creationId xmlns:a16="http://schemas.microsoft.com/office/drawing/2014/main" id="{EEF99A43-2519-FF46-326F-5A3F2D271825}"/>
              </a:ext>
            </a:extLst>
          </p:cNvPr>
          <p:cNvSpPr/>
          <p:nvPr/>
        </p:nvSpPr>
        <p:spPr>
          <a:xfrm>
            <a:off x="731520" y="3767328"/>
            <a:ext cx="1691640" cy="640080"/>
          </a:xfrm>
          <a:prstGeom prst="rect">
            <a:avLst/>
          </a:prstGeom>
          <a:noFill/>
          <a:ln/>
        </p:spPr>
        <p:txBody>
          <a:bodyPr wrap="square" lIns="0" tIns="0" rIns="0" bIns="0" rtlCol="0" anchor="ctr"/>
          <a:lstStyle/>
          <a:p>
            <a:pPr marL="0" indent="0" algn="ctr">
              <a:lnSpc>
                <a:spcPct val="120000"/>
              </a:lnSpc>
              <a:buNone/>
            </a:pPr>
            <a:r>
              <a:rPr lang="en-US" sz="1400" dirty="0">
                <a:solidFill>
                  <a:srgbClr val="5B6B6E"/>
                </a:solidFill>
                <a:latin typeface="D2Coding" panose="020B0609020101020101" pitchFamily="49" charset="-127"/>
                <a:ea typeface="D2Coding" panose="020B0609020101020101" pitchFamily="49" charset="-127"/>
                <a:cs typeface="Malgun Gothic" pitchFamily="34" charset="-120"/>
              </a:rPr>
              <a:t>코드 작성 및</a:t>
            </a:r>
            <a:endParaRPr lang="en-US" sz="1400" dirty="0">
              <a:latin typeface="D2Coding" panose="020B0609020101020101" pitchFamily="49" charset="-127"/>
              <a:ea typeface="D2Coding" panose="020B0609020101020101" pitchFamily="49" charset="-127"/>
            </a:endParaRPr>
          </a:p>
          <a:p>
            <a:pPr marL="0" indent="0" algn="ctr">
              <a:lnSpc>
                <a:spcPct val="120000"/>
              </a:lnSpc>
              <a:buNone/>
            </a:pPr>
            <a:r>
              <a:rPr lang="en-US" sz="1400" dirty="0">
                <a:solidFill>
                  <a:srgbClr val="5B6B6E"/>
                </a:solidFill>
                <a:latin typeface="D2Coding" panose="020B0609020101020101" pitchFamily="49" charset="-127"/>
                <a:ea typeface="D2Coding" panose="020B0609020101020101" pitchFamily="49" charset="-127"/>
                <a:cs typeface="Malgun Gothic" pitchFamily="34" charset="-120"/>
              </a:rPr>
              <a:t>기능 구현</a:t>
            </a:r>
            <a:endParaRPr lang="en-US" sz="1400" dirty="0">
              <a:latin typeface="D2Coding" panose="020B0609020101020101" pitchFamily="49" charset="-127"/>
              <a:ea typeface="D2Coding" panose="020B0609020101020101" pitchFamily="49" charset="-127"/>
            </a:endParaRPr>
          </a:p>
        </p:txBody>
      </p:sp>
      <p:sp>
        <p:nvSpPr>
          <p:cNvPr id="11" name="Text 7">
            <a:extLst>
              <a:ext uri="{FF2B5EF4-FFF2-40B4-BE49-F238E27FC236}">
                <a16:creationId xmlns:a16="http://schemas.microsoft.com/office/drawing/2014/main" id="{01B46DB9-EF39-95C2-F92E-AECD34C1A575}"/>
              </a:ext>
            </a:extLst>
          </p:cNvPr>
          <p:cNvSpPr/>
          <p:nvPr/>
        </p:nvSpPr>
        <p:spPr>
          <a:xfrm>
            <a:off x="2514600" y="3063240"/>
            <a:ext cx="256032" cy="457200"/>
          </a:xfrm>
          <a:prstGeom prst="rect">
            <a:avLst/>
          </a:prstGeom>
          <a:noFill/>
          <a:ln/>
        </p:spPr>
        <p:txBody>
          <a:bodyPr wrap="square" lIns="0" tIns="0" rIns="0" bIns="0" rtlCol="0" anchor="ctr"/>
          <a:lstStyle/>
          <a:p>
            <a:pPr marL="0" indent="0" algn="ctr">
              <a:buNone/>
            </a:pPr>
            <a:r>
              <a:rPr lang="en-US" sz="2800" b="1" dirty="0">
                <a:solidFill>
                  <a:srgbClr val="02C39A"/>
                </a:solidFill>
                <a:latin typeface="D2Coding" panose="020B0609020101020101" pitchFamily="49" charset="-127"/>
                <a:ea typeface="D2Coding" panose="020B0609020101020101" pitchFamily="49" charset="-127"/>
                <a:cs typeface="Malgun Gothic" pitchFamily="34" charset="-120"/>
              </a:rPr>
              <a:t>→</a:t>
            </a:r>
            <a:endParaRPr lang="en-US" sz="2800" dirty="0">
              <a:latin typeface="D2Coding" panose="020B0609020101020101" pitchFamily="49" charset="-127"/>
              <a:ea typeface="D2Coding" panose="020B0609020101020101" pitchFamily="49" charset="-127"/>
            </a:endParaRPr>
          </a:p>
        </p:txBody>
      </p:sp>
      <p:sp>
        <p:nvSpPr>
          <p:cNvPr id="12" name="Shape 8">
            <a:extLst>
              <a:ext uri="{FF2B5EF4-FFF2-40B4-BE49-F238E27FC236}">
                <a16:creationId xmlns:a16="http://schemas.microsoft.com/office/drawing/2014/main" id="{35144EE1-AF85-AEB9-019F-8D608F2ED83E}"/>
              </a:ext>
            </a:extLst>
          </p:cNvPr>
          <p:cNvSpPr/>
          <p:nvPr/>
        </p:nvSpPr>
        <p:spPr>
          <a:xfrm>
            <a:off x="2770632" y="2286000"/>
            <a:ext cx="1874520" cy="2194560"/>
          </a:xfrm>
          <a:prstGeom prst="roundRect">
            <a:avLst>
              <a:gd name="adj" fmla="val 5854"/>
            </a:avLst>
          </a:prstGeom>
          <a:solidFill>
            <a:srgbClr val="F7FAFA"/>
          </a:solidFill>
          <a:ln>
            <a:solidFill>
              <a:schemeClr val="accent5"/>
            </a:solidFill>
          </a:ln>
          <a:effectLst>
            <a:outerShdw blurRad="76200" dist="25400" dir="5400000" algn="bl" rotWithShape="0">
              <a:srgbClr val="8A9A9A">
                <a:alpha val="25000"/>
              </a:srgbClr>
            </a:outerShdw>
          </a:effectLst>
        </p:spPr>
        <p:txBody>
          <a:bodyPr/>
          <a:lstStyle/>
          <a:p>
            <a:endParaRPr lang="ko-KR" altLang="en-US"/>
          </a:p>
        </p:txBody>
      </p:sp>
      <p:sp>
        <p:nvSpPr>
          <p:cNvPr id="13" name="Shape 9">
            <a:extLst>
              <a:ext uri="{FF2B5EF4-FFF2-40B4-BE49-F238E27FC236}">
                <a16:creationId xmlns:a16="http://schemas.microsoft.com/office/drawing/2014/main" id="{F12D7A2E-B26F-99D5-6C92-508979AE6CF0}"/>
              </a:ext>
            </a:extLst>
          </p:cNvPr>
          <p:cNvSpPr/>
          <p:nvPr/>
        </p:nvSpPr>
        <p:spPr>
          <a:xfrm>
            <a:off x="3387852" y="2560320"/>
            <a:ext cx="640080" cy="640080"/>
          </a:xfrm>
          <a:prstGeom prst="ellipse">
            <a:avLst/>
          </a:prstGeom>
          <a:solidFill>
            <a:srgbClr val="00A896"/>
          </a:solidFill>
          <a:ln/>
        </p:spPr>
        <p:txBody>
          <a:bodyPr/>
          <a:lstStyle/>
          <a:p>
            <a:endParaRPr lang="ko-KR" altLang="en-US"/>
          </a:p>
        </p:txBody>
      </p:sp>
      <p:sp>
        <p:nvSpPr>
          <p:cNvPr id="14" name="Text 10">
            <a:extLst>
              <a:ext uri="{FF2B5EF4-FFF2-40B4-BE49-F238E27FC236}">
                <a16:creationId xmlns:a16="http://schemas.microsoft.com/office/drawing/2014/main" id="{15A45659-9C97-A8F4-D245-7CE853C32571}"/>
              </a:ext>
            </a:extLst>
          </p:cNvPr>
          <p:cNvSpPr/>
          <p:nvPr/>
        </p:nvSpPr>
        <p:spPr>
          <a:xfrm>
            <a:off x="3387852" y="2560320"/>
            <a:ext cx="640080" cy="640080"/>
          </a:xfrm>
          <a:prstGeom prst="rect">
            <a:avLst/>
          </a:prstGeom>
          <a:noFill/>
          <a:ln/>
        </p:spPr>
        <p:txBody>
          <a:bodyPr wrap="square" lIns="0" tIns="0" rIns="0" bIns="0" rtlCol="0" anchor="ctr"/>
          <a:lstStyle/>
          <a:p>
            <a:pPr marL="0" indent="0" algn="ctr">
              <a:buNone/>
            </a:pPr>
            <a:r>
              <a:rPr lang="en-US" sz="2800" b="1" dirty="0">
                <a:solidFill>
                  <a:srgbClr val="FFFFFF"/>
                </a:solidFill>
                <a:latin typeface="D2Coding" panose="020B0609020101020101" pitchFamily="49" charset="-127"/>
                <a:ea typeface="D2Coding" panose="020B0609020101020101" pitchFamily="49" charset="-127"/>
                <a:cs typeface="Malgun Gothic" pitchFamily="34" charset="-120"/>
              </a:rPr>
              <a:t>2</a:t>
            </a:r>
            <a:endParaRPr lang="en-US" sz="2800" dirty="0">
              <a:latin typeface="D2Coding" panose="020B0609020101020101" pitchFamily="49" charset="-127"/>
              <a:ea typeface="D2Coding" panose="020B0609020101020101" pitchFamily="49" charset="-127"/>
            </a:endParaRPr>
          </a:p>
        </p:txBody>
      </p:sp>
      <p:sp>
        <p:nvSpPr>
          <p:cNvPr id="15" name="Text 11">
            <a:extLst>
              <a:ext uri="{FF2B5EF4-FFF2-40B4-BE49-F238E27FC236}">
                <a16:creationId xmlns:a16="http://schemas.microsoft.com/office/drawing/2014/main" id="{1F249C4F-24F9-9BCB-7E6E-227F64D8D4C4}"/>
              </a:ext>
            </a:extLst>
          </p:cNvPr>
          <p:cNvSpPr/>
          <p:nvPr/>
        </p:nvSpPr>
        <p:spPr>
          <a:xfrm>
            <a:off x="2770632" y="3337560"/>
            <a:ext cx="1874520" cy="411480"/>
          </a:xfrm>
          <a:prstGeom prst="rect">
            <a:avLst/>
          </a:prstGeom>
          <a:noFill/>
          <a:ln/>
        </p:spPr>
        <p:txBody>
          <a:bodyPr wrap="square" lIns="0" tIns="0" rIns="0" bIns="0" rtlCol="0" anchor="ctr"/>
          <a:lstStyle/>
          <a:p>
            <a:pPr marL="0" indent="0" algn="ctr">
              <a:buNone/>
            </a:pPr>
            <a:r>
              <a:rPr lang="en-US" sz="2000" b="1" dirty="0">
                <a:solidFill>
                  <a:srgbClr val="1B2A2E"/>
                </a:solidFill>
                <a:latin typeface="D2Coding" panose="020B0609020101020101" pitchFamily="49" charset="-127"/>
                <a:ea typeface="D2Coding" panose="020B0609020101020101" pitchFamily="49" charset="-127"/>
                <a:cs typeface="Malgun Gothic" pitchFamily="34" charset="-120"/>
              </a:rPr>
              <a:t>형상관리</a:t>
            </a:r>
            <a:endParaRPr lang="en-US" sz="2000" dirty="0">
              <a:latin typeface="D2Coding" panose="020B0609020101020101" pitchFamily="49" charset="-127"/>
              <a:ea typeface="D2Coding" panose="020B0609020101020101" pitchFamily="49" charset="-127"/>
            </a:endParaRPr>
          </a:p>
        </p:txBody>
      </p:sp>
      <p:sp>
        <p:nvSpPr>
          <p:cNvPr id="16" name="Text 12">
            <a:extLst>
              <a:ext uri="{FF2B5EF4-FFF2-40B4-BE49-F238E27FC236}">
                <a16:creationId xmlns:a16="http://schemas.microsoft.com/office/drawing/2014/main" id="{B5BB2BC2-B952-845B-D724-471C9B0A4BFA}"/>
              </a:ext>
            </a:extLst>
          </p:cNvPr>
          <p:cNvSpPr/>
          <p:nvPr/>
        </p:nvSpPr>
        <p:spPr>
          <a:xfrm>
            <a:off x="2862072" y="3767328"/>
            <a:ext cx="1691640" cy="640080"/>
          </a:xfrm>
          <a:prstGeom prst="rect">
            <a:avLst/>
          </a:prstGeom>
          <a:noFill/>
          <a:ln/>
        </p:spPr>
        <p:txBody>
          <a:bodyPr wrap="square" lIns="0" tIns="0" rIns="0" bIns="0" rtlCol="0" anchor="ctr"/>
          <a:lstStyle/>
          <a:p>
            <a:pPr marL="0" indent="0" algn="ctr">
              <a:lnSpc>
                <a:spcPct val="120000"/>
              </a:lnSpc>
              <a:buNone/>
            </a:pPr>
            <a:r>
              <a:rPr lang="en-US" sz="1400" dirty="0">
                <a:solidFill>
                  <a:srgbClr val="5B6B6E"/>
                </a:solidFill>
                <a:latin typeface="D2Coding" panose="020B0609020101020101" pitchFamily="49" charset="-127"/>
                <a:ea typeface="D2Coding" panose="020B0609020101020101" pitchFamily="49" charset="-127"/>
                <a:cs typeface="Malgun Gothic" pitchFamily="34" charset="-120"/>
              </a:rPr>
              <a:t>변경 이력 관리</a:t>
            </a:r>
            <a:endParaRPr lang="en-US" sz="1400" dirty="0">
              <a:latin typeface="D2Coding" panose="020B0609020101020101" pitchFamily="49" charset="-127"/>
              <a:ea typeface="D2Coding" panose="020B0609020101020101" pitchFamily="49" charset="-127"/>
            </a:endParaRPr>
          </a:p>
          <a:p>
            <a:pPr marL="0" indent="0" algn="ctr">
              <a:lnSpc>
                <a:spcPct val="120000"/>
              </a:lnSpc>
              <a:buNone/>
            </a:pPr>
            <a:r>
              <a:rPr lang="en-US" sz="1400" dirty="0">
                <a:solidFill>
                  <a:srgbClr val="5B6B6E"/>
                </a:solidFill>
                <a:latin typeface="D2Coding" panose="020B0609020101020101" pitchFamily="49" charset="-127"/>
                <a:ea typeface="D2Coding" panose="020B0609020101020101" pitchFamily="49" charset="-127"/>
                <a:cs typeface="Malgun Gothic" pitchFamily="34" charset="-120"/>
              </a:rPr>
              <a:t>(Git)</a:t>
            </a:r>
            <a:endParaRPr lang="en-US" sz="1400" dirty="0">
              <a:latin typeface="D2Coding" panose="020B0609020101020101" pitchFamily="49" charset="-127"/>
              <a:ea typeface="D2Coding" panose="020B0609020101020101" pitchFamily="49" charset="-127"/>
            </a:endParaRPr>
          </a:p>
        </p:txBody>
      </p:sp>
      <p:sp>
        <p:nvSpPr>
          <p:cNvPr id="17" name="Text 13">
            <a:extLst>
              <a:ext uri="{FF2B5EF4-FFF2-40B4-BE49-F238E27FC236}">
                <a16:creationId xmlns:a16="http://schemas.microsoft.com/office/drawing/2014/main" id="{74E5A613-E784-7FEC-6977-28D25713C296}"/>
              </a:ext>
            </a:extLst>
          </p:cNvPr>
          <p:cNvSpPr/>
          <p:nvPr/>
        </p:nvSpPr>
        <p:spPr>
          <a:xfrm>
            <a:off x="4645152" y="3063240"/>
            <a:ext cx="256032" cy="457200"/>
          </a:xfrm>
          <a:prstGeom prst="rect">
            <a:avLst/>
          </a:prstGeom>
          <a:noFill/>
          <a:ln/>
        </p:spPr>
        <p:txBody>
          <a:bodyPr wrap="square" lIns="0" tIns="0" rIns="0" bIns="0" rtlCol="0" anchor="ctr"/>
          <a:lstStyle/>
          <a:p>
            <a:pPr marL="0" indent="0" algn="ctr">
              <a:buNone/>
            </a:pPr>
            <a:r>
              <a:rPr lang="en-US" sz="2800" b="1" dirty="0">
                <a:solidFill>
                  <a:srgbClr val="02C39A"/>
                </a:solidFill>
                <a:latin typeface="D2Coding" panose="020B0609020101020101" pitchFamily="49" charset="-127"/>
                <a:ea typeface="D2Coding" panose="020B0609020101020101" pitchFamily="49" charset="-127"/>
                <a:cs typeface="Malgun Gothic" pitchFamily="34" charset="-120"/>
              </a:rPr>
              <a:t>→</a:t>
            </a:r>
            <a:endParaRPr lang="en-US" sz="2800" dirty="0">
              <a:latin typeface="D2Coding" panose="020B0609020101020101" pitchFamily="49" charset="-127"/>
              <a:ea typeface="D2Coding" panose="020B0609020101020101" pitchFamily="49" charset="-127"/>
            </a:endParaRPr>
          </a:p>
        </p:txBody>
      </p:sp>
      <p:sp>
        <p:nvSpPr>
          <p:cNvPr id="18" name="Shape 14">
            <a:extLst>
              <a:ext uri="{FF2B5EF4-FFF2-40B4-BE49-F238E27FC236}">
                <a16:creationId xmlns:a16="http://schemas.microsoft.com/office/drawing/2014/main" id="{8C2FDEBE-47BC-400E-5E6D-6246A86BA683}"/>
              </a:ext>
            </a:extLst>
          </p:cNvPr>
          <p:cNvSpPr/>
          <p:nvPr/>
        </p:nvSpPr>
        <p:spPr>
          <a:xfrm>
            <a:off x="4901184" y="2286000"/>
            <a:ext cx="1874520" cy="2194560"/>
          </a:xfrm>
          <a:prstGeom prst="roundRect">
            <a:avLst>
              <a:gd name="adj" fmla="val 5854"/>
            </a:avLst>
          </a:prstGeom>
          <a:solidFill>
            <a:srgbClr val="F7FAFA"/>
          </a:solidFill>
          <a:ln>
            <a:solidFill>
              <a:schemeClr val="accent5"/>
            </a:solidFill>
          </a:ln>
          <a:effectLst>
            <a:outerShdw blurRad="76200" dist="25400" dir="5400000" algn="bl" rotWithShape="0">
              <a:srgbClr val="8A9A9A">
                <a:alpha val="25000"/>
              </a:srgbClr>
            </a:outerShdw>
          </a:effectLst>
        </p:spPr>
        <p:txBody>
          <a:bodyPr/>
          <a:lstStyle/>
          <a:p>
            <a:endParaRPr lang="ko-KR" altLang="en-US"/>
          </a:p>
        </p:txBody>
      </p:sp>
      <p:sp>
        <p:nvSpPr>
          <p:cNvPr id="19" name="Shape 15">
            <a:extLst>
              <a:ext uri="{FF2B5EF4-FFF2-40B4-BE49-F238E27FC236}">
                <a16:creationId xmlns:a16="http://schemas.microsoft.com/office/drawing/2014/main" id="{E67074C6-5A5D-9F8D-D88E-50767DA61D15}"/>
              </a:ext>
            </a:extLst>
          </p:cNvPr>
          <p:cNvSpPr/>
          <p:nvPr/>
        </p:nvSpPr>
        <p:spPr>
          <a:xfrm>
            <a:off x="5518404" y="2560320"/>
            <a:ext cx="640080" cy="640080"/>
          </a:xfrm>
          <a:prstGeom prst="ellipse">
            <a:avLst/>
          </a:prstGeom>
          <a:solidFill>
            <a:srgbClr val="02C39A"/>
          </a:solidFill>
          <a:ln/>
        </p:spPr>
        <p:txBody>
          <a:bodyPr/>
          <a:lstStyle/>
          <a:p>
            <a:endParaRPr lang="ko-KR" altLang="en-US"/>
          </a:p>
        </p:txBody>
      </p:sp>
      <p:sp>
        <p:nvSpPr>
          <p:cNvPr id="20" name="Text 16">
            <a:extLst>
              <a:ext uri="{FF2B5EF4-FFF2-40B4-BE49-F238E27FC236}">
                <a16:creationId xmlns:a16="http://schemas.microsoft.com/office/drawing/2014/main" id="{04D9A17E-44E1-A468-0343-533D6300AAAE}"/>
              </a:ext>
            </a:extLst>
          </p:cNvPr>
          <p:cNvSpPr/>
          <p:nvPr/>
        </p:nvSpPr>
        <p:spPr>
          <a:xfrm>
            <a:off x="5518404" y="2560320"/>
            <a:ext cx="640080" cy="640080"/>
          </a:xfrm>
          <a:prstGeom prst="rect">
            <a:avLst/>
          </a:prstGeom>
          <a:noFill/>
          <a:ln/>
        </p:spPr>
        <p:txBody>
          <a:bodyPr wrap="square" lIns="0" tIns="0" rIns="0" bIns="0" rtlCol="0" anchor="ctr"/>
          <a:lstStyle/>
          <a:p>
            <a:pPr marL="0" indent="0" algn="ctr">
              <a:buNone/>
            </a:pPr>
            <a:r>
              <a:rPr lang="en-US" sz="2800" b="1" dirty="0">
                <a:solidFill>
                  <a:srgbClr val="FFFFFF"/>
                </a:solidFill>
                <a:latin typeface="D2Coding" panose="020B0609020101020101" pitchFamily="49" charset="-127"/>
                <a:ea typeface="D2Coding" panose="020B0609020101020101" pitchFamily="49" charset="-127"/>
                <a:cs typeface="Malgun Gothic" pitchFamily="34" charset="-120"/>
              </a:rPr>
              <a:t>3</a:t>
            </a:r>
            <a:endParaRPr lang="en-US" sz="2800" dirty="0">
              <a:latin typeface="D2Coding" panose="020B0609020101020101" pitchFamily="49" charset="-127"/>
              <a:ea typeface="D2Coding" panose="020B0609020101020101" pitchFamily="49" charset="-127"/>
            </a:endParaRPr>
          </a:p>
        </p:txBody>
      </p:sp>
      <p:sp>
        <p:nvSpPr>
          <p:cNvPr id="21" name="Text 17">
            <a:extLst>
              <a:ext uri="{FF2B5EF4-FFF2-40B4-BE49-F238E27FC236}">
                <a16:creationId xmlns:a16="http://schemas.microsoft.com/office/drawing/2014/main" id="{6E9DBF84-7A06-0477-77F8-10B63BEFF532}"/>
              </a:ext>
            </a:extLst>
          </p:cNvPr>
          <p:cNvSpPr/>
          <p:nvPr/>
        </p:nvSpPr>
        <p:spPr>
          <a:xfrm>
            <a:off x="4901184" y="3337560"/>
            <a:ext cx="1874520" cy="411480"/>
          </a:xfrm>
          <a:prstGeom prst="rect">
            <a:avLst/>
          </a:prstGeom>
          <a:noFill/>
          <a:ln/>
        </p:spPr>
        <p:txBody>
          <a:bodyPr wrap="square" lIns="0" tIns="0" rIns="0" bIns="0" rtlCol="0" anchor="ctr"/>
          <a:lstStyle/>
          <a:p>
            <a:pPr marL="0" indent="0" algn="ctr">
              <a:buNone/>
            </a:pPr>
            <a:r>
              <a:rPr lang="en-US" sz="2000" b="1" dirty="0">
                <a:solidFill>
                  <a:srgbClr val="1B2A2E"/>
                </a:solidFill>
                <a:latin typeface="D2Coding" panose="020B0609020101020101" pitchFamily="49" charset="-127"/>
                <a:ea typeface="D2Coding" panose="020B0609020101020101" pitchFamily="49" charset="-127"/>
                <a:cs typeface="Malgun Gothic" pitchFamily="34" charset="-120"/>
              </a:rPr>
              <a:t>빌드</a:t>
            </a:r>
            <a:endParaRPr lang="en-US" sz="2000" dirty="0">
              <a:latin typeface="D2Coding" panose="020B0609020101020101" pitchFamily="49" charset="-127"/>
              <a:ea typeface="D2Coding" panose="020B0609020101020101" pitchFamily="49" charset="-127"/>
            </a:endParaRPr>
          </a:p>
        </p:txBody>
      </p:sp>
      <p:sp>
        <p:nvSpPr>
          <p:cNvPr id="22" name="Text 18">
            <a:extLst>
              <a:ext uri="{FF2B5EF4-FFF2-40B4-BE49-F238E27FC236}">
                <a16:creationId xmlns:a16="http://schemas.microsoft.com/office/drawing/2014/main" id="{FF9C5D6A-19F0-0811-3B62-638D83783A1B}"/>
              </a:ext>
            </a:extLst>
          </p:cNvPr>
          <p:cNvSpPr/>
          <p:nvPr/>
        </p:nvSpPr>
        <p:spPr>
          <a:xfrm>
            <a:off x="4992624" y="3767328"/>
            <a:ext cx="1691640" cy="640080"/>
          </a:xfrm>
          <a:prstGeom prst="rect">
            <a:avLst/>
          </a:prstGeom>
          <a:noFill/>
          <a:ln/>
        </p:spPr>
        <p:txBody>
          <a:bodyPr wrap="square" lIns="0" tIns="0" rIns="0" bIns="0" rtlCol="0" anchor="ctr"/>
          <a:lstStyle/>
          <a:p>
            <a:pPr marL="0" indent="0" algn="ctr">
              <a:lnSpc>
                <a:spcPct val="120000"/>
              </a:lnSpc>
              <a:buNone/>
            </a:pPr>
            <a:r>
              <a:rPr lang="en-US" sz="1400" dirty="0">
                <a:solidFill>
                  <a:srgbClr val="5B6B6E"/>
                </a:solidFill>
                <a:latin typeface="D2Coding" panose="020B0609020101020101" pitchFamily="49" charset="-127"/>
                <a:ea typeface="D2Coding" panose="020B0609020101020101" pitchFamily="49" charset="-127"/>
                <a:cs typeface="Malgun Gothic" pitchFamily="34" charset="-120"/>
              </a:rPr>
              <a:t>소스코드를</a:t>
            </a:r>
            <a:endParaRPr lang="en-US" sz="1400" dirty="0">
              <a:latin typeface="D2Coding" panose="020B0609020101020101" pitchFamily="49" charset="-127"/>
              <a:ea typeface="D2Coding" panose="020B0609020101020101" pitchFamily="49" charset="-127"/>
            </a:endParaRPr>
          </a:p>
          <a:p>
            <a:pPr marL="0" indent="0" algn="ctr">
              <a:lnSpc>
                <a:spcPct val="120000"/>
              </a:lnSpc>
              <a:buNone/>
            </a:pPr>
            <a:r>
              <a:rPr lang="en-US" sz="1400" dirty="0">
                <a:solidFill>
                  <a:srgbClr val="5B6B6E"/>
                </a:solidFill>
                <a:latin typeface="D2Coding" panose="020B0609020101020101" pitchFamily="49" charset="-127"/>
                <a:ea typeface="D2Coding" panose="020B0609020101020101" pitchFamily="49" charset="-127"/>
                <a:cs typeface="Malgun Gothic" pitchFamily="34" charset="-120"/>
              </a:rPr>
              <a:t>실행 가능한 형태로</a:t>
            </a:r>
            <a:endParaRPr lang="en-US" sz="1400" dirty="0">
              <a:latin typeface="D2Coding" panose="020B0609020101020101" pitchFamily="49" charset="-127"/>
              <a:ea typeface="D2Coding" panose="020B0609020101020101" pitchFamily="49" charset="-127"/>
            </a:endParaRPr>
          </a:p>
        </p:txBody>
      </p:sp>
      <p:sp>
        <p:nvSpPr>
          <p:cNvPr id="23" name="Text 19">
            <a:extLst>
              <a:ext uri="{FF2B5EF4-FFF2-40B4-BE49-F238E27FC236}">
                <a16:creationId xmlns:a16="http://schemas.microsoft.com/office/drawing/2014/main" id="{69D38C6D-512F-8D81-EAD7-69BE2541E879}"/>
              </a:ext>
            </a:extLst>
          </p:cNvPr>
          <p:cNvSpPr/>
          <p:nvPr/>
        </p:nvSpPr>
        <p:spPr>
          <a:xfrm>
            <a:off x="6775704" y="3063240"/>
            <a:ext cx="256032" cy="457200"/>
          </a:xfrm>
          <a:prstGeom prst="rect">
            <a:avLst/>
          </a:prstGeom>
          <a:noFill/>
          <a:ln/>
        </p:spPr>
        <p:txBody>
          <a:bodyPr wrap="square" lIns="0" tIns="0" rIns="0" bIns="0" rtlCol="0" anchor="ctr"/>
          <a:lstStyle/>
          <a:p>
            <a:pPr marL="0" indent="0" algn="ctr">
              <a:buNone/>
            </a:pPr>
            <a:r>
              <a:rPr lang="en-US" sz="2800" b="1" dirty="0">
                <a:solidFill>
                  <a:srgbClr val="02C39A"/>
                </a:solidFill>
                <a:latin typeface="D2Coding" panose="020B0609020101020101" pitchFamily="49" charset="-127"/>
                <a:ea typeface="D2Coding" panose="020B0609020101020101" pitchFamily="49" charset="-127"/>
                <a:cs typeface="Malgun Gothic" pitchFamily="34" charset="-120"/>
              </a:rPr>
              <a:t>→</a:t>
            </a:r>
            <a:endParaRPr lang="en-US" sz="2800" dirty="0">
              <a:latin typeface="D2Coding" panose="020B0609020101020101" pitchFamily="49" charset="-127"/>
              <a:ea typeface="D2Coding" panose="020B0609020101020101" pitchFamily="49" charset="-127"/>
            </a:endParaRPr>
          </a:p>
        </p:txBody>
      </p:sp>
      <p:sp>
        <p:nvSpPr>
          <p:cNvPr id="24" name="Shape 20">
            <a:extLst>
              <a:ext uri="{FF2B5EF4-FFF2-40B4-BE49-F238E27FC236}">
                <a16:creationId xmlns:a16="http://schemas.microsoft.com/office/drawing/2014/main" id="{3F1D8406-9F97-0CE1-A6E6-BA7AF7BBAF7E}"/>
              </a:ext>
            </a:extLst>
          </p:cNvPr>
          <p:cNvSpPr/>
          <p:nvPr/>
        </p:nvSpPr>
        <p:spPr>
          <a:xfrm>
            <a:off x="7031736" y="2286000"/>
            <a:ext cx="1874520" cy="2194560"/>
          </a:xfrm>
          <a:prstGeom prst="roundRect">
            <a:avLst>
              <a:gd name="adj" fmla="val 5854"/>
            </a:avLst>
          </a:prstGeom>
          <a:solidFill>
            <a:srgbClr val="F7FAFA"/>
          </a:solidFill>
          <a:ln>
            <a:solidFill>
              <a:schemeClr val="accent5"/>
            </a:solidFill>
          </a:ln>
          <a:effectLst>
            <a:outerShdw blurRad="76200" dist="25400" dir="5400000" algn="bl" rotWithShape="0">
              <a:srgbClr val="8A9A9A">
                <a:alpha val="25000"/>
              </a:srgbClr>
            </a:outerShdw>
          </a:effectLst>
        </p:spPr>
        <p:txBody>
          <a:bodyPr/>
          <a:lstStyle/>
          <a:p>
            <a:endParaRPr lang="ko-KR" altLang="en-US"/>
          </a:p>
        </p:txBody>
      </p:sp>
      <p:sp>
        <p:nvSpPr>
          <p:cNvPr id="25" name="Shape 21">
            <a:extLst>
              <a:ext uri="{FF2B5EF4-FFF2-40B4-BE49-F238E27FC236}">
                <a16:creationId xmlns:a16="http://schemas.microsoft.com/office/drawing/2014/main" id="{B1BC1EEA-8C75-EED6-719D-DCA3623C6C15}"/>
              </a:ext>
            </a:extLst>
          </p:cNvPr>
          <p:cNvSpPr/>
          <p:nvPr/>
        </p:nvSpPr>
        <p:spPr>
          <a:xfrm>
            <a:off x="7648956" y="2560320"/>
            <a:ext cx="640080" cy="640080"/>
          </a:xfrm>
          <a:prstGeom prst="ellipse">
            <a:avLst/>
          </a:prstGeom>
          <a:solidFill>
            <a:srgbClr val="00A896"/>
          </a:solidFill>
          <a:ln/>
        </p:spPr>
        <p:txBody>
          <a:bodyPr/>
          <a:lstStyle/>
          <a:p>
            <a:endParaRPr lang="ko-KR" altLang="en-US"/>
          </a:p>
        </p:txBody>
      </p:sp>
      <p:sp>
        <p:nvSpPr>
          <p:cNvPr id="26" name="Text 22">
            <a:extLst>
              <a:ext uri="{FF2B5EF4-FFF2-40B4-BE49-F238E27FC236}">
                <a16:creationId xmlns:a16="http://schemas.microsoft.com/office/drawing/2014/main" id="{A1D26FF5-CA7F-5837-3A81-AD9E7A0E7AD1}"/>
              </a:ext>
            </a:extLst>
          </p:cNvPr>
          <p:cNvSpPr/>
          <p:nvPr/>
        </p:nvSpPr>
        <p:spPr>
          <a:xfrm>
            <a:off x="7648956" y="2560320"/>
            <a:ext cx="640080" cy="640080"/>
          </a:xfrm>
          <a:prstGeom prst="rect">
            <a:avLst/>
          </a:prstGeom>
          <a:noFill/>
          <a:ln/>
        </p:spPr>
        <p:txBody>
          <a:bodyPr wrap="square" lIns="0" tIns="0" rIns="0" bIns="0" rtlCol="0" anchor="ctr"/>
          <a:lstStyle/>
          <a:p>
            <a:pPr marL="0" indent="0" algn="ctr">
              <a:buNone/>
            </a:pPr>
            <a:r>
              <a:rPr lang="en-US" sz="2800" b="1" dirty="0">
                <a:solidFill>
                  <a:srgbClr val="FFFFFF"/>
                </a:solidFill>
                <a:latin typeface="D2Coding" panose="020B0609020101020101" pitchFamily="49" charset="-127"/>
                <a:ea typeface="D2Coding" panose="020B0609020101020101" pitchFamily="49" charset="-127"/>
                <a:cs typeface="Malgun Gothic" pitchFamily="34" charset="-120"/>
              </a:rPr>
              <a:t>4</a:t>
            </a:r>
            <a:endParaRPr lang="en-US" sz="2800" dirty="0">
              <a:latin typeface="D2Coding" panose="020B0609020101020101" pitchFamily="49" charset="-127"/>
              <a:ea typeface="D2Coding" panose="020B0609020101020101" pitchFamily="49" charset="-127"/>
            </a:endParaRPr>
          </a:p>
        </p:txBody>
      </p:sp>
      <p:sp>
        <p:nvSpPr>
          <p:cNvPr id="27" name="Text 23">
            <a:extLst>
              <a:ext uri="{FF2B5EF4-FFF2-40B4-BE49-F238E27FC236}">
                <a16:creationId xmlns:a16="http://schemas.microsoft.com/office/drawing/2014/main" id="{CEEB059D-7F70-5BFF-4535-F84FABCCD776}"/>
              </a:ext>
            </a:extLst>
          </p:cNvPr>
          <p:cNvSpPr/>
          <p:nvPr/>
        </p:nvSpPr>
        <p:spPr>
          <a:xfrm>
            <a:off x="7031736" y="3337560"/>
            <a:ext cx="1874520" cy="411480"/>
          </a:xfrm>
          <a:prstGeom prst="rect">
            <a:avLst/>
          </a:prstGeom>
          <a:noFill/>
          <a:ln/>
        </p:spPr>
        <p:txBody>
          <a:bodyPr wrap="square" lIns="0" tIns="0" rIns="0" bIns="0" rtlCol="0" anchor="ctr"/>
          <a:lstStyle/>
          <a:p>
            <a:pPr marL="0" indent="0" algn="ctr">
              <a:buNone/>
            </a:pPr>
            <a:r>
              <a:rPr lang="en-US" sz="2000" b="1" dirty="0">
                <a:solidFill>
                  <a:srgbClr val="1B2A2E"/>
                </a:solidFill>
                <a:latin typeface="D2Coding" panose="020B0609020101020101" pitchFamily="49" charset="-127"/>
                <a:ea typeface="D2Coding" panose="020B0609020101020101" pitchFamily="49" charset="-127"/>
                <a:cs typeface="Malgun Gothic" pitchFamily="34" charset="-120"/>
              </a:rPr>
              <a:t>테스트</a:t>
            </a:r>
            <a:endParaRPr lang="en-US" sz="2000" dirty="0">
              <a:latin typeface="D2Coding" panose="020B0609020101020101" pitchFamily="49" charset="-127"/>
              <a:ea typeface="D2Coding" panose="020B0609020101020101" pitchFamily="49" charset="-127"/>
            </a:endParaRPr>
          </a:p>
        </p:txBody>
      </p:sp>
      <p:sp>
        <p:nvSpPr>
          <p:cNvPr id="28" name="Text 24">
            <a:extLst>
              <a:ext uri="{FF2B5EF4-FFF2-40B4-BE49-F238E27FC236}">
                <a16:creationId xmlns:a16="http://schemas.microsoft.com/office/drawing/2014/main" id="{D82F9AF8-50C6-2C52-1443-A1EAFDDFD0B2}"/>
              </a:ext>
            </a:extLst>
          </p:cNvPr>
          <p:cNvSpPr/>
          <p:nvPr/>
        </p:nvSpPr>
        <p:spPr>
          <a:xfrm>
            <a:off x="7123176" y="3767328"/>
            <a:ext cx="1691640" cy="640080"/>
          </a:xfrm>
          <a:prstGeom prst="rect">
            <a:avLst/>
          </a:prstGeom>
          <a:noFill/>
          <a:ln/>
        </p:spPr>
        <p:txBody>
          <a:bodyPr wrap="square" lIns="0" tIns="0" rIns="0" bIns="0" rtlCol="0" anchor="ctr"/>
          <a:lstStyle/>
          <a:p>
            <a:pPr marL="0" indent="0" algn="ctr">
              <a:lnSpc>
                <a:spcPct val="120000"/>
              </a:lnSpc>
              <a:buNone/>
            </a:pPr>
            <a:r>
              <a:rPr lang="en-US" sz="1400" dirty="0">
                <a:solidFill>
                  <a:srgbClr val="5B6B6E"/>
                </a:solidFill>
                <a:latin typeface="D2Coding" panose="020B0609020101020101" pitchFamily="49" charset="-127"/>
                <a:ea typeface="D2Coding" panose="020B0609020101020101" pitchFamily="49" charset="-127"/>
                <a:cs typeface="Malgun Gothic" pitchFamily="34" charset="-120"/>
              </a:rPr>
              <a:t>품질 검증 및</a:t>
            </a:r>
            <a:endParaRPr lang="en-US" sz="1400" dirty="0">
              <a:latin typeface="D2Coding" panose="020B0609020101020101" pitchFamily="49" charset="-127"/>
              <a:ea typeface="D2Coding" panose="020B0609020101020101" pitchFamily="49" charset="-127"/>
            </a:endParaRPr>
          </a:p>
          <a:p>
            <a:pPr marL="0" indent="0" algn="ctr">
              <a:lnSpc>
                <a:spcPct val="120000"/>
              </a:lnSpc>
              <a:buNone/>
            </a:pPr>
            <a:r>
              <a:rPr lang="en-US" sz="1400" dirty="0">
                <a:solidFill>
                  <a:srgbClr val="5B6B6E"/>
                </a:solidFill>
                <a:latin typeface="D2Coding" panose="020B0609020101020101" pitchFamily="49" charset="-127"/>
                <a:ea typeface="D2Coding" panose="020B0609020101020101" pitchFamily="49" charset="-127"/>
                <a:cs typeface="Malgun Gothic" pitchFamily="34" charset="-120"/>
              </a:rPr>
              <a:t>오류 확인</a:t>
            </a:r>
            <a:endParaRPr lang="en-US" sz="1400" dirty="0">
              <a:latin typeface="D2Coding" panose="020B0609020101020101" pitchFamily="49" charset="-127"/>
              <a:ea typeface="D2Coding" panose="020B0609020101020101" pitchFamily="49" charset="-127"/>
            </a:endParaRPr>
          </a:p>
        </p:txBody>
      </p:sp>
      <p:sp>
        <p:nvSpPr>
          <p:cNvPr id="29" name="Text 25">
            <a:extLst>
              <a:ext uri="{FF2B5EF4-FFF2-40B4-BE49-F238E27FC236}">
                <a16:creationId xmlns:a16="http://schemas.microsoft.com/office/drawing/2014/main" id="{586495AA-4A97-4C47-7D6F-BB50989EFDFC}"/>
              </a:ext>
            </a:extLst>
          </p:cNvPr>
          <p:cNvSpPr/>
          <p:nvPr/>
        </p:nvSpPr>
        <p:spPr>
          <a:xfrm>
            <a:off x="8906256" y="3063240"/>
            <a:ext cx="256032" cy="457200"/>
          </a:xfrm>
          <a:prstGeom prst="rect">
            <a:avLst/>
          </a:prstGeom>
          <a:noFill/>
          <a:ln/>
        </p:spPr>
        <p:txBody>
          <a:bodyPr wrap="square" lIns="0" tIns="0" rIns="0" bIns="0" rtlCol="0" anchor="ctr"/>
          <a:lstStyle/>
          <a:p>
            <a:pPr marL="0" indent="0" algn="ctr">
              <a:buNone/>
            </a:pPr>
            <a:r>
              <a:rPr lang="en-US" sz="2800" b="1" dirty="0">
                <a:solidFill>
                  <a:srgbClr val="02C39A"/>
                </a:solidFill>
                <a:latin typeface="D2Coding" panose="020B0609020101020101" pitchFamily="49" charset="-127"/>
                <a:ea typeface="D2Coding" panose="020B0609020101020101" pitchFamily="49" charset="-127"/>
                <a:cs typeface="Malgun Gothic" pitchFamily="34" charset="-120"/>
              </a:rPr>
              <a:t>→</a:t>
            </a:r>
            <a:endParaRPr lang="en-US" sz="2800" dirty="0">
              <a:latin typeface="D2Coding" panose="020B0609020101020101" pitchFamily="49" charset="-127"/>
              <a:ea typeface="D2Coding" panose="020B0609020101020101" pitchFamily="49" charset="-127"/>
            </a:endParaRPr>
          </a:p>
        </p:txBody>
      </p:sp>
      <p:sp>
        <p:nvSpPr>
          <p:cNvPr id="30" name="Shape 26">
            <a:extLst>
              <a:ext uri="{FF2B5EF4-FFF2-40B4-BE49-F238E27FC236}">
                <a16:creationId xmlns:a16="http://schemas.microsoft.com/office/drawing/2014/main" id="{8A3DE605-BEE7-5315-9848-CFF62C126EDE}"/>
              </a:ext>
            </a:extLst>
          </p:cNvPr>
          <p:cNvSpPr/>
          <p:nvPr/>
        </p:nvSpPr>
        <p:spPr>
          <a:xfrm>
            <a:off x="9162288" y="2286000"/>
            <a:ext cx="1874520" cy="2194560"/>
          </a:xfrm>
          <a:prstGeom prst="roundRect">
            <a:avLst>
              <a:gd name="adj" fmla="val 5854"/>
            </a:avLst>
          </a:prstGeom>
          <a:solidFill>
            <a:srgbClr val="F7FAFA"/>
          </a:solidFill>
          <a:ln>
            <a:solidFill>
              <a:schemeClr val="accent5"/>
            </a:solidFill>
          </a:ln>
          <a:effectLst>
            <a:outerShdw blurRad="76200" dist="25400" dir="5400000" algn="bl" rotWithShape="0">
              <a:srgbClr val="8A9A9A">
                <a:alpha val="25000"/>
              </a:srgbClr>
            </a:outerShdw>
          </a:effectLst>
        </p:spPr>
        <p:txBody>
          <a:bodyPr/>
          <a:lstStyle/>
          <a:p>
            <a:endParaRPr lang="ko-KR" altLang="en-US"/>
          </a:p>
        </p:txBody>
      </p:sp>
      <p:sp>
        <p:nvSpPr>
          <p:cNvPr id="31" name="Shape 27">
            <a:extLst>
              <a:ext uri="{FF2B5EF4-FFF2-40B4-BE49-F238E27FC236}">
                <a16:creationId xmlns:a16="http://schemas.microsoft.com/office/drawing/2014/main" id="{9F84F631-2B90-2D75-8CD2-9CC45BE70758}"/>
              </a:ext>
            </a:extLst>
          </p:cNvPr>
          <p:cNvSpPr/>
          <p:nvPr/>
        </p:nvSpPr>
        <p:spPr>
          <a:xfrm>
            <a:off x="9779508" y="2560320"/>
            <a:ext cx="640080" cy="640080"/>
          </a:xfrm>
          <a:prstGeom prst="ellipse">
            <a:avLst/>
          </a:prstGeom>
          <a:solidFill>
            <a:srgbClr val="028090"/>
          </a:solidFill>
          <a:ln/>
        </p:spPr>
        <p:txBody>
          <a:bodyPr/>
          <a:lstStyle/>
          <a:p>
            <a:endParaRPr lang="ko-KR" altLang="en-US"/>
          </a:p>
        </p:txBody>
      </p:sp>
      <p:sp>
        <p:nvSpPr>
          <p:cNvPr id="32" name="Text 28">
            <a:extLst>
              <a:ext uri="{FF2B5EF4-FFF2-40B4-BE49-F238E27FC236}">
                <a16:creationId xmlns:a16="http://schemas.microsoft.com/office/drawing/2014/main" id="{E1D0458F-DE0A-75D7-C09C-A11018C5AAC6}"/>
              </a:ext>
            </a:extLst>
          </p:cNvPr>
          <p:cNvSpPr/>
          <p:nvPr/>
        </p:nvSpPr>
        <p:spPr>
          <a:xfrm>
            <a:off x="9779508" y="2560320"/>
            <a:ext cx="640080" cy="640080"/>
          </a:xfrm>
          <a:prstGeom prst="rect">
            <a:avLst/>
          </a:prstGeom>
          <a:noFill/>
          <a:ln/>
        </p:spPr>
        <p:txBody>
          <a:bodyPr wrap="square" lIns="0" tIns="0" rIns="0" bIns="0" rtlCol="0" anchor="ctr"/>
          <a:lstStyle/>
          <a:p>
            <a:pPr marL="0" indent="0" algn="ctr">
              <a:buNone/>
            </a:pPr>
            <a:r>
              <a:rPr lang="en-US" sz="2800" b="1" dirty="0">
                <a:solidFill>
                  <a:srgbClr val="FFFFFF"/>
                </a:solidFill>
                <a:latin typeface="D2Coding" panose="020B0609020101020101" pitchFamily="49" charset="-127"/>
                <a:ea typeface="D2Coding" panose="020B0609020101020101" pitchFamily="49" charset="-127"/>
                <a:cs typeface="Malgun Gothic" pitchFamily="34" charset="-120"/>
              </a:rPr>
              <a:t>5</a:t>
            </a:r>
            <a:endParaRPr lang="en-US" sz="2800" dirty="0">
              <a:latin typeface="D2Coding" panose="020B0609020101020101" pitchFamily="49" charset="-127"/>
              <a:ea typeface="D2Coding" panose="020B0609020101020101" pitchFamily="49" charset="-127"/>
            </a:endParaRPr>
          </a:p>
        </p:txBody>
      </p:sp>
      <p:sp>
        <p:nvSpPr>
          <p:cNvPr id="33" name="Text 29">
            <a:extLst>
              <a:ext uri="{FF2B5EF4-FFF2-40B4-BE49-F238E27FC236}">
                <a16:creationId xmlns:a16="http://schemas.microsoft.com/office/drawing/2014/main" id="{6409975A-9706-EBAD-B1F5-996FA211D66B}"/>
              </a:ext>
            </a:extLst>
          </p:cNvPr>
          <p:cNvSpPr/>
          <p:nvPr/>
        </p:nvSpPr>
        <p:spPr>
          <a:xfrm>
            <a:off x="9162288" y="3337560"/>
            <a:ext cx="1874520" cy="411480"/>
          </a:xfrm>
          <a:prstGeom prst="rect">
            <a:avLst/>
          </a:prstGeom>
          <a:noFill/>
          <a:ln/>
        </p:spPr>
        <p:txBody>
          <a:bodyPr wrap="square" lIns="0" tIns="0" rIns="0" bIns="0" rtlCol="0" anchor="ctr"/>
          <a:lstStyle/>
          <a:p>
            <a:pPr marL="0" indent="0" algn="ctr">
              <a:buNone/>
            </a:pPr>
            <a:r>
              <a:rPr lang="en-US" sz="2000" b="1" dirty="0">
                <a:solidFill>
                  <a:srgbClr val="1B2A2E"/>
                </a:solidFill>
                <a:latin typeface="D2Coding" panose="020B0609020101020101" pitchFamily="49" charset="-127"/>
                <a:ea typeface="D2Coding" panose="020B0609020101020101" pitchFamily="49" charset="-127"/>
                <a:cs typeface="Malgun Gothic" pitchFamily="34" charset="-120"/>
              </a:rPr>
              <a:t>배포</a:t>
            </a:r>
            <a:endParaRPr lang="en-US" sz="2000" dirty="0">
              <a:latin typeface="D2Coding" panose="020B0609020101020101" pitchFamily="49" charset="-127"/>
              <a:ea typeface="D2Coding" panose="020B0609020101020101" pitchFamily="49" charset="-127"/>
            </a:endParaRPr>
          </a:p>
        </p:txBody>
      </p:sp>
      <p:sp>
        <p:nvSpPr>
          <p:cNvPr id="34" name="Text 30">
            <a:extLst>
              <a:ext uri="{FF2B5EF4-FFF2-40B4-BE49-F238E27FC236}">
                <a16:creationId xmlns:a16="http://schemas.microsoft.com/office/drawing/2014/main" id="{42078234-7D49-FA9D-53B0-7C1FC2F372A9}"/>
              </a:ext>
            </a:extLst>
          </p:cNvPr>
          <p:cNvSpPr/>
          <p:nvPr/>
        </p:nvSpPr>
        <p:spPr>
          <a:xfrm>
            <a:off x="9253728" y="3767328"/>
            <a:ext cx="1691640" cy="640080"/>
          </a:xfrm>
          <a:prstGeom prst="rect">
            <a:avLst/>
          </a:prstGeom>
          <a:noFill/>
          <a:ln/>
        </p:spPr>
        <p:txBody>
          <a:bodyPr wrap="square" lIns="0" tIns="0" rIns="0" bIns="0" rtlCol="0" anchor="ctr"/>
          <a:lstStyle/>
          <a:p>
            <a:pPr marL="0" indent="0" algn="ctr">
              <a:lnSpc>
                <a:spcPct val="120000"/>
              </a:lnSpc>
              <a:buNone/>
            </a:pPr>
            <a:r>
              <a:rPr lang="en-US" sz="1400" dirty="0">
                <a:solidFill>
                  <a:srgbClr val="5B6B6E"/>
                </a:solidFill>
                <a:latin typeface="D2Coding" panose="020B0609020101020101" pitchFamily="49" charset="-127"/>
                <a:ea typeface="D2Coding" panose="020B0609020101020101" pitchFamily="49" charset="-127"/>
                <a:cs typeface="Malgun Gothic" pitchFamily="34" charset="-120"/>
              </a:rPr>
              <a:t>운영 환경에</a:t>
            </a:r>
            <a:endParaRPr lang="en-US" sz="1400" dirty="0">
              <a:latin typeface="D2Coding" panose="020B0609020101020101" pitchFamily="49" charset="-127"/>
              <a:ea typeface="D2Coding" panose="020B0609020101020101" pitchFamily="49" charset="-127"/>
            </a:endParaRPr>
          </a:p>
          <a:p>
            <a:pPr marL="0" indent="0" algn="ctr">
              <a:lnSpc>
                <a:spcPct val="120000"/>
              </a:lnSpc>
              <a:buNone/>
            </a:pPr>
            <a:r>
              <a:rPr lang="en-US" sz="1400" dirty="0">
                <a:solidFill>
                  <a:srgbClr val="5B6B6E"/>
                </a:solidFill>
                <a:latin typeface="D2Coding" panose="020B0609020101020101" pitchFamily="49" charset="-127"/>
                <a:ea typeface="D2Coding" panose="020B0609020101020101" pitchFamily="49" charset="-127"/>
                <a:cs typeface="Malgun Gothic" pitchFamily="34" charset="-120"/>
              </a:rPr>
              <a:t>적용</a:t>
            </a:r>
            <a:endParaRPr lang="en-US" sz="1400" dirty="0">
              <a:latin typeface="D2Coding" panose="020B0609020101020101" pitchFamily="49" charset="-127"/>
              <a:ea typeface="D2Coding" panose="020B0609020101020101" pitchFamily="49" charset="-127"/>
            </a:endParaRPr>
          </a:p>
        </p:txBody>
      </p:sp>
      <p:sp>
        <p:nvSpPr>
          <p:cNvPr id="35" name="Shape 31">
            <a:extLst>
              <a:ext uri="{FF2B5EF4-FFF2-40B4-BE49-F238E27FC236}">
                <a16:creationId xmlns:a16="http://schemas.microsoft.com/office/drawing/2014/main" id="{672685E4-5E37-06BD-5BC6-F3AA68A4A88C}"/>
              </a:ext>
            </a:extLst>
          </p:cNvPr>
          <p:cNvSpPr/>
          <p:nvPr/>
        </p:nvSpPr>
        <p:spPr>
          <a:xfrm>
            <a:off x="640080" y="4892040"/>
            <a:ext cx="10881360" cy="1188720"/>
          </a:xfrm>
          <a:prstGeom prst="roundRect">
            <a:avLst>
              <a:gd name="adj" fmla="val 7692"/>
            </a:avLst>
          </a:prstGeom>
          <a:solidFill>
            <a:srgbClr val="028090"/>
          </a:solidFill>
          <a:ln/>
        </p:spPr>
        <p:txBody>
          <a:bodyPr/>
          <a:lstStyle/>
          <a:p>
            <a:endParaRPr lang="ko-KR" altLang="en-US"/>
          </a:p>
        </p:txBody>
      </p:sp>
      <p:sp>
        <p:nvSpPr>
          <p:cNvPr id="36" name="Text 32">
            <a:extLst>
              <a:ext uri="{FF2B5EF4-FFF2-40B4-BE49-F238E27FC236}">
                <a16:creationId xmlns:a16="http://schemas.microsoft.com/office/drawing/2014/main" id="{036258D9-B2DF-4B4D-C161-F2EF0F30B6B7}"/>
              </a:ext>
            </a:extLst>
          </p:cNvPr>
          <p:cNvSpPr/>
          <p:nvPr/>
        </p:nvSpPr>
        <p:spPr>
          <a:xfrm>
            <a:off x="914400" y="5074920"/>
            <a:ext cx="1371600" cy="320040"/>
          </a:xfrm>
          <a:prstGeom prst="rect">
            <a:avLst/>
          </a:prstGeom>
          <a:noFill/>
          <a:ln/>
        </p:spPr>
        <p:txBody>
          <a:bodyPr wrap="square" lIns="0" tIns="0" rIns="0" bIns="0" rtlCol="0" anchor="ctr"/>
          <a:lstStyle/>
          <a:p>
            <a:pPr marL="0" indent="0">
              <a:buNone/>
            </a:pPr>
            <a:r>
              <a:rPr lang="en-US" sz="1600" b="1" dirty="0">
                <a:solidFill>
                  <a:srgbClr val="02C39A"/>
                </a:solidFill>
                <a:latin typeface="D2Coding" panose="020B0609020101020101" pitchFamily="49" charset="-127"/>
                <a:ea typeface="D2Coding" panose="020B0609020101020101" pitchFamily="49" charset="-127"/>
                <a:cs typeface="Malgun Gothic" pitchFamily="34" charset="-120"/>
              </a:rPr>
              <a:t>Point</a:t>
            </a:r>
            <a:endParaRPr lang="en-US" sz="1600" dirty="0">
              <a:latin typeface="D2Coding" panose="020B0609020101020101" pitchFamily="49" charset="-127"/>
              <a:ea typeface="D2Coding" panose="020B0609020101020101" pitchFamily="49" charset="-127"/>
            </a:endParaRPr>
          </a:p>
        </p:txBody>
      </p:sp>
      <p:sp>
        <p:nvSpPr>
          <p:cNvPr id="37" name="Text 33">
            <a:extLst>
              <a:ext uri="{FF2B5EF4-FFF2-40B4-BE49-F238E27FC236}">
                <a16:creationId xmlns:a16="http://schemas.microsoft.com/office/drawing/2014/main" id="{E5413F4A-2EBE-FE1F-DC34-FB4DECE1862A}"/>
              </a:ext>
            </a:extLst>
          </p:cNvPr>
          <p:cNvSpPr/>
          <p:nvPr/>
        </p:nvSpPr>
        <p:spPr>
          <a:xfrm>
            <a:off x="914400" y="5394960"/>
            <a:ext cx="10241280" cy="594360"/>
          </a:xfrm>
          <a:prstGeom prst="rect">
            <a:avLst/>
          </a:prstGeom>
          <a:noFill/>
          <a:ln/>
        </p:spPr>
        <p:txBody>
          <a:bodyPr wrap="square" lIns="0" tIns="0" rIns="0" bIns="0" rtlCol="0" anchor="ctr"/>
          <a:lstStyle/>
          <a:p>
            <a:pPr marL="0" indent="0">
              <a:lnSpc>
                <a:spcPct val="125000"/>
              </a:lnSpc>
              <a:buNone/>
            </a:pPr>
            <a:r>
              <a:rPr lang="en-US" sz="1600" dirty="0">
                <a:solidFill>
                  <a:srgbClr val="FFFFFF"/>
                </a:solidFill>
                <a:latin typeface="D2Coding" panose="020B0609020101020101" pitchFamily="49" charset="-127"/>
                <a:ea typeface="D2Coding" panose="020B0609020101020101" pitchFamily="49" charset="-127"/>
                <a:cs typeface="Malgun Gothic" pitchFamily="34" charset="-120"/>
              </a:rPr>
              <a:t>각 단계는 독립적이지 않으며, 형상관리 시스템(Git)을 중심으로 자동화된 파이프라인(CI/CD)</a:t>
            </a:r>
            <a:r>
              <a:rPr lang="en-US" sz="1600" dirty="0" err="1">
                <a:solidFill>
                  <a:srgbClr val="FFFFFF"/>
                </a:solidFill>
                <a:latin typeface="D2Coding" panose="020B0609020101020101" pitchFamily="49" charset="-127"/>
                <a:ea typeface="D2Coding" panose="020B0609020101020101" pitchFamily="49" charset="-127"/>
                <a:cs typeface="Malgun Gothic" pitchFamily="34" charset="-120"/>
              </a:rPr>
              <a:t>으로</a:t>
            </a:r>
            <a:r>
              <a:rPr lang="en-US" sz="1600" dirty="0">
                <a:solidFill>
                  <a:srgbClr val="FFFFFF"/>
                </a:solidFill>
                <a:latin typeface="D2Coding" panose="020B0609020101020101" pitchFamily="49" charset="-127"/>
                <a:ea typeface="D2Coding" panose="020B0609020101020101" pitchFamily="49" charset="-127"/>
                <a:cs typeface="Malgun Gothic" pitchFamily="34" charset="-120"/>
              </a:rPr>
              <a:t> </a:t>
            </a:r>
            <a:r>
              <a:rPr lang="en-US" sz="1600" dirty="0" err="1">
                <a:solidFill>
                  <a:srgbClr val="FFFFFF"/>
                </a:solidFill>
                <a:latin typeface="D2Coding" panose="020B0609020101020101" pitchFamily="49" charset="-127"/>
                <a:ea typeface="D2Coding" panose="020B0609020101020101" pitchFamily="49" charset="-127"/>
                <a:cs typeface="Malgun Gothic" pitchFamily="34" charset="-120"/>
              </a:rPr>
              <a:t>연결</a:t>
            </a:r>
            <a:endParaRPr lang="en-US" sz="1600" dirty="0">
              <a:latin typeface="D2Coding" panose="020B0609020101020101" pitchFamily="49" charset="-127"/>
              <a:ea typeface="D2Coding" panose="020B0609020101020101" pitchFamily="49" charset="-127"/>
            </a:endParaRPr>
          </a:p>
        </p:txBody>
      </p:sp>
      <p:sp>
        <p:nvSpPr>
          <p:cNvPr id="7" name="슬라이드 번호 개체 틀 3">
            <a:extLst>
              <a:ext uri="{FF2B5EF4-FFF2-40B4-BE49-F238E27FC236}">
                <a16:creationId xmlns:a16="http://schemas.microsoft.com/office/drawing/2014/main" id="{CD7AED09-9346-FDBC-DD88-D70E85F453ED}"/>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4</a:t>
            </a:fld>
            <a:endParaRPr lang="en-US" b="1" dirty="0">
              <a:latin typeface="Segoe UI Emoji" panose="020B0502040204020203" pitchFamily="34" charset="0"/>
              <a:ea typeface="Segoe UI Emoji" panose="020B0502040204020203" pitchFamily="34" charset="0"/>
            </a:endParaRPr>
          </a:p>
        </p:txBody>
      </p:sp>
    </p:spTree>
    <p:extLst>
      <p:ext uri="{BB962C8B-B14F-4D97-AF65-F5344CB8AC3E}">
        <p14:creationId xmlns:p14="http://schemas.microsoft.com/office/powerpoint/2010/main" val="12846688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F85264-DAF7-E028-936A-3E39FB0AE03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C317C8E-BF00-9996-5D78-F73C973977E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Contents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590AAD77-2BE3-B651-D9E7-0AADA229A2B1}"/>
              </a:ext>
            </a:extLst>
          </p:cNvPr>
          <p:cNvSpPr txBox="1"/>
          <p:nvPr/>
        </p:nvSpPr>
        <p:spPr>
          <a:xfrm>
            <a:off x="2513299" y="1802604"/>
            <a:ext cx="6861610" cy="4200061"/>
          </a:xfrm>
          <a:prstGeom prst="rect">
            <a:avLst/>
          </a:prstGeom>
          <a:noFill/>
        </p:spPr>
        <p:txBody>
          <a:bodyPr wrap="square" rtlCol="0">
            <a:spAutoFit/>
          </a:bodyPr>
          <a:lstStyle/>
          <a:p>
            <a:pPr marL="342900" indent="-342900">
              <a:lnSpc>
                <a:spcPct val="150000"/>
              </a:lnSpc>
              <a:buFont typeface="+mj-lt"/>
              <a:buAutoNum type="arabicPeriod"/>
            </a:pPr>
            <a:r>
              <a:rPr lang="en-US" altLang="ko-KR" sz="2000" dirty="0">
                <a:latin typeface="D2Coding" panose="020B0609020101020101" pitchFamily="49" charset="-127"/>
                <a:ea typeface="D2Coding" panose="020B0609020101020101" pitchFamily="49" charset="-127"/>
              </a:rPr>
              <a:t>Source</a:t>
            </a:r>
            <a:r>
              <a:rPr lang="ko-KR" altLang="en-US" sz="2000" dirty="0">
                <a:latin typeface="D2Coding" panose="020B0609020101020101" pitchFamily="49" charset="-127"/>
                <a:ea typeface="D2Coding" panose="020B0609020101020101" pitchFamily="49" charset="-127"/>
              </a:rPr>
              <a:t> </a:t>
            </a:r>
            <a:r>
              <a:rPr lang="en-US" altLang="ko-KR" sz="2000" dirty="0">
                <a:latin typeface="D2Coding" panose="020B0609020101020101" pitchFamily="49" charset="-127"/>
                <a:ea typeface="D2Coding" panose="020B0609020101020101" pitchFamily="49" charset="-127"/>
              </a:rPr>
              <a:t>code</a:t>
            </a:r>
            <a:r>
              <a:rPr lang="ko-KR" altLang="en-US" sz="2000" dirty="0">
                <a:latin typeface="D2Coding" panose="020B0609020101020101" pitchFamily="49" charset="-127"/>
                <a:ea typeface="D2Coding" panose="020B0609020101020101" pitchFamily="49" charset="-127"/>
              </a:rPr>
              <a:t> </a:t>
            </a:r>
            <a:r>
              <a:rPr lang="en-US" altLang="ko-KR" sz="2000" dirty="0">
                <a:latin typeface="D2Coding" panose="020B0609020101020101" pitchFamily="49" charset="-127"/>
                <a:ea typeface="D2Coding" panose="020B0609020101020101" pitchFamily="49" charset="-127"/>
              </a:rPr>
              <a:t>Build</a:t>
            </a:r>
          </a:p>
          <a:p>
            <a:pPr marL="342900" indent="-342900">
              <a:lnSpc>
                <a:spcPct val="150000"/>
              </a:lnSpc>
              <a:buFont typeface="+mj-lt"/>
              <a:buAutoNum type="arabicPeriod"/>
            </a:pPr>
            <a:r>
              <a:rPr lang="en-US" altLang="ko-KR" sz="2000" dirty="0">
                <a:latin typeface="D2Coding" panose="020B0609020101020101" pitchFamily="49" charset="-127"/>
                <a:ea typeface="D2Coding" panose="020B0609020101020101" pitchFamily="49" charset="-127"/>
              </a:rPr>
              <a:t>Install Visual Studio Code</a:t>
            </a:r>
          </a:p>
          <a:p>
            <a:pPr marL="342900" indent="-342900">
              <a:lnSpc>
                <a:spcPct val="150000"/>
              </a:lnSpc>
              <a:buFont typeface="+mj-lt"/>
              <a:buAutoNum type="arabicPeriod"/>
            </a:pPr>
            <a:r>
              <a:rPr lang="en-US" altLang="ko-KR" sz="2000" dirty="0">
                <a:latin typeface="D2Coding" panose="020B0609020101020101" pitchFamily="49" charset="-127"/>
                <a:ea typeface="D2Coding" panose="020B0609020101020101" pitchFamily="49" charset="-127"/>
              </a:rPr>
              <a:t>Client-Server Architecture</a:t>
            </a:r>
          </a:p>
          <a:p>
            <a:pPr marL="342900" indent="-342900">
              <a:lnSpc>
                <a:spcPct val="150000"/>
              </a:lnSpc>
              <a:buFont typeface="+mj-lt"/>
              <a:buAutoNum type="arabicPeriod"/>
            </a:pPr>
            <a:r>
              <a:rPr lang="en-US" altLang="ko-KR" sz="2000" dirty="0">
                <a:latin typeface="D2Coding" panose="020B0609020101020101" pitchFamily="49" charset="-127"/>
                <a:ea typeface="D2Coding" panose="020B0609020101020101" pitchFamily="49" charset="-127"/>
              </a:rPr>
              <a:t>Create</a:t>
            </a:r>
            <a:r>
              <a:rPr lang="ko-KR" altLang="en-US" sz="2000" dirty="0">
                <a:latin typeface="D2Coding" panose="020B0609020101020101" pitchFamily="49" charset="-127"/>
                <a:ea typeface="D2Coding" panose="020B0609020101020101" pitchFamily="49" charset="-127"/>
              </a:rPr>
              <a:t> </a:t>
            </a:r>
            <a:r>
              <a:rPr lang="en-US" altLang="ko-KR" sz="2000" dirty="0">
                <a:latin typeface="D2Coding" panose="020B0609020101020101" pitchFamily="49" charset="-127"/>
                <a:ea typeface="D2Coding" panose="020B0609020101020101" pitchFamily="49" charset="-127"/>
              </a:rPr>
              <a:t>your own GitHub</a:t>
            </a:r>
          </a:p>
          <a:p>
            <a:pPr marL="342900" indent="-342900">
              <a:lnSpc>
                <a:spcPct val="150000"/>
              </a:lnSpc>
              <a:buFont typeface="+mj-lt"/>
              <a:buAutoNum type="arabicPeriod"/>
            </a:pPr>
            <a:r>
              <a:rPr lang="en-US" altLang="ko-KR" sz="2000" dirty="0">
                <a:latin typeface="D2Coding" panose="020B0609020101020101" pitchFamily="49" charset="-127"/>
                <a:ea typeface="D2Coding" panose="020B0609020101020101" pitchFamily="49" charset="-127"/>
              </a:rPr>
              <a:t>CI/CD</a:t>
            </a:r>
          </a:p>
          <a:p>
            <a:pPr marL="342900" indent="-342900">
              <a:lnSpc>
                <a:spcPct val="150000"/>
              </a:lnSpc>
              <a:buFont typeface="+mj-lt"/>
              <a:buAutoNum type="arabicPeriod"/>
            </a:pPr>
            <a:r>
              <a:rPr lang="en-US" altLang="ko-KR" sz="2000" dirty="0">
                <a:latin typeface="D2Coding" panose="020B0609020101020101" pitchFamily="49" charset="-127"/>
                <a:ea typeface="D2Coding" panose="020B0609020101020101" pitchFamily="49" charset="-127"/>
              </a:rPr>
              <a:t>Docker</a:t>
            </a:r>
          </a:p>
          <a:p>
            <a:pPr marL="342900" indent="-342900">
              <a:lnSpc>
                <a:spcPct val="150000"/>
              </a:lnSpc>
              <a:buFont typeface="+mj-lt"/>
              <a:buAutoNum type="arabicPeriod"/>
            </a:pPr>
            <a:r>
              <a:rPr lang="en-US" altLang="ko-KR" sz="2000" dirty="0" err="1">
                <a:latin typeface="D2Coding" panose="020B0609020101020101" pitchFamily="49" charset="-127"/>
                <a:ea typeface="D2Coding" panose="020B0609020101020101" pitchFamily="49" charset="-127"/>
              </a:rPr>
              <a:t>Github</a:t>
            </a:r>
            <a:r>
              <a:rPr lang="en-US" altLang="ko-KR" sz="2000" dirty="0">
                <a:latin typeface="D2Coding" panose="020B0609020101020101" pitchFamily="49" charset="-127"/>
                <a:ea typeface="D2Coding" panose="020B0609020101020101" pitchFamily="49" charset="-127"/>
              </a:rPr>
              <a:t> </a:t>
            </a:r>
            <a:r>
              <a:rPr lang="en-US" altLang="ko-KR" sz="2000" dirty="0" err="1">
                <a:latin typeface="D2Coding" panose="020B0609020101020101" pitchFamily="49" charset="-127"/>
                <a:ea typeface="D2Coding" panose="020B0609020101020101" pitchFamily="49" charset="-127"/>
              </a:rPr>
              <a:t>Codespaces</a:t>
            </a:r>
            <a:r>
              <a:rPr lang="en-US" altLang="ko-KR" sz="2000" dirty="0">
                <a:latin typeface="D2Coding" panose="020B0609020101020101" pitchFamily="49" charset="-127"/>
                <a:ea typeface="D2Coding" panose="020B0609020101020101" pitchFamily="49" charset="-127"/>
              </a:rPr>
              <a:t> </a:t>
            </a:r>
          </a:p>
          <a:p>
            <a:pPr marL="342900" indent="-342900">
              <a:lnSpc>
                <a:spcPct val="150000"/>
              </a:lnSpc>
              <a:buFont typeface="+mj-lt"/>
              <a:buAutoNum type="arabicPeriod"/>
            </a:pPr>
            <a:r>
              <a:rPr lang="en-US" altLang="ko-KR" sz="2000" dirty="0" err="1">
                <a:latin typeface="D2Coding" panose="020B0609020101020101" pitchFamily="49" charset="-127"/>
                <a:ea typeface="D2Coding" panose="020B0609020101020101" pitchFamily="49" charset="-127"/>
              </a:rPr>
              <a:t>Apacher</a:t>
            </a:r>
            <a:r>
              <a:rPr lang="en-US" altLang="ko-KR" sz="2000" dirty="0">
                <a:latin typeface="D2Coding" panose="020B0609020101020101" pitchFamily="49" charset="-127"/>
                <a:ea typeface="D2Coding" panose="020B0609020101020101" pitchFamily="49" charset="-127"/>
              </a:rPr>
              <a:t> Airflow Exercise</a:t>
            </a:r>
          </a:p>
          <a:p>
            <a:pPr marL="342900" indent="-342900">
              <a:lnSpc>
                <a:spcPct val="150000"/>
              </a:lnSpc>
              <a:buFont typeface="+mj-lt"/>
              <a:buAutoNum type="arabicPeriod"/>
            </a:pPr>
            <a:r>
              <a:rPr lang="en-US" altLang="ko-KR" sz="2000" dirty="0" err="1">
                <a:latin typeface="D2Coding" panose="020B0609020101020101" pitchFamily="49" charset="-127"/>
                <a:ea typeface="D2Coding" panose="020B0609020101020101" pitchFamily="49" charset="-127"/>
              </a:rPr>
              <a:t>Vscode</a:t>
            </a:r>
            <a:r>
              <a:rPr lang="en-US" altLang="ko-KR" sz="2000" dirty="0">
                <a:latin typeface="D2Coding" panose="020B0609020101020101" pitchFamily="49" charset="-127"/>
                <a:ea typeface="D2Coding" panose="020B0609020101020101" pitchFamily="49" charset="-127"/>
              </a:rPr>
              <a:t> + Cline</a:t>
            </a:r>
          </a:p>
        </p:txBody>
      </p:sp>
    </p:spTree>
    <p:extLst>
      <p:ext uri="{BB962C8B-B14F-4D97-AF65-F5344CB8AC3E}">
        <p14:creationId xmlns:p14="http://schemas.microsoft.com/office/powerpoint/2010/main" val="2187212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4D586-1125-2FB2-3E03-F236924C8C51}"/>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6D1D956-0C5C-2A4E-CE17-D0F9A47AE7DF}"/>
              </a:ext>
            </a:extLst>
          </p:cNvPr>
          <p:cNvSpPr>
            <a:spLocks noGrp="1"/>
          </p:cNvSpPr>
          <p:nvPr>
            <p:ph type="ctrTitle"/>
          </p:nvPr>
        </p:nvSpPr>
        <p:spPr>
          <a:xfrm>
            <a:off x="838199" y="1164324"/>
            <a:ext cx="10934701" cy="1293126"/>
          </a:xfrm>
        </p:spPr>
        <p:txBody>
          <a:bodyPr rtlCol="0" anchor="ctr" anchorCtr="0">
            <a:normAutofit/>
          </a:bodyPr>
          <a:lstStyle/>
          <a:p>
            <a:r>
              <a:rPr lang="en-US" altLang="ko-KR" sz="5400" dirty="0">
                <a:solidFill>
                  <a:schemeClr val="bg1"/>
                </a:solidFill>
                <a:latin typeface="D2Coding" panose="020B0609020101020101" pitchFamily="49" charset="-127"/>
                <a:ea typeface="D2Coding" panose="020B0609020101020101" pitchFamily="49" charset="-127"/>
              </a:rPr>
              <a:t>Source Code Build</a:t>
            </a:r>
            <a:endParaRPr lang="ko-KR" altLang="en-US" sz="2000" dirty="0">
              <a:solidFill>
                <a:schemeClr val="bg1"/>
              </a:solidFill>
              <a:latin typeface="D2Coding" panose="020B0609020101020101" pitchFamily="49" charset="-127"/>
              <a:ea typeface="D2Coding" panose="020B0609020101020101" pitchFamily="49" charset="-127"/>
            </a:endParaRPr>
          </a:p>
        </p:txBody>
      </p:sp>
      <p:sp>
        <p:nvSpPr>
          <p:cNvPr id="5" name="부제목 2">
            <a:extLst>
              <a:ext uri="{FF2B5EF4-FFF2-40B4-BE49-F238E27FC236}">
                <a16:creationId xmlns:a16="http://schemas.microsoft.com/office/drawing/2014/main" id="{2A6D0A2A-7001-4D52-5517-C1F6A6A29A2F}"/>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latin typeface="D2Coding" panose="020B0609020101020101" pitchFamily="49" charset="-127"/>
                <a:ea typeface="D2Coding" panose="020B0609020101020101" pitchFamily="49" charset="-127"/>
              </a:rPr>
              <a:t>2026 Fall</a:t>
            </a:r>
          </a:p>
          <a:p>
            <a:r>
              <a:rPr lang="ko-KR" altLang="en-US" sz="2400" dirty="0" err="1">
                <a:solidFill>
                  <a:schemeClr val="bg1"/>
                </a:solidFill>
                <a:latin typeface="D2Coding" panose="020B0609020101020101" pitchFamily="49" charset="-127"/>
                <a:ea typeface="D2Coding" panose="020B0609020101020101" pitchFamily="49" charset="-127"/>
              </a:rPr>
              <a:t>조상구교수</a:t>
            </a:r>
            <a:endParaRPr lang="en-US" altLang="ko-KR" sz="2400" dirty="0">
              <a:solidFill>
                <a:schemeClr val="bg1"/>
              </a:solidFill>
              <a:latin typeface="D2Coding" panose="020B0609020101020101" pitchFamily="49" charset="-127"/>
              <a:ea typeface="D2Coding" panose="020B0609020101020101" pitchFamily="49" charset="-127"/>
            </a:endParaRPr>
          </a:p>
        </p:txBody>
      </p:sp>
      <p:sp>
        <p:nvSpPr>
          <p:cNvPr id="4" name="TextBox 3">
            <a:extLst>
              <a:ext uri="{FF2B5EF4-FFF2-40B4-BE49-F238E27FC236}">
                <a16:creationId xmlns:a16="http://schemas.microsoft.com/office/drawing/2014/main" id="{66F23075-9748-2C05-9336-6A9CA4F36952}"/>
              </a:ext>
            </a:extLst>
          </p:cNvPr>
          <p:cNvSpPr txBox="1"/>
          <p:nvPr/>
        </p:nvSpPr>
        <p:spPr>
          <a:xfrm>
            <a:off x="855620" y="2752872"/>
            <a:ext cx="9374230" cy="463397"/>
          </a:xfrm>
          <a:prstGeom prst="rect">
            <a:avLst/>
          </a:prstGeom>
          <a:noFill/>
        </p:spPr>
        <p:txBody>
          <a:bodyPr wrap="square">
            <a:spAutoFit/>
          </a:bodyPr>
          <a:lstStyle/>
          <a:p>
            <a:pPr marL="285750" indent="-285750">
              <a:lnSpc>
                <a:spcPct val="150000"/>
              </a:lnSpc>
              <a:buFont typeface="Wingdings" panose="05000000000000000000" pitchFamily="2" charset="2"/>
              <a:buChar char="ü"/>
            </a:pPr>
            <a:r>
              <a:rPr lang="en-US" altLang="ko-KR" sz="1800" dirty="0">
                <a:solidFill>
                  <a:schemeClr val="bg1"/>
                </a:solidFill>
                <a:latin typeface="D2Coding" panose="020B0609020101020101" pitchFamily="49" charset="-127"/>
                <a:ea typeface="D2Coding" panose="020B0609020101020101" pitchFamily="49" charset="-127"/>
              </a:rPr>
              <a:t>Python</a:t>
            </a:r>
            <a:r>
              <a:rPr lang="ko-KR" altLang="en-US" sz="1800" dirty="0">
                <a:solidFill>
                  <a:schemeClr val="bg1"/>
                </a:solidFill>
                <a:latin typeface="D2Coding" panose="020B0609020101020101" pitchFamily="49" charset="-127"/>
                <a:ea typeface="D2Coding" panose="020B0609020101020101" pitchFamily="49" charset="-127"/>
              </a:rPr>
              <a:t>코드 개발</a:t>
            </a:r>
            <a:r>
              <a:rPr lang="en-US" altLang="ko-KR" sz="1800" dirty="0">
                <a:solidFill>
                  <a:schemeClr val="bg1"/>
                </a:solidFill>
                <a:latin typeface="D2Coding" panose="020B0609020101020101" pitchFamily="49" charset="-127"/>
                <a:ea typeface="D2Coding" panose="020B0609020101020101" pitchFamily="49" charset="-127"/>
              </a:rPr>
              <a:t>, </a:t>
            </a:r>
            <a:r>
              <a:rPr lang="ko-KR" altLang="en-US" sz="1800" dirty="0">
                <a:solidFill>
                  <a:schemeClr val="bg1"/>
                </a:solidFill>
                <a:latin typeface="D2Coding" panose="020B0609020101020101" pitchFamily="49" charset="-127"/>
                <a:ea typeface="D2Coding" panose="020B0609020101020101" pitchFamily="49" charset="-127"/>
              </a:rPr>
              <a:t>컴파일</a:t>
            </a:r>
            <a:r>
              <a:rPr lang="en-US" altLang="ko-KR" sz="1800" dirty="0">
                <a:solidFill>
                  <a:schemeClr val="bg1"/>
                </a:solidFill>
                <a:latin typeface="D2Coding" panose="020B0609020101020101" pitchFamily="49" charset="-127"/>
                <a:ea typeface="D2Coding" panose="020B0609020101020101" pitchFamily="49" charset="-127"/>
              </a:rPr>
              <a:t>, </a:t>
            </a:r>
            <a:r>
              <a:rPr lang="ko-KR" altLang="en-US" sz="1800" dirty="0">
                <a:solidFill>
                  <a:schemeClr val="bg1"/>
                </a:solidFill>
                <a:latin typeface="D2Coding" panose="020B0609020101020101" pitchFamily="49" charset="-127"/>
                <a:ea typeface="D2Coding" panose="020B0609020101020101" pitchFamily="49" charset="-127"/>
              </a:rPr>
              <a:t>링크 및 빌드</a:t>
            </a:r>
            <a:endParaRPr lang="ko-KR" altLang="en-US" dirty="0"/>
          </a:p>
        </p:txBody>
      </p:sp>
    </p:spTree>
    <p:extLst>
      <p:ext uri="{BB962C8B-B14F-4D97-AF65-F5344CB8AC3E}">
        <p14:creationId xmlns:p14="http://schemas.microsoft.com/office/powerpoint/2010/main" val="21096180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65C927-A56A-F51B-6518-140E5922C00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3A52980-41D7-E59A-63AB-724FDA7C36A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프로그래밍</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언어별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실행</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23D1158F-61CA-0E27-4436-967E6F880982}"/>
              </a:ext>
            </a:extLst>
          </p:cNvPr>
          <p:cNvSpPr txBox="1"/>
          <p:nvPr/>
        </p:nvSpPr>
        <p:spPr>
          <a:xfrm>
            <a:off x="8954499" y="2057257"/>
            <a:ext cx="697627" cy="338554"/>
          </a:xfrm>
          <a:prstGeom prst="rect">
            <a:avLst/>
          </a:prstGeom>
          <a:noFill/>
        </p:spPr>
        <p:txBody>
          <a:bodyPr wrap="none" rtlCol="0">
            <a:spAutoFit/>
          </a:bodyPr>
          <a:lstStyle/>
          <a:p>
            <a:r>
              <a:rPr lang="en-US" altLang="ko-KR" sz="1600" dirty="0">
                <a:latin typeface="D2Coding" panose="020B0609020101020101" pitchFamily="49" charset="-127"/>
                <a:ea typeface="D2Coding" panose="020B0609020101020101" pitchFamily="49" charset="-127"/>
                <a:hlinkClick r:id="rId2"/>
              </a:rPr>
              <a:t>Coddy</a:t>
            </a:r>
            <a:endParaRPr lang="ko-KR" altLang="en-US" sz="1600" dirty="0">
              <a:latin typeface="D2Coding" panose="020B0609020101020101" pitchFamily="49" charset="-127"/>
              <a:ea typeface="D2Coding" panose="020B0609020101020101" pitchFamily="49" charset="-127"/>
            </a:endParaRPr>
          </a:p>
        </p:txBody>
      </p:sp>
      <p:pic>
        <p:nvPicPr>
          <p:cNvPr id="33" name="그림 32">
            <a:extLst>
              <a:ext uri="{FF2B5EF4-FFF2-40B4-BE49-F238E27FC236}">
                <a16:creationId xmlns:a16="http://schemas.microsoft.com/office/drawing/2014/main" id="{DBA1E414-6D70-B76F-A007-94029896F34A}"/>
              </a:ext>
            </a:extLst>
          </p:cNvPr>
          <p:cNvPicPr>
            <a:picLocks noChangeAspect="1"/>
          </p:cNvPicPr>
          <p:nvPr/>
        </p:nvPicPr>
        <p:blipFill>
          <a:blip r:embed="rId3"/>
          <a:stretch>
            <a:fillRect/>
          </a:stretch>
        </p:blipFill>
        <p:spPr>
          <a:xfrm>
            <a:off x="586480" y="2073659"/>
            <a:ext cx="5492639" cy="2948751"/>
          </a:xfrm>
          <a:prstGeom prst="rect">
            <a:avLst/>
          </a:prstGeom>
          <a:ln>
            <a:solidFill>
              <a:schemeClr val="tx1"/>
            </a:solidFill>
          </a:ln>
        </p:spPr>
      </p:pic>
      <p:pic>
        <p:nvPicPr>
          <p:cNvPr id="35" name="그림 34">
            <a:extLst>
              <a:ext uri="{FF2B5EF4-FFF2-40B4-BE49-F238E27FC236}">
                <a16:creationId xmlns:a16="http://schemas.microsoft.com/office/drawing/2014/main" id="{51EBF04E-A22A-4913-C6C1-24BEEE23672D}"/>
              </a:ext>
            </a:extLst>
          </p:cNvPr>
          <p:cNvPicPr>
            <a:picLocks noChangeAspect="1"/>
          </p:cNvPicPr>
          <p:nvPr/>
        </p:nvPicPr>
        <p:blipFill>
          <a:blip r:embed="rId4"/>
          <a:stretch>
            <a:fillRect/>
          </a:stretch>
        </p:blipFill>
        <p:spPr>
          <a:xfrm>
            <a:off x="3300207" y="2395811"/>
            <a:ext cx="5492638" cy="2827291"/>
          </a:xfrm>
          <a:prstGeom prst="rect">
            <a:avLst/>
          </a:prstGeom>
          <a:ln>
            <a:solidFill>
              <a:schemeClr val="tx1"/>
            </a:solidFill>
          </a:ln>
        </p:spPr>
      </p:pic>
      <p:pic>
        <p:nvPicPr>
          <p:cNvPr id="37" name="그림 36">
            <a:extLst>
              <a:ext uri="{FF2B5EF4-FFF2-40B4-BE49-F238E27FC236}">
                <a16:creationId xmlns:a16="http://schemas.microsoft.com/office/drawing/2014/main" id="{6CDA9A11-2F59-07C8-3F35-337C5C96B17A}"/>
              </a:ext>
            </a:extLst>
          </p:cNvPr>
          <p:cNvPicPr>
            <a:picLocks noChangeAspect="1"/>
          </p:cNvPicPr>
          <p:nvPr/>
        </p:nvPicPr>
        <p:blipFill>
          <a:blip r:embed="rId5"/>
          <a:stretch>
            <a:fillRect/>
          </a:stretch>
        </p:blipFill>
        <p:spPr>
          <a:xfrm>
            <a:off x="6434161" y="3567791"/>
            <a:ext cx="5506134" cy="1788144"/>
          </a:xfrm>
          <a:prstGeom prst="rect">
            <a:avLst/>
          </a:prstGeom>
          <a:ln>
            <a:solidFill>
              <a:schemeClr val="tx1"/>
            </a:solidFill>
          </a:ln>
        </p:spPr>
      </p:pic>
      <p:sp>
        <p:nvSpPr>
          <p:cNvPr id="39" name="TextBox 38">
            <a:extLst>
              <a:ext uri="{FF2B5EF4-FFF2-40B4-BE49-F238E27FC236}">
                <a16:creationId xmlns:a16="http://schemas.microsoft.com/office/drawing/2014/main" id="{D61288D1-F30B-83F7-1A05-85CAADC92AA2}"/>
              </a:ext>
            </a:extLst>
          </p:cNvPr>
          <p:cNvSpPr txBox="1"/>
          <p:nvPr/>
        </p:nvSpPr>
        <p:spPr>
          <a:xfrm>
            <a:off x="1176979" y="5040138"/>
            <a:ext cx="1353156" cy="1335879"/>
          </a:xfrm>
          <a:prstGeom prst="rect">
            <a:avLst/>
          </a:prstGeom>
          <a:noFill/>
        </p:spPr>
        <p:txBody>
          <a:bodyPr wrap="square">
            <a:spAutoFit/>
          </a:bodyPr>
          <a:lstStyle/>
          <a:p>
            <a:pPr algn="ctr">
              <a:lnSpc>
                <a:spcPct val="150000"/>
              </a:lnSpc>
            </a:pPr>
            <a:r>
              <a:rPr lang="ko-KR" altLang="ko-KR" sz="1100" dirty="0">
                <a:latin typeface="D2Coding" panose="020B0609020101020101" pitchFamily="49" charset="-127"/>
                <a:ea typeface="D2Coding" panose="020B0609020101020101" pitchFamily="49" charset="-127"/>
              </a:rPr>
              <a:t>main.cpp </a:t>
            </a:r>
            <a:endParaRPr lang="en-US" altLang="ko-KR" sz="1100" dirty="0">
              <a:latin typeface="D2Coding" panose="020B0609020101020101" pitchFamily="49" charset="-127"/>
              <a:ea typeface="D2Coding" panose="020B0609020101020101" pitchFamily="49" charset="-127"/>
            </a:endParaRPr>
          </a:p>
          <a:p>
            <a:pPr algn="ctr">
              <a:lnSpc>
                <a:spcPct val="150000"/>
              </a:lnSpc>
            </a:pPr>
            <a:r>
              <a:rPr lang="ko-KR" altLang="ko-KR" sz="1100" dirty="0">
                <a:latin typeface="D2Coding" panose="020B0609020101020101" pitchFamily="49" charset="-127"/>
                <a:ea typeface="D2Coding" panose="020B0609020101020101" pitchFamily="49" charset="-127"/>
              </a:rPr>
              <a:t>↓ </a:t>
            </a:r>
            <a:endParaRPr lang="en-US" altLang="ko-KR" sz="1100" dirty="0">
              <a:latin typeface="D2Coding" panose="020B0609020101020101" pitchFamily="49" charset="-127"/>
              <a:ea typeface="D2Coding" panose="020B0609020101020101" pitchFamily="49" charset="-127"/>
            </a:endParaRPr>
          </a:p>
          <a:p>
            <a:pPr algn="ctr">
              <a:lnSpc>
                <a:spcPct val="150000"/>
              </a:lnSpc>
            </a:pPr>
            <a:r>
              <a:rPr lang="ko-KR" altLang="ko-KR" sz="1100" dirty="0" err="1">
                <a:latin typeface="D2Coding" panose="020B0609020101020101" pitchFamily="49" charset="-127"/>
                <a:ea typeface="D2Coding" panose="020B0609020101020101" pitchFamily="49" charset="-127"/>
              </a:rPr>
              <a:t>main.o</a:t>
            </a:r>
            <a:r>
              <a:rPr lang="ko-KR" altLang="ko-KR" sz="1100" dirty="0">
                <a:latin typeface="D2Coding" panose="020B0609020101020101" pitchFamily="49" charset="-127"/>
                <a:ea typeface="D2Coding" panose="020B0609020101020101" pitchFamily="49" charset="-127"/>
              </a:rPr>
              <a:t> </a:t>
            </a:r>
            <a:endParaRPr lang="en-US" altLang="ko-KR" sz="1100" dirty="0">
              <a:latin typeface="D2Coding" panose="020B0609020101020101" pitchFamily="49" charset="-127"/>
              <a:ea typeface="D2Coding" panose="020B0609020101020101" pitchFamily="49" charset="-127"/>
            </a:endParaRPr>
          </a:p>
          <a:p>
            <a:pPr algn="ctr">
              <a:lnSpc>
                <a:spcPct val="150000"/>
              </a:lnSpc>
            </a:pPr>
            <a:r>
              <a:rPr lang="ko-KR" altLang="ko-KR" sz="1100" dirty="0">
                <a:latin typeface="D2Coding" panose="020B0609020101020101" pitchFamily="49" charset="-127"/>
                <a:ea typeface="D2Coding" panose="020B0609020101020101" pitchFamily="49" charset="-127"/>
              </a:rPr>
              <a:t>↓ </a:t>
            </a:r>
            <a:endParaRPr lang="en-US" altLang="ko-KR" sz="1100" dirty="0">
              <a:latin typeface="D2Coding" panose="020B0609020101020101" pitchFamily="49" charset="-127"/>
              <a:ea typeface="D2Coding" panose="020B0609020101020101" pitchFamily="49" charset="-127"/>
            </a:endParaRPr>
          </a:p>
          <a:p>
            <a:pPr algn="ctr">
              <a:lnSpc>
                <a:spcPct val="150000"/>
              </a:lnSpc>
            </a:pPr>
            <a:r>
              <a:rPr lang="ko-KR" altLang="ko-KR" sz="1100" dirty="0">
                <a:latin typeface="D2Coding" panose="020B0609020101020101" pitchFamily="49" charset="-127"/>
                <a:ea typeface="D2Coding" panose="020B0609020101020101" pitchFamily="49" charset="-127"/>
              </a:rPr>
              <a:t>program.exe</a:t>
            </a:r>
            <a:endParaRPr lang="ko-KR" altLang="en-US" sz="1100" dirty="0">
              <a:latin typeface="D2Coding" panose="020B0609020101020101" pitchFamily="49" charset="-127"/>
              <a:ea typeface="D2Coding" panose="020B0609020101020101" pitchFamily="49" charset="-127"/>
            </a:endParaRPr>
          </a:p>
        </p:txBody>
      </p:sp>
      <p:sp>
        <p:nvSpPr>
          <p:cNvPr id="41" name="TextBox 40">
            <a:extLst>
              <a:ext uri="{FF2B5EF4-FFF2-40B4-BE49-F238E27FC236}">
                <a16:creationId xmlns:a16="http://schemas.microsoft.com/office/drawing/2014/main" id="{F5C7AA87-4D45-6B4E-6A59-2BD1F29BD0C8}"/>
              </a:ext>
            </a:extLst>
          </p:cNvPr>
          <p:cNvSpPr txBox="1"/>
          <p:nvPr/>
        </p:nvSpPr>
        <p:spPr>
          <a:xfrm>
            <a:off x="1975148" y="5223102"/>
            <a:ext cx="5665391" cy="1335879"/>
          </a:xfrm>
          <a:prstGeom prst="rect">
            <a:avLst/>
          </a:prstGeom>
          <a:noFill/>
        </p:spPr>
        <p:txBody>
          <a:bodyPr wrap="square">
            <a:spAutoFit/>
          </a:bodyPr>
          <a:lstStyle/>
          <a:p>
            <a:pPr algn="ctr">
              <a:lnSpc>
                <a:spcPct val="150000"/>
              </a:lnSpc>
            </a:pPr>
            <a:r>
              <a:rPr lang="ko-KR" altLang="en-US" sz="1100" dirty="0">
                <a:latin typeface="D2Coding" panose="020B0609020101020101" pitchFamily="49" charset="-127"/>
                <a:ea typeface="D2Coding" panose="020B0609020101020101" pitchFamily="49" charset="-127"/>
              </a:rPr>
              <a:t>Main.java (소스 코드)</a:t>
            </a:r>
          </a:p>
          <a:p>
            <a:pPr algn="ctr">
              <a:lnSpc>
                <a:spcPct val="150000"/>
              </a:lnSpc>
            </a:pPr>
            <a:r>
              <a:rPr lang="ko-KR" altLang="en-US" sz="1100" dirty="0">
                <a:latin typeface="D2Coding" panose="020B0609020101020101" pitchFamily="49" charset="-127"/>
                <a:ea typeface="D2Coding" panose="020B0609020101020101" pitchFamily="49" charset="-127"/>
              </a:rPr>
              <a:t>           ↓ (</a:t>
            </a:r>
            <a:r>
              <a:rPr lang="ko-KR" altLang="en-US" sz="1100" dirty="0" err="1">
                <a:latin typeface="D2Coding" panose="020B0609020101020101" pitchFamily="49" charset="-127"/>
                <a:ea typeface="D2Coding" panose="020B0609020101020101" pitchFamily="49" charset="-127"/>
              </a:rPr>
              <a:t>javac</a:t>
            </a:r>
            <a:r>
              <a:rPr lang="ko-KR" altLang="en-US" sz="1100" dirty="0">
                <a:latin typeface="D2Coding" panose="020B0609020101020101" pitchFamily="49" charset="-127"/>
                <a:ea typeface="D2Coding" panose="020B0609020101020101" pitchFamily="49" charset="-127"/>
              </a:rPr>
              <a:t> 컴파일)</a:t>
            </a:r>
          </a:p>
          <a:p>
            <a:pPr algn="ctr">
              <a:lnSpc>
                <a:spcPct val="150000"/>
              </a:lnSpc>
            </a:pPr>
            <a:r>
              <a:rPr lang="ko-KR" altLang="en-US" sz="1100" dirty="0" err="1">
                <a:latin typeface="D2Coding" panose="020B0609020101020101" pitchFamily="49" charset="-127"/>
                <a:ea typeface="D2Coding" panose="020B0609020101020101" pitchFamily="49" charset="-127"/>
              </a:rPr>
              <a:t>Main.class</a:t>
            </a:r>
            <a:r>
              <a:rPr lang="ko-KR" altLang="en-US" sz="1100" dirty="0">
                <a:latin typeface="D2Coding" panose="020B0609020101020101" pitchFamily="49" charset="-127"/>
                <a:ea typeface="D2Coding" panose="020B0609020101020101" pitchFamily="49" charset="-127"/>
              </a:rPr>
              <a:t> (바이트코드)</a:t>
            </a:r>
          </a:p>
          <a:p>
            <a:pPr algn="ctr">
              <a:lnSpc>
                <a:spcPct val="150000"/>
              </a:lnSpc>
            </a:pPr>
            <a:r>
              <a:rPr lang="ko-KR" altLang="en-US" sz="1100" dirty="0">
                <a:latin typeface="D2Coding" panose="020B0609020101020101" pitchFamily="49" charset="-127"/>
                <a:ea typeface="D2Coding" panose="020B0609020101020101" pitchFamily="49" charset="-127"/>
              </a:rPr>
              <a:t>                                   ↓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JVM 실행 - JIT 컴파일러 / 인터프리터)</a:t>
            </a:r>
          </a:p>
          <a:p>
            <a:pPr algn="ctr">
              <a:lnSpc>
                <a:spcPct val="150000"/>
              </a:lnSpc>
            </a:pPr>
            <a:r>
              <a:rPr lang="ko-KR" altLang="en-US" sz="1100" dirty="0">
                <a:latin typeface="D2Coding" panose="020B0609020101020101" pitchFamily="49" charset="-127"/>
                <a:ea typeface="D2Coding" panose="020B0609020101020101" pitchFamily="49" charset="-127"/>
              </a:rPr>
              <a:t>기계어 실행</a:t>
            </a:r>
          </a:p>
        </p:txBody>
      </p:sp>
      <p:sp>
        <p:nvSpPr>
          <p:cNvPr id="43" name="TextBox 42">
            <a:extLst>
              <a:ext uri="{FF2B5EF4-FFF2-40B4-BE49-F238E27FC236}">
                <a16:creationId xmlns:a16="http://schemas.microsoft.com/office/drawing/2014/main" id="{406482B5-B138-CF1B-FE7C-1C266E45A82C}"/>
              </a:ext>
            </a:extLst>
          </p:cNvPr>
          <p:cNvSpPr txBox="1"/>
          <p:nvPr/>
        </p:nvSpPr>
        <p:spPr>
          <a:xfrm>
            <a:off x="7155859" y="5355935"/>
            <a:ext cx="4294909" cy="1335879"/>
          </a:xfrm>
          <a:prstGeom prst="rect">
            <a:avLst/>
          </a:prstGeom>
          <a:noFill/>
        </p:spPr>
        <p:txBody>
          <a:bodyPr wrap="square">
            <a:spAutoFit/>
          </a:bodyPr>
          <a:lstStyle/>
          <a:p>
            <a:pPr algn="ctr">
              <a:lnSpc>
                <a:spcPct val="150000"/>
              </a:lnSpc>
            </a:pPr>
            <a:r>
              <a:rPr lang="ko-KR" altLang="ko-KR" sz="1100" dirty="0">
                <a:latin typeface="D2Coding" panose="020B0609020101020101" pitchFamily="49" charset="-127"/>
                <a:ea typeface="D2Coding" panose="020B0609020101020101" pitchFamily="49" charset="-127"/>
              </a:rPr>
              <a:t>main.py (소스 코드) </a:t>
            </a:r>
            <a:endParaRPr lang="en-US" altLang="ko-KR" sz="1100" dirty="0">
              <a:latin typeface="D2Coding" panose="020B0609020101020101" pitchFamily="49" charset="-127"/>
              <a:ea typeface="D2Coding" panose="020B0609020101020101" pitchFamily="49" charset="-127"/>
            </a:endParaRPr>
          </a:p>
          <a:p>
            <a:pPr algn="ctr">
              <a:lnSpc>
                <a:spcPct val="150000"/>
              </a:lnSpc>
            </a:pPr>
            <a:r>
              <a:rPr lang="en-US" altLang="ko-KR" sz="1100" dirty="0">
                <a:latin typeface="D2Coding" panose="020B0609020101020101" pitchFamily="49" charset="-127"/>
                <a:ea typeface="D2Coding" panose="020B0609020101020101" pitchFamily="49" charset="-127"/>
              </a:rPr>
              <a:t>                   </a:t>
            </a:r>
            <a:r>
              <a:rPr lang="ko-KR" altLang="ko-KR" sz="1100" dirty="0">
                <a:latin typeface="D2Coding" panose="020B0609020101020101" pitchFamily="49" charset="-127"/>
                <a:ea typeface="D2Coding" panose="020B0609020101020101" pitchFamily="49" charset="-127"/>
              </a:rPr>
              <a:t>↓ (인터프리터 내부 컴파일) </a:t>
            </a:r>
            <a:endParaRPr lang="en-US" altLang="ko-KR" sz="1100" dirty="0">
              <a:latin typeface="D2Coding" panose="020B0609020101020101" pitchFamily="49" charset="-127"/>
              <a:ea typeface="D2Coding" panose="020B0609020101020101" pitchFamily="49" charset="-127"/>
            </a:endParaRPr>
          </a:p>
          <a:p>
            <a:pPr algn="ctr">
              <a:lnSpc>
                <a:spcPct val="150000"/>
              </a:lnSpc>
            </a:pPr>
            <a:r>
              <a:rPr lang="ko-KR" altLang="ko-KR" sz="1100" dirty="0" err="1">
                <a:latin typeface="D2Coding" panose="020B0609020101020101" pitchFamily="49" charset="-127"/>
                <a:ea typeface="D2Coding" panose="020B0609020101020101" pitchFamily="49" charset="-127"/>
              </a:rPr>
              <a:t>main.pyc</a:t>
            </a:r>
            <a:r>
              <a:rPr lang="ko-KR" altLang="ko-KR" sz="1100" dirty="0">
                <a:latin typeface="D2Coding" panose="020B0609020101020101" pitchFamily="49" charset="-127"/>
                <a:ea typeface="D2Coding" panose="020B0609020101020101" pitchFamily="49" charset="-127"/>
              </a:rPr>
              <a:t> (바이트코드/__</a:t>
            </a:r>
            <a:r>
              <a:rPr lang="ko-KR" altLang="ko-KR" sz="1100" dirty="0" err="1">
                <a:latin typeface="D2Coding" panose="020B0609020101020101" pitchFamily="49" charset="-127"/>
                <a:ea typeface="D2Coding" panose="020B0609020101020101" pitchFamily="49" charset="-127"/>
              </a:rPr>
              <a:t>pycache</a:t>
            </a:r>
            <a:r>
              <a:rPr lang="ko-KR" altLang="ko-KR" sz="1100" dirty="0">
                <a:latin typeface="D2Coding" panose="020B0609020101020101" pitchFamily="49" charset="-127"/>
                <a:ea typeface="D2Coding" panose="020B0609020101020101" pitchFamily="49" charset="-127"/>
              </a:rPr>
              <a:t>__) </a:t>
            </a:r>
            <a:endParaRPr lang="en-US" altLang="ko-KR" sz="1100" dirty="0">
              <a:latin typeface="D2Coding" panose="020B0609020101020101" pitchFamily="49" charset="-127"/>
              <a:ea typeface="D2Coding" panose="020B0609020101020101" pitchFamily="49" charset="-127"/>
            </a:endParaRPr>
          </a:p>
          <a:p>
            <a:pPr algn="ctr">
              <a:lnSpc>
                <a:spcPct val="150000"/>
              </a:lnSpc>
            </a:pPr>
            <a:r>
              <a:rPr lang="en-US" altLang="ko-KR" sz="1100" dirty="0">
                <a:latin typeface="D2Coding" panose="020B0609020101020101" pitchFamily="49" charset="-127"/>
                <a:ea typeface="D2Coding" panose="020B0609020101020101" pitchFamily="49" charset="-127"/>
              </a:rPr>
              <a:t>                         </a:t>
            </a:r>
            <a:r>
              <a:rPr lang="ko-KR" altLang="ko-KR"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a:t>
            </a:r>
            <a:r>
              <a:rPr lang="ko-KR" altLang="ko-KR" sz="1100" dirty="0">
                <a:latin typeface="D2Coding" panose="020B0609020101020101" pitchFamily="49" charset="-127"/>
                <a:ea typeface="D2Coding" panose="020B0609020101020101" pitchFamily="49" charset="-127"/>
              </a:rPr>
              <a:t>PVM - </a:t>
            </a:r>
            <a:r>
              <a:rPr lang="ko-KR" altLang="ko-KR" sz="1100" dirty="0" err="1">
                <a:latin typeface="D2Coding" panose="020B0609020101020101" pitchFamily="49" charset="-127"/>
                <a:ea typeface="D2Coding" panose="020B0609020101020101" pitchFamily="49" charset="-127"/>
              </a:rPr>
              <a:t>Python</a:t>
            </a:r>
            <a:r>
              <a:rPr lang="ko-KR" altLang="ko-KR" sz="1100" dirty="0">
                <a:latin typeface="D2Coding" panose="020B0609020101020101" pitchFamily="49" charset="-127"/>
                <a:ea typeface="D2Coding" panose="020B0609020101020101" pitchFamily="49" charset="-127"/>
              </a:rPr>
              <a:t> </a:t>
            </a:r>
            <a:r>
              <a:rPr lang="ko-KR" altLang="ko-KR" sz="1100" dirty="0" err="1">
                <a:latin typeface="D2Coding" panose="020B0609020101020101" pitchFamily="49" charset="-127"/>
                <a:ea typeface="D2Coding" panose="020B0609020101020101" pitchFamily="49" charset="-127"/>
              </a:rPr>
              <a:t>Virtual</a:t>
            </a:r>
            <a:r>
              <a:rPr lang="ko-KR" altLang="ko-KR" sz="1100" dirty="0">
                <a:latin typeface="D2Coding" panose="020B0609020101020101" pitchFamily="49" charset="-127"/>
                <a:ea typeface="D2Coding" panose="020B0609020101020101" pitchFamily="49" charset="-127"/>
              </a:rPr>
              <a:t> </a:t>
            </a:r>
            <a:r>
              <a:rPr lang="ko-KR" altLang="ko-KR" sz="1100" dirty="0" err="1">
                <a:latin typeface="D2Coding" panose="020B0609020101020101" pitchFamily="49" charset="-127"/>
                <a:ea typeface="D2Coding" panose="020B0609020101020101" pitchFamily="49" charset="-127"/>
              </a:rPr>
              <a:t>Machine</a:t>
            </a:r>
            <a:r>
              <a:rPr lang="ko-KR" altLang="ko-KR" sz="1100" dirty="0">
                <a:latin typeface="D2Coding" panose="020B0609020101020101" pitchFamily="49" charset="-127"/>
                <a:ea typeface="D2Coding" panose="020B0609020101020101" pitchFamily="49" charset="-127"/>
              </a:rPr>
              <a:t>) </a:t>
            </a:r>
            <a:endParaRPr lang="en-US" altLang="ko-KR" sz="1100" dirty="0">
              <a:latin typeface="D2Coding" panose="020B0609020101020101" pitchFamily="49" charset="-127"/>
              <a:ea typeface="D2Coding" panose="020B0609020101020101" pitchFamily="49" charset="-127"/>
            </a:endParaRPr>
          </a:p>
          <a:p>
            <a:pPr algn="ctr">
              <a:lnSpc>
                <a:spcPct val="150000"/>
              </a:lnSpc>
            </a:pPr>
            <a:r>
              <a:rPr lang="ko-KR" altLang="ko-KR" sz="1100" dirty="0">
                <a:latin typeface="D2Coding" panose="020B0609020101020101" pitchFamily="49" charset="-127"/>
                <a:ea typeface="D2Coding" panose="020B0609020101020101" pitchFamily="49" charset="-127"/>
              </a:rPr>
              <a:t>기계어 실행</a:t>
            </a:r>
            <a:endParaRPr lang="ko-KR" altLang="en-US" sz="1100" dirty="0">
              <a:latin typeface="D2Coding" panose="020B0609020101020101" pitchFamily="49" charset="-127"/>
              <a:ea typeface="D2Coding" panose="020B0609020101020101" pitchFamily="49" charset="-127"/>
            </a:endParaRPr>
          </a:p>
        </p:txBody>
      </p:sp>
      <p:sp>
        <p:nvSpPr>
          <p:cNvPr id="49" name="TextBox 48">
            <a:extLst>
              <a:ext uri="{FF2B5EF4-FFF2-40B4-BE49-F238E27FC236}">
                <a16:creationId xmlns:a16="http://schemas.microsoft.com/office/drawing/2014/main" id="{6E32CE6B-36ED-C06E-321F-AAE1BAB179FD}"/>
              </a:ext>
            </a:extLst>
          </p:cNvPr>
          <p:cNvSpPr txBox="1"/>
          <p:nvPr/>
        </p:nvSpPr>
        <p:spPr>
          <a:xfrm>
            <a:off x="586480" y="1199745"/>
            <a:ext cx="11019039" cy="793166"/>
          </a:xfrm>
          <a:prstGeom prst="rect">
            <a:avLst/>
          </a:prstGeom>
          <a:noFill/>
        </p:spPr>
        <p:txBody>
          <a:bodyPr wrap="square">
            <a:spAutoFit/>
          </a:bodyPr>
          <a:lstStyle/>
          <a:p>
            <a:pPr>
              <a:lnSpc>
                <a:spcPct val="150000"/>
              </a:lnSpc>
            </a:pPr>
            <a:r>
              <a:rPr lang="ko-KR" altLang="ko-KR" sz="1600" dirty="0">
                <a:latin typeface="D2Coding" panose="020B0609020101020101" pitchFamily="49" charset="-127"/>
                <a:ea typeface="D2Coding" panose="020B0609020101020101" pitchFamily="49" charset="-127"/>
              </a:rPr>
              <a:t>PVM(</a:t>
            </a:r>
            <a:r>
              <a:rPr lang="ko-KR" altLang="ko-KR" sz="1600" dirty="0" err="1">
                <a:latin typeface="D2Coding" panose="020B0609020101020101" pitchFamily="49" charset="-127"/>
                <a:ea typeface="D2Coding" panose="020B0609020101020101" pitchFamily="49" charset="-127"/>
              </a:rPr>
              <a:t>Python</a:t>
            </a:r>
            <a:r>
              <a:rPr lang="ko-KR" altLang="ko-KR" sz="1600" dirty="0">
                <a:latin typeface="D2Coding" panose="020B0609020101020101" pitchFamily="49" charset="-127"/>
                <a:ea typeface="D2Coding" panose="020B0609020101020101" pitchFamily="49" charset="-127"/>
              </a:rPr>
              <a:t> </a:t>
            </a:r>
            <a:r>
              <a:rPr lang="ko-KR" altLang="ko-KR" sz="1600" dirty="0" err="1">
                <a:latin typeface="D2Coding" panose="020B0609020101020101" pitchFamily="49" charset="-127"/>
                <a:ea typeface="D2Coding" panose="020B0609020101020101" pitchFamily="49" charset="-127"/>
              </a:rPr>
              <a:t>Virtual</a:t>
            </a:r>
            <a:r>
              <a:rPr lang="ko-KR" altLang="ko-KR" sz="1600" dirty="0">
                <a:latin typeface="D2Coding" panose="020B0609020101020101" pitchFamily="49" charset="-127"/>
                <a:ea typeface="D2Coding" panose="020B0609020101020101" pitchFamily="49" charset="-127"/>
              </a:rPr>
              <a:t> </a:t>
            </a:r>
            <a:r>
              <a:rPr lang="ko-KR" altLang="ko-KR" sz="1600" dirty="0" err="1">
                <a:latin typeface="D2Coding" panose="020B0609020101020101" pitchFamily="49" charset="-127"/>
                <a:ea typeface="D2Coding" panose="020B0609020101020101" pitchFamily="49" charset="-127"/>
              </a:rPr>
              <a:t>Machine</a:t>
            </a:r>
            <a:r>
              <a:rPr lang="ko-KR" altLang="ko-KR" sz="1600" dirty="0">
                <a:latin typeface="D2Coding" panose="020B0609020101020101" pitchFamily="49" charset="-127"/>
                <a:ea typeface="D2Coding" panose="020B0609020101020101" pitchFamily="49" charset="-127"/>
              </a:rPr>
              <a:t>)은 파이썬 컴파일러가 생성한 바이트코드(.</a:t>
            </a:r>
            <a:r>
              <a:rPr lang="ko-KR" altLang="ko-KR" sz="1600" dirty="0" err="1">
                <a:latin typeface="D2Coding" panose="020B0609020101020101" pitchFamily="49" charset="-127"/>
                <a:ea typeface="D2Coding" panose="020B0609020101020101" pitchFamily="49" charset="-127"/>
              </a:rPr>
              <a:t>pyc</a:t>
            </a:r>
            <a:r>
              <a:rPr lang="ko-KR" altLang="ko-KR" sz="1600" dirty="0">
                <a:latin typeface="D2Coding" panose="020B0609020101020101" pitchFamily="49" charset="-127"/>
                <a:ea typeface="D2Coding" panose="020B0609020101020101" pitchFamily="49" charset="-127"/>
              </a:rPr>
              <a:t>)</a:t>
            </a:r>
            <a:r>
              <a:rPr lang="ko-KR" altLang="ko-KR" sz="1600" dirty="0" err="1">
                <a:latin typeface="D2Coding" panose="020B0609020101020101" pitchFamily="49" charset="-127"/>
                <a:ea typeface="D2Coding" panose="020B0609020101020101" pitchFamily="49" charset="-127"/>
              </a:rPr>
              <a:t>를</a:t>
            </a:r>
            <a:r>
              <a:rPr lang="ko-KR" altLang="ko-KR" sz="1600" dirty="0">
                <a:latin typeface="D2Coding" panose="020B0609020101020101" pitchFamily="49" charset="-127"/>
                <a:ea typeface="D2Coding" panose="020B0609020101020101" pitchFamily="49" charset="-127"/>
              </a:rPr>
              <a:t> 읽어 실제 컴퓨터(OS/CPU)가 이해할 수 있는 기계어로 해석 및 실행하는 가상 엔진</a:t>
            </a:r>
            <a:endParaRPr lang="ko-KR" altLang="en-US" sz="1600" dirty="0">
              <a:latin typeface="D2Coding" panose="020B0609020101020101" pitchFamily="49" charset="-127"/>
              <a:ea typeface="D2Coding" panose="020B0609020101020101" pitchFamily="49" charset="-127"/>
            </a:endParaRPr>
          </a:p>
        </p:txBody>
      </p:sp>
      <p:sp>
        <p:nvSpPr>
          <p:cNvPr id="51" name="슬라이드 번호 개체 틀 3">
            <a:extLst>
              <a:ext uri="{FF2B5EF4-FFF2-40B4-BE49-F238E27FC236}">
                <a16:creationId xmlns:a16="http://schemas.microsoft.com/office/drawing/2014/main" id="{87C1567E-DBDB-E8CB-99FE-1A85DDD10F71}"/>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7</a:t>
            </a:fld>
            <a:endParaRPr lang="en-US" b="1" dirty="0">
              <a:latin typeface="Segoe UI Emoji" panose="020B0502040204020203" pitchFamily="34" charset="0"/>
              <a:ea typeface="Segoe UI Emoji" panose="020B0502040204020203" pitchFamily="34" charset="0"/>
            </a:endParaRPr>
          </a:p>
        </p:txBody>
      </p:sp>
    </p:spTree>
    <p:extLst>
      <p:ext uri="{BB962C8B-B14F-4D97-AF65-F5344CB8AC3E}">
        <p14:creationId xmlns:p14="http://schemas.microsoft.com/office/powerpoint/2010/main" val="41860352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0ECF2-312A-DEF6-0EFA-8EFA7D38CB2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0441BE8-11B6-BF6B-EFBB-6760E81AAC7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빌드</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(Build)</a:t>
            </a:r>
          </a:p>
        </p:txBody>
      </p:sp>
      <p:sp>
        <p:nvSpPr>
          <p:cNvPr id="4" name="Text 1">
            <a:extLst>
              <a:ext uri="{FF2B5EF4-FFF2-40B4-BE49-F238E27FC236}">
                <a16:creationId xmlns:a16="http://schemas.microsoft.com/office/drawing/2014/main" id="{60B4F16F-4859-063F-9F23-E744C52C544C}"/>
              </a:ext>
            </a:extLst>
          </p:cNvPr>
          <p:cNvSpPr>
            <a:spLocks noGrp="1" noRot="1" noMove="1" noResize="1" noEditPoints="1" noAdjustHandles="1" noChangeArrowheads="1" noChangeShapeType="1"/>
          </p:cNvSpPr>
          <p:nvPr/>
        </p:nvSpPr>
        <p:spPr>
          <a:xfrm>
            <a:off x="592513" y="1291476"/>
            <a:ext cx="11036070" cy="667280"/>
          </a:xfrm>
          <a:prstGeom prst="rect">
            <a:avLst/>
          </a:prstGeom>
          <a:noFill/>
          <a:ln/>
        </p:spPr>
        <p:txBody>
          <a:bodyPr wrap="square" lIns="0" tIns="0" rIns="0" bIns="0" rtlCol="0" anchor="ctr"/>
          <a:lstStyle/>
          <a:p>
            <a:pPr>
              <a:lnSpc>
                <a:spcPct val="150000"/>
              </a:lnSpc>
            </a:pPr>
            <a:r>
              <a:rPr lang="ko-KR" altLang="en-US" sz="1600" dirty="0">
                <a:latin typeface="D2Coding" panose="020B0609020101020101" pitchFamily="49" charset="-127"/>
                <a:ea typeface="D2Coding" panose="020B0609020101020101" pitchFamily="49" charset="-127"/>
              </a:rPr>
              <a:t>빌드</a:t>
            </a:r>
            <a:r>
              <a:rPr lang="en-US" altLang="ko-KR" sz="1600" dirty="0">
                <a:latin typeface="D2Coding" panose="020B0609020101020101" pitchFamily="49" charset="-127"/>
                <a:ea typeface="D2Coding" panose="020B0609020101020101" pitchFamily="49" charset="-127"/>
              </a:rPr>
              <a:t>(Build)</a:t>
            </a:r>
            <a:r>
              <a:rPr lang="ko-KR" altLang="en-US" sz="1600" dirty="0">
                <a:latin typeface="D2Coding" panose="020B0609020101020101" pitchFamily="49" charset="-127"/>
                <a:ea typeface="D2Coding" panose="020B0609020101020101" pitchFamily="49" charset="-127"/>
              </a:rPr>
              <a:t>란 </a:t>
            </a:r>
            <a:r>
              <a:rPr lang="ko-KR" altLang="ko-KR" sz="1600" dirty="0" err="1">
                <a:latin typeface="D2Coding" panose="020B0609020101020101" pitchFamily="49" charset="-127"/>
                <a:ea typeface="D2Coding" panose="020B0609020101020101" pitchFamily="49" charset="-127"/>
              </a:rPr>
              <a:t>스코드를</a:t>
            </a:r>
            <a:r>
              <a:rPr lang="ko-KR" altLang="ko-KR" sz="1600" dirty="0">
                <a:latin typeface="D2Coding" panose="020B0609020101020101" pitchFamily="49" charset="-127"/>
                <a:ea typeface="D2Coding" panose="020B0609020101020101" pitchFamily="49" charset="-127"/>
              </a:rPr>
              <a:t> </a:t>
            </a:r>
            <a:r>
              <a:rPr lang="ko-KR" altLang="ko-KR" sz="1600" dirty="0" err="1">
                <a:latin typeface="D2Coding" panose="020B0609020101020101" pitchFamily="49" charset="-127"/>
                <a:ea typeface="D2Coding" panose="020B0609020101020101" pitchFamily="49" charset="-127"/>
              </a:rPr>
              <a:t>실행·배포</a:t>
            </a:r>
            <a:r>
              <a:rPr lang="ko-KR" altLang="ko-KR" sz="1600" dirty="0">
                <a:latin typeface="D2Coding" panose="020B0609020101020101" pitchFamily="49" charset="-127"/>
                <a:ea typeface="D2Coding" panose="020B0609020101020101" pitchFamily="49" charset="-127"/>
              </a:rPr>
              <a:t> 가능한 형태의 결과물(</a:t>
            </a:r>
            <a:r>
              <a:rPr lang="ko-KR" altLang="ko-KR" sz="1600" dirty="0" err="1">
                <a:latin typeface="D2Coding" panose="020B0609020101020101" pitchFamily="49" charset="-127"/>
                <a:ea typeface="D2Coding" panose="020B0609020101020101" pitchFamily="49" charset="-127"/>
              </a:rPr>
              <a:t>Artifact</a:t>
            </a:r>
            <a:r>
              <a:rPr lang="ko-KR" altLang="ko-KR" sz="1600" dirty="0">
                <a:latin typeface="D2Coding" panose="020B0609020101020101" pitchFamily="49" charset="-127"/>
                <a:ea typeface="D2Coding" panose="020B0609020101020101" pitchFamily="49" charset="-127"/>
              </a:rPr>
              <a:t>)로 만드는 </a:t>
            </a:r>
            <a:r>
              <a:rPr lang="ko-KR" altLang="en-US" sz="1600" dirty="0">
                <a:latin typeface="D2Coding" panose="020B0609020101020101" pitchFamily="49" charset="-127"/>
                <a:ea typeface="D2Coding" panose="020B0609020101020101" pitchFamily="49" charset="-127"/>
              </a:rPr>
              <a:t>과정으로 </a:t>
            </a:r>
            <a:r>
              <a:rPr lang="ko-KR" altLang="ko-KR" sz="1600" dirty="0">
                <a:latin typeface="D2Coding" panose="020B0609020101020101" pitchFamily="49" charset="-127"/>
                <a:ea typeface="D2Coding" panose="020B0609020101020101" pitchFamily="49" charset="-127"/>
              </a:rPr>
              <a:t>단순히 "</a:t>
            </a:r>
            <a:r>
              <a:rPr lang="ko-KR" altLang="ko-KR" sz="1600" dirty="0" err="1">
                <a:latin typeface="D2Coding" panose="020B0609020101020101" pitchFamily="49" charset="-127"/>
                <a:ea typeface="D2Coding" panose="020B0609020101020101" pitchFamily="49" charset="-127"/>
              </a:rPr>
              <a:t>컴파일＂</a:t>
            </a:r>
            <a:r>
              <a:rPr lang="ko-KR" altLang="en-US" sz="1600" dirty="0" err="1">
                <a:latin typeface="D2Coding" panose="020B0609020101020101" pitchFamily="49" charset="-127"/>
                <a:ea typeface="D2Coding" panose="020B0609020101020101" pitchFamily="49" charset="-127"/>
              </a:rPr>
              <a:t>만</a:t>
            </a:r>
            <a:r>
              <a:rPr lang="ko-KR" altLang="en-US" sz="1600" dirty="0">
                <a:latin typeface="D2Coding" panose="020B0609020101020101" pitchFamily="49" charset="-127"/>
                <a:ea typeface="D2Coding" panose="020B0609020101020101" pitchFamily="49" charset="-127"/>
              </a:rPr>
              <a:t> </a:t>
            </a:r>
            <a:r>
              <a:rPr lang="ko-KR" altLang="ko-KR" sz="1600" dirty="0">
                <a:latin typeface="D2Coding" panose="020B0609020101020101" pitchFamily="49" charset="-127"/>
                <a:ea typeface="D2Coding" panose="020B0609020101020101" pitchFamily="49" charset="-127"/>
              </a:rPr>
              <a:t>하는 것이 아니</a:t>
            </a:r>
            <a:r>
              <a:rPr lang="ko-KR" altLang="en-US" sz="1600" dirty="0">
                <a:latin typeface="D2Coding" panose="020B0609020101020101" pitchFamily="49" charset="-127"/>
                <a:ea typeface="D2Coding" panose="020B0609020101020101" pitchFamily="49" charset="-127"/>
              </a:rPr>
              <a:t>라 </a:t>
            </a:r>
            <a:r>
              <a:rPr lang="ko-KR" altLang="ko-KR" sz="1600" dirty="0">
                <a:latin typeface="D2Coding" panose="020B0609020101020101" pitchFamily="49" charset="-127"/>
                <a:ea typeface="D2Coding" panose="020B0609020101020101" pitchFamily="49" charset="-127"/>
              </a:rPr>
              <a:t>컴파일 + 의존성 처리 + 테스트 + 패키징 등을 포함하는 전체 과정</a:t>
            </a:r>
            <a:endParaRPr lang="en-US" sz="1600" dirty="0">
              <a:latin typeface="D2Coding" panose="020B0609020101020101" pitchFamily="49" charset="-127"/>
              <a:ea typeface="D2Coding" panose="020B0609020101020101" pitchFamily="49" charset="-127"/>
            </a:endParaRPr>
          </a:p>
        </p:txBody>
      </p:sp>
      <p:sp>
        <p:nvSpPr>
          <p:cNvPr id="7" name="TextBox 6">
            <a:extLst>
              <a:ext uri="{FF2B5EF4-FFF2-40B4-BE49-F238E27FC236}">
                <a16:creationId xmlns:a16="http://schemas.microsoft.com/office/drawing/2014/main" id="{63B05243-991A-F485-E7FA-84CDE5AAD5D2}"/>
              </a:ext>
            </a:extLst>
          </p:cNvPr>
          <p:cNvSpPr txBox="1"/>
          <p:nvPr/>
        </p:nvSpPr>
        <p:spPr>
          <a:xfrm>
            <a:off x="2392218" y="2471156"/>
            <a:ext cx="3629891" cy="2585323"/>
          </a:xfrm>
          <a:prstGeom prst="rect">
            <a:avLst/>
          </a:prstGeom>
          <a:noFill/>
          <a:ln>
            <a:solidFill>
              <a:srgbClr val="404040"/>
            </a:solidFill>
          </a:ln>
        </p:spPr>
        <p:txBody>
          <a:bodyPr wrap="square">
            <a:spAutoFit/>
          </a:bodyPr>
          <a:lstStyle/>
          <a:p>
            <a:pPr algn="ctr"/>
            <a:r>
              <a:rPr lang="ko-KR" altLang="en-US" dirty="0" err="1">
                <a:latin typeface="D2Coding" panose="020B0609020101020101" pitchFamily="49" charset="-127"/>
                <a:ea typeface="D2Coding" panose="020B0609020101020101" pitchFamily="49" charset="-127"/>
              </a:rPr>
              <a:t>Source</a:t>
            </a:r>
            <a:r>
              <a:rPr lang="ko-KR" altLang="en-US" dirty="0">
                <a:latin typeface="D2Coding" panose="020B0609020101020101" pitchFamily="49" charset="-127"/>
                <a:ea typeface="D2Coding" panose="020B0609020101020101" pitchFamily="49" charset="-127"/>
              </a:rPr>
              <a:t> </a:t>
            </a:r>
            <a:r>
              <a:rPr lang="ko-KR" altLang="en-US" dirty="0" err="1">
                <a:latin typeface="D2Coding" panose="020B0609020101020101" pitchFamily="49" charset="-127"/>
                <a:ea typeface="D2Coding" panose="020B0609020101020101" pitchFamily="49" charset="-127"/>
              </a:rPr>
              <a:t>Code</a:t>
            </a:r>
            <a:endParaRPr lang="ko-KR" altLang="en-US" dirty="0">
              <a:latin typeface="D2Coding" panose="020B0609020101020101" pitchFamily="49" charset="-127"/>
              <a:ea typeface="D2Coding" panose="020B0609020101020101" pitchFamily="49" charset="-127"/>
            </a:endParaRPr>
          </a:p>
          <a:p>
            <a:pPr algn="ctr"/>
            <a:r>
              <a:rPr lang="ko-KR" altLang="en-US" dirty="0">
                <a:latin typeface="D2Coding" panose="020B0609020101020101" pitchFamily="49" charset="-127"/>
                <a:ea typeface="D2Coding" panose="020B0609020101020101" pitchFamily="49" charset="-127"/>
              </a:rPr>
              <a:t>↓</a:t>
            </a:r>
          </a:p>
          <a:p>
            <a:pPr algn="ctr"/>
            <a:r>
              <a:rPr lang="ko-KR" altLang="en-US" dirty="0" err="1">
                <a:latin typeface="D2Coding" panose="020B0609020101020101" pitchFamily="49" charset="-127"/>
                <a:ea typeface="D2Coding" panose="020B0609020101020101" pitchFamily="49" charset="-127"/>
              </a:rPr>
              <a:t>Compile</a:t>
            </a:r>
            <a:endParaRPr lang="ko-KR" altLang="en-US" dirty="0">
              <a:latin typeface="D2Coding" panose="020B0609020101020101" pitchFamily="49" charset="-127"/>
              <a:ea typeface="D2Coding" panose="020B0609020101020101" pitchFamily="49" charset="-127"/>
            </a:endParaRPr>
          </a:p>
          <a:p>
            <a:pPr algn="ctr"/>
            <a:r>
              <a:rPr lang="ko-KR" altLang="en-US" dirty="0">
                <a:latin typeface="D2Coding" panose="020B0609020101020101" pitchFamily="49" charset="-127"/>
                <a:ea typeface="D2Coding" panose="020B0609020101020101" pitchFamily="49" charset="-127"/>
              </a:rPr>
              <a:t>↓</a:t>
            </a:r>
          </a:p>
          <a:p>
            <a:pPr algn="ctr"/>
            <a:r>
              <a:rPr lang="ko-KR" altLang="en-US" dirty="0" err="1">
                <a:latin typeface="D2Coding" panose="020B0609020101020101" pitchFamily="49" charset="-127"/>
                <a:ea typeface="D2Coding" panose="020B0609020101020101" pitchFamily="49" charset="-127"/>
              </a:rPr>
              <a:t>Test</a:t>
            </a:r>
            <a:endParaRPr lang="ko-KR" altLang="en-US" dirty="0">
              <a:latin typeface="D2Coding" panose="020B0609020101020101" pitchFamily="49" charset="-127"/>
              <a:ea typeface="D2Coding" panose="020B0609020101020101" pitchFamily="49" charset="-127"/>
            </a:endParaRPr>
          </a:p>
          <a:p>
            <a:pPr algn="ctr"/>
            <a:r>
              <a:rPr lang="ko-KR" altLang="en-US" dirty="0">
                <a:latin typeface="D2Coding" panose="020B0609020101020101" pitchFamily="49" charset="-127"/>
                <a:ea typeface="D2Coding" panose="020B0609020101020101" pitchFamily="49" charset="-127"/>
              </a:rPr>
              <a:t>↓</a:t>
            </a:r>
          </a:p>
          <a:p>
            <a:pPr algn="ctr"/>
            <a:r>
              <a:rPr lang="ko-KR" altLang="en-US" dirty="0" err="1">
                <a:latin typeface="D2Coding" panose="020B0609020101020101" pitchFamily="49" charset="-127"/>
                <a:ea typeface="D2Coding" panose="020B0609020101020101" pitchFamily="49" charset="-127"/>
              </a:rPr>
              <a:t>Package</a:t>
            </a:r>
            <a:endParaRPr lang="ko-KR" altLang="en-US" dirty="0">
              <a:latin typeface="D2Coding" panose="020B0609020101020101" pitchFamily="49" charset="-127"/>
              <a:ea typeface="D2Coding" panose="020B0609020101020101" pitchFamily="49" charset="-127"/>
            </a:endParaRPr>
          </a:p>
          <a:p>
            <a:pPr algn="ctr"/>
            <a:r>
              <a:rPr lang="ko-KR" altLang="en-US" dirty="0">
                <a:latin typeface="D2Coding" panose="020B0609020101020101" pitchFamily="49" charset="-127"/>
                <a:ea typeface="D2Coding" panose="020B0609020101020101" pitchFamily="49" charset="-127"/>
              </a:rPr>
              <a:t>↓</a:t>
            </a:r>
          </a:p>
          <a:p>
            <a:pPr algn="ctr"/>
            <a:r>
              <a:rPr lang="ko-KR" altLang="en-US" dirty="0" err="1">
                <a:latin typeface="D2Coding" panose="020B0609020101020101" pitchFamily="49" charset="-127"/>
                <a:ea typeface="D2Coding" panose="020B0609020101020101" pitchFamily="49" charset="-127"/>
              </a:rPr>
              <a:t>Executable</a:t>
            </a:r>
            <a:r>
              <a:rPr lang="ko-KR" altLang="en-US" dirty="0">
                <a:latin typeface="D2Coding" panose="020B0609020101020101" pitchFamily="49" charset="-127"/>
                <a:ea typeface="D2Coding" panose="020B0609020101020101" pitchFamily="49" charset="-127"/>
              </a:rPr>
              <a:t> / </a:t>
            </a:r>
            <a:r>
              <a:rPr lang="ko-KR" altLang="en-US" dirty="0" err="1">
                <a:latin typeface="D2Coding" panose="020B0609020101020101" pitchFamily="49" charset="-127"/>
                <a:ea typeface="D2Coding" panose="020B0609020101020101" pitchFamily="49" charset="-127"/>
              </a:rPr>
              <a:t>Artifact</a:t>
            </a:r>
            <a:endParaRPr lang="ko-KR" altLang="en-US" dirty="0">
              <a:latin typeface="D2Coding" panose="020B0609020101020101" pitchFamily="49" charset="-127"/>
              <a:ea typeface="D2Coding" panose="020B0609020101020101" pitchFamily="49" charset="-127"/>
            </a:endParaRPr>
          </a:p>
        </p:txBody>
      </p:sp>
      <p:sp>
        <p:nvSpPr>
          <p:cNvPr id="34" name="TextBox 33">
            <a:extLst>
              <a:ext uri="{FF2B5EF4-FFF2-40B4-BE49-F238E27FC236}">
                <a16:creationId xmlns:a16="http://schemas.microsoft.com/office/drawing/2014/main" id="{23F19711-2259-1CAA-7183-F1B07A1FB54C}"/>
              </a:ext>
            </a:extLst>
          </p:cNvPr>
          <p:cNvSpPr txBox="1"/>
          <p:nvPr/>
        </p:nvSpPr>
        <p:spPr>
          <a:xfrm>
            <a:off x="6419273" y="2471156"/>
            <a:ext cx="3352800" cy="2533322"/>
          </a:xfrm>
          <a:prstGeom prst="rect">
            <a:avLst/>
          </a:prstGeom>
          <a:noFill/>
          <a:ln>
            <a:solidFill>
              <a:schemeClr val="tx1"/>
            </a:solidFill>
            <a:prstDash val="dash"/>
          </a:ln>
        </p:spPr>
        <p:txBody>
          <a:bodyPr wrap="square">
            <a:spAutoFit/>
          </a:bodyPr>
          <a:lstStyle/>
          <a:p>
            <a:pPr marL="342900" lvl="0" indent="-342900">
              <a:lnSpc>
                <a:spcPct val="150000"/>
              </a:lnSpc>
              <a:buFont typeface="Arial" panose="020B0604020202020204" pitchFamily="34" charset="0"/>
              <a:buChar char="•"/>
            </a:pPr>
            <a:r>
              <a:rPr lang="ko-KR" altLang="ko-KR" dirty="0">
                <a:latin typeface="D2Coding" panose="020B0609020101020101" pitchFamily="49" charset="-127"/>
                <a:ea typeface="D2Coding" panose="020B0609020101020101" pitchFamily="49" charset="-127"/>
              </a:rPr>
              <a:t>소스코드 컴파일 </a:t>
            </a:r>
          </a:p>
          <a:p>
            <a:pPr marL="342900" lvl="0" indent="-342900">
              <a:lnSpc>
                <a:spcPct val="150000"/>
              </a:lnSpc>
              <a:buFont typeface="Arial" panose="020B0604020202020204" pitchFamily="34" charset="0"/>
              <a:buChar char="•"/>
            </a:pPr>
            <a:r>
              <a:rPr lang="ko-KR" altLang="ko-KR" dirty="0">
                <a:latin typeface="D2Coding" panose="020B0609020101020101" pitchFamily="49" charset="-127"/>
                <a:ea typeface="D2Coding" panose="020B0609020101020101" pitchFamily="49" charset="-127"/>
              </a:rPr>
              <a:t>라이브러리 의존성 확인 </a:t>
            </a:r>
          </a:p>
          <a:p>
            <a:pPr marL="342900" lvl="0" indent="-342900">
              <a:lnSpc>
                <a:spcPct val="150000"/>
              </a:lnSpc>
              <a:buFont typeface="Arial" panose="020B0604020202020204" pitchFamily="34" charset="0"/>
              <a:buChar char="•"/>
            </a:pPr>
            <a:r>
              <a:rPr lang="ko-KR" altLang="ko-KR" dirty="0">
                <a:latin typeface="D2Coding" panose="020B0609020101020101" pitchFamily="49" charset="-127"/>
                <a:ea typeface="D2Coding" panose="020B0609020101020101" pitchFamily="49" charset="-127"/>
              </a:rPr>
              <a:t>테스트 실행 </a:t>
            </a:r>
          </a:p>
          <a:p>
            <a:pPr marL="342900" lvl="0" indent="-342900">
              <a:lnSpc>
                <a:spcPct val="150000"/>
              </a:lnSpc>
              <a:buFont typeface="Arial" panose="020B0604020202020204" pitchFamily="34" charset="0"/>
              <a:buChar char="•"/>
            </a:pPr>
            <a:r>
              <a:rPr lang="ko-KR" altLang="ko-KR" dirty="0">
                <a:latin typeface="D2Coding" panose="020B0609020101020101" pitchFamily="49" charset="-127"/>
                <a:ea typeface="D2Coding" panose="020B0609020101020101" pitchFamily="49" charset="-127"/>
              </a:rPr>
              <a:t>오류 검사 </a:t>
            </a:r>
          </a:p>
          <a:p>
            <a:pPr marL="342900" lvl="0" indent="-342900">
              <a:lnSpc>
                <a:spcPct val="150000"/>
              </a:lnSpc>
              <a:buFont typeface="Arial" panose="020B0604020202020204" pitchFamily="34" charset="0"/>
              <a:buChar char="•"/>
            </a:pPr>
            <a:r>
              <a:rPr lang="ko-KR" altLang="ko-KR" dirty="0">
                <a:latin typeface="D2Coding" panose="020B0609020101020101" pitchFamily="49" charset="-127"/>
                <a:ea typeface="D2Coding" panose="020B0609020101020101" pitchFamily="49" charset="-127"/>
              </a:rPr>
              <a:t>패키징 </a:t>
            </a:r>
          </a:p>
          <a:p>
            <a:pPr marL="342900" lvl="0" indent="-342900">
              <a:lnSpc>
                <a:spcPct val="150000"/>
              </a:lnSpc>
              <a:buFont typeface="Arial" panose="020B0604020202020204" pitchFamily="34" charset="0"/>
              <a:buChar char="•"/>
            </a:pPr>
            <a:r>
              <a:rPr lang="ko-KR" altLang="ko-KR" dirty="0">
                <a:latin typeface="D2Coding" panose="020B0609020101020101" pitchFamily="49" charset="-127"/>
                <a:ea typeface="D2Coding" panose="020B0609020101020101" pitchFamily="49" charset="-127"/>
              </a:rPr>
              <a:t>실행 파일 생성</a:t>
            </a:r>
          </a:p>
        </p:txBody>
      </p:sp>
      <p:sp>
        <p:nvSpPr>
          <p:cNvPr id="36" name="TextBox 35">
            <a:extLst>
              <a:ext uri="{FF2B5EF4-FFF2-40B4-BE49-F238E27FC236}">
                <a16:creationId xmlns:a16="http://schemas.microsoft.com/office/drawing/2014/main" id="{B1C43F18-53C4-F096-DE56-DD30AA85AA32}"/>
              </a:ext>
            </a:extLst>
          </p:cNvPr>
          <p:cNvSpPr txBox="1"/>
          <p:nvPr/>
        </p:nvSpPr>
        <p:spPr>
          <a:xfrm>
            <a:off x="2392218" y="5347209"/>
            <a:ext cx="6096000" cy="1028808"/>
          </a:xfrm>
          <a:prstGeom prst="rect">
            <a:avLst/>
          </a:prstGeom>
          <a:noFill/>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C/C++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소스 → 기계어 → 실행</a:t>
            </a:r>
          </a:p>
          <a:p>
            <a:pPr marL="285750" indent="-285750">
              <a:lnSpc>
                <a:spcPct val="150000"/>
              </a:lnSpc>
              <a:buFont typeface="Wingdings" panose="05000000000000000000" pitchFamily="2" charset="2"/>
              <a:buChar char="v"/>
            </a:pPr>
            <a:r>
              <a:rPr lang="ko-KR" altLang="en-US" sz="1400" dirty="0" err="1">
                <a:latin typeface="D2Coding" panose="020B0609020101020101" pitchFamily="49" charset="-127"/>
                <a:ea typeface="D2Coding" panose="020B0609020101020101" pitchFamily="49" charset="-127"/>
              </a:rPr>
              <a:t>Java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소스 → </a:t>
            </a:r>
            <a:r>
              <a:rPr lang="ko-KR" altLang="en-US" sz="1400" dirty="0" err="1">
                <a:latin typeface="D2Coding" panose="020B0609020101020101" pitchFamily="49" charset="-127"/>
                <a:ea typeface="D2Coding" panose="020B0609020101020101" pitchFamily="49" charset="-127"/>
              </a:rPr>
              <a:t>Bytecode</a:t>
            </a:r>
            <a:r>
              <a:rPr lang="ko-KR" altLang="en-US" sz="1400" dirty="0">
                <a:latin typeface="D2Coding" panose="020B0609020101020101" pitchFamily="49" charset="-127"/>
                <a:ea typeface="D2Coding" panose="020B0609020101020101" pitchFamily="49" charset="-127"/>
              </a:rPr>
              <a:t> → JVM → 실행</a:t>
            </a:r>
          </a:p>
          <a:p>
            <a:pPr marL="285750" indent="-285750">
              <a:lnSpc>
                <a:spcPct val="150000"/>
              </a:lnSpc>
              <a:buFont typeface="Wingdings" panose="05000000000000000000" pitchFamily="2" charset="2"/>
              <a:buChar char="v"/>
            </a:pPr>
            <a:r>
              <a:rPr lang="ko-KR" altLang="en-US" sz="1400" dirty="0" err="1">
                <a:latin typeface="D2Coding" panose="020B0609020101020101" pitchFamily="49" charset="-127"/>
                <a:ea typeface="D2Coding" panose="020B0609020101020101" pitchFamily="49" charset="-127"/>
              </a:rPr>
              <a:t>Python</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소스 → </a:t>
            </a:r>
            <a:r>
              <a:rPr lang="ko-KR" altLang="en-US" sz="1400" dirty="0" err="1">
                <a:latin typeface="D2Coding" panose="020B0609020101020101" pitchFamily="49" charset="-127"/>
                <a:ea typeface="D2Coding" panose="020B0609020101020101" pitchFamily="49" charset="-127"/>
              </a:rPr>
              <a:t>Bytecode</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Python</a:t>
            </a: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Runtime</a:t>
            </a:r>
            <a:r>
              <a:rPr lang="ko-KR" altLang="en-US" sz="1400" dirty="0">
                <a:latin typeface="D2Coding" panose="020B0609020101020101" pitchFamily="49" charset="-127"/>
                <a:ea typeface="D2Coding" panose="020B0609020101020101" pitchFamily="49" charset="-127"/>
              </a:rPr>
              <a:t> → 실행</a:t>
            </a:r>
          </a:p>
        </p:txBody>
      </p:sp>
      <p:sp>
        <p:nvSpPr>
          <p:cNvPr id="38" name="슬라이드 번호 개체 틀 3">
            <a:extLst>
              <a:ext uri="{FF2B5EF4-FFF2-40B4-BE49-F238E27FC236}">
                <a16:creationId xmlns:a16="http://schemas.microsoft.com/office/drawing/2014/main" id="{55CFFBAC-1729-8DE4-79D5-028CE0E4FE91}"/>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8</a:t>
            </a:fld>
            <a:endParaRPr lang="en-US" b="1" dirty="0">
              <a:latin typeface="Segoe UI Emoji" panose="020B0502040204020203" pitchFamily="34" charset="0"/>
              <a:ea typeface="Segoe UI Emoji" panose="020B0502040204020203" pitchFamily="34" charset="0"/>
            </a:endParaRPr>
          </a:p>
        </p:txBody>
      </p:sp>
    </p:spTree>
    <p:extLst>
      <p:ext uri="{BB962C8B-B14F-4D97-AF65-F5344CB8AC3E}">
        <p14:creationId xmlns:p14="http://schemas.microsoft.com/office/powerpoint/2010/main" val="33836601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721CB-E754-43F3-D256-5B60EFCBC91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60A807A-A8B0-216C-9C3C-331C3ED8BF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프로그래밍</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언어별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실행</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및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빌드</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방식</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비교</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 1">
            <a:extLst>
              <a:ext uri="{FF2B5EF4-FFF2-40B4-BE49-F238E27FC236}">
                <a16:creationId xmlns:a16="http://schemas.microsoft.com/office/drawing/2014/main" id="{3D00312D-B33B-3684-097A-7BBB93E71102}"/>
              </a:ext>
            </a:extLst>
          </p:cNvPr>
          <p:cNvSpPr/>
          <p:nvPr/>
        </p:nvSpPr>
        <p:spPr>
          <a:xfrm>
            <a:off x="640080" y="1392555"/>
            <a:ext cx="10515600" cy="365760"/>
          </a:xfrm>
          <a:prstGeom prst="rect">
            <a:avLst/>
          </a:prstGeom>
          <a:noFill/>
          <a:ln/>
        </p:spPr>
        <p:txBody>
          <a:bodyPr wrap="square" lIns="0" tIns="0" rIns="0" bIns="0" rtlCol="0" anchor="ctr"/>
          <a:lstStyle/>
          <a:p>
            <a:pPr marL="0" indent="0">
              <a:buNone/>
            </a:pPr>
            <a:r>
              <a:rPr lang="en-US" dirty="0">
                <a:solidFill>
                  <a:srgbClr val="5B6B6E"/>
                </a:solidFill>
                <a:latin typeface="D2Coding" panose="020B0609020101020101" pitchFamily="49" charset="-127"/>
                <a:ea typeface="D2Coding" panose="020B0609020101020101" pitchFamily="49" charset="-127"/>
                <a:cs typeface="Malgun Gothic" pitchFamily="34" charset="-120"/>
              </a:rPr>
              <a:t>컴파일 언어, 중간 코드 언어, 인터프리터 </a:t>
            </a:r>
            <a:r>
              <a:rPr lang="en-US" dirty="0" err="1">
                <a:solidFill>
                  <a:srgbClr val="5B6B6E"/>
                </a:solidFill>
                <a:latin typeface="D2Coding" panose="020B0609020101020101" pitchFamily="49" charset="-127"/>
                <a:ea typeface="D2Coding" panose="020B0609020101020101" pitchFamily="49" charset="-127"/>
                <a:cs typeface="Malgun Gothic" pitchFamily="34" charset="-120"/>
              </a:rPr>
              <a:t>언어의</a:t>
            </a:r>
            <a:r>
              <a:rPr lang="en-US" dirty="0">
                <a:solidFill>
                  <a:srgbClr val="5B6B6E"/>
                </a:solidFill>
                <a:latin typeface="D2Coding" panose="020B0609020101020101" pitchFamily="49" charset="-127"/>
                <a:ea typeface="D2Coding" panose="020B0609020101020101" pitchFamily="49" charset="-127"/>
                <a:cs typeface="Malgun Gothic" pitchFamily="34" charset="-120"/>
              </a:rPr>
              <a:t> </a:t>
            </a:r>
            <a:r>
              <a:rPr lang="en-US" dirty="0" err="1">
                <a:solidFill>
                  <a:srgbClr val="5B6B6E"/>
                </a:solidFill>
                <a:latin typeface="D2Coding" panose="020B0609020101020101" pitchFamily="49" charset="-127"/>
                <a:ea typeface="D2Coding" panose="020B0609020101020101" pitchFamily="49" charset="-127"/>
                <a:cs typeface="Malgun Gothic" pitchFamily="34" charset="-120"/>
              </a:rPr>
              <a:t>차이</a:t>
            </a:r>
            <a:r>
              <a:rPr lang="en-US" dirty="0">
                <a:solidFill>
                  <a:srgbClr val="5B6B6E"/>
                </a:solidFill>
                <a:latin typeface="D2Coding" panose="020B0609020101020101" pitchFamily="49" charset="-127"/>
                <a:ea typeface="D2Coding" panose="020B0609020101020101" pitchFamily="49" charset="-127"/>
                <a:cs typeface="Malgun Gothic" pitchFamily="34" charset="-120"/>
              </a:rPr>
              <a:t>(</a:t>
            </a:r>
            <a:r>
              <a:rPr lang="ko-KR" altLang="en-US" dirty="0">
                <a:solidFill>
                  <a:srgbClr val="5B6B6E"/>
                </a:solidFill>
                <a:latin typeface="D2Coding" panose="020B0609020101020101" pitchFamily="49" charset="-127"/>
                <a:ea typeface="D2Coding" panose="020B0609020101020101" pitchFamily="49" charset="-127"/>
                <a:cs typeface="Malgun Gothic" pitchFamily="34" charset="-120"/>
              </a:rPr>
              <a:t>컴파일</a:t>
            </a:r>
            <a:r>
              <a:rPr lang="en-US" altLang="ko-KR" dirty="0">
                <a:solidFill>
                  <a:srgbClr val="5B6B6E"/>
                </a:solidFill>
                <a:latin typeface="D2Coding" panose="020B0609020101020101" pitchFamily="49" charset="-127"/>
                <a:ea typeface="D2Coding" panose="020B0609020101020101" pitchFamily="49" charset="-127"/>
                <a:cs typeface="Malgun Gothic" pitchFamily="34" charset="-120"/>
              </a:rPr>
              <a:t>, </a:t>
            </a:r>
            <a:r>
              <a:rPr lang="ko-KR" altLang="en-US" dirty="0">
                <a:solidFill>
                  <a:srgbClr val="5B6B6E"/>
                </a:solidFill>
                <a:latin typeface="D2Coding" panose="020B0609020101020101" pitchFamily="49" charset="-127"/>
                <a:ea typeface="D2Coding" panose="020B0609020101020101" pitchFamily="49" charset="-127"/>
                <a:cs typeface="Malgun Gothic" pitchFamily="34" charset="-120"/>
              </a:rPr>
              <a:t>링크</a:t>
            </a:r>
            <a:r>
              <a:rPr lang="en-US" altLang="ko-KR" dirty="0">
                <a:solidFill>
                  <a:srgbClr val="5B6B6E"/>
                </a:solidFill>
                <a:latin typeface="D2Coding" panose="020B0609020101020101" pitchFamily="49" charset="-127"/>
                <a:ea typeface="D2Coding" panose="020B0609020101020101" pitchFamily="49" charset="-127"/>
                <a:cs typeface="Malgun Gothic" pitchFamily="34" charset="-120"/>
              </a:rPr>
              <a:t>, </a:t>
            </a:r>
            <a:r>
              <a:rPr lang="ko-KR" altLang="en-US" dirty="0">
                <a:solidFill>
                  <a:srgbClr val="5B6B6E"/>
                </a:solidFill>
                <a:latin typeface="D2Coding" panose="020B0609020101020101" pitchFamily="49" charset="-127"/>
                <a:ea typeface="D2Coding" panose="020B0609020101020101" pitchFamily="49" charset="-127"/>
                <a:cs typeface="Malgun Gothic" pitchFamily="34" charset="-120"/>
              </a:rPr>
              <a:t>빌드</a:t>
            </a:r>
            <a:r>
              <a:rPr lang="en-US" altLang="ko-KR" dirty="0">
                <a:solidFill>
                  <a:srgbClr val="5B6B6E"/>
                </a:solidFill>
                <a:latin typeface="D2Coding" panose="020B0609020101020101" pitchFamily="49" charset="-127"/>
                <a:ea typeface="D2Coding" panose="020B0609020101020101" pitchFamily="49" charset="-127"/>
                <a:cs typeface="Malgun Gothic" pitchFamily="34" charset="-120"/>
              </a:rPr>
              <a:t>)</a:t>
            </a:r>
            <a:endParaRPr lang="en-US" dirty="0">
              <a:latin typeface="D2Coding" panose="020B0609020101020101" pitchFamily="49" charset="-127"/>
              <a:ea typeface="D2Coding" panose="020B0609020101020101" pitchFamily="49" charset="-127"/>
            </a:endParaRPr>
          </a:p>
        </p:txBody>
      </p:sp>
      <p:sp>
        <p:nvSpPr>
          <p:cNvPr id="5" name="Shape 2">
            <a:extLst>
              <a:ext uri="{FF2B5EF4-FFF2-40B4-BE49-F238E27FC236}">
                <a16:creationId xmlns:a16="http://schemas.microsoft.com/office/drawing/2014/main" id="{893D5724-49D8-01B6-A4F0-02C485941B8F}"/>
              </a:ext>
            </a:extLst>
          </p:cNvPr>
          <p:cNvSpPr/>
          <p:nvPr/>
        </p:nvSpPr>
        <p:spPr>
          <a:xfrm>
            <a:off x="640080" y="2032635"/>
            <a:ext cx="3520440" cy="4434840"/>
          </a:xfrm>
          <a:prstGeom prst="roundRect">
            <a:avLst>
              <a:gd name="adj" fmla="val 2597"/>
            </a:avLst>
          </a:prstGeom>
          <a:solidFill>
            <a:srgbClr val="F7FAFA"/>
          </a:solidFill>
          <a:ln/>
          <a:effectLst>
            <a:outerShdw blurRad="63500" dist="25400" dir="5400000" algn="bl" rotWithShape="0">
              <a:srgbClr val="8A9A9A">
                <a:alpha val="20000"/>
              </a:srgbClr>
            </a:outerShdw>
          </a:effectLst>
        </p:spPr>
        <p:txBody>
          <a:bodyPr/>
          <a:lstStyle/>
          <a:p>
            <a:endParaRPr lang="ko-KR" altLang="en-US"/>
          </a:p>
        </p:txBody>
      </p:sp>
      <p:sp>
        <p:nvSpPr>
          <p:cNvPr id="6" name="Shape 3">
            <a:extLst>
              <a:ext uri="{FF2B5EF4-FFF2-40B4-BE49-F238E27FC236}">
                <a16:creationId xmlns:a16="http://schemas.microsoft.com/office/drawing/2014/main" id="{B6F36E42-F0EF-0858-ED7F-F4C1C7CBA6EE}"/>
              </a:ext>
            </a:extLst>
          </p:cNvPr>
          <p:cNvSpPr/>
          <p:nvPr/>
        </p:nvSpPr>
        <p:spPr>
          <a:xfrm>
            <a:off x="640080" y="2032635"/>
            <a:ext cx="3520440" cy="594360"/>
          </a:xfrm>
          <a:prstGeom prst="rect">
            <a:avLst/>
          </a:prstGeom>
          <a:solidFill>
            <a:srgbClr val="028090"/>
          </a:solidFill>
          <a:ln/>
        </p:spPr>
        <p:txBody>
          <a:bodyPr/>
          <a:lstStyle/>
          <a:p>
            <a:endParaRPr lang="ko-KR" altLang="en-US"/>
          </a:p>
        </p:txBody>
      </p:sp>
      <p:sp>
        <p:nvSpPr>
          <p:cNvPr id="8" name="Text 4">
            <a:extLst>
              <a:ext uri="{FF2B5EF4-FFF2-40B4-BE49-F238E27FC236}">
                <a16:creationId xmlns:a16="http://schemas.microsoft.com/office/drawing/2014/main" id="{987D0A4E-F87F-72C7-B10C-2288D6BB9DEE}"/>
              </a:ext>
            </a:extLst>
          </p:cNvPr>
          <p:cNvSpPr/>
          <p:nvPr/>
        </p:nvSpPr>
        <p:spPr>
          <a:xfrm>
            <a:off x="822960" y="2032635"/>
            <a:ext cx="3154680" cy="594360"/>
          </a:xfrm>
          <a:prstGeom prst="rect">
            <a:avLst/>
          </a:prstGeom>
          <a:noFill/>
          <a:ln/>
        </p:spPr>
        <p:txBody>
          <a:bodyPr wrap="square" lIns="0" tIns="0" rIns="0" bIns="0" rtlCol="0" anchor="ctr"/>
          <a:lstStyle/>
          <a:p>
            <a:pPr marL="0" indent="0">
              <a:buNone/>
            </a:pPr>
            <a:r>
              <a:rPr lang="en-US" sz="1700" b="1" dirty="0">
                <a:solidFill>
                  <a:srgbClr val="FFFFFF"/>
                </a:solidFill>
                <a:latin typeface="D2Coding" panose="020B0609020101020101" pitchFamily="49" charset="-127"/>
                <a:ea typeface="D2Coding" panose="020B0609020101020101" pitchFamily="49" charset="-127"/>
                <a:cs typeface="Malgun Gothic" pitchFamily="34" charset="-120"/>
              </a:rPr>
              <a:t>C / C++</a:t>
            </a:r>
            <a:endParaRPr lang="en-US" sz="1700" dirty="0">
              <a:latin typeface="D2Coding" panose="020B0609020101020101" pitchFamily="49" charset="-127"/>
              <a:ea typeface="D2Coding" panose="020B0609020101020101" pitchFamily="49" charset="-127"/>
            </a:endParaRPr>
          </a:p>
        </p:txBody>
      </p:sp>
      <p:sp>
        <p:nvSpPr>
          <p:cNvPr id="9" name="Text 5">
            <a:extLst>
              <a:ext uri="{FF2B5EF4-FFF2-40B4-BE49-F238E27FC236}">
                <a16:creationId xmlns:a16="http://schemas.microsoft.com/office/drawing/2014/main" id="{4AC9A893-8A38-BDDD-EBA8-1CC6AA4486FA}"/>
              </a:ext>
            </a:extLst>
          </p:cNvPr>
          <p:cNvSpPr/>
          <p:nvPr/>
        </p:nvSpPr>
        <p:spPr>
          <a:xfrm>
            <a:off x="822960" y="2764155"/>
            <a:ext cx="3154680" cy="320040"/>
          </a:xfrm>
          <a:prstGeom prst="rect">
            <a:avLst/>
          </a:prstGeom>
          <a:noFill/>
          <a:ln/>
        </p:spPr>
        <p:txBody>
          <a:bodyPr wrap="square" lIns="0" tIns="0" rIns="0" bIns="0" rtlCol="0" anchor="ctr"/>
          <a:lstStyle/>
          <a:p>
            <a:pPr marL="0" indent="0">
              <a:buNone/>
            </a:pPr>
            <a:r>
              <a:rPr lang="en-US" sz="1600" b="1" dirty="0">
                <a:solidFill>
                  <a:srgbClr val="028090"/>
                </a:solidFill>
                <a:latin typeface="D2Coding" panose="020B0609020101020101" pitchFamily="49" charset="-127"/>
                <a:ea typeface="D2Coding" panose="020B0609020101020101" pitchFamily="49" charset="-127"/>
                <a:cs typeface="Malgun Gothic" pitchFamily="34" charset="-120"/>
              </a:rPr>
              <a:t>컴파일 언어</a:t>
            </a:r>
            <a:endParaRPr lang="en-US" sz="1600" dirty="0">
              <a:latin typeface="D2Coding" panose="020B0609020101020101" pitchFamily="49" charset="-127"/>
              <a:ea typeface="D2Coding" panose="020B0609020101020101" pitchFamily="49" charset="-127"/>
            </a:endParaRPr>
          </a:p>
        </p:txBody>
      </p:sp>
      <p:sp>
        <p:nvSpPr>
          <p:cNvPr id="10" name="Text 6">
            <a:extLst>
              <a:ext uri="{FF2B5EF4-FFF2-40B4-BE49-F238E27FC236}">
                <a16:creationId xmlns:a16="http://schemas.microsoft.com/office/drawing/2014/main" id="{4B1D0AFF-8608-361E-A562-A62370C0F108}"/>
              </a:ext>
            </a:extLst>
          </p:cNvPr>
          <p:cNvSpPr/>
          <p:nvPr/>
        </p:nvSpPr>
        <p:spPr>
          <a:xfrm>
            <a:off x="822960" y="3175635"/>
            <a:ext cx="3154680" cy="274320"/>
          </a:xfrm>
          <a:prstGeom prst="rect">
            <a:avLst/>
          </a:prstGeom>
          <a:noFill/>
          <a:ln/>
        </p:spPr>
        <p:txBody>
          <a:bodyPr wrap="square" lIns="0" tIns="0" rIns="0" bIns="0" rtlCol="0" anchor="ctr"/>
          <a:lstStyle/>
          <a:p>
            <a:pPr marL="0" indent="0">
              <a:buNone/>
            </a:pPr>
            <a:r>
              <a:rPr lang="en-US" sz="1400" b="1" dirty="0">
                <a:solidFill>
                  <a:srgbClr val="1B2A2E"/>
                </a:solidFill>
                <a:latin typeface="D2Coding" panose="020B0609020101020101" pitchFamily="49" charset="-127"/>
                <a:ea typeface="D2Coding" panose="020B0609020101020101" pitchFamily="49" charset="-127"/>
                <a:cs typeface="Malgun Gothic" pitchFamily="34" charset="-120"/>
              </a:rPr>
              <a:t>실행 흐름</a:t>
            </a:r>
            <a:endParaRPr lang="en-US" sz="1400" dirty="0">
              <a:latin typeface="D2Coding" panose="020B0609020101020101" pitchFamily="49" charset="-127"/>
              <a:ea typeface="D2Coding" panose="020B0609020101020101" pitchFamily="49" charset="-127"/>
            </a:endParaRPr>
          </a:p>
        </p:txBody>
      </p:sp>
      <p:sp>
        <p:nvSpPr>
          <p:cNvPr id="11" name="Text 7">
            <a:extLst>
              <a:ext uri="{FF2B5EF4-FFF2-40B4-BE49-F238E27FC236}">
                <a16:creationId xmlns:a16="http://schemas.microsoft.com/office/drawing/2014/main" id="{79D13E08-D79A-A0A6-50F9-16317CE5FEF1}"/>
              </a:ext>
            </a:extLst>
          </p:cNvPr>
          <p:cNvSpPr/>
          <p:nvPr/>
        </p:nvSpPr>
        <p:spPr>
          <a:xfrm>
            <a:off x="822960" y="3449955"/>
            <a:ext cx="3154680" cy="1051560"/>
          </a:xfrm>
          <a:prstGeom prst="rect">
            <a:avLst/>
          </a:prstGeom>
          <a:noFill/>
          <a:ln/>
        </p:spPr>
        <p:txBody>
          <a:bodyPr wrap="square" lIns="0" tIns="0" rIns="0" bIns="0" rtlCol="0" anchor="ctr"/>
          <a:lstStyle/>
          <a:p>
            <a:pPr marL="0" indent="0">
              <a:lnSpc>
                <a:spcPct val="125000"/>
              </a:lnSpc>
              <a:buNone/>
            </a:pPr>
            <a:r>
              <a:rPr lang="en-US" sz="1400" dirty="0">
                <a:solidFill>
                  <a:srgbClr val="5B6B6E"/>
                </a:solidFill>
                <a:latin typeface="D2Coding" panose="020B0609020101020101" pitchFamily="49" charset="-127"/>
                <a:ea typeface="D2Coding" panose="020B0609020101020101" pitchFamily="49" charset="-127"/>
                <a:cs typeface="Malgun Gothic" pitchFamily="34" charset="-120"/>
              </a:rPr>
              <a:t>소스코드 → 컴파일 → 오브젝트 파일 → 링커 → 실행파일(기계어)</a:t>
            </a:r>
            <a:endParaRPr lang="en-US" sz="1400" dirty="0">
              <a:latin typeface="D2Coding" panose="020B0609020101020101" pitchFamily="49" charset="-127"/>
              <a:ea typeface="D2Coding" panose="020B0609020101020101" pitchFamily="49" charset="-127"/>
            </a:endParaRPr>
          </a:p>
        </p:txBody>
      </p:sp>
      <p:sp>
        <p:nvSpPr>
          <p:cNvPr id="12" name="Text 8">
            <a:extLst>
              <a:ext uri="{FF2B5EF4-FFF2-40B4-BE49-F238E27FC236}">
                <a16:creationId xmlns:a16="http://schemas.microsoft.com/office/drawing/2014/main" id="{DD5E114E-B11A-4D52-4D2D-6C36D0A328A6}"/>
              </a:ext>
            </a:extLst>
          </p:cNvPr>
          <p:cNvSpPr/>
          <p:nvPr/>
        </p:nvSpPr>
        <p:spPr>
          <a:xfrm>
            <a:off x="822960" y="4547235"/>
            <a:ext cx="3154680" cy="502920"/>
          </a:xfrm>
          <a:prstGeom prst="rect">
            <a:avLst/>
          </a:prstGeom>
          <a:noFill/>
          <a:ln/>
        </p:spPr>
        <p:txBody>
          <a:bodyPr wrap="square" lIns="0" tIns="0" rIns="0" bIns="0" rtlCol="0" anchor="ctr"/>
          <a:lstStyle/>
          <a:p>
            <a:pPr marL="0" indent="0">
              <a:lnSpc>
                <a:spcPct val="120000"/>
              </a:lnSpc>
              <a:buNone/>
            </a:pPr>
            <a:r>
              <a:rPr lang="en-US" sz="1400" i="1" dirty="0" err="1">
                <a:solidFill>
                  <a:schemeClr val="accent5"/>
                </a:solidFill>
                <a:latin typeface="D2Coding" panose="020B0609020101020101" pitchFamily="49" charset="-127"/>
                <a:ea typeface="D2Coding" panose="020B0609020101020101" pitchFamily="49" charset="-127"/>
                <a:cs typeface="Malgun Gothic" pitchFamily="34" charset="-120"/>
              </a:rPr>
              <a:t>gcc</a:t>
            </a:r>
            <a:r>
              <a:rPr lang="en-US" sz="1400" i="1" dirty="0">
                <a:solidFill>
                  <a:schemeClr val="accent5"/>
                </a:solidFill>
                <a:latin typeface="D2Coding" panose="020B0609020101020101" pitchFamily="49" charset="-127"/>
                <a:ea typeface="D2Coding" panose="020B0609020101020101" pitchFamily="49" charset="-127"/>
                <a:cs typeface="Malgun Gothic" pitchFamily="34" charset="-120"/>
              </a:rPr>
              <a:t>, g++, clang, MSVC</a:t>
            </a:r>
            <a:endParaRPr lang="en-US" sz="1400" dirty="0">
              <a:solidFill>
                <a:schemeClr val="accent5"/>
              </a:solidFill>
              <a:latin typeface="D2Coding" panose="020B0609020101020101" pitchFamily="49" charset="-127"/>
              <a:ea typeface="D2Coding" panose="020B0609020101020101" pitchFamily="49" charset="-127"/>
            </a:endParaRPr>
          </a:p>
        </p:txBody>
      </p:sp>
      <p:sp>
        <p:nvSpPr>
          <p:cNvPr id="13" name="Shape 9">
            <a:extLst>
              <a:ext uri="{FF2B5EF4-FFF2-40B4-BE49-F238E27FC236}">
                <a16:creationId xmlns:a16="http://schemas.microsoft.com/office/drawing/2014/main" id="{1FC41471-8E56-929E-C14E-8F45CC7656CF}"/>
              </a:ext>
            </a:extLst>
          </p:cNvPr>
          <p:cNvSpPr/>
          <p:nvPr/>
        </p:nvSpPr>
        <p:spPr>
          <a:xfrm>
            <a:off x="822960" y="5095875"/>
            <a:ext cx="3154680" cy="0"/>
          </a:xfrm>
          <a:prstGeom prst="line">
            <a:avLst/>
          </a:prstGeom>
          <a:noFill/>
          <a:ln w="12700">
            <a:solidFill>
              <a:srgbClr val="D6DEDE"/>
            </a:solidFill>
            <a:prstDash val="solid"/>
          </a:ln>
        </p:spPr>
        <p:txBody>
          <a:bodyPr/>
          <a:lstStyle/>
          <a:p>
            <a:endParaRPr lang="ko-KR" altLang="en-US"/>
          </a:p>
        </p:txBody>
      </p:sp>
      <p:sp>
        <p:nvSpPr>
          <p:cNvPr id="14" name="Text 10">
            <a:extLst>
              <a:ext uri="{FF2B5EF4-FFF2-40B4-BE49-F238E27FC236}">
                <a16:creationId xmlns:a16="http://schemas.microsoft.com/office/drawing/2014/main" id="{D8E2E736-7729-DD54-E8AC-36C8A1C8A88F}"/>
              </a:ext>
            </a:extLst>
          </p:cNvPr>
          <p:cNvSpPr/>
          <p:nvPr/>
        </p:nvSpPr>
        <p:spPr>
          <a:xfrm>
            <a:off x="822960" y="5233035"/>
            <a:ext cx="3154680" cy="1097280"/>
          </a:xfrm>
          <a:prstGeom prst="rect">
            <a:avLst/>
          </a:prstGeom>
          <a:noFill/>
          <a:ln/>
        </p:spPr>
        <p:txBody>
          <a:bodyPr wrap="square" lIns="0" tIns="0" rIns="0" bIns="0" rtlCol="0" anchor="ctr"/>
          <a:lstStyle/>
          <a:p>
            <a:pPr marL="0" indent="0">
              <a:lnSpc>
                <a:spcPct val="125000"/>
              </a:lnSpc>
              <a:buNone/>
            </a:pPr>
            <a:r>
              <a:rPr lang="en-US" sz="1400" dirty="0">
                <a:solidFill>
                  <a:srgbClr val="1B2A2E"/>
                </a:solidFill>
                <a:latin typeface="D2Coding" panose="020B0609020101020101" pitchFamily="49" charset="-127"/>
                <a:ea typeface="D2Coding" panose="020B0609020101020101" pitchFamily="49" charset="-127"/>
                <a:cs typeface="Malgun Gothic" pitchFamily="34" charset="-120"/>
              </a:rPr>
              <a:t>실행 전 전체를 기계어로 완전히 변환. 실행 속도가 빠르지만 플랫폼별 재컴파일 필요.</a:t>
            </a:r>
            <a:endParaRPr lang="en-US" sz="1400" dirty="0">
              <a:latin typeface="D2Coding" panose="020B0609020101020101" pitchFamily="49" charset="-127"/>
              <a:ea typeface="D2Coding" panose="020B0609020101020101" pitchFamily="49" charset="-127"/>
            </a:endParaRPr>
          </a:p>
        </p:txBody>
      </p:sp>
      <p:sp>
        <p:nvSpPr>
          <p:cNvPr id="15" name="Shape 11">
            <a:extLst>
              <a:ext uri="{FF2B5EF4-FFF2-40B4-BE49-F238E27FC236}">
                <a16:creationId xmlns:a16="http://schemas.microsoft.com/office/drawing/2014/main" id="{AA3B2AB3-DDB0-A7D1-2797-9D684EC64536}"/>
              </a:ext>
            </a:extLst>
          </p:cNvPr>
          <p:cNvSpPr/>
          <p:nvPr/>
        </p:nvSpPr>
        <p:spPr>
          <a:xfrm>
            <a:off x="4343400" y="2032635"/>
            <a:ext cx="3520440" cy="4434840"/>
          </a:xfrm>
          <a:prstGeom prst="roundRect">
            <a:avLst>
              <a:gd name="adj" fmla="val 2597"/>
            </a:avLst>
          </a:prstGeom>
          <a:solidFill>
            <a:srgbClr val="F7FAFA"/>
          </a:solidFill>
          <a:ln/>
          <a:effectLst>
            <a:outerShdw blurRad="63500" dist="25400" dir="5400000" algn="bl" rotWithShape="0">
              <a:srgbClr val="8A9A9A">
                <a:alpha val="20000"/>
              </a:srgbClr>
            </a:outerShdw>
          </a:effectLst>
        </p:spPr>
        <p:txBody>
          <a:bodyPr/>
          <a:lstStyle/>
          <a:p>
            <a:endParaRPr lang="ko-KR" altLang="en-US"/>
          </a:p>
        </p:txBody>
      </p:sp>
      <p:sp>
        <p:nvSpPr>
          <p:cNvPr id="16" name="Shape 12">
            <a:extLst>
              <a:ext uri="{FF2B5EF4-FFF2-40B4-BE49-F238E27FC236}">
                <a16:creationId xmlns:a16="http://schemas.microsoft.com/office/drawing/2014/main" id="{84655D36-C339-3E31-F268-27FC2599F689}"/>
              </a:ext>
            </a:extLst>
          </p:cNvPr>
          <p:cNvSpPr/>
          <p:nvPr/>
        </p:nvSpPr>
        <p:spPr>
          <a:xfrm>
            <a:off x="4343400" y="2032635"/>
            <a:ext cx="3520440" cy="594360"/>
          </a:xfrm>
          <a:prstGeom prst="rect">
            <a:avLst/>
          </a:prstGeom>
          <a:solidFill>
            <a:srgbClr val="00A896"/>
          </a:solidFill>
          <a:ln/>
        </p:spPr>
        <p:txBody>
          <a:bodyPr/>
          <a:lstStyle/>
          <a:p>
            <a:endParaRPr lang="ko-KR" altLang="en-US"/>
          </a:p>
        </p:txBody>
      </p:sp>
      <p:sp>
        <p:nvSpPr>
          <p:cNvPr id="17" name="Text 13">
            <a:extLst>
              <a:ext uri="{FF2B5EF4-FFF2-40B4-BE49-F238E27FC236}">
                <a16:creationId xmlns:a16="http://schemas.microsoft.com/office/drawing/2014/main" id="{8F23078E-3A1D-8BC7-C48D-8EC55C672354}"/>
              </a:ext>
            </a:extLst>
          </p:cNvPr>
          <p:cNvSpPr/>
          <p:nvPr/>
        </p:nvSpPr>
        <p:spPr>
          <a:xfrm>
            <a:off x="4526280" y="2032635"/>
            <a:ext cx="3154680" cy="594360"/>
          </a:xfrm>
          <a:prstGeom prst="rect">
            <a:avLst/>
          </a:prstGeom>
          <a:noFill/>
          <a:ln/>
        </p:spPr>
        <p:txBody>
          <a:bodyPr wrap="square" lIns="0" tIns="0" rIns="0" bIns="0" rtlCol="0" anchor="ctr"/>
          <a:lstStyle/>
          <a:p>
            <a:pPr marL="0" indent="0">
              <a:buNone/>
            </a:pPr>
            <a:r>
              <a:rPr lang="en-US" sz="1700" b="1" dirty="0">
                <a:solidFill>
                  <a:srgbClr val="FFFFFF"/>
                </a:solidFill>
                <a:latin typeface="D2Coding" panose="020B0609020101020101" pitchFamily="49" charset="-127"/>
                <a:ea typeface="D2Coding" panose="020B0609020101020101" pitchFamily="49" charset="-127"/>
                <a:cs typeface="Malgun Gothic" pitchFamily="34" charset="-120"/>
              </a:rPr>
              <a:t>Java / C#</a:t>
            </a:r>
            <a:endParaRPr lang="en-US" sz="1700" dirty="0">
              <a:latin typeface="D2Coding" panose="020B0609020101020101" pitchFamily="49" charset="-127"/>
              <a:ea typeface="D2Coding" panose="020B0609020101020101" pitchFamily="49" charset="-127"/>
            </a:endParaRPr>
          </a:p>
        </p:txBody>
      </p:sp>
      <p:sp>
        <p:nvSpPr>
          <p:cNvPr id="18" name="Text 14">
            <a:extLst>
              <a:ext uri="{FF2B5EF4-FFF2-40B4-BE49-F238E27FC236}">
                <a16:creationId xmlns:a16="http://schemas.microsoft.com/office/drawing/2014/main" id="{A4FE8484-DC05-7D49-22CE-EB96E4246B61}"/>
              </a:ext>
            </a:extLst>
          </p:cNvPr>
          <p:cNvSpPr/>
          <p:nvPr/>
        </p:nvSpPr>
        <p:spPr>
          <a:xfrm>
            <a:off x="4526280" y="2764155"/>
            <a:ext cx="3154680" cy="320040"/>
          </a:xfrm>
          <a:prstGeom prst="rect">
            <a:avLst/>
          </a:prstGeom>
          <a:noFill/>
          <a:ln/>
        </p:spPr>
        <p:txBody>
          <a:bodyPr wrap="square" lIns="0" tIns="0" rIns="0" bIns="0" rtlCol="0" anchor="ctr"/>
          <a:lstStyle/>
          <a:p>
            <a:pPr marL="0" indent="0">
              <a:buNone/>
            </a:pPr>
            <a:r>
              <a:rPr lang="en-US" sz="1600" b="1" dirty="0">
                <a:solidFill>
                  <a:srgbClr val="00A896"/>
                </a:solidFill>
                <a:latin typeface="D2Coding" panose="020B0609020101020101" pitchFamily="49" charset="-127"/>
                <a:ea typeface="D2Coding" panose="020B0609020101020101" pitchFamily="49" charset="-127"/>
                <a:cs typeface="Malgun Gothic" pitchFamily="34" charset="-120"/>
              </a:rPr>
              <a:t>중간 코드 언어</a:t>
            </a:r>
            <a:endParaRPr lang="en-US" sz="1600" dirty="0">
              <a:latin typeface="D2Coding" panose="020B0609020101020101" pitchFamily="49" charset="-127"/>
              <a:ea typeface="D2Coding" panose="020B0609020101020101" pitchFamily="49" charset="-127"/>
            </a:endParaRPr>
          </a:p>
        </p:txBody>
      </p:sp>
      <p:sp>
        <p:nvSpPr>
          <p:cNvPr id="19" name="Text 15">
            <a:extLst>
              <a:ext uri="{FF2B5EF4-FFF2-40B4-BE49-F238E27FC236}">
                <a16:creationId xmlns:a16="http://schemas.microsoft.com/office/drawing/2014/main" id="{D45CAF67-058A-30F7-A6DD-4874BEEF7869}"/>
              </a:ext>
            </a:extLst>
          </p:cNvPr>
          <p:cNvSpPr/>
          <p:nvPr/>
        </p:nvSpPr>
        <p:spPr>
          <a:xfrm>
            <a:off x="4526280" y="3175635"/>
            <a:ext cx="3154680" cy="274320"/>
          </a:xfrm>
          <a:prstGeom prst="rect">
            <a:avLst/>
          </a:prstGeom>
          <a:noFill/>
          <a:ln/>
        </p:spPr>
        <p:txBody>
          <a:bodyPr wrap="square" lIns="0" tIns="0" rIns="0" bIns="0" rtlCol="0" anchor="ctr"/>
          <a:lstStyle/>
          <a:p>
            <a:pPr marL="0" indent="0">
              <a:buNone/>
            </a:pPr>
            <a:r>
              <a:rPr lang="en-US" sz="1400" b="1" dirty="0">
                <a:solidFill>
                  <a:srgbClr val="1B2A2E"/>
                </a:solidFill>
                <a:latin typeface="D2Coding" panose="020B0609020101020101" pitchFamily="49" charset="-127"/>
                <a:ea typeface="D2Coding" panose="020B0609020101020101" pitchFamily="49" charset="-127"/>
                <a:cs typeface="Malgun Gothic" pitchFamily="34" charset="-120"/>
              </a:rPr>
              <a:t>실행 흐름</a:t>
            </a:r>
            <a:endParaRPr lang="en-US" sz="1400" dirty="0">
              <a:latin typeface="D2Coding" panose="020B0609020101020101" pitchFamily="49" charset="-127"/>
              <a:ea typeface="D2Coding" panose="020B0609020101020101" pitchFamily="49" charset="-127"/>
            </a:endParaRPr>
          </a:p>
        </p:txBody>
      </p:sp>
      <p:sp>
        <p:nvSpPr>
          <p:cNvPr id="20" name="Text 16">
            <a:extLst>
              <a:ext uri="{FF2B5EF4-FFF2-40B4-BE49-F238E27FC236}">
                <a16:creationId xmlns:a16="http://schemas.microsoft.com/office/drawing/2014/main" id="{00A1D6E5-6873-7F17-633C-3EF683ACED1C}"/>
              </a:ext>
            </a:extLst>
          </p:cNvPr>
          <p:cNvSpPr/>
          <p:nvPr/>
        </p:nvSpPr>
        <p:spPr>
          <a:xfrm>
            <a:off x="4526280" y="3449955"/>
            <a:ext cx="3154680" cy="1051560"/>
          </a:xfrm>
          <a:prstGeom prst="rect">
            <a:avLst/>
          </a:prstGeom>
          <a:noFill/>
          <a:ln/>
        </p:spPr>
        <p:txBody>
          <a:bodyPr wrap="square" lIns="0" tIns="0" rIns="0" bIns="0" rtlCol="0" anchor="ctr"/>
          <a:lstStyle/>
          <a:p>
            <a:pPr marL="0" indent="0">
              <a:lnSpc>
                <a:spcPct val="125000"/>
              </a:lnSpc>
              <a:buNone/>
            </a:pPr>
            <a:r>
              <a:rPr lang="en-US" sz="1400" dirty="0">
                <a:solidFill>
                  <a:srgbClr val="5B6B6E"/>
                </a:solidFill>
                <a:latin typeface="D2Coding" panose="020B0609020101020101" pitchFamily="49" charset="-127"/>
                <a:ea typeface="D2Coding" panose="020B0609020101020101" pitchFamily="49" charset="-127"/>
                <a:cs typeface="Malgun Gothic" pitchFamily="34" charset="-120"/>
              </a:rPr>
              <a:t>소스코드 → 컴파일 → 바이트코드/IL → 가상머신(JVM/CLR) → 실행</a:t>
            </a:r>
            <a:endParaRPr lang="en-US" sz="1400" dirty="0">
              <a:latin typeface="D2Coding" panose="020B0609020101020101" pitchFamily="49" charset="-127"/>
              <a:ea typeface="D2Coding" panose="020B0609020101020101" pitchFamily="49" charset="-127"/>
            </a:endParaRPr>
          </a:p>
        </p:txBody>
      </p:sp>
      <p:sp>
        <p:nvSpPr>
          <p:cNvPr id="21" name="Text 17">
            <a:extLst>
              <a:ext uri="{FF2B5EF4-FFF2-40B4-BE49-F238E27FC236}">
                <a16:creationId xmlns:a16="http://schemas.microsoft.com/office/drawing/2014/main" id="{6592B4D3-CF6F-FD88-303A-3C498DF3AA5A}"/>
              </a:ext>
            </a:extLst>
          </p:cNvPr>
          <p:cNvSpPr/>
          <p:nvPr/>
        </p:nvSpPr>
        <p:spPr>
          <a:xfrm>
            <a:off x="4526280" y="4547235"/>
            <a:ext cx="3154680" cy="502920"/>
          </a:xfrm>
          <a:prstGeom prst="rect">
            <a:avLst/>
          </a:prstGeom>
          <a:noFill/>
          <a:ln/>
        </p:spPr>
        <p:txBody>
          <a:bodyPr wrap="square" lIns="0" tIns="0" rIns="0" bIns="0" rtlCol="0" anchor="ctr"/>
          <a:lstStyle/>
          <a:p>
            <a:pPr marL="0" indent="0">
              <a:lnSpc>
                <a:spcPct val="120000"/>
              </a:lnSpc>
              <a:buNone/>
            </a:pPr>
            <a:r>
              <a:rPr lang="en-US" sz="1400" i="1" dirty="0" err="1">
                <a:solidFill>
                  <a:schemeClr val="accent5"/>
                </a:solidFill>
                <a:latin typeface="D2Coding" panose="020B0609020101020101" pitchFamily="49" charset="-127"/>
                <a:ea typeface="D2Coding" panose="020B0609020101020101" pitchFamily="49" charset="-127"/>
                <a:cs typeface="Malgun Gothic" pitchFamily="34" charset="-120"/>
              </a:rPr>
              <a:t>javac</a:t>
            </a:r>
            <a:r>
              <a:rPr lang="en-US" sz="1400" i="1" dirty="0">
                <a:solidFill>
                  <a:schemeClr val="accent5"/>
                </a:solidFill>
                <a:latin typeface="D2Coding" panose="020B0609020101020101" pitchFamily="49" charset="-127"/>
                <a:ea typeface="D2Coding" panose="020B0609020101020101" pitchFamily="49" charset="-127"/>
                <a:cs typeface="Malgun Gothic" pitchFamily="34" charset="-120"/>
              </a:rPr>
              <a:t> + JVM, csc + .NET CLR</a:t>
            </a:r>
            <a:endParaRPr lang="en-US" sz="1400" dirty="0">
              <a:solidFill>
                <a:schemeClr val="accent5"/>
              </a:solidFill>
              <a:latin typeface="D2Coding" panose="020B0609020101020101" pitchFamily="49" charset="-127"/>
              <a:ea typeface="D2Coding" panose="020B0609020101020101" pitchFamily="49" charset="-127"/>
            </a:endParaRPr>
          </a:p>
        </p:txBody>
      </p:sp>
      <p:sp>
        <p:nvSpPr>
          <p:cNvPr id="22" name="Shape 18">
            <a:extLst>
              <a:ext uri="{FF2B5EF4-FFF2-40B4-BE49-F238E27FC236}">
                <a16:creationId xmlns:a16="http://schemas.microsoft.com/office/drawing/2014/main" id="{7030AC77-3EA7-0C6C-D5BF-B3E9994C9D44}"/>
              </a:ext>
            </a:extLst>
          </p:cNvPr>
          <p:cNvSpPr/>
          <p:nvPr/>
        </p:nvSpPr>
        <p:spPr>
          <a:xfrm>
            <a:off x="4526280" y="5095875"/>
            <a:ext cx="3154680" cy="0"/>
          </a:xfrm>
          <a:prstGeom prst="line">
            <a:avLst/>
          </a:prstGeom>
          <a:noFill/>
          <a:ln w="12700">
            <a:solidFill>
              <a:srgbClr val="D6DEDE"/>
            </a:solidFill>
            <a:prstDash val="solid"/>
          </a:ln>
        </p:spPr>
        <p:txBody>
          <a:bodyPr/>
          <a:lstStyle/>
          <a:p>
            <a:endParaRPr lang="ko-KR" altLang="en-US"/>
          </a:p>
        </p:txBody>
      </p:sp>
      <p:sp>
        <p:nvSpPr>
          <p:cNvPr id="23" name="Text 19">
            <a:extLst>
              <a:ext uri="{FF2B5EF4-FFF2-40B4-BE49-F238E27FC236}">
                <a16:creationId xmlns:a16="http://schemas.microsoft.com/office/drawing/2014/main" id="{2B552949-11A5-0C5E-8A1E-1E0D8974BA32}"/>
              </a:ext>
            </a:extLst>
          </p:cNvPr>
          <p:cNvSpPr/>
          <p:nvPr/>
        </p:nvSpPr>
        <p:spPr>
          <a:xfrm>
            <a:off x="4526280" y="5233035"/>
            <a:ext cx="3154680" cy="1097280"/>
          </a:xfrm>
          <a:prstGeom prst="rect">
            <a:avLst/>
          </a:prstGeom>
          <a:noFill/>
          <a:ln/>
        </p:spPr>
        <p:txBody>
          <a:bodyPr wrap="square" lIns="0" tIns="0" rIns="0" bIns="0" rtlCol="0" anchor="ctr"/>
          <a:lstStyle/>
          <a:p>
            <a:pPr marL="0" indent="0">
              <a:lnSpc>
                <a:spcPct val="125000"/>
              </a:lnSpc>
              <a:buNone/>
            </a:pPr>
            <a:r>
              <a:rPr lang="en-US" sz="1400" dirty="0">
                <a:solidFill>
                  <a:srgbClr val="1B2A2E"/>
                </a:solidFill>
                <a:latin typeface="D2Coding" panose="020B0609020101020101" pitchFamily="49" charset="-127"/>
                <a:ea typeface="D2Coding" panose="020B0609020101020101" pitchFamily="49" charset="-127"/>
                <a:cs typeface="Malgun Gothic" pitchFamily="34" charset="-120"/>
              </a:rPr>
              <a:t>가상머신이 중간 코드를 해석·실행. 플랫폼 독립적이며 이식성이 높음.</a:t>
            </a:r>
            <a:endParaRPr lang="en-US" sz="1400" dirty="0">
              <a:latin typeface="D2Coding" panose="020B0609020101020101" pitchFamily="49" charset="-127"/>
              <a:ea typeface="D2Coding" panose="020B0609020101020101" pitchFamily="49" charset="-127"/>
            </a:endParaRPr>
          </a:p>
        </p:txBody>
      </p:sp>
      <p:sp>
        <p:nvSpPr>
          <p:cNvPr id="24" name="Shape 20">
            <a:extLst>
              <a:ext uri="{FF2B5EF4-FFF2-40B4-BE49-F238E27FC236}">
                <a16:creationId xmlns:a16="http://schemas.microsoft.com/office/drawing/2014/main" id="{65942169-D6D7-182B-B6A6-7D8A364E7771}"/>
              </a:ext>
            </a:extLst>
          </p:cNvPr>
          <p:cNvSpPr/>
          <p:nvPr/>
        </p:nvSpPr>
        <p:spPr>
          <a:xfrm>
            <a:off x="8046720" y="2032635"/>
            <a:ext cx="3520440" cy="4434840"/>
          </a:xfrm>
          <a:prstGeom prst="roundRect">
            <a:avLst>
              <a:gd name="adj" fmla="val 2597"/>
            </a:avLst>
          </a:prstGeom>
          <a:solidFill>
            <a:srgbClr val="F7FAFA"/>
          </a:solidFill>
          <a:ln/>
          <a:effectLst>
            <a:outerShdw blurRad="63500" dist="25400" dir="5400000" algn="bl" rotWithShape="0">
              <a:srgbClr val="8A9A9A">
                <a:alpha val="20000"/>
              </a:srgbClr>
            </a:outerShdw>
          </a:effectLst>
        </p:spPr>
        <p:txBody>
          <a:bodyPr/>
          <a:lstStyle/>
          <a:p>
            <a:endParaRPr lang="ko-KR" altLang="en-US"/>
          </a:p>
        </p:txBody>
      </p:sp>
      <p:sp>
        <p:nvSpPr>
          <p:cNvPr id="25" name="Shape 21">
            <a:extLst>
              <a:ext uri="{FF2B5EF4-FFF2-40B4-BE49-F238E27FC236}">
                <a16:creationId xmlns:a16="http://schemas.microsoft.com/office/drawing/2014/main" id="{F172F242-D1F8-74EF-DE2B-E6405C8F661D}"/>
              </a:ext>
            </a:extLst>
          </p:cNvPr>
          <p:cNvSpPr/>
          <p:nvPr/>
        </p:nvSpPr>
        <p:spPr>
          <a:xfrm>
            <a:off x="8046720" y="2032635"/>
            <a:ext cx="3520440" cy="594360"/>
          </a:xfrm>
          <a:prstGeom prst="rect">
            <a:avLst/>
          </a:prstGeom>
          <a:solidFill>
            <a:srgbClr val="02C39A"/>
          </a:solidFill>
          <a:ln/>
        </p:spPr>
        <p:txBody>
          <a:bodyPr/>
          <a:lstStyle/>
          <a:p>
            <a:endParaRPr lang="ko-KR" altLang="en-US"/>
          </a:p>
        </p:txBody>
      </p:sp>
      <p:sp>
        <p:nvSpPr>
          <p:cNvPr id="26" name="Text 22">
            <a:extLst>
              <a:ext uri="{FF2B5EF4-FFF2-40B4-BE49-F238E27FC236}">
                <a16:creationId xmlns:a16="http://schemas.microsoft.com/office/drawing/2014/main" id="{DD76F462-C47C-9EA4-618B-340C01668591}"/>
              </a:ext>
            </a:extLst>
          </p:cNvPr>
          <p:cNvSpPr/>
          <p:nvPr/>
        </p:nvSpPr>
        <p:spPr>
          <a:xfrm>
            <a:off x="8229600" y="2032635"/>
            <a:ext cx="3154680" cy="594360"/>
          </a:xfrm>
          <a:prstGeom prst="rect">
            <a:avLst/>
          </a:prstGeom>
          <a:noFill/>
          <a:ln/>
        </p:spPr>
        <p:txBody>
          <a:bodyPr wrap="square" lIns="0" tIns="0" rIns="0" bIns="0" rtlCol="0" anchor="ctr"/>
          <a:lstStyle/>
          <a:p>
            <a:pPr marL="0" indent="0">
              <a:buNone/>
            </a:pPr>
            <a:r>
              <a:rPr lang="en-US" sz="1700" b="1" dirty="0">
                <a:solidFill>
                  <a:srgbClr val="FFFFFF"/>
                </a:solidFill>
                <a:latin typeface="D2Coding" panose="020B0609020101020101" pitchFamily="49" charset="-127"/>
                <a:ea typeface="D2Coding" panose="020B0609020101020101" pitchFamily="49" charset="-127"/>
                <a:cs typeface="Malgun Gothic" pitchFamily="34" charset="-120"/>
              </a:rPr>
              <a:t>Python / JavaScript</a:t>
            </a:r>
            <a:endParaRPr lang="en-US" sz="1700" dirty="0">
              <a:latin typeface="D2Coding" panose="020B0609020101020101" pitchFamily="49" charset="-127"/>
              <a:ea typeface="D2Coding" panose="020B0609020101020101" pitchFamily="49" charset="-127"/>
            </a:endParaRPr>
          </a:p>
        </p:txBody>
      </p:sp>
      <p:sp>
        <p:nvSpPr>
          <p:cNvPr id="27" name="Text 23">
            <a:extLst>
              <a:ext uri="{FF2B5EF4-FFF2-40B4-BE49-F238E27FC236}">
                <a16:creationId xmlns:a16="http://schemas.microsoft.com/office/drawing/2014/main" id="{A5D83736-2BEC-8DA7-6851-C37EDC68B75E}"/>
              </a:ext>
            </a:extLst>
          </p:cNvPr>
          <p:cNvSpPr/>
          <p:nvPr/>
        </p:nvSpPr>
        <p:spPr>
          <a:xfrm>
            <a:off x="8229600" y="2764155"/>
            <a:ext cx="3154680" cy="320040"/>
          </a:xfrm>
          <a:prstGeom prst="rect">
            <a:avLst/>
          </a:prstGeom>
          <a:noFill/>
          <a:ln/>
        </p:spPr>
        <p:txBody>
          <a:bodyPr wrap="square" lIns="0" tIns="0" rIns="0" bIns="0" rtlCol="0" anchor="ctr"/>
          <a:lstStyle/>
          <a:p>
            <a:pPr marL="0" indent="0">
              <a:buNone/>
            </a:pPr>
            <a:r>
              <a:rPr lang="en-US" sz="1600" b="1" dirty="0">
                <a:solidFill>
                  <a:srgbClr val="02C39A"/>
                </a:solidFill>
                <a:latin typeface="D2Coding" panose="020B0609020101020101" pitchFamily="49" charset="-127"/>
                <a:ea typeface="D2Coding" panose="020B0609020101020101" pitchFamily="49" charset="-127"/>
                <a:cs typeface="Malgun Gothic" pitchFamily="34" charset="-120"/>
              </a:rPr>
              <a:t>인터프리터 언어</a:t>
            </a:r>
            <a:endParaRPr lang="en-US" sz="1600" dirty="0">
              <a:latin typeface="D2Coding" panose="020B0609020101020101" pitchFamily="49" charset="-127"/>
              <a:ea typeface="D2Coding" panose="020B0609020101020101" pitchFamily="49" charset="-127"/>
            </a:endParaRPr>
          </a:p>
        </p:txBody>
      </p:sp>
      <p:sp>
        <p:nvSpPr>
          <p:cNvPr id="28" name="Text 24">
            <a:extLst>
              <a:ext uri="{FF2B5EF4-FFF2-40B4-BE49-F238E27FC236}">
                <a16:creationId xmlns:a16="http://schemas.microsoft.com/office/drawing/2014/main" id="{90E2BB63-23E3-91AF-24FF-018959B1050F}"/>
              </a:ext>
            </a:extLst>
          </p:cNvPr>
          <p:cNvSpPr/>
          <p:nvPr/>
        </p:nvSpPr>
        <p:spPr>
          <a:xfrm>
            <a:off x="8229600" y="3175635"/>
            <a:ext cx="3154680" cy="274320"/>
          </a:xfrm>
          <a:prstGeom prst="rect">
            <a:avLst/>
          </a:prstGeom>
          <a:noFill/>
          <a:ln/>
        </p:spPr>
        <p:txBody>
          <a:bodyPr wrap="square" lIns="0" tIns="0" rIns="0" bIns="0" rtlCol="0" anchor="ctr"/>
          <a:lstStyle/>
          <a:p>
            <a:pPr marL="0" indent="0">
              <a:buNone/>
            </a:pPr>
            <a:r>
              <a:rPr lang="en-US" sz="1400" b="1" dirty="0">
                <a:solidFill>
                  <a:srgbClr val="1B2A2E"/>
                </a:solidFill>
                <a:latin typeface="D2Coding" panose="020B0609020101020101" pitchFamily="49" charset="-127"/>
                <a:ea typeface="D2Coding" panose="020B0609020101020101" pitchFamily="49" charset="-127"/>
                <a:cs typeface="Malgun Gothic" pitchFamily="34" charset="-120"/>
              </a:rPr>
              <a:t>실행 흐름</a:t>
            </a:r>
            <a:endParaRPr lang="en-US" sz="1400" dirty="0">
              <a:latin typeface="D2Coding" panose="020B0609020101020101" pitchFamily="49" charset="-127"/>
              <a:ea typeface="D2Coding" panose="020B0609020101020101" pitchFamily="49" charset="-127"/>
            </a:endParaRPr>
          </a:p>
        </p:txBody>
      </p:sp>
      <p:sp>
        <p:nvSpPr>
          <p:cNvPr id="29" name="Text 25">
            <a:extLst>
              <a:ext uri="{FF2B5EF4-FFF2-40B4-BE49-F238E27FC236}">
                <a16:creationId xmlns:a16="http://schemas.microsoft.com/office/drawing/2014/main" id="{B046100C-6812-AE44-B724-A515EE7FE8CA}"/>
              </a:ext>
            </a:extLst>
          </p:cNvPr>
          <p:cNvSpPr/>
          <p:nvPr/>
        </p:nvSpPr>
        <p:spPr>
          <a:xfrm>
            <a:off x="8229600" y="3449955"/>
            <a:ext cx="3154680" cy="1051560"/>
          </a:xfrm>
          <a:prstGeom prst="rect">
            <a:avLst/>
          </a:prstGeom>
          <a:noFill/>
          <a:ln/>
        </p:spPr>
        <p:txBody>
          <a:bodyPr wrap="square" lIns="0" tIns="0" rIns="0" bIns="0" rtlCol="0" anchor="ctr"/>
          <a:lstStyle/>
          <a:p>
            <a:pPr marL="0" indent="0">
              <a:lnSpc>
                <a:spcPct val="125000"/>
              </a:lnSpc>
              <a:buNone/>
            </a:pPr>
            <a:r>
              <a:rPr lang="en-US" sz="1400" dirty="0">
                <a:solidFill>
                  <a:srgbClr val="5B6B6E"/>
                </a:solidFill>
                <a:latin typeface="D2Coding" panose="020B0609020101020101" pitchFamily="49" charset="-127"/>
                <a:ea typeface="D2Coding" panose="020B0609020101020101" pitchFamily="49" charset="-127"/>
                <a:cs typeface="Malgun Gothic" pitchFamily="34" charset="-120"/>
              </a:rPr>
              <a:t>소스코드 → 인터프리터가 한 줄씩 즉시 해석·실행</a:t>
            </a:r>
            <a:endParaRPr lang="en-US" sz="1400" dirty="0">
              <a:latin typeface="D2Coding" panose="020B0609020101020101" pitchFamily="49" charset="-127"/>
              <a:ea typeface="D2Coding" panose="020B0609020101020101" pitchFamily="49" charset="-127"/>
            </a:endParaRPr>
          </a:p>
        </p:txBody>
      </p:sp>
      <p:sp>
        <p:nvSpPr>
          <p:cNvPr id="30" name="Text 26">
            <a:extLst>
              <a:ext uri="{FF2B5EF4-FFF2-40B4-BE49-F238E27FC236}">
                <a16:creationId xmlns:a16="http://schemas.microsoft.com/office/drawing/2014/main" id="{B102FF60-E527-2CA5-BF27-1E4BBB33481A}"/>
              </a:ext>
            </a:extLst>
          </p:cNvPr>
          <p:cNvSpPr/>
          <p:nvPr/>
        </p:nvSpPr>
        <p:spPr>
          <a:xfrm>
            <a:off x="8229600" y="4547235"/>
            <a:ext cx="3154680" cy="502920"/>
          </a:xfrm>
          <a:prstGeom prst="rect">
            <a:avLst/>
          </a:prstGeom>
          <a:noFill/>
          <a:ln/>
        </p:spPr>
        <p:txBody>
          <a:bodyPr wrap="square" lIns="0" tIns="0" rIns="0" bIns="0" rtlCol="0" anchor="ctr"/>
          <a:lstStyle/>
          <a:p>
            <a:pPr marL="0" indent="0">
              <a:lnSpc>
                <a:spcPct val="120000"/>
              </a:lnSpc>
              <a:buNone/>
            </a:pPr>
            <a:r>
              <a:rPr lang="en-US" sz="1400" i="1" dirty="0" err="1">
                <a:solidFill>
                  <a:schemeClr val="accent5"/>
                </a:solidFill>
                <a:latin typeface="D2Coding" panose="020B0609020101020101" pitchFamily="49" charset="-127"/>
                <a:ea typeface="D2Coding" panose="020B0609020101020101" pitchFamily="49" charset="-127"/>
                <a:cs typeface="Malgun Gothic" pitchFamily="34" charset="-120"/>
              </a:rPr>
              <a:t>CPython</a:t>
            </a:r>
            <a:r>
              <a:rPr lang="en-US" sz="1400" i="1" dirty="0">
                <a:solidFill>
                  <a:schemeClr val="accent5"/>
                </a:solidFill>
                <a:latin typeface="D2Coding" panose="020B0609020101020101" pitchFamily="49" charset="-127"/>
                <a:ea typeface="D2Coding" panose="020B0609020101020101" pitchFamily="49" charset="-127"/>
                <a:cs typeface="Malgun Gothic" pitchFamily="34" charset="-120"/>
              </a:rPr>
              <a:t>, Node.js(V8, JIT 포함)</a:t>
            </a:r>
            <a:endParaRPr lang="en-US" sz="1400" dirty="0">
              <a:solidFill>
                <a:schemeClr val="accent5"/>
              </a:solidFill>
              <a:latin typeface="D2Coding" panose="020B0609020101020101" pitchFamily="49" charset="-127"/>
              <a:ea typeface="D2Coding" panose="020B0609020101020101" pitchFamily="49" charset="-127"/>
            </a:endParaRPr>
          </a:p>
        </p:txBody>
      </p:sp>
      <p:sp>
        <p:nvSpPr>
          <p:cNvPr id="31" name="Shape 27">
            <a:extLst>
              <a:ext uri="{FF2B5EF4-FFF2-40B4-BE49-F238E27FC236}">
                <a16:creationId xmlns:a16="http://schemas.microsoft.com/office/drawing/2014/main" id="{C2EE2FA1-0475-71CF-3A2F-BF3DCA4D5BE8}"/>
              </a:ext>
            </a:extLst>
          </p:cNvPr>
          <p:cNvSpPr/>
          <p:nvPr/>
        </p:nvSpPr>
        <p:spPr>
          <a:xfrm>
            <a:off x="8229600" y="5095875"/>
            <a:ext cx="3154680" cy="0"/>
          </a:xfrm>
          <a:prstGeom prst="line">
            <a:avLst/>
          </a:prstGeom>
          <a:noFill/>
          <a:ln w="12700">
            <a:solidFill>
              <a:srgbClr val="D6DEDE"/>
            </a:solidFill>
            <a:prstDash val="solid"/>
          </a:ln>
        </p:spPr>
        <p:txBody>
          <a:bodyPr/>
          <a:lstStyle/>
          <a:p>
            <a:endParaRPr lang="ko-KR" altLang="en-US"/>
          </a:p>
        </p:txBody>
      </p:sp>
      <p:sp>
        <p:nvSpPr>
          <p:cNvPr id="32" name="Text 28">
            <a:extLst>
              <a:ext uri="{FF2B5EF4-FFF2-40B4-BE49-F238E27FC236}">
                <a16:creationId xmlns:a16="http://schemas.microsoft.com/office/drawing/2014/main" id="{3D74BA10-9FD0-D2D3-9914-1FD03024A2CB}"/>
              </a:ext>
            </a:extLst>
          </p:cNvPr>
          <p:cNvSpPr/>
          <p:nvPr/>
        </p:nvSpPr>
        <p:spPr>
          <a:xfrm>
            <a:off x="8229600" y="5233035"/>
            <a:ext cx="3154680" cy="1097280"/>
          </a:xfrm>
          <a:prstGeom prst="rect">
            <a:avLst/>
          </a:prstGeom>
          <a:noFill/>
          <a:ln/>
        </p:spPr>
        <p:txBody>
          <a:bodyPr wrap="square" lIns="0" tIns="0" rIns="0" bIns="0" rtlCol="0" anchor="ctr"/>
          <a:lstStyle/>
          <a:p>
            <a:pPr marL="0" indent="0">
              <a:lnSpc>
                <a:spcPct val="125000"/>
              </a:lnSpc>
              <a:buNone/>
            </a:pPr>
            <a:r>
              <a:rPr lang="en-US" sz="1400" dirty="0">
                <a:solidFill>
                  <a:srgbClr val="1B2A2E"/>
                </a:solidFill>
                <a:latin typeface="D2Coding" panose="020B0609020101020101" pitchFamily="49" charset="-127"/>
                <a:ea typeface="D2Coding" panose="020B0609020101020101" pitchFamily="49" charset="-127"/>
                <a:cs typeface="Malgun Gothic" pitchFamily="34" charset="-120"/>
              </a:rPr>
              <a:t>별도의 빌드 단계 없이 바로 실행 가능. 개발 속도는 빠르나 실행 속도는 상대적으로 느림.</a:t>
            </a:r>
            <a:endParaRPr lang="en-US" sz="1400" dirty="0">
              <a:latin typeface="D2Coding" panose="020B0609020101020101" pitchFamily="49" charset="-127"/>
              <a:ea typeface="D2Coding" panose="020B0609020101020101" pitchFamily="49" charset="-127"/>
            </a:endParaRPr>
          </a:p>
        </p:txBody>
      </p:sp>
      <p:sp>
        <p:nvSpPr>
          <p:cNvPr id="7" name="슬라이드 번호 개체 틀 3">
            <a:extLst>
              <a:ext uri="{FF2B5EF4-FFF2-40B4-BE49-F238E27FC236}">
                <a16:creationId xmlns:a16="http://schemas.microsoft.com/office/drawing/2014/main" id="{AABF1341-AB92-5734-F0D9-F7F2226BF5E6}"/>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9</a:t>
            </a:fld>
            <a:endParaRPr lang="en-US" b="1" dirty="0">
              <a:latin typeface="Segoe UI Emoji" panose="020B0502040204020203" pitchFamily="34" charset="0"/>
              <a:ea typeface="Segoe UI Emoji" panose="020B0502040204020203" pitchFamily="34" charset="0"/>
            </a:endParaRPr>
          </a:p>
        </p:txBody>
      </p:sp>
    </p:spTree>
    <p:extLst>
      <p:ext uri="{BB962C8B-B14F-4D97-AF65-F5344CB8AC3E}">
        <p14:creationId xmlns:p14="http://schemas.microsoft.com/office/powerpoint/2010/main" val="32542958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D7E1C-4C26-BB62-BCA7-4EB890C081E4}"/>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4FB08BA0-AAF1-9EAE-D2DE-130940C226C0}"/>
              </a:ext>
            </a:extLst>
          </p:cNvPr>
          <p:cNvSpPr>
            <a:spLocks noGrp="1"/>
          </p:cNvSpPr>
          <p:nvPr>
            <p:ph type="ctrTitle"/>
          </p:nvPr>
        </p:nvSpPr>
        <p:spPr>
          <a:xfrm>
            <a:off x="838199" y="1164324"/>
            <a:ext cx="10934701" cy="1293126"/>
          </a:xfrm>
        </p:spPr>
        <p:txBody>
          <a:bodyPr rtlCol="0" anchor="ctr" anchorCtr="0">
            <a:normAutofit/>
          </a:bodyPr>
          <a:lstStyle/>
          <a:p>
            <a:r>
              <a:rPr lang="en-US" altLang="ko-KR" sz="5400" dirty="0">
                <a:solidFill>
                  <a:schemeClr val="bg1"/>
                </a:solidFill>
                <a:latin typeface="D2Coding" panose="020B0609020101020101" pitchFamily="49" charset="-127"/>
                <a:ea typeface="D2Coding" panose="020B0609020101020101" pitchFamily="49" charset="-127"/>
              </a:rPr>
              <a:t>Install Visual Studio Code</a:t>
            </a:r>
            <a:endParaRPr lang="ko-KR" altLang="en-US" sz="2000" dirty="0">
              <a:solidFill>
                <a:schemeClr val="bg1"/>
              </a:solidFill>
              <a:latin typeface="D2Coding" panose="020B0609020101020101" pitchFamily="49" charset="-127"/>
              <a:ea typeface="D2Coding" panose="020B0609020101020101" pitchFamily="49" charset="-127"/>
            </a:endParaRPr>
          </a:p>
        </p:txBody>
      </p:sp>
      <p:sp>
        <p:nvSpPr>
          <p:cNvPr id="5" name="부제목 2">
            <a:extLst>
              <a:ext uri="{FF2B5EF4-FFF2-40B4-BE49-F238E27FC236}">
                <a16:creationId xmlns:a16="http://schemas.microsoft.com/office/drawing/2014/main" id="{DB5A799B-7FED-BF1E-A600-271950EB13B6}"/>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latin typeface="D2Coding" panose="020B0609020101020101" pitchFamily="49" charset="-127"/>
                <a:ea typeface="D2Coding" panose="020B0609020101020101" pitchFamily="49" charset="-127"/>
              </a:rPr>
              <a:t>2026 Fall</a:t>
            </a:r>
          </a:p>
          <a:p>
            <a:r>
              <a:rPr lang="ko-KR" altLang="en-US" sz="2400" dirty="0" err="1">
                <a:solidFill>
                  <a:schemeClr val="bg1"/>
                </a:solidFill>
                <a:latin typeface="D2Coding" panose="020B0609020101020101" pitchFamily="49" charset="-127"/>
                <a:ea typeface="D2Coding" panose="020B0609020101020101" pitchFamily="49" charset="-127"/>
              </a:rPr>
              <a:t>조상구교수</a:t>
            </a:r>
            <a:endParaRPr lang="en-US" altLang="ko-KR" sz="2400" dirty="0">
              <a:solidFill>
                <a:schemeClr val="bg1"/>
              </a:solidFill>
              <a:latin typeface="D2Coding" panose="020B0609020101020101" pitchFamily="49" charset="-127"/>
              <a:ea typeface="D2Coding" panose="020B0609020101020101" pitchFamily="49" charset="-127"/>
            </a:endParaRPr>
          </a:p>
        </p:txBody>
      </p:sp>
      <p:sp>
        <p:nvSpPr>
          <p:cNvPr id="4" name="TextBox 3">
            <a:extLst>
              <a:ext uri="{FF2B5EF4-FFF2-40B4-BE49-F238E27FC236}">
                <a16:creationId xmlns:a16="http://schemas.microsoft.com/office/drawing/2014/main" id="{7274BBCA-BF0E-7323-23C3-07E0099325BC}"/>
              </a:ext>
            </a:extLst>
          </p:cNvPr>
          <p:cNvSpPr txBox="1"/>
          <p:nvPr/>
        </p:nvSpPr>
        <p:spPr>
          <a:xfrm>
            <a:off x="855620" y="2752872"/>
            <a:ext cx="9374230" cy="463397"/>
          </a:xfrm>
          <a:prstGeom prst="rect">
            <a:avLst/>
          </a:prstGeom>
          <a:noFill/>
        </p:spPr>
        <p:txBody>
          <a:bodyPr wrap="square">
            <a:spAutoFit/>
          </a:bodyPr>
          <a:lstStyle/>
          <a:p>
            <a:pPr marL="285750" indent="-285750">
              <a:lnSpc>
                <a:spcPct val="150000"/>
              </a:lnSpc>
              <a:buFont typeface="Wingdings" panose="05000000000000000000" pitchFamily="2" charset="2"/>
              <a:buChar char="ü"/>
            </a:pPr>
            <a:r>
              <a:rPr lang="en-US" altLang="ko-KR" sz="1800" dirty="0" err="1">
                <a:solidFill>
                  <a:schemeClr val="bg1"/>
                </a:solidFill>
                <a:latin typeface="D2Coding" panose="020B0609020101020101" pitchFamily="49" charset="-127"/>
                <a:ea typeface="D2Coding" panose="020B0609020101020101" pitchFamily="49" charset="-127"/>
              </a:rPr>
              <a:t>Colab</a:t>
            </a:r>
            <a:r>
              <a:rPr lang="ko-KR" altLang="en-US" sz="1800" dirty="0">
                <a:solidFill>
                  <a:schemeClr val="bg1"/>
                </a:solidFill>
                <a:latin typeface="D2Coding" panose="020B0609020101020101" pitchFamily="49" charset="-127"/>
                <a:ea typeface="D2Coding" panose="020B0609020101020101" pitchFamily="49" charset="-127"/>
              </a:rPr>
              <a:t>과 </a:t>
            </a:r>
            <a:r>
              <a:rPr lang="en-US" altLang="ko-KR" sz="1800" dirty="0">
                <a:solidFill>
                  <a:schemeClr val="bg1"/>
                </a:solidFill>
                <a:latin typeface="D2Coding" panose="020B0609020101020101" pitchFamily="49" charset="-127"/>
                <a:ea typeface="D2Coding" panose="020B0609020101020101" pitchFamily="49" charset="-127"/>
              </a:rPr>
              <a:t>VS Code</a:t>
            </a:r>
            <a:r>
              <a:rPr lang="ko-KR" altLang="en-US" sz="1800" dirty="0">
                <a:solidFill>
                  <a:schemeClr val="bg1"/>
                </a:solidFill>
                <a:latin typeface="D2Coding" panose="020B0609020101020101" pitchFamily="49" charset="-127"/>
                <a:ea typeface="D2Coding" panose="020B0609020101020101" pitchFamily="49" charset="-127"/>
              </a:rPr>
              <a:t>에서 </a:t>
            </a:r>
            <a:r>
              <a:rPr lang="en-US" altLang="ko-KR" sz="1800" dirty="0">
                <a:solidFill>
                  <a:schemeClr val="bg1"/>
                </a:solidFill>
                <a:latin typeface="D2Coding" panose="020B0609020101020101" pitchFamily="49" charset="-127"/>
                <a:ea typeface="D2Coding" panose="020B0609020101020101" pitchFamily="49" charset="-127"/>
              </a:rPr>
              <a:t>Module </a:t>
            </a:r>
            <a:r>
              <a:rPr lang="ko-KR" altLang="en-US" sz="1800" dirty="0">
                <a:solidFill>
                  <a:schemeClr val="bg1"/>
                </a:solidFill>
                <a:latin typeface="D2Coding" panose="020B0609020101020101" pitchFamily="49" charset="-127"/>
                <a:ea typeface="D2Coding" panose="020B0609020101020101" pitchFamily="49" charset="-127"/>
              </a:rPr>
              <a:t>구성 실습 및 </a:t>
            </a:r>
            <a:r>
              <a:rPr lang="en-US" altLang="ko-KR" sz="1800" dirty="0">
                <a:solidFill>
                  <a:schemeClr val="bg1"/>
                </a:solidFill>
                <a:latin typeface="D2Coding" panose="020B0609020101020101" pitchFamily="49" charset="-127"/>
                <a:ea typeface="D2Coding" panose="020B0609020101020101" pitchFamily="49" charset="-127"/>
              </a:rPr>
              <a:t>Library, Package </a:t>
            </a:r>
            <a:r>
              <a:rPr lang="ko-KR" altLang="en-US" sz="1800" dirty="0">
                <a:solidFill>
                  <a:schemeClr val="bg1"/>
                </a:solidFill>
                <a:latin typeface="D2Coding" panose="020B0609020101020101" pitchFamily="49" charset="-127"/>
                <a:ea typeface="D2Coding" panose="020B0609020101020101" pitchFamily="49" charset="-127"/>
              </a:rPr>
              <a:t>이해</a:t>
            </a:r>
            <a:endParaRPr lang="ko-KR" altLang="en-US" dirty="0"/>
          </a:p>
        </p:txBody>
      </p:sp>
    </p:spTree>
    <p:extLst>
      <p:ext uri="{BB962C8B-B14F-4D97-AF65-F5344CB8AC3E}">
        <p14:creationId xmlns:p14="http://schemas.microsoft.com/office/powerpoint/2010/main" val="22047985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64C60-E77A-1612-0417-6AC1D9FD051A}"/>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5CB3FB64-E2D7-2B44-CF30-870DAE3115A3}"/>
              </a:ext>
            </a:extLst>
          </p:cNvPr>
          <p:cNvSpPr>
            <a:spLocks noGrp="1"/>
          </p:cNvSpPr>
          <p:nvPr>
            <p:ph type="ctrTitle"/>
          </p:nvPr>
        </p:nvSpPr>
        <p:spPr>
          <a:xfrm>
            <a:off x="838199" y="1164324"/>
            <a:ext cx="10934701" cy="1293126"/>
          </a:xfrm>
        </p:spPr>
        <p:txBody>
          <a:bodyPr rtlCol="0" anchor="ctr" anchorCtr="0">
            <a:normAutofit/>
          </a:bodyPr>
          <a:lstStyle/>
          <a:p>
            <a:r>
              <a:rPr lang="en-US" altLang="ko-KR" sz="5400" dirty="0">
                <a:solidFill>
                  <a:schemeClr val="bg1"/>
                </a:solidFill>
                <a:latin typeface="D2Coding" panose="020B0609020101020101" pitchFamily="49" charset="-127"/>
                <a:ea typeface="D2Coding" panose="020B0609020101020101" pitchFamily="49" charset="-127"/>
              </a:rPr>
              <a:t>Client/Server</a:t>
            </a:r>
            <a:r>
              <a:rPr lang="ko-KR" altLang="en-US" sz="5400" dirty="0">
                <a:solidFill>
                  <a:schemeClr val="bg1"/>
                </a:solidFill>
                <a:latin typeface="D2Coding" panose="020B0609020101020101" pitchFamily="49" charset="-127"/>
                <a:ea typeface="D2Coding" panose="020B0609020101020101" pitchFamily="49" charset="-127"/>
              </a:rPr>
              <a:t> </a:t>
            </a:r>
            <a:r>
              <a:rPr lang="en-US" altLang="ko-KR" sz="5400" dirty="0">
                <a:solidFill>
                  <a:schemeClr val="bg1"/>
                </a:solidFill>
                <a:latin typeface="D2Coding" panose="020B0609020101020101" pitchFamily="49" charset="-127"/>
                <a:ea typeface="D2Coding" panose="020B0609020101020101" pitchFamily="49" charset="-127"/>
              </a:rPr>
              <a:t>Architecture</a:t>
            </a:r>
            <a:endParaRPr lang="ko-KR" altLang="en-US" sz="2000" dirty="0">
              <a:solidFill>
                <a:schemeClr val="bg1"/>
              </a:solidFill>
              <a:latin typeface="D2Coding" panose="020B0609020101020101" pitchFamily="49" charset="-127"/>
              <a:ea typeface="D2Coding" panose="020B0609020101020101" pitchFamily="49" charset="-127"/>
            </a:endParaRPr>
          </a:p>
        </p:txBody>
      </p:sp>
      <p:sp>
        <p:nvSpPr>
          <p:cNvPr id="5" name="부제목 2">
            <a:extLst>
              <a:ext uri="{FF2B5EF4-FFF2-40B4-BE49-F238E27FC236}">
                <a16:creationId xmlns:a16="http://schemas.microsoft.com/office/drawing/2014/main" id="{26638B62-45D9-3E3F-2720-11ECEC2DB006}"/>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latin typeface="D2Coding" panose="020B0609020101020101" pitchFamily="49" charset="-127"/>
                <a:ea typeface="D2Coding" panose="020B0609020101020101" pitchFamily="49" charset="-127"/>
              </a:rPr>
              <a:t>2026 Fall</a:t>
            </a:r>
          </a:p>
          <a:p>
            <a:r>
              <a:rPr lang="ko-KR" altLang="en-US" sz="2400" dirty="0" err="1">
                <a:solidFill>
                  <a:schemeClr val="bg1"/>
                </a:solidFill>
                <a:latin typeface="D2Coding" panose="020B0609020101020101" pitchFamily="49" charset="-127"/>
                <a:ea typeface="D2Coding" panose="020B0609020101020101" pitchFamily="49" charset="-127"/>
              </a:rPr>
              <a:t>조상구교수</a:t>
            </a:r>
            <a:endParaRPr lang="en-US" altLang="ko-KR" sz="2400" dirty="0">
              <a:solidFill>
                <a:schemeClr val="bg1"/>
              </a:solidFill>
              <a:latin typeface="D2Coding" panose="020B0609020101020101" pitchFamily="49" charset="-127"/>
              <a:ea typeface="D2Coding" panose="020B0609020101020101" pitchFamily="49" charset="-127"/>
            </a:endParaRPr>
          </a:p>
        </p:txBody>
      </p:sp>
      <p:sp>
        <p:nvSpPr>
          <p:cNvPr id="4" name="TextBox 3">
            <a:extLst>
              <a:ext uri="{FF2B5EF4-FFF2-40B4-BE49-F238E27FC236}">
                <a16:creationId xmlns:a16="http://schemas.microsoft.com/office/drawing/2014/main" id="{7BC5B72C-B96F-4ECB-E721-16083297E251}"/>
              </a:ext>
            </a:extLst>
          </p:cNvPr>
          <p:cNvSpPr txBox="1"/>
          <p:nvPr/>
        </p:nvSpPr>
        <p:spPr>
          <a:xfrm>
            <a:off x="855620" y="2752872"/>
            <a:ext cx="9374230" cy="1296317"/>
          </a:xfrm>
          <a:prstGeom prst="rect">
            <a:avLst/>
          </a:prstGeom>
          <a:noFill/>
        </p:spPr>
        <p:txBody>
          <a:bodyPr wrap="square">
            <a:spAutoFit/>
          </a:bodyPr>
          <a:lstStyle/>
          <a:p>
            <a:pPr marL="285750" indent="-285750">
              <a:lnSpc>
                <a:spcPct val="150000"/>
              </a:lnSpc>
              <a:buFont typeface="Wingdings" panose="05000000000000000000" pitchFamily="2" charset="2"/>
              <a:buChar char="ü"/>
            </a:pPr>
            <a:r>
              <a:rPr lang="en-US" altLang="ko-KR" dirty="0">
                <a:solidFill>
                  <a:schemeClr val="bg1"/>
                </a:solidFill>
                <a:latin typeface="D2Coding" panose="020B0609020101020101" pitchFamily="49" charset="-127"/>
                <a:ea typeface="D2Coding" panose="020B0609020101020101" pitchFamily="49" charset="-127"/>
              </a:rPr>
              <a:t>Requests: HTTP for Humans </a:t>
            </a:r>
            <a:r>
              <a:rPr lang="ko-KR" altLang="en-US" dirty="0">
                <a:solidFill>
                  <a:schemeClr val="bg1"/>
                </a:solidFill>
                <a:latin typeface="D2Coding" panose="020B0609020101020101" pitchFamily="49" charset="-127"/>
                <a:ea typeface="D2Coding" panose="020B0609020101020101" pitchFamily="49" charset="-127"/>
              </a:rPr>
              <a:t>실습</a:t>
            </a:r>
            <a:endParaRPr lang="en-US" altLang="ko-KR" dirty="0">
              <a:solidFill>
                <a:schemeClr val="bg1"/>
              </a:solidFill>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ü"/>
            </a:pPr>
            <a:r>
              <a:rPr lang="en-US" altLang="ko-KR" dirty="0">
                <a:solidFill>
                  <a:schemeClr val="bg1"/>
                </a:solidFill>
                <a:latin typeface="D2Coding" panose="020B0609020101020101" pitchFamily="49" charset="-127"/>
                <a:ea typeface="D2Coding" panose="020B0609020101020101" pitchFamily="49" charset="-127"/>
              </a:rPr>
              <a:t>import Module vs. SW</a:t>
            </a:r>
            <a:r>
              <a:rPr lang="ko-KR" altLang="en-US" dirty="0">
                <a:solidFill>
                  <a:schemeClr val="bg1"/>
                </a:solidFill>
                <a:latin typeface="D2Coding" panose="020B0609020101020101" pitchFamily="49" charset="-127"/>
                <a:ea typeface="D2Coding" panose="020B0609020101020101" pitchFamily="49" charset="-127"/>
              </a:rPr>
              <a:t> </a:t>
            </a:r>
            <a:r>
              <a:rPr lang="en-US" altLang="ko-KR" dirty="0">
                <a:solidFill>
                  <a:schemeClr val="bg1"/>
                </a:solidFill>
                <a:latin typeface="D2Coding" panose="020B0609020101020101" pitchFamily="49" charset="-127"/>
                <a:ea typeface="D2Coding" panose="020B0609020101020101" pitchFamily="49" charset="-127"/>
              </a:rPr>
              <a:t>Build</a:t>
            </a:r>
          </a:p>
          <a:p>
            <a:pPr marL="285750" indent="-285750">
              <a:lnSpc>
                <a:spcPct val="150000"/>
              </a:lnSpc>
              <a:buFont typeface="Wingdings" panose="05000000000000000000" pitchFamily="2" charset="2"/>
              <a:buChar char="ü"/>
            </a:pPr>
            <a:r>
              <a:rPr lang="en-US" altLang="ko-KR" dirty="0" err="1">
                <a:solidFill>
                  <a:schemeClr val="bg1"/>
                </a:solidFill>
                <a:latin typeface="D2Coding" panose="020B0609020101020101" pitchFamily="49" charset="-127"/>
                <a:ea typeface="D2Coding" panose="020B0609020101020101" pitchFamily="49" charset="-127"/>
              </a:rPr>
              <a:t>PyPI</a:t>
            </a:r>
            <a:endParaRPr lang="en-US" altLang="ko-KR"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9982957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AFB110-BF6A-BB90-497C-0D763A661F6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F8CBCDB-B8E3-4471-3171-3A5D4B698B7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Client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sym typeface="Wingdings" panose="05000000000000000000" pitchFamily="2" charset="2"/>
              </a:rPr>
              <a:t>Server Communication Flow</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7" name="슬라이드 번호 개체 틀 3">
            <a:extLst>
              <a:ext uri="{FF2B5EF4-FFF2-40B4-BE49-F238E27FC236}">
                <a16:creationId xmlns:a16="http://schemas.microsoft.com/office/drawing/2014/main" id="{D9CFB56E-1CED-32EB-C150-3B70120A96E9}"/>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12</a:t>
            </a:fld>
            <a:endParaRPr lang="en-US" b="1" dirty="0">
              <a:latin typeface="Segoe UI Emoji" panose="020B0502040204020203" pitchFamily="34" charset="0"/>
              <a:ea typeface="Segoe UI Emoji" panose="020B0502040204020203" pitchFamily="34" charset="0"/>
            </a:endParaRPr>
          </a:p>
        </p:txBody>
      </p:sp>
      <p:sp>
        <p:nvSpPr>
          <p:cNvPr id="34" name="TextBox 33">
            <a:extLst>
              <a:ext uri="{FF2B5EF4-FFF2-40B4-BE49-F238E27FC236}">
                <a16:creationId xmlns:a16="http://schemas.microsoft.com/office/drawing/2014/main" id="{9EEC1546-FC94-84F1-E7CE-AAE69AA70394}"/>
              </a:ext>
            </a:extLst>
          </p:cNvPr>
          <p:cNvSpPr txBox="1"/>
          <p:nvPr/>
        </p:nvSpPr>
        <p:spPr>
          <a:xfrm>
            <a:off x="7861708" y="4126362"/>
            <a:ext cx="4072598" cy="2249655"/>
          </a:xfrm>
          <a:prstGeom prst="rect">
            <a:avLst/>
          </a:prstGeom>
          <a:solidFill>
            <a:srgbClr val="76E3FF"/>
          </a:solidFill>
        </p:spPr>
        <p:txBody>
          <a:bodyPr wrap="square">
            <a:spAutoFit/>
          </a:bodyPr>
          <a:lstStyle/>
          <a:p>
            <a:pPr>
              <a:lnSpc>
                <a:spcPts val="1425"/>
              </a:lnSpc>
              <a:buNone/>
            </a:pPr>
            <a:r>
              <a:rPr lang="ko-KR" altLang="ko-KR" sz="1200" b="0" dirty="0" err="1">
                <a:effectLst/>
                <a:latin typeface="D2Coding" panose="020B0609020101020101" pitchFamily="49" charset="-127"/>
                <a:ea typeface="D2Coding" panose="020B0609020101020101" pitchFamily="49" charset="-127"/>
              </a:rPr>
              <a:t>import</a:t>
            </a:r>
            <a:r>
              <a:rPr lang="ko-KR" altLang="ko-KR" sz="1200" b="0" dirty="0">
                <a:effectLst/>
                <a:latin typeface="D2Coding" panose="020B0609020101020101" pitchFamily="49" charset="-127"/>
                <a:ea typeface="D2Coding" panose="020B0609020101020101" pitchFamily="49" charset="-127"/>
              </a:rPr>
              <a:t> </a:t>
            </a:r>
            <a:r>
              <a:rPr lang="ko-KR" altLang="ko-KR" sz="1200" b="0" dirty="0" err="1">
                <a:effectLst/>
                <a:latin typeface="D2Coding" panose="020B0609020101020101" pitchFamily="49" charset="-127"/>
                <a:ea typeface="D2Coding" panose="020B0609020101020101" pitchFamily="49" charset="-127"/>
              </a:rPr>
              <a:t>socket</a:t>
            </a:r>
            <a:endParaRPr lang="ko-KR" altLang="ko-KR" sz="1200" b="0" dirty="0">
              <a:effectLst/>
              <a:latin typeface="D2Coding" panose="020B0609020101020101" pitchFamily="49" charset="-127"/>
              <a:ea typeface="D2Coding" panose="020B0609020101020101" pitchFamily="49" charset="-127"/>
            </a:endParaRPr>
          </a:p>
          <a:p>
            <a:pPr>
              <a:lnSpc>
                <a:spcPts val="1425"/>
              </a:lnSpc>
              <a:buNone/>
            </a:pPr>
            <a:br>
              <a:rPr lang="ko-KR" altLang="ko-KR" sz="1200" b="0" dirty="0">
                <a:effectLst/>
                <a:latin typeface="D2Coding" panose="020B0609020101020101" pitchFamily="49" charset="-127"/>
                <a:ea typeface="D2Coding" panose="020B0609020101020101" pitchFamily="49" charset="-127"/>
              </a:rPr>
            </a:br>
            <a:endParaRPr lang="ko-KR" altLang="ko-KR" sz="1200" b="0" dirty="0">
              <a:effectLst/>
              <a:latin typeface="D2Coding" panose="020B0609020101020101" pitchFamily="49" charset="-127"/>
              <a:ea typeface="D2Coding" panose="020B0609020101020101" pitchFamily="49" charset="-127"/>
            </a:endParaRPr>
          </a:p>
          <a:p>
            <a:pPr>
              <a:lnSpc>
                <a:spcPts val="1425"/>
              </a:lnSpc>
              <a:buNone/>
            </a:pPr>
            <a:r>
              <a:rPr lang="ko-KR" altLang="ko-KR" sz="1200" b="0" dirty="0" err="1">
                <a:effectLst/>
                <a:latin typeface="D2Coding" panose="020B0609020101020101" pitchFamily="49" charset="-127"/>
                <a:ea typeface="D2Coding" panose="020B0609020101020101" pitchFamily="49" charset="-127"/>
              </a:rPr>
              <a:t>s</a:t>
            </a:r>
            <a:r>
              <a:rPr lang="ko-KR" altLang="ko-KR" sz="1200" b="0" dirty="0">
                <a:effectLst/>
                <a:latin typeface="D2Coding" panose="020B0609020101020101" pitchFamily="49" charset="-127"/>
                <a:ea typeface="D2Coding" panose="020B0609020101020101" pitchFamily="49" charset="-127"/>
              </a:rPr>
              <a:t> = </a:t>
            </a:r>
            <a:r>
              <a:rPr lang="ko-KR" altLang="ko-KR" sz="1200" b="0" dirty="0" err="1">
                <a:effectLst/>
                <a:latin typeface="D2Coding" panose="020B0609020101020101" pitchFamily="49" charset="-127"/>
                <a:ea typeface="D2Coding" panose="020B0609020101020101" pitchFamily="49" charset="-127"/>
              </a:rPr>
              <a:t>socket.socket</a:t>
            </a:r>
            <a:r>
              <a:rPr lang="ko-KR" altLang="ko-KR" sz="1200" b="0" dirty="0">
                <a:effectLst/>
                <a:latin typeface="D2Coding" panose="020B0609020101020101" pitchFamily="49" charset="-127"/>
                <a:ea typeface="D2Coding" panose="020B0609020101020101" pitchFamily="49" charset="-127"/>
              </a:rPr>
              <a:t>()          # 소켓 생성</a:t>
            </a:r>
          </a:p>
          <a:p>
            <a:pPr>
              <a:lnSpc>
                <a:spcPts val="1425"/>
              </a:lnSpc>
              <a:buNone/>
            </a:pPr>
            <a:r>
              <a:rPr lang="ko-KR" altLang="ko-KR" sz="1200" b="0" dirty="0" err="1">
                <a:effectLst/>
                <a:latin typeface="D2Coding" panose="020B0609020101020101" pitchFamily="49" charset="-127"/>
                <a:ea typeface="D2Coding" panose="020B0609020101020101" pitchFamily="49" charset="-127"/>
              </a:rPr>
              <a:t>s.bind</a:t>
            </a:r>
            <a:r>
              <a:rPr lang="ko-KR" altLang="ko-KR" sz="1200" b="0" dirty="0">
                <a:effectLst/>
                <a:latin typeface="D2Coding" panose="020B0609020101020101" pitchFamily="49" charset="-127"/>
                <a:ea typeface="D2Coding" panose="020B0609020101020101" pitchFamily="49" charset="-127"/>
              </a:rPr>
              <a:t>(("</a:t>
            </a:r>
            <a:r>
              <a:rPr lang="ko-KR" altLang="ko-KR" sz="1200" b="0" dirty="0" err="1">
                <a:effectLst/>
                <a:latin typeface="D2Coding" panose="020B0609020101020101" pitchFamily="49" charset="-127"/>
                <a:ea typeface="D2Coding" panose="020B0609020101020101" pitchFamily="49" charset="-127"/>
              </a:rPr>
              <a:t>localhost</a:t>
            </a:r>
            <a:r>
              <a:rPr lang="ko-KR" altLang="ko-KR" sz="1200" b="0" dirty="0">
                <a:effectLst/>
                <a:latin typeface="D2Coding" panose="020B0609020101020101" pitchFamily="49" charset="-127"/>
                <a:ea typeface="D2Coding" panose="020B0609020101020101" pitchFamily="49" charset="-127"/>
              </a:rPr>
              <a:t>", 9999))  # 주소에 연결</a:t>
            </a:r>
          </a:p>
          <a:p>
            <a:pPr>
              <a:lnSpc>
                <a:spcPts val="1425"/>
              </a:lnSpc>
              <a:buNone/>
            </a:pPr>
            <a:r>
              <a:rPr lang="ko-KR" altLang="ko-KR" sz="1200" b="0" dirty="0" err="1">
                <a:effectLst/>
                <a:latin typeface="D2Coding" panose="020B0609020101020101" pitchFamily="49" charset="-127"/>
                <a:ea typeface="D2Coding" panose="020B0609020101020101" pitchFamily="49" charset="-127"/>
              </a:rPr>
              <a:t>s.listen</a:t>
            </a:r>
            <a:r>
              <a:rPr lang="ko-KR" altLang="ko-KR" sz="1200" b="0" dirty="0">
                <a:effectLst/>
                <a:latin typeface="D2Coding" panose="020B0609020101020101" pitchFamily="49" charset="-127"/>
                <a:ea typeface="D2Coding" panose="020B0609020101020101" pitchFamily="49" charset="-127"/>
              </a:rPr>
              <a:t>()                   # 연결 대기</a:t>
            </a:r>
          </a:p>
          <a:p>
            <a:pPr>
              <a:lnSpc>
                <a:spcPts val="1425"/>
              </a:lnSpc>
              <a:buNone/>
            </a:pPr>
            <a:br>
              <a:rPr lang="ko-KR" altLang="ko-KR" sz="1200" b="0" dirty="0">
                <a:effectLst/>
                <a:latin typeface="D2Coding" panose="020B0609020101020101" pitchFamily="49" charset="-127"/>
                <a:ea typeface="D2Coding" panose="020B0609020101020101" pitchFamily="49" charset="-127"/>
              </a:rPr>
            </a:br>
            <a:endParaRPr lang="ko-KR" altLang="ko-KR" sz="1200" b="0" dirty="0">
              <a:effectLst/>
              <a:latin typeface="D2Coding" panose="020B0609020101020101" pitchFamily="49" charset="-127"/>
              <a:ea typeface="D2Coding" panose="020B0609020101020101" pitchFamily="49" charset="-127"/>
            </a:endParaRPr>
          </a:p>
          <a:p>
            <a:pPr>
              <a:lnSpc>
                <a:spcPts val="1425"/>
              </a:lnSpc>
              <a:buNone/>
            </a:pPr>
            <a:r>
              <a:rPr lang="ko-KR" altLang="ko-KR" sz="1200" b="0" dirty="0" err="1">
                <a:effectLst/>
                <a:latin typeface="D2Coding" panose="020B0609020101020101" pitchFamily="49" charset="-127"/>
                <a:ea typeface="D2Coding" panose="020B0609020101020101" pitchFamily="49" charset="-127"/>
              </a:rPr>
              <a:t>conn</a:t>
            </a:r>
            <a:r>
              <a:rPr lang="ko-KR" altLang="ko-KR" sz="1200" b="0" dirty="0">
                <a:effectLst/>
                <a:latin typeface="D2Coding" panose="020B0609020101020101" pitchFamily="49" charset="-127"/>
                <a:ea typeface="D2Coding" panose="020B0609020101020101" pitchFamily="49" charset="-127"/>
              </a:rPr>
              <a:t>, </a:t>
            </a:r>
            <a:r>
              <a:rPr lang="ko-KR" altLang="ko-KR" sz="1200" b="0" dirty="0" err="1">
                <a:effectLst/>
                <a:latin typeface="D2Coding" panose="020B0609020101020101" pitchFamily="49" charset="-127"/>
                <a:ea typeface="D2Coding" panose="020B0609020101020101" pitchFamily="49" charset="-127"/>
              </a:rPr>
              <a:t>addr</a:t>
            </a:r>
            <a:r>
              <a:rPr lang="ko-KR" altLang="ko-KR" sz="1200" b="0" dirty="0">
                <a:effectLst/>
                <a:latin typeface="D2Coding" panose="020B0609020101020101" pitchFamily="49" charset="-127"/>
                <a:ea typeface="D2Coding" panose="020B0609020101020101" pitchFamily="49" charset="-127"/>
              </a:rPr>
              <a:t> = </a:t>
            </a:r>
            <a:r>
              <a:rPr lang="ko-KR" altLang="ko-KR" sz="1200" b="0" dirty="0" err="1">
                <a:effectLst/>
                <a:latin typeface="D2Coding" panose="020B0609020101020101" pitchFamily="49" charset="-127"/>
                <a:ea typeface="D2Coding" panose="020B0609020101020101" pitchFamily="49" charset="-127"/>
              </a:rPr>
              <a:t>s.accept</a:t>
            </a:r>
            <a:r>
              <a:rPr lang="ko-KR" altLang="ko-KR" sz="1200" b="0" dirty="0">
                <a:effectLst/>
                <a:latin typeface="D2Coding" panose="020B0609020101020101" pitchFamily="49" charset="-127"/>
                <a:ea typeface="D2Coding" panose="020B0609020101020101" pitchFamily="49" charset="-127"/>
              </a:rPr>
              <a:t>()      # 클라이언트 연결 수락</a:t>
            </a:r>
          </a:p>
          <a:p>
            <a:pPr>
              <a:lnSpc>
                <a:spcPts val="1425"/>
              </a:lnSpc>
              <a:buNone/>
            </a:pPr>
            <a:r>
              <a:rPr lang="ko-KR" altLang="ko-KR" sz="1200" b="0" dirty="0" err="1">
                <a:effectLst/>
                <a:latin typeface="D2Coding" panose="020B0609020101020101" pitchFamily="49" charset="-127"/>
                <a:ea typeface="D2Coding" panose="020B0609020101020101" pitchFamily="49" charset="-127"/>
              </a:rPr>
              <a:t>data</a:t>
            </a:r>
            <a:r>
              <a:rPr lang="ko-KR" altLang="ko-KR" sz="1200" b="0" dirty="0">
                <a:effectLst/>
                <a:latin typeface="D2Coding" panose="020B0609020101020101" pitchFamily="49" charset="-127"/>
                <a:ea typeface="D2Coding" panose="020B0609020101020101" pitchFamily="49" charset="-127"/>
              </a:rPr>
              <a:t> = </a:t>
            </a:r>
            <a:r>
              <a:rPr lang="ko-KR" altLang="ko-KR" sz="1200" b="0" dirty="0" err="1">
                <a:effectLst/>
                <a:latin typeface="D2Coding" panose="020B0609020101020101" pitchFamily="49" charset="-127"/>
                <a:ea typeface="D2Coding" panose="020B0609020101020101" pitchFamily="49" charset="-127"/>
              </a:rPr>
              <a:t>conn.recv</a:t>
            </a:r>
            <a:r>
              <a:rPr lang="ko-KR" altLang="ko-KR" sz="1200" b="0" dirty="0">
                <a:effectLst/>
                <a:latin typeface="D2Coding" panose="020B0609020101020101" pitchFamily="49" charset="-127"/>
                <a:ea typeface="D2Coding" panose="020B0609020101020101" pitchFamily="49" charset="-127"/>
              </a:rPr>
              <a:t>(1024)       # 데이터 받기</a:t>
            </a:r>
          </a:p>
          <a:p>
            <a:pPr>
              <a:lnSpc>
                <a:spcPts val="1425"/>
              </a:lnSpc>
              <a:buNone/>
            </a:pPr>
            <a:r>
              <a:rPr lang="ko-KR" altLang="ko-KR" sz="1200" b="0" dirty="0" err="1">
                <a:effectLst/>
                <a:latin typeface="D2Coding" panose="020B0609020101020101" pitchFamily="49" charset="-127"/>
                <a:ea typeface="D2Coding" panose="020B0609020101020101" pitchFamily="49" charset="-127"/>
              </a:rPr>
              <a:t>print</a:t>
            </a:r>
            <a:r>
              <a:rPr lang="ko-KR" altLang="ko-KR" sz="1200" b="0" dirty="0">
                <a:effectLst/>
                <a:latin typeface="D2Coding" panose="020B0609020101020101" pitchFamily="49" charset="-127"/>
                <a:ea typeface="D2Coding" panose="020B0609020101020101" pitchFamily="49" charset="-127"/>
              </a:rPr>
              <a:t>("받음:", </a:t>
            </a:r>
            <a:r>
              <a:rPr lang="ko-KR" altLang="ko-KR" sz="1200" b="0" dirty="0" err="1">
                <a:effectLst/>
                <a:latin typeface="D2Coding" panose="020B0609020101020101" pitchFamily="49" charset="-127"/>
                <a:ea typeface="D2Coding" panose="020B0609020101020101" pitchFamily="49" charset="-127"/>
              </a:rPr>
              <a:t>data.decode</a:t>
            </a:r>
            <a:r>
              <a:rPr lang="ko-KR" altLang="ko-KR" sz="1200" b="0" dirty="0">
                <a:effectLst/>
                <a:latin typeface="D2Coding" panose="020B0609020101020101" pitchFamily="49" charset="-127"/>
                <a:ea typeface="D2Coding" panose="020B0609020101020101" pitchFamily="49" charset="-127"/>
              </a:rPr>
              <a:t>())</a:t>
            </a:r>
          </a:p>
          <a:p>
            <a:pPr>
              <a:lnSpc>
                <a:spcPts val="1425"/>
              </a:lnSpc>
              <a:buNone/>
            </a:pPr>
            <a:r>
              <a:rPr lang="ko-KR" altLang="ko-KR" sz="1200" b="0" dirty="0" err="1">
                <a:effectLst/>
                <a:latin typeface="D2Coding" panose="020B0609020101020101" pitchFamily="49" charset="-127"/>
                <a:ea typeface="D2Coding" panose="020B0609020101020101" pitchFamily="49" charset="-127"/>
              </a:rPr>
              <a:t>conn.send</a:t>
            </a:r>
            <a:r>
              <a:rPr lang="ko-KR" altLang="ko-KR" sz="1200" b="0" dirty="0">
                <a:effectLst/>
                <a:latin typeface="D2Coding" panose="020B0609020101020101" pitchFamily="49" charset="-127"/>
                <a:ea typeface="D2Coding" panose="020B0609020101020101" pitchFamily="49" charset="-127"/>
              </a:rPr>
              <a:t>(</a:t>
            </a:r>
            <a:r>
              <a:rPr lang="ko-KR" altLang="ko-KR" sz="1200" b="0" dirty="0" err="1">
                <a:effectLst/>
                <a:latin typeface="D2Coding" panose="020B0609020101020101" pitchFamily="49" charset="-127"/>
                <a:ea typeface="D2Coding" panose="020B0609020101020101" pitchFamily="49" charset="-127"/>
              </a:rPr>
              <a:t>b"hello</a:t>
            </a:r>
            <a:r>
              <a:rPr lang="ko-KR" altLang="ko-KR" sz="1200" b="0" dirty="0">
                <a:effectLst/>
                <a:latin typeface="D2Coding" panose="020B0609020101020101" pitchFamily="49" charset="-127"/>
                <a:ea typeface="D2Coding" panose="020B0609020101020101" pitchFamily="49" charset="-127"/>
              </a:rPr>
              <a:t> </a:t>
            </a:r>
            <a:r>
              <a:rPr lang="ko-KR" altLang="ko-KR" sz="1200" b="0" dirty="0" err="1">
                <a:effectLst/>
                <a:latin typeface="D2Coding" panose="020B0609020101020101" pitchFamily="49" charset="-127"/>
                <a:ea typeface="D2Coding" panose="020B0609020101020101" pitchFamily="49" charset="-127"/>
              </a:rPr>
              <a:t>client</a:t>
            </a:r>
            <a:r>
              <a:rPr lang="ko-KR" altLang="ko-KR" sz="1200" b="0" dirty="0">
                <a:effectLst/>
                <a:latin typeface="D2Coding" panose="020B0609020101020101" pitchFamily="49" charset="-127"/>
                <a:ea typeface="D2Coding" panose="020B0609020101020101" pitchFamily="49" charset="-127"/>
              </a:rPr>
              <a:t>")   # 데이터 보내기</a:t>
            </a:r>
          </a:p>
        </p:txBody>
      </p:sp>
      <p:sp>
        <p:nvSpPr>
          <p:cNvPr id="36" name="TextBox 35">
            <a:extLst>
              <a:ext uri="{FF2B5EF4-FFF2-40B4-BE49-F238E27FC236}">
                <a16:creationId xmlns:a16="http://schemas.microsoft.com/office/drawing/2014/main" id="{752BDD22-B68B-8597-B3EE-2CF167B8A8BC}"/>
              </a:ext>
            </a:extLst>
          </p:cNvPr>
          <p:cNvSpPr txBox="1"/>
          <p:nvPr/>
        </p:nvSpPr>
        <p:spPr>
          <a:xfrm>
            <a:off x="800540" y="4126362"/>
            <a:ext cx="3771460" cy="1517275"/>
          </a:xfrm>
          <a:prstGeom prst="rect">
            <a:avLst/>
          </a:prstGeom>
          <a:solidFill>
            <a:srgbClr val="76E3FF"/>
          </a:solidFill>
        </p:spPr>
        <p:txBody>
          <a:bodyPr wrap="square">
            <a:spAutoFit/>
          </a:bodyPr>
          <a:lstStyle/>
          <a:p>
            <a:pPr>
              <a:lnSpc>
                <a:spcPts val="1425"/>
              </a:lnSpc>
              <a:buNone/>
            </a:pPr>
            <a:r>
              <a:rPr lang="ko-KR" altLang="ko-KR" sz="1200" b="0" dirty="0" err="1">
                <a:effectLst/>
                <a:latin typeface="D2Coding" panose="020B0609020101020101" pitchFamily="49" charset="-127"/>
                <a:ea typeface="D2Coding" panose="020B0609020101020101" pitchFamily="49" charset="-127"/>
              </a:rPr>
              <a:t>import</a:t>
            </a:r>
            <a:r>
              <a:rPr lang="ko-KR" altLang="ko-KR" sz="1200" b="0" dirty="0">
                <a:effectLst/>
                <a:latin typeface="D2Coding" panose="020B0609020101020101" pitchFamily="49" charset="-127"/>
                <a:ea typeface="D2Coding" panose="020B0609020101020101" pitchFamily="49" charset="-127"/>
              </a:rPr>
              <a:t> </a:t>
            </a:r>
            <a:r>
              <a:rPr lang="ko-KR" altLang="ko-KR" sz="1200" b="0" dirty="0" err="1">
                <a:effectLst/>
                <a:latin typeface="D2Coding" panose="020B0609020101020101" pitchFamily="49" charset="-127"/>
                <a:ea typeface="D2Coding" panose="020B0609020101020101" pitchFamily="49" charset="-127"/>
              </a:rPr>
              <a:t>socket</a:t>
            </a:r>
            <a:endParaRPr lang="ko-KR" altLang="ko-KR" sz="1200" b="0" dirty="0">
              <a:effectLst/>
              <a:latin typeface="D2Coding" panose="020B0609020101020101" pitchFamily="49" charset="-127"/>
              <a:ea typeface="D2Coding" panose="020B0609020101020101" pitchFamily="49" charset="-127"/>
            </a:endParaRPr>
          </a:p>
          <a:p>
            <a:pPr>
              <a:lnSpc>
                <a:spcPts val="1425"/>
              </a:lnSpc>
              <a:buNone/>
            </a:pPr>
            <a:br>
              <a:rPr lang="ko-KR" altLang="ko-KR" sz="1200" b="0" dirty="0">
                <a:effectLst/>
                <a:latin typeface="D2Coding" panose="020B0609020101020101" pitchFamily="49" charset="-127"/>
                <a:ea typeface="D2Coding" panose="020B0609020101020101" pitchFamily="49" charset="-127"/>
              </a:rPr>
            </a:br>
            <a:endParaRPr lang="ko-KR" altLang="ko-KR" sz="1200" b="0" dirty="0">
              <a:effectLst/>
              <a:latin typeface="D2Coding" panose="020B0609020101020101" pitchFamily="49" charset="-127"/>
              <a:ea typeface="D2Coding" panose="020B0609020101020101" pitchFamily="49" charset="-127"/>
            </a:endParaRPr>
          </a:p>
          <a:p>
            <a:pPr>
              <a:lnSpc>
                <a:spcPts val="1425"/>
              </a:lnSpc>
              <a:buNone/>
            </a:pPr>
            <a:r>
              <a:rPr lang="ko-KR" altLang="ko-KR" sz="1200" b="0" dirty="0" err="1">
                <a:effectLst/>
                <a:latin typeface="D2Coding" panose="020B0609020101020101" pitchFamily="49" charset="-127"/>
                <a:ea typeface="D2Coding" panose="020B0609020101020101" pitchFamily="49" charset="-127"/>
              </a:rPr>
              <a:t>s</a:t>
            </a:r>
            <a:r>
              <a:rPr lang="ko-KR" altLang="ko-KR" sz="1200" b="0" dirty="0">
                <a:effectLst/>
                <a:latin typeface="D2Coding" panose="020B0609020101020101" pitchFamily="49" charset="-127"/>
                <a:ea typeface="D2Coding" panose="020B0609020101020101" pitchFamily="49" charset="-127"/>
              </a:rPr>
              <a:t> = </a:t>
            </a:r>
            <a:r>
              <a:rPr lang="ko-KR" altLang="ko-KR" sz="1200" b="0" dirty="0" err="1">
                <a:effectLst/>
                <a:latin typeface="D2Coding" panose="020B0609020101020101" pitchFamily="49" charset="-127"/>
                <a:ea typeface="D2Coding" panose="020B0609020101020101" pitchFamily="49" charset="-127"/>
              </a:rPr>
              <a:t>socket.socket</a:t>
            </a:r>
            <a:r>
              <a:rPr lang="ko-KR" altLang="ko-KR" sz="1200" b="0" dirty="0">
                <a:effectLst/>
                <a:latin typeface="D2Coding" panose="020B0609020101020101" pitchFamily="49" charset="-127"/>
                <a:ea typeface="D2Coding" panose="020B0609020101020101" pitchFamily="49" charset="-127"/>
              </a:rPr>
              <a:t>()             # 소켓 생성</a:t>
            </a:r>
          </a:p>
          <a:p>
            <a:pPr>
              <a:lnSpc>
                <a:spcPts val="1425"/>
              </a:lnSpc>
              <a:buNone/>
            </a:pPr>
            <a:r>
              <a:rPr lang="ko-KR" altLang="ko-KR" sz="1200" b="0" dirty="0" err="1">
                <a:effectLst/>
                <a:latin typeface="D2Coding" panose="020B0609020101020101" pitchFamily="49" charset="-127"/>
                <a:ea typeface="D2Coding" panose="020B0609020101020101" pitchFamily="49" charset="-127"/>
              </a:rPr>
              <a:t>s.connect</a:t>
            </a:r>
            <a:r>
              <a:rPr lang="ko-KR" altLang="ko-KR" sz="1200" b="0" dirty="0">
                <a:effectLst/>
                <a:latin typeface="D2Coding" panose="020B0609020101020101" pitchFamily="49" charset="-127"/>
                <a:ea typeface="D2Coding" panose="020B0609020101020101" pitchFamily="49" charset="-127"/>
              </a:rPr>
              <a:t>(("</a:t>
            </a:r>
            <a:r>
              <a:rPr lang="ko-KR" altLang="ko-KR" sz="1200" b="0" dirty="0" err="1">
                <a:effectLst/>
                <a:latin typeface="D2Coding" panose="020B0609020101020101" pitchFamily="49" charset="-127"/>
                <a:ea typeface="D2Coding" panose="020B0609020101020101" pitchFamily="49" charset="-127"/>
              </a:rPr>
              <a:t>localhost</a:t>
            </a:r>
            <a:r>
              <a:rPr lang="ko-KR" altLang="ko-KR" sz="1200" b="0" dirty="0">
                <a:effectLst/>
                <a:latin typeface="D2Coding" panose="020B0609020101020101" pitchFamily="49" charset="-127"/>
                <a:ea typeface="D2Coding" panose="020B0609020101020101" pitchFamily="49" charset="-127"/>
              </a:rPr>
              <a:t>", 9999))  # 서버에 연결</a:t>
            </a:r>
          </a:p>
          <a:p>
            <a:pPr>
              <a:lnSpc>
                <a:spcPts val="1425"/>
              </a:lnSpc>
              <a:buNone/>
            </a:pPr>
            <a:r>
              <a:rPr lang="ko-KR" altLang="ko-KR" sz="1200" b="0" dirty="0" err="1">
                <a:effectLst/>
                <a:latin typeface="D2Coding" panose="020B0609020101020101" pitchFamily="49" charset="-127"/>
                <a:ea typeface="D2Coding" panose="020B0609020101020101" pitchFamily="49" charset="-127"/>
              </a:rPr>
              <a:t>s.send</a:t>
            </a:r>
            <a:r>
              <a:rPr lang="ko-KR" altLang="ko-KR" sz="1200" b="0" dirty="0">
                <a:effectLst/>
                <a:latin typeface="D2Coding" panose="020B0609020101020101" pitchFamily="49" charset="-127"/>
                <a:ea typeface="D2Coding" panose="020B0609020101020101" pitchFamily="49" charset="-127"/>
              </a:rPr>
              <a:t>(</a:t>
            </a:r>
            <a:r>
              <a:rPr lang="ko-KR" altLang="ko-KR" sz="1200" b="0" dirty="0" err="1">
                <a:effectLst/>
                <a:latin typeface="D2Coding" panose="020B0609020101020101" pitchFamily="49" charset="-127"/>
                <a:ea typeface="D2Coding" panose="020B0609020101020101" pitchFamily="49" charset="-127"/>
              </a:rPr>
              <a:t>b"hello</a:t>
            </a:r>
            <a:r>
              <a:rPr lang="ko-KR" altLang="ko-KR" sz="1200" b="0" dirty="0">
                <a:effectLst/>
                <a:latin typeface="D2Coding" panose="020B0609020101020101" pitchFamily="49" charset="-127"/>
                <a:ea typeface="D2Coding" panose="020B0609020101020101" pitchFamily="49" charset="-127"/>
              </a:rPr>
              <a:t> </a:t>
            </a:r>
            <a:r>
              <a:rPr lang="ko-KR" altLang="ko-KR" sz="1200" b="0" dirty="0" err="1">
                <a:effectLst/>
                <a:latin typeface="D2Coding" panose="020B0609020101020101" pitchFamily="49" charset="-127"/>
                <a:ea typeface="D2Coding" panose="020B0609020101020101" pitchFamily="49" charset="-127"/>
              </a:rPr>
              <a:t>server</a:t>
            </a:r>
            <a:r>
              <a:rPr lang="ko-KR" altLang="ko-KR" sz="1200" b="0" dirty="0">
                <a:effectLst/>
                <a:latin typeface="D2Coding" panose="020B0609020101020101" pitchFamily="49" charset="-127"/>
                <a:ea typeface="D2Coding" panose="020B0609020101020101" pitchFamily="49" charset="-127"/>
              </a:rPr>
              <a:t>")         # 데이터 보내기</a:t>
            </a:r>
          </a:p>
          <a:p>
            <a:pPr>
              <a:lnSpc>
                <a:spcPts val="1425"/>
              </a:lnSpc>
              <a:buNone/>
            </a:pPr>
            <a:r>
              <a:rPr lang="ko-KR" altLang="ko-KR" sz="1200" b="0" dirty="0" err="1">
                <a:effectLst/>
                <a:latin typeface="D2Coding" panose="020B0609020101020101" pitchFamily="49" charset="-127"/>
                <a:ea typeface="D2Coding" panose="020B0609020101020101" pitchFamily="49" charset="-127"/>
              </a:rPr>
              <a:t>data</a:t>
            </a:r>
            <a:r>
              <a:rPr lang="ko-KR" altLang="ko-KR" sz="1200" b="0" dirty="0">
                <a:effectLst/>
                <a:latin typeface="D2Coding" panose="020B0609020101020101" pitchFamily="49" charset="-127"/>
                <a:ea typeface="D2Coding" panose="020B0609020101020101" pitchFamily="49" charset="-127"/>
              </a:rPr>
              <a:t> = </a:t>
            </a:r>
            <a:r>
              <a:rPr lang="ko-KR" altLang="ko-KR" sz="1200" b="0" dirty="0" err="1">
                <a:effectLst/>
                <a:latin typeface="D2Coding" panose="020B0609020101020101" pitchFamily="49" charset="-127"/>
                <a:ea typeface="D2Coding" panose="020B0609020101020101" pitchFamily="49" charset="-127"/>
              </a:rPr>
              <a:t>s.recv</a:t>
            </a:r>
            <a:r>
              <a:rPr lang="ko-KR" altLang="ko-KR" sz="1200" b="0" dirty="0">
                <a:effectLst/>
                <a:latin typeface="D2Coding" panose="020B0609020101020101" pitchFamily="49" charset="-127"/>
                <a:ea typeface="D2Coding" panose="020B0609020101020101" pitchFamily="49" charset="-127"/>
              </a:rPr>
              <a:t>(1024)             # 데이터 받기</a:t>
            </a:r>
          </a:p>
          <a:p>
            <a:pPr>
              <a:lnSpc>
                <a:spcPts val="1425"/>
              </a:lnSpc>
              <a:buNone/>
            </a:pPr>
            <a:r>
              <a:rPr lang="ko-KR" altLang="ko-KR" sz="1200" b="0" dirty="0" err="1">
                <a:effectLst/>
                <a:latin typeface="D2Coding" panose="020B0609020101020101" pitchFamily="49" charset="-127"/>
                <a:ea typeface="D2Coding" panose="020B0609020101020101" pitchFamily="49" charset="-127"/>
              </a:rPr>
              <a:t>print</a:t>
            </a:r>
            <a:r>
              <a:rPr lang="ko-KR" altLang="ko-KR" sz="1200" b="0" dirty="0">
                <a:effectLst/>
                <a:latin typeface="D2Coding" panose="020B0609020101020101" pitchFamily="49" charset="-127"/>
                <a:ea typeface="D2Coding" panose="020B0609020101020101" pitchFamily="49" charset="-127"/>
              </a:rPr>
              <a:t>("Server 로 </a:t>
            </a:r>
            <a:r>
              <a:rPr lang="ko-KR" altLang="ko-KR" sz="1200" b="0" dirty="0" err="1">
                <a:effectLst/>
                <a:latin typeface="D2Coding" panose="020B0609020101020101" pitchFamily="49" charset="-127"/>
                <a:ea typeface="D2Coding" panose="020B0609020101020101" pitchFamily="49" charset="-127"/>
              </a:rPr>
              <a:t>부터</a:t>
            </a:r>
            <a:r>
              <a:rPr lang="ko-KR" altLang="ko-KR" sz="1200" b="0" dirty="0">
                <a:effectLst/>
                <a:latin typeface="D2Coding" panose="020B0609020101020101" pitchFamily="49" charset="-127"/>
                <a:ea typeface="D2Coding" panose="020B0609020101020101" pitchFamily="49" charset="-127"/>
              </a:rPr>
              <a:t> 받음:", </a:t>
            </a:r>
            <a:r>
              <a:rPr lang="ko-KR" altLang="ko-KR" sz="1200" b="0" dirty="0" err="1">
                <a:effectLst/>
                <a:latin typeface="D2Coding" panose="020B0609020101020101" pitchFamily="49" charset="-127"/>
                <a:ea typeface="D2Coding" panose="020B0609020101020101" pitchFamily="49" charset="-127"/>
              </a:rPr>
              <a:t>data.decode</a:t>
            </a:r>
            <a:r>
              <a:rPr lang="ko-KR" altLang="ko-KR" sz="1200" b="0" dirty="0">
                <a:effectLst/>
                <a:latin typeface="D2Coding" panose="020B0609020101020101" pitchFamily="49" charset="-127"/>
                <a:ea typeface="D2Coding" panose="020B0609020101020101" pitchFamily="49" charset="-127"/>
              </a:rPr>
              <a:t>())</a:t>
            </a:r>
          </a:p>
        </p:txBody>
      </p:sp>
      <p:sp>
        <p:nvSpPr>
          <p:cNvPr id="38" name="TextBox 37">
            <a:extLst>
              <a:ext uri="{FF2B5EF4-FFF2-40B4-BE49-F238E27FC236}">
                <a16:creationId xmlns:a16="http://schemas.microsoft.com/office/drawing/2014/main" id="{D693F7C5-3FCD-805D-3871-A14C1DBD40DA}"/>
              </a:ext>
            </a:extLst>
          </p:cNvPr>
          <p:cNvSpPr txBox="1"/>
          <p:nvPr/>
        </p:nvSpPr>
        <p:spPr>
          <a:xfrm>
            <a:off x="7775809" y="3719472"/>
            <a:ext cx="1690254" cy="369332"/>
          </a:xfrm>
          <a:prstGeom prst="rect">
            <a:avLst/>
          </a:prstGeom>
          <a:noFill/>
        </p:spPr>
        <p:txBody>
          <a:bodyPr wrap="square">
            <a:spAutoFit/>
          </a:bodyPr>
          <a:lstStyle/>
          <a:p>
            <a:r>
              <a:rPr lang="ko-KR" altLang="en-US" dirty="0">
                <a:latin typeface="D2Coding" panose="020B0609020101020101" pitchFamily="49" charset="-127"/>
                <a:ea typeface="D2Coding" panose="020B0609020101020101" pitchFamily="49" charset="-127"/>
              </a:rPr>
              <a:t>server.py</a:t>
            </a:r>
          </a:p>
        </p:txBody>
      </p:sp>
      <p:sp>
        <p:nvSpPr>
          <p:cNvPr id="39" name="TextBox 38">
            <a:extLst>
              <a:ext uri="{FF2B5EF4-FFF2-40B4-BE49-F238E27FC236}">
                <a16:creationId xmlns:a16="http://schemas.microsoft.com/office/drawing/2014/main" id="{06D28EF7-7417-EB35-3DCC-906F890EC11B}"/>
              </a:ext>
            </a:extLst>
          </p:cNvPr>
          <p:cNvSpPr txBox="1"/>
          <p:nvPr/>
        </p:nvSpPr>
        <p:spPr>
          <a:xfrm>
            <a:off x="680468" y="3757030"/>
            <a:ext cx="1338828" cy="369332"/>
          </a:xfrm>
          <a:prstGeom prst="rect">
            <a:avLst/>
          </a:prstGeom>
          <a:noFill/>
        </p:spPr>
        <p:txBody>
          <a:bodyPr wrap="none" rtlCol="0">
            <a:spAutoFit/>
          </a:bodyPr>
          <a:lstStyle/>
          <a:p>
            <a:r>
              <a:rPr lang="en-US" altLang="ko-KR" dirty="0">
                <a:latin typeface="D2Coding" panose="020B0609020101020101" pitchFamily="49" charset="-127"/>
                <a:ea typeface="D2Coding" panose="020B0609020101020101" pitchFamily="49" charset="-127"/>
              </a:rPr>
              <a:t>client.py </a:t>
            </a:r>
            <a:endParaRPr lang="ko-KR" altLang="en-US" dirty="0">
              <a:latin typeface="D2Coding" panose="020B0609020101020101" pitchFamily="49" charset="-127"/>
              <a:ea typeface="D2Coding" panose="020B0609020101020101" pitchFamily="49" charset="-127"/>
            </a:endParaRPr>
          </a:p>
        </p:txBody>
      </p:sp>
      <p:pic>
        <p:nvPicPr>
          <p:cNvPr id="42" name="그림 41">
            <a:extLst>
              <a:ext uri="{FF2B5EF4-FFF2-40B4-BE49-F238E27FC236}">
                <a16:creationId xmlns:a16="http://schemas.microsoft.com/office/drawing/2014/main" id="{1CC6D910-760C-D773-7CFC-017A88C0B88C}"/>
              </a:ext>
            </a:extLst>
          </p:cNvPr>
          <p:cNvPicPr>
            <a:picLocks noChangeAspect="1"/>
          </p:cNvPicPr>
          <p:nvPr/>
        </p:nvPicPr>
        <p:blipFill>
          <a:blip r:embed="rId2"/>
          <a:stretch>
            <a:fillRect/>
          </a:stretch>
        </p:blipFill>
        <p:spPr>
          <a:xfrm>
            <a:off x="4763688" y="4126581"/>
            <a:ext cx="2906331" cy="1517275"/>
          </a:xfrm>
          <a:prstGeom prst="rect">
            <a:avLst/>
          </a:prstGeom>
        </p:spPr>
      </p:pic>
      <p:pic>
        <p:nvPicPr>
          <p:cNvPr id="43" name="그림 42" descr="Client-server Application - OOSE">
            <a:extLst>
              <a:ext uri="{FF2B5EF4-FFF2-40B4-BE49-F238E27FC236}">
                <a16:creationId xmlns:a16="http://schemas.microsoft.com/office/drawing/2014/main" id="{BF9B3110-2B04-F783-2184-DA4D91434CD4}"/>
              </a:ext>
            </a:extLst>
          </p:cNvPr>
          <p:cNvPicPr>
            <a:picLocks noChangeAspect="1"/>
          </p:cNvPicPr>
          <p:nvPr/>
        </p:nvPicPr>
        <p:blipFill>
          <a:blip r:embed="rId3"/>
          <a:stretch>
            <a:fillRect/>
          </a:stretch>
        </p:blipFill>
        <p:spPr>
          <a:xfrm>
            <a:off x="3931848" y="1558708"/>
            <a:ext cx="4570009" cy="1850478"/>
          </a:xfrm>
          <a:prstGeom prst="rect">
            <a:avLst/>
          </a:prstGeom>
        </p:spPr>
      </p:pic>
      <p:pic>
        <p:nvPicPr>
          <p:cNvPr id="45" name="그래픽 44" descr="수영">
            <a:extLst>
              <a:ext uri="{FF2B5EF4-FFF2-40B4-BE49-F238E27FC236}">
                <a16:creationId xmlns:a16="http://schemas.microsoft.com/office/drawing/2014/main" id="{FCD7A834-4F17-BDAF-E3AC-B9F03FA39CE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5980" y="373930"/>
            <a:ext cx="914400" cy="914400"/>
          </a:xfrm>
          <a:prstGeom prst="rect">
            <a:avLst/>
          </a:prstGeom>
        </p:spPr>
      </p:pic>
    </p:spTree>
    <p:extLst>
      <p:ext uri="{BB962C8B-B14F-4D97-AF65-F5344CB8AC3E}">
        <p14:creationId xmlns:p14="http://schemas.microsoft.com/office/powerpoint/2010/main" val="405631685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104B2E-D737-5EF4-8727-93E8A1ED869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C5A46B-CB98-9BEC-73D7-C964824900E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Module</a:t>
            </a:r>
          </a:p>
        </p:txBody>
      </p:sp>
      <p:sp>
        <p:nvSpPr>
          <p:cNvPr id="7" name="슬라이드 번호 개체 틀 3">
            <a:extLst>
              <a:ext uri="{FF2B5EF4-FFF2-40B4-BE49-F238E27FC236}">
                <a16:creationId xmlns:a16="http://schemas.microsoft.com/office/drawing/2014/main" id="{CAB116F5-6F1D-6E9D-6F92-9B75156111D7}"/>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13</a:t>
            </a:fld>
            <a:endParaRPr lang="en-US" b="1" dirty="0">
              <a:latin typeface="Segoe UI Emoji" panose="020B0502040204020203" pitchFamily="34" charset="0"/>
              <a:ea typeface="Segoe UI Emoji" panose="020B0502040204020203" pitchFamily="34" charset="0"/>
            </a:endParaRPr>
          </a:p>
        </p:txBody>
      </p:sp>
      <p:sp>
        <p:nvSpPr>
          <p:cNvPr id="4" name="TextBox 3">
            <a:extLst>
              <a:ext uri="{FF2B5EF4-FFF2-40B4-BE49-F238E27FC236}">
                <a16:creationId xmlns:a16="http://schemas.microsoft.com/office/drawing/2014/main" id="{0B8175BE-7248-F824-53E3-DC0D5E7AD211}"/>
              </a:ext>
            </a:extLst>
          </p:cNvPr>
          <p:cNvSpPr txBox="1"/>
          <p:nvPr/>
        </p:nvSpPr>
        <p:spPr>
          <a:xfrm>
            <a:off x="6940769" y="4789254"/>
            <a:ext cx="3888638" cy="1077218"/>
          </a:xfrm>
          <a:prstGeom prst="rect">
            <a:avLst/>
          </a:prstGeom>
          <a:solidFill>
            <a:srgbClr val="76E3FF"/>
          </a:solidFill>
        </p:spPr>
        <p:txBody>
          <a:bodyPr wrap="square">
            <a:spAutoFit/>
          </a:bodyPr>
          <a:lstStyle/>
          <a:p>
            <a:r>
              <a:rPr lang="en-US" altLang="ko-KR" sz="1600" dirty="0">
                <a:latin typeface="D2Coding" panose="020B0609020101020101" pitchFamily="49" charset="-127"/>
                <a:ea typeface="D2Coding" panose="020B0609020101020101" pitchFamily="49" charset="-127"/>
              </a:rPr>
              <a:t>import </a:t>
            </a:r>
            <a:r>
              <a:rPr lang="en-US" altLang="ko-KR" sz="1600" dirty="0" err="1">
                <a:latin typeface="D2Coding" panose="020B0609020101020101" pitchFamily="49" charset="-127"/>
                <a:ea typeface="D2Coding" panose="020B0609020101020101" pitchFamily="49" charset="-127"/>
              </a:rPr>
              <a:t>mymodule</a:t>
            </a:r>
            <a:endParaRPr lang="en-US" altLang="ko-KR" sz="1600" dirty="0">
              <a:latin typeface="D2Coding" panose="020B0609020101020101" pitchFamily="49" charset="-127"/>
              <a:ea typeface="D2Coding" panose="020B0609020101020101" pitchFamily="49" charset="-127"/>
            </a:endParaRPr>
          </a:p>
          <a:p>
            <a:endParaRPr lang="en-US" altLang="ko-KR" sz="1600" dirty="0">
              <a:latin typeface="D2Coding" panose="020B0609020101020101" pitchFamily="49" charset="-127"/>
              <a:ea typeface="D2Coding" panose="020B0609020101020101" pitchFamily="49" charset="-127"/>
            </a:endParaRPr>
          </a:p>
          <a:p>
            <a:r>
              <a:rPr lang="en-US" altLang="ko-KR" sz="1600" dirty="0">
                <a:latin typeface="D2Coding" panose="020B0609020101020101" pitchFamily="49" charset="-127"/>
                <a:ea typeface="D2Coding" panose="020B0609020101020101" pitchFamily="49" charset="-127"/>
              </a:rPr>
              <a:t>print(</a:t>
            </a:r>
            <a:r>
              <a:rPr lang="en-US" altLang="ko-KR" sz="1600" dirty="0" err="1">
                <a:latin typeface="D2Coding" panose="020B0609020101020101" pitchFamily="49" charset="-127"/>
                <a:ea typeface="D2Coding" panose="020B0609020101020101" pitchFamily="49" charset="-127"/>
              </a:rPr>
              <a:t>mymodule.greet</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철수</a:t>
            </a:r>
            <a:r>
              <a:rPr lang="en-US" altLang="ko-KR" sz="1600" dirty="0">
                <a:latin typeface="D2Coding" panose="020B0609020101020101" pitchFamily="49" charset="-127"/>
                <a:ea typeface="D2Coding" panose="020B0609020101020101" pitchFamily="49" charset="-127"/>
              </a:rPr>
              <a:t>"))</a:t>
            </a:r>
          </a:p>
          <a:p>
            <a:r>
              <a:rPr lang="en-US" altLang="ko-KR" sz="1600" dirty="0">
                <a:latin typeface="D2Coding" panose="020B0609020101020101" pitchFamily="49" charset="-127"/>
                <a:ea typeface="D2Coding" panose="020B0609020101020101" pitchFamily="49" charset="-127"/>
              </a:rPr>
              <a:t>print(</a:t>
            </a:r>
            <a:r>
              <a:rPr lang="en-US" altLang="ko-KR" sz="1600" dirty="0" err="1">
                <a:latin typeface="D2Coding" panose="020B0609020101020101" pitchFamily="49" charset="-127"/>
                <a:ea typeface="D2Coding" panose="020B0609020101020101" pitchFamily="49" charset="-127"/>
              </a:rPr>
              <a:t>mymodule.pi</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56A49BD8-6097-0080-0050-418A5F98B413}"/>
              </a:ext>
            </a:extLst>
          </p:cNvPr>
          <p:cNvSpPr txBox="1"/>
          <p:nvPr/>
        </p:nvSpPr>
        <p:spPr>
          <a:xfrm>
            <a:off x="1003922" y="4789254"/>
            <a:ext cx="3888638" cy="1077218"/>
          </a:xfrm>
          <a:prstGeom prst="rect">
            <a:avLst/>
          </a:prstGeom>
          <a:solidFill>
            <a:srgbClr val="76E3FF"/>
          </a:solidFill>
        </p:spPr>
        <p:txBody>
          <a:bodyPr wrap="square">
            <a:spAutoFit/>
          </a:bodyPr>
          <a:lstStyle/>
          <a:p>
            <a:r>
              <a:rPr lang="ko-KR" altLang="en-US" sz="1600" dirty="0" err="1">
                <a:latin typeface="D2Coding" panose="020B0609020101020101" pitchFamily="49" charset="-127"/>
                <a:ea typeface="D2Coding" panose="020B0609020101020101" pitchFamily="49" charset="-127"/>
              </a:rPr>
              <a:t>def</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greet</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name</a:t>
            </a:r>
            <a:r>
              <a:rPr lang="ko-KR" altLang="en-US" sz="1600" dirty="0">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return</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f"안녕</a:t>
            </a: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name</a:t>
            </a:r>
            <a:r>
              <a:rPr lang="ko-KR" altLang="en-US" sz="1600" dirty="0">
                <a:latin typeface="D2Coding" panose="020B0609020101020101" pitchFamily="49" charset="-127"/>
                <a:ea typeface="D2Coding" panose="020B0609020101020101" pitchFamily="49" charset="-127"/>
              </a:rPr>
              <a:t>}!"</a:t>
            </a:r>
          </a:p>
          <a:p>
            <a:endParaRPr lang="ko-KR" altLang="en-US" sz="1600" dirty="0">
              <a:latin typeface="D2Coding" panose="020B0609020101020101" pitchFamily="49" charset="-127"/>
              <a:ea typeface="D2Coding" panose="020B0609020101020101" pitchFamily="49" charset="-127"/>
            </a:endParaRPr>
          </a:p>
          <a:p>
            <a:r>
              <a:rPr lang="ko-KR" altLang="en-US" sz="1600" dirty="0" err="1">
                <a:latin typeface="D2Coding" panose="020B0609020101020101" pitchFamily="49" charset="-127"/>
                <a:ea typeface="D2Coding" panose="020B0609020101020101" pitchFamily="49" charset="-127"/>
              </a:rPr>
              <a:t>pi</a:t>
            </a:r>
            <a:r>
              <a:rPr lang="ko-KR" altLang="en-US" sz="1600" dirty="0">
                <a:latin typeface="D2Coding" panose="020B0609020101020101" pitchFamily="49" charset="-127"/>
                <a:ea typeface="D2Coding" panose="020B0609020101020101" pitchFamily="49" charset="-127"/>
              </a:rPr>
              <a:t> = 3.14159</a:t>
            </a:r>
          </a:p>
        </p:txBody>
      </p:sp>
      <p:graphicFrame>
        <p:nvGraphicFramePr>
          <p:cNvPr id="9" name="표 8">
            <a:extLst>
              <a:ext uri="{FF2B5EF4-FFF2-40B4-BE49-F238E27FC236}">
                <a16:creationId xmlns:a16="http://schemas.microsoft.com/office/drawing/2014/main" id="{24B1B09E-3422-09F3-D310-C8B7B24043E2}"/>
              </a:ext>
            </a:extLst>
          </p:cNvPr>
          <p:cNvGraphicFramePr>
            <a:graphicFrameLocks noGrp="1"/>
          </p:cNvGraphicFramePr>
          <p:nvPr>
            <p:extLst>
              <p:ext uri="{D42A27DB-BD31-4B8C-83A1-F6EECF244321}">
                <p14:modId xmlns:p14="http://schemas.microsoft.com/office/powerpoint/2010/main" val="3330839272"/>
              </p:ext>
            </p:extLst>
          </p:nvPr>
        </p:nvGraphicFramePr>
        <p:xfrm>
          <a:off x="1877387" y="1625155"/>
          <a:ext cx="9513890" cy="1509432"/>
        </p:xfrm>
        <a:graphic>
          <a:graphicData uri="http://schemas.openxmlformats.org/drawingml/2006/table">
            <a:tbl>
              <a:tblPr/>
              <a:tblGrid>
                <a:gridCol w="2169151">
                  <a:extLst>
                    <a:ext uri="{9D8B030D-6E8A-4147-A177-3AD203B41FA5}">
                      <a16:colId xmlns:a16="http://schemas.microsoft.com/office/drawing/2014/main" val="3045375998"/>
                    </a:ext>
                  </a:extLst>
                </a:gridCol>
                <a:gridCol w="7344739">
                  <a:extLst>
                    <a:ext uri="{9D8B030D-6E8A-4147-A177-3AD203B41FA5}">
                      <a16:colId xmlns:a16="http://schemas.microsoft.com/office/drawing/2014/main" val="1916184777"/>
                    </a:ext>
                  </a:extLst>
                </a:gridCol>
              </a:tblGrid>
              <a:tr h="503144">
                <a:tc>
                  <a:txBody>
                    <a:bodyPr/>
                    <a:lstStyle/>
                    <a:p>
                      <a:pPr>
                        <a:buNone/>
                      </a:pPr>
                      <a:r>
                        <a:rPr lang="ko-KR" sz="1600" b="1" dirty="0" err="1">
                          <a:latin typeface="D2Coding" panose="020B0609020101020101" pitchFamily="49" charset="-127"/>
                          <a:ea typeface="D2Coding" panose="020B0609020101020101" pitchFamily="49" charset="-127"/>
                        </a:rPr>
                        <a:t>Module</a:t>
                      </a:r>
                      <a:r>
                        <a:rPr lang="ko-KR" sz="1600" b="1" dirty="0">
                          <a:latin typeface="D2Coding" panose="020B0609020101020101" pitchFamily="49" charset="-127"/>
                          <a:ea typeface="D2Coding" panose="020B0609020101020101" pitchFamily="49" charset="-127"/>
                        </a:rPr>
                        <a:t> (모듈)</a:t>
                      </a:r>
                      <a:endParaRPr lang="ko-KR" sz="1600" dirty="0">
                        <a:latin typeface="D2Coding" panose="020B0609020101020101" pitchFamily="49" charset="-127"/>
                        <a:ea typeface="D2Coding" panose="020B0609020101020101" pitchFamily="49" charset="-127"/>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tc>
                  <a:txBody>
                    <a:bodyPr/>
                    <a:lstStyle/>
                    <a:p>
                      <a:pPr>
                        <a:buNone/>
                      </a:pPr>
                      <a:r>
                        <a:rPr lang="ko-KR" sz="1600" dirty="0">
                          <a:latin typeface="D2Coding" panose="020B0609020101020101" pitchFamily="49" charset="-127"/>
                          <a:ea typeface="D2Coding" panose="020B0609020101020101" pitchFamily="49" charset="-127"/>
                        </a:rPr>
                        <a:t>파이썬 코드가 담긴 파일 하나 (예: </a:t>
                      </a:r>
                      <a:r>
                        <a:rPr lang="ko-KR" sz="1600" dirty="0" err="1">
                          <a:latin typeface="D2Coding" panose="020B0609020101020101" pitchFamily="49" charset="-127"/>
                          <a:ea typeface="D2Coding" panose="020B0609020101020101" pitchFamily="49" charset="-127"/>
                        </a:rPr>
                        <a:t>math.py</a:t>
                      </a:r>
                      <a:r>
                        <a:rPr lang="ko-KR" sz="1600" dirty="0">
                          <a:latin typeface="D2Coding" panose="020B0609020101020101" pitchFamily="49" charset="-127"/>
                          <a:ea typeface="D2Coding" panose="020B0609020101020101" pitchFamily="49" charset="-127"/>
                        </a:rPr>
                        <a:t>)</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878375530"/>
                  </a:ext>
                </a:extLst>
              </a:tr>
              <a:tr h="503144">
                <a:tc>
                  <a:txBody>
                    <a:bodyPr/>
                    <a:lstStyle/>
                    <a:p>
                      <a:pPr>
                        <a:buNone/>
                      </a:pPr>
                      <a:r>
                        <a:rPr lang="ko-KR" sz="1600" b="1" dirty="0" err="1">
                          <a:latin typeface="D2Coding" panose="020B0609020101020101" pitchFamily="49" charset="-127"/>
                          <a:ea typeface="D2Coding" panose="020B0609020101020101" pitchFamily="49" charset="-127"/>
                        </a:rPr>
                        <a:t>Package</a:t>
                      </a:r>
                      <a:r>
                        <a:rPr lang="ko-KR" sz="1600" b="1" dirty="0">
                          <a:latin typeface="D2Coding" panose="020B0609020101020101" pitchFamily="49" charset="-127"/>
                          <a:ea typeface="D2Coding" panose="020B0609020101020101" pitchFamily="49" charset="-127"/>
                        </a:rPr>
                        <a:t> (패키지)</a:t>
                      </a:r>
                      <a:endParaRPr lang="ko-KR" sz="1600" dirty="0">
                        <a:latin typeface="D2Coding" panose="020B0609020101020101" pitchFamily="49" charset="-127"/>
                        <a:ea typeface="D2Coding" panose="020B0609020101020101" pitchFamily="49" charset="-127"/>
                      </a:endParaRPr>
                    </a:p>
                  </a:txBody>
                  <a:tcPr anchor="ctr">
                    <a:lnL>
                      <a:noFill/>
                    </a:lnL>
                    <a:lnR w="12700" cap="flat" cmpd="sng" algn="ctr">
                      <a:solidFill>
                        <a:schemeClr val="tx1"/>
                      </a:solidFill>
                      <a:prstDash val="solid"/>
                      <a:round/>
                      <a:headEnd type="none" w="med" len="med"/>
                      <a:tailEnd type="none" w="med" len="med"/>
                    </a:lnR>
                    <a:lnT>
                      <a:noFill/>
                    </a:lnT>
                    <a:lnB>
                      <a:noFill/>
                    </a:lnB>
                    <a:noFill/>
                  </a:tcPr>
                </a:tc>
                <a:tc>
                  <a:txBody>
                    <a:bodyPr/>
                    <a:lstStyle/>
                    <a:p>
                      <a:pPr>
                        <a:buNone/>
                      </a:pPr>
                      <a:r>
                        <a:rPr lang="ko-KR" sz="1600" dirty="0">
                          <a:latin typeface="D2Coding" panose="020B0609020101020101" pitchFamily="49" charset="-127"/>
                          <a:ea typeface="D2Coding" panose="020B0609020101020101" pitchFamily="49" charset="-127"/>
                        </a:rPr>
                        <a:t>모듈들을 모아놓은 폴더 (내부에 __init__.py 포함)</a:t>
                      </a:r>
                    </a:p>
                  </a:txBody>
                  <a:tcPr anchor="ctr">
                    <a:lnL w="12700" cap="flat" cmpd="sng" algn="ctr">
                      <a:solidFill>
                        <a:schemeClr val="tx1"/>
                      </a:solidFill>
                      <a:prstDash val="solid"/>
                      <a:round/>
                      <a:headEnd type="none" w="med" len="med"/>
                      <a:tailEnd type="none" w="med" len="med"/>
                    </a:lnL>
                    <a:lnR>
                      <a:noFill/>
                    </a:lnR>
                    <a:lnT>
                      <a:noFill/>
                    </a:lnT>
                    <a:lnB>
                      <a:noFill/>
                    </a:lnB>
                    <a:noFill/>
                  </a:tcPr>
                </a:tc>
                <a:extLst>
                  <a:ext uri="{0D108BD9-81ED-4DB2-BD59-A6C34878D82A}">
                    <a16:rowId xmlns:a16="http://schemas.microsoft.com/office/drawing/2014/main" val="611644220"/>
                  </a:ext>
                </a:extLst>
              </a:tr>
              <a:tr h="503144">
                <a:tc>
                  <a:txBody>
                    <a:bodyPr/>
                    <a:lstStyle/>
                    <a:p>
                      <a:pPr>
                        <a:buNone/>
                      </a:pPr>
                      <a:r>
                        <a:rPr lang="ko-KR" sz="1600" b="1" dirty="0" err="1">
                          <a:latin typeface="D2Coding" panose="020B0609020101020101" pitchFamily="49" charset="-127"/>
                          <a:ea typeface="D2Coding" panose="020B0609020101020101" pitchFamily="49" charset="-127"/>
                        </a:rPr>
                        <a:t>Library</a:t>
                      </a:r>
                      <a:r>
                        <a:rPr lang="ko-KR" sz="1600" b="1" dirty="0">
                          <a:latin typeface="D2Coding" panose="020B0609020101020101" pitchFamily="49" charset="-127"/>
                          <a:ea typeface="D2Coding" panose="020B0609020101020101" pitchFamily="49" charset="-127"/>
                        </a:rPr>
                        <a:t> (라이브러리)</a:t>
                      </a:r>
                      <a:endParaRPr lang="ko-KR" sz="1600" dirty="0">
                        <a:latin typeface="D2Coding" panose="020B0609020101020101" pitchFamily="49" charset="-127"/>
                        <a:ea typeface="D2Coding" panose="020B0609020101020101" pitchFamily="49" charset="-127"/>
                      </a:endParaRPr>
                    </a:p>
                  </a:txBody>
                  <a:tcPr anchor="ctr">
                    <a:lnL>
                      <a:noFill/>
                    </a:lnL>
                    <a:lnR w="12700" cap="flat" cmpd="sng" algn="ctr">
                      <a:solidFill>
                        <a:schemeClr val="tx1"/>
                      </a:solidFill>
                      <a:prstDash val="solid"/>
                      <a:round/>
                      <a:headEnd type="none" w="med" len="med"/>
                      <a:tailEnd type="none" w="med" len="med"/>
                    </a:lnR>
                    <a:lnT>
                      <a:noFill/>
                    </a:lnT>
                    <a:lnB>
                      <a:noFill/>
                    </a:lnB>
                    <a:noFill/>
                  </a:tcPr>
                </a:tc>
                <a:tc>
                  <a:txBody>
                    <a:bodyPr/>
                    <a:lstStyle/>
                    <a:p>
                      <a:pPr>
                        <a:buNone/>
                      </a:pPr>
                      <a:r>
                        <a:rPr lang="ko-KR" sz="1600" dirty="0">
                          <a:latin typeface="D2Coding" panose="020B0609020101020101" pitchFamily="49" charset="-127"/>
                          <a:ea typeface="D2Coding" panose="020B0609020101020101" pitchFamily="49" charset="-127"/>
                        </a:rPr>
                        <a:t>여러 모듈/패키지를 모아 배포하는 더 큰 단위 (예: </a:t>
                      </a:r>
                      <a:r>
                        <a:rPr lang="ko-KR" sz="1600" dirty="0" err="1">
                          <a:latin typeface="D2Coding" panose="020B0609020101020101" pitchFamily="49" charset="-127"/>
                          <a:ea typeface="D2Coding" panose="020B0609020101020101" pitchFamily="49" charset="-127"/>
                        </a:rPr>
                        <a:t>numpy</a:t>
                      </a:r>
                      <a:r>
                        <a:rPr lang="ko-KR" sz="1600" dirty="0">
                          <a:latin typeface="D2Coding" panose="020B0609020101020101" pitchFamily="49" charset="-127"/>
                          <a:ea typeface="D2Coding" panose="020B0609020101020101" pitchFamily="49" charset="-127"/>
                        </a:rPr>
                        <a:t>, </a:t>
                      </a:r>
                      <a:r>
                        <a:rPr lang="ko-KR" sz="1600" dirty="0" err="1">
                          <a:latin typeface="D2Coding" panose="020B0609020101020101" pitchFamily="49" charset="-127"/>
                          <a:ea typeface="D2Coding" panose="020B0609020101020101" pitchFamily="49" charset="-127"/>
                        </a:rPr>
                        <a:t>requests</a:t>
                      </a:r>
                      <a:r>
                        <a:rPr lang="ko-KR" sz="1600" dirty="0">
                          <a:latin typeface="D2Coding" panose="020B0609020101020101" pitchFamily="49" charset="-127"/>
                          <a:ea typeface="D2Coding" panose="020B0609020101020101" pitchFamily="49" charset="-127"/>
                        </a:rPr>
                        <a:t>)</a:t>
                      </a:r>
                    </a:p>
                  </a:txBody>
                  <a:tcPr anchor="ctr">
                    <a:lnL w="12700" cap="flat" cmpd="sng" algn="ctr">
                      <a:solidFill>
                        <a:schemeClr val="tx1"/>
                      </a:solidFill>
                      <a:prstDash val="solid"/>
                      <a:round/>
                      <a:headEnd type="none" w="med" len="med"/>
                      <a:tailEnd type="none" w="med" len="med"/>
                    </a:lnL>
                    <a:lnR>
                      <a:noFill/>
                    </a:lnR>
                    <a:lnT>
                      <a:noFill/>
                    </a:lnT>
                    <a:lnB>
                      <a:noFill/>
                    </a:lnB>
                    <a:noFill/>
                  </a:tcPr>
                </a:tc>
                <a:extLst>
                  <a:ext uri="{0D108BD9-81ED-4DB2-BD59-A6C34878D82A}">
                    <a16:rowId xmlns:a16="http://schemas.microsoft.com/office/drawing/2014/main" val="286263062"/>
                  </a:ext>
                </a:extLst>
              </a:tr>
            </a:tbl>
          </a:graphicData>
        </a:graphic>
      </p:graphicFrame>
      <p:sp>
        <p:nvSpPr>
          <p:cNvPr id="11" name="TextBox 10">
            <a:extLst>
              <a:ext uri="{FF2B5EF4-FFF2-40B4-BE49-F238E27FC236}">
                <a16:creationId xmlns:a16="http://schemas.microsoft.com/office/drawing/2014/main" id="{52B6FA15-F1AF-DC65-60F4-D387DF975EA5}"/>
              </a:ext>
            </a:extLst>
          </p:cNvPr>
          <p:cNvSpPr txBox="1"/>
          <p:nvPr/>
        </p:nvSpPr>
        <p:spPr>
          <a:xfrm>
            <a:off x="6890199" y="4468941"/>
            <a:ext cx="4501078" cy="338554"/>
          </a:xfrm>
          <a:prstGeom prst="rect">
            <a:avLst/>
          </a:prstGeom>
          <a:noFill/>
        </p:spPr>
        <p:txBody>
          <a:bodyPr wrap="square">
            <a:spAutoFit/>
          </a:bodyPr>
          <a:lstStyle/>
          <a:p>
            <a:r>
              <a:rPr lang="ko-KR" altLang="ko-KR" sz="1600" b="1" dirty="0">
                <a:latin typeface="D2Coding" panose="020B0609020101020101" pitchFamily="49" charset="-127"/>
                <a:ea typeface="D2Coding" panose="020B0609020101020101" pitchFamily="49" charset="-127"/>
              </a:rPr>
              <a:t>main.py</a:t>
            </a:r>
            <a:r>
              <a:rPr lang="ko-KR" altLang="ko-KR" sz="1600" dirty="0">
                <a:latin typeface="D2Coding" panose="020B0609020101020101" pitchFamily="49" charset="-127"/>
                <a:ea typeface="D2Coding" panose="020B0609020101020101" pitchFamily="49" charset="-127"/>
              </a:rPr>
              <a:t> (모듈을 사용하는 파일)</a:t>
            </a:r>
            <a:endParaRPr lang="ko-KR" altLang="en-US" sz="1600"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7852ADBB-6F4F-A6A1-FF52-BD87FFE37D14}"/>
              </a:ext>
            </a:extLst>
          </p:cNvPr>
          <p:cNvSpPr txBox="1"/>
          <p:nvPr/>
        </p:nvSpPr>
        <p:spPr>
          <a:xfrm>
            <a:off x="960583" y="4468941"/>
            <a:ext cx="3112655" cy="338554"/>
          </a:xfrm>
          <a:prstGeom prst="rect">
            <a:avLst/>
          </a:prstGeom>
          <a:noFill/>
        </p:spPr>
        <p:txBody>
          <a:bodyPr wrap="square">
            <a:spAutoFit/>
          </a:bodyPr>
          <a:lstStyle/>
          <a:p>
            <a:pPr rtl="0">
              <a:buNone/>
            </a:pPr>
            <a:r>
              <a:rPr lang="ko-KR" altLang="ko-KR" sz="1600" b="1" dirty="0">
                <a:latin typeface="D2Coding" panose="020B0609020101020101" pitchFamily="49" charset="-127"/>
                <a:ea typeface="D2Coding" panose="020B0609020101020101" pitchFamily="49" charset="-127"/>
              </a:rPr>
              <a:t>mymodule.py</a:t>
            </a:r>
            <a:r>
              <a:rPr lang="ko-KR" altLang="ko-KR" sz="1600" dirty="0">
                <a:latin typeface="D2Coding" panose="020B0609020101020101" pitchFamily="49" charset="-127"/>
                <a:ea typeface="D2Coding" panose="020B0609020101020101" pitchFamily="49" charset="-127"/>
              </a:rPr>
              <a:t> (모듈 파일)</a:t>
            </a:r>
          </a:p>
        </p:txBody>
      </p:sp>
      <p:pic>
        <p:nvPicPr>
          <p:cNvPr id="15" name="그래픽 14" descr="수영">
            <a:extLst>
              <a:ext uri="{FF2B5EF4-FFF2-40B4-BE49-F238E27FC236}">
                <a16:creationId xmlns:a16="http://schemas.microsoft.com/office/drawing/2014/main" id="{E0785C36-9639-6970-F0D0-6B3484BDC2E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spTree>
    <p:extLst>
      <p:ext uri="{BB962C8B-B14F-4D97-AF65-F5344CB8AC3E}">
        <p14:creationId xmlns:p14="http://schemas.microsoft.com/office/powerpoint/2010/main" val="21478278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DB1EF4-E19F-E283-8CDC-304711A8A00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8BED82-1E4B-12B7-AEF8-195F1583202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PyPI</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7" name="슬라이드 번호 개체 틀 3">
            <a:extLst>
              <a:ext uri="{FF2B5EF4-FFF2-40B4-BE49-F238E27FC236}">
                <a16:creationId xmlns:a16="http://schemas.microsoft.com/office/drawing/2014/main" id="{3B2F3D60-11BF-AD99-92FF-40FD7A29F020}"/>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14</a:t>
            </a:fld>
            <a:endParaRPr lang="en-US" b="1" dirty="0">
              <a:latin typeface="Segoe UI Emoji" panose="020B0502040204020203" pitchFamily="34" charset="0"/>
              <a:ea typeface="Segoe UI Emoji" panose="020B0502040204020203" pitchFamily="34" charset="0"/>
            </a:endParaRPr>
          </a:p>
        </p:txBody>
      </p:sp>
      <p:sp>
        <p:nvSpPr>
          <p:cNvPr id="5" name="TextBox 4">
            <a:extLst>
              <a:ext uri="{FF2B5EF4-FFF2-40B4-BE49-F238E27FC236}">
                <a16:creationId xmlns:a16="http://schemas.microsoft.com/office/drawing/2014/main" id="{B5C40FC1-3967-66B4-D36D-20C6AADE0BB5}"/>
              </a:ext>
            </a:extLst>
          </p:cNvPr>
          <p:cNvSpPr txBox="1"/>
          <p:nvPr/>
        </p:nvSpPr>
        <p:spPr>
          <a:xfrm>
            <a:off x="563418" y="1248422"/>
            <a:ext cx="11231417" cy="423834"/>
          </a:xfrm>
          <a:prstGeom prst="rect">
            <a:avLst/>
          </a:prstGeom>
          <a:noFill/>
        </p:spPr>
        <p:txBody>
          <a:bodyPr wrap="square">
            <a:spAutoFit/>
          </a:bodyPr>
          <a:lstStyle/>
          <a:p>
            <a:pPr>
              <a:lnSpc>
                <a:spcPct val="150000"/>
              </a:lnSpc>
            </a:pPr>
            <a:r>
              <a:rPr lang="ko-KR" altLang="ko-KR" sz="1600" i="0" dirty="0">
                <a:solidFill>
                  <a:srgbClr val="606060"/>
                </a:solidFill>
                <a:effectLst/>
                <a:latin typeface="D2Coding" panose="020B0609020101020101" pitchFamily="49" charset="-127"/>
                <a:ea typeface="D2Coding" panose="020B0609020101020101" pitchFamily="49" charset="-127"/>
              </a:rPr>
              <a:t>파이썬 패키지 인덱스(</a:t>
            </a:r>
            <a:r>
              <a:rPr lang="ko-KR" altLang="ko-KR" sz="1600" i="0" dirty="0" err="1">
                <a:solidFill>
                  <a:srgbClr val="606060"/>
                </a:solidFill>
                <a:effectLst/>
                <a:latin typeface="D2Coding" panose="020B0609020101020101" pitchFamily="49" charset="-127"/>
                <a:ea typeface="D2Coding" panose="020B0609020101020101" pitchFamily="49" charset="-127"/>
              </a:rPr>
              <a:t>PyPI</a:t>
            </a:r>
            <a:r>
              <a:rPr lang="ko-KR" altLang="ko-KR" sz="1600" i="0" dirty="0">
                <a:solidFill>
                  <a:srgbClr val="606060"/>
                </a:solidFill>
                <a:effectLst/>
                <a:latin typeface="D2Coding" panose="020B0609020101020101" pitchFamily="49" charset="-127"/>
                <a:ea typeface="D2Coding" panose="020B0609020101020101" pitchFamily="49" charset="-127"/>
              </a:rPr>
              <a:t>)는 파이썬 프로그래밍 언어를 위한 소프트웨어</a:t>
            </a:r>
            <a:r>
              <a:rPr lang="en-US" altLang="ko-KR" sz="1600" dirty="0">
                <a:solidFill>
                  <a:srgbClr val="606060"/>
                </a:solidFill>
                <a:latin typeface="D2Coding" panose="020B0609020101020101" pitchFamily="49" charset="-127"/>
                <a:ea typeface="D2Coding" panose="020B0609020101020101" pitchFamily="49" charset="-127"/>
              </a:rPr>
              <a:t>(</a:t>
            </a:r>
            <a:r>
              <a:rPr lang="ko-KR" altLang="en-US" sz="1600" dirty="0">
                <a:solidFill>
                  <a:srgbClr val="606060"/>
                </a:solidFill>
                <a:latin typeface="D2Coding" panose="020B0609020101020101" pitchFamily="49" charset="-127"/>
                <a:ea typeface="D2Coding" panose="020B0609020101020101" pitchFamily="49" charset="-127"/>
              </a:rPr>
              <a:t>파이썬 </a:t>
            </a:r>
            <a:r>
              <a:rPr lang="en-US" altLang="ko-KR" sz="1600" dirty="0">
                <a:solidFill>
                  <a:srgbClr val="606060"/>
                </a:solidFill>
                <a:latin typeface="D2Coding" panose="020B0609020101020101" pitchFamily="49" charset="-127"/>
                <a:ea typeface="D2Coding" panose="020B0609020101020101" pitchFamily="49" charset="-127"/>
              </a:rPr>
              <a:t>package)</a:t>
            </a:r>
            <a:r>
              <a:rPr lang="ko-KR" altLang="ko-KR" sz="1600" i="0" dirty="0">
                <a:solidFill>
                  <a:srgbClr val="606060"/>
                </a:solidFill>
                <a:effectLst/>
                <a:latin typeface="D2Coding" panose="020B0609020101020101" pitchFamily="49" charset="-127"/>
                <a:ea typeface="D2Coding" panose="020B0609020101020101" pitchFamily="49" charset="-127"/>
              </a:rPr>
              <a:t> </a:t>
            </a:r>
            <a:r>
              <a:rPr lang="ko-KR" altLang="ko-KR" sz="1600" i="0" dirty="0" err="1">
                <a:solidFill>
                  <a:srgbClr val="606060"/>
                </a:solidFill>
                <a:effectLst/>
                <a:latin typeface="D2Coding" panose="020B0609020101020101" pitchFamily="49" charset="-127"/>
                <a:ea typeface="D2Coding" panose="020B0609020101020101" pitchFamily="49" charset="-127"/>
              </a:rPr>
              <a:t>리포지터리</a:t>
            </a:r>
            <a:r>
              <a:rPr lang="en-US" altLang="ko-KR" sz="1600" i="0" dirty="0">
                <a:solidFill>
                  <a:srgbClr val="606060"/>
                </a:solidFill>
                <a:effectLst/>
                <a:latin typeface="D2Coding" panose="020B0609020101020101" pitchFamily="49" charset="-127"/>
                <a:ea typeface="D2Coding" panose="020B0609020101020101" pitchFamily="49" charset="-127"/>
              </a:rPr>
              <a:t>(Repository</a:t>
            </a:r>
            <a:r>
              <a:rPr lang="en-US" altLang="ko-KR" sz="1600" dirty="0">
                <a:solidFill>
                  <a:srgbClr val="606060"/>
                </a:solidFill>
                <a:latin typeface="D2Coding" panose="020B0609020101020101" pitchFamily="49" charset="-127"/>
                <a:ea typeface="D2Coding" panose="020B0609020101020101" pitchFamily="49" charset="-127"/>
              </a:rPr>
              <a:t>)</a:t>
            </a:r>
            <a:endParaRPr lang="ko-KR" altLang="en-US" sz="2000" dirty="0">
              <a:latin typeface="D2Coding" panose="020B0609020101020101" pitchFamily="49" charset="-127"/>
              <a:ea typeface="D2Coding" panose="020B0609020101020101" pitchFamily="49" charset="-127"/>
            </a:endParaRPr>
          </a:p>
        </p:txBody>
      </p:sp>
      <p:pic>
        <p:nvPicPr>
          <p:cNvPr id="10" name="그림 9">
            <a:extLst>
              <a:ext uri="{FF2B5EF4-FFF2-40B4-BE49-F238E27FC236}">
                <a16:creationId xmlns:a16="http://schemas.microsoft.com/office/drawing/2014/main" id="{B63CD154-F8E4-640F-40BC-D2B928A5DAD3}"/>
              </a:ext>
            </a:extLst>
          </p:cNvPr>
          <p:cNvPicPr>
            <a:picLocks noChangeAspect="1"/>
          </p:cNvPicPr>
          <p:nvPr/>
        </p:nvPicPr>
        <p:blipFill>
          <a:blip r:embed="rId2"/>
          <a:stretch>
            <a:fillRect/>
          </a:stretch>
        </p:blipFill>
        <p:spPr>
          <a:xfrm>
            <a:off x="4832250" y="1959435"/>
            <a:ext cx="6891538" cy="4164274"/>
          </a:xfrm>
          <a:prstGeom prst="rect">
            <a:avLst/>
          </a:prstGeom>
        </p:spPr>
      </p:pic>
      <p:sp>
        <p:nvSpPr>
          <p:cNvPr id="12" name="TextBox 11">
            <a:extLst>
              <a:ext uri="{FF2B5EF4-FFF2-40B4-BE49-F238E27FC236}">
                <a16:creationId xmlns:a16="http://schemas.microsoft.com/office/drawing/2014/main" id="{71A4A94F-E666-BCEA-ED64-633A3B67894C}"/>
              </a:ext>
            </a:extLst>
          </p:cNvPr>
          <p:cNvSpPr txBox="1"/>
          <p:nvPr/>
        </p:nvSpPr>
        <p:spPr>
          <a:xfrm>
            <a:off x="708357" y="1959435"/>
            <a:ext cx="3613979" cy="3009157"/>
          </a:xfrm>
          <a:prstGeom prst="rect">
            <a:avLst/>
          </a:prstGeom>
          <a:solidFill>
            <a:srgbClr val="76E3FF"/>
          </a:solidFill>
        </p:spPr>
        <p:txBody>
          <a:bodyPr wrap="square" rtlCol="0">
            <a:spAutoFit/>
          </a:bodyPr>
          <a:lstStyle/>
          <a:p>
            <a:pPr>
              <a:lnSpc>
                <a:spcPct val="150000"/>
              </a:lnSpc>
            </a:pPr>
            <a:r>
              <a:rPr lang="ko-KR" altLang="ko-KR" sz="1600" dirty="0">
                <a:latin typeface="D2Coding" panose="020B0609020101020101" pitchFamily="49" charset="-127"/>
                <a:ea typeface="D2Coding" panose="020B0609020101020101" pitchFamily="49" charset="-127"/>
              </a:rPr>
              <a:t># </a:t>
            </a:r>
            <a:r>
              <a:rPr lang="ko-KR" altLang="ko-KR" sz="1600" dirty="0" err="1">
                <a:latin typeface="D2Coding" panose="020B0609020101020101" pitchFamily="49" charset="-127"/>
                <a:ea typeface="D2Coding" panose="020B0609020101020101" pitchFamily="49" charset="-127"/>
              </a:rPr>
              <a:t>PyPI에서</a:t>
            </a:r>
            <a:r>
              <a:rPr lang="ko-KR" altLang="ko-KR" sz="1600" dirty="0">
                <a:latin typeface="D2Coding" panose="020B0609020101020101" pitchFamily="49" charset="-127"/>
                <a:ea typeface="D2Coding" panose="020B0609020101020101" pitchFamily="49" charset="-127"/>
              </a:rPr>
              <a:t> </a:t>
            </a:r>
            <a:r>
              <a:rPr lang="ko-KR" altLang="ko-KR" sz="1600" dirty="0" err="1">
                <a:latin typeface="D2Coding" panose="020B0609020101020101" pitchFamily="49" charset="-127"/>
                <a:ea typeface="D2Coding" panose="020B0609020101020101" pitchFamily="49" charset="-127"/>
              </a:rPr>
              <a:t>numpy</a:t>
            </a:r>
            <a:r>
              <a:rPr lang="ko-KR" altLang="ko-KR" sz="1600" dirty="0">
                <a:latin typeface="D2Coding" panose="020B0609020101020101" pitchFamily="49" charset="-127"/>
                <a:ea typeface="D2Coding" panose="020B0609020101020101" pitchFamily="49" charset="-127"/>
              </a:rPr>
              <a:t> 패키지 설치</a:t>
            </a:r>
            <a:endParaRPr lang="en-US" altLang="ko-KR" sz="1600" dirty="0">
              <a:latin typeface="D2Coding" panose="020B0609020101020101" pitchFamily="49" charset="-127"/>
              <a:ea typeface="D2Coding" panose="020B0609020101020101" pitchFamily="49" charset="-127"/>
            </a:endParaRPr>
          </a:p>
          <a:p>
            <a:pPr>
              <a:lnSpc>
                <a:spcPct val="150000"/>
              </a:lnSpc>
            </a:pPr>
            <a:r>
              <a:rPr lang="ko-KR" altLang="ko-KR" sz="1600" dirty="0" err="1">
                <a:latin typeface="D2Coding" panose="020B0609020101020101" pitchFamily="49" charset="-127"/>
                <a:ea typeface="D2Coding" panose="020B0609020101020101" pitchFamily="49" charset="-127"/>
              </a:rPr>
              <a:t>pip</a:t>
            </a:r>
            <a:r>
              <a:rPr lang="ko-KR" altLang="ko-KR" sz="1600" dirty="0">
                <a:latin typeface="D2Coding" panose="020B0609020101020101" pitchFamily="49" charset="-127"/>
                <a:ea typeface="D2Coding" panose="020B0609020101020101" pitchFamily="49" charset="-127"/>
              </a:rPr>
              <a:t> </a:t>
            </a:r>
            <a:r>
              <a:rPr lang="ko-KR" altLang="ko-KR" sz="1600" dirty="0" err="1">
                <a:latin typeface="D2Coding" panose="020B0609020101020101" pitchFamily="49" charset="-127"/>
                <a:ea typeface="D2Coding" panose="020B0609020101020101" pitchFamily="49" charset="-127"/>
              </a:rPr>
              <a:t>install</a:t>
            </a:r>
            <a:r>
              <a:rPr lang="ko-KR" altLang="ko-KR" sz="1600" dirty="0">
                <a:latin typeface="D2Coding" panose="020B0609020101020101" pitchFamily="49" charset="-127"/>
                <a:ea typeface="D2Coding" panose="020B0609020101020101" pitchFamily="49" charset="-127"/>
              </a:rPr>
              <a:t> </a:t>
            </a:r>
            <a:r>
              <a:rPr lang="ko-KR" altLang="ko-KR" sz="1600" dirty="0" err="1">
                <a:latin typeface="D2Coding" panose="020B0609020101020101" pitchFamily="49" charset="-127"/>
                <a:ea typeface="D2Coding" panose="020B0609020101020101" pitchFamily="49" charset="-127"/>
              </a:rPr>
              <a:t>numpy</a:t>
            </a:r>
            <a:endParaRPr lang="en-US" altLang="ko-KR" sz="1600" dirty="0">
              <a:latin typeface="D2Coding" panose="020B0609020101020101" pitchFamily="49" charset="-127"/>
              <a:ea typeface="D2Coding" panose="020B0609020101020101" pitchFamily="49" charset="-127"/>
            </a:endParaRPr>
          </a:p>
          <a:p>
            <a:pPr>
              <a:lnSpc>
                <a:spcPct val="150000"/>
              </a:lnSpc>
            </a:pPr>
            <a:endParaRPr lang="en-US" altLang="ko-KR" sz="1600" dirty="0">
              <a:latin typeface="D2Coding" panose="020B0609020101020101" pitchFamily="49" charset="-127"/>
              <a:ea typeface="D2Coding" panose="020B0609020101020101" pitchFamily="49" charset="-127"/>
            </a:endParaRPr>
          </a:p>
          <a:p>
            <a:pPr>
              <a:lnSpc>
                <a:spcPct val="150000"/>
              </a:lnSpc>
            </a:pPr>
            <a:r>
              <a:rPr lang="ko-KR" altLang="ko-KR" sz="1600" dirty="0">
                <a:latin typeface="D2Coding" panose="020B0609020101020101" pitchFamily="49" charset="-127"/>
                <a:ea typeface="D2Coding" panose="020B0609020101020101" pitchFamily="49" charset="-127"/>
              </a:rPr>
              <a:t># 설치한 패키지를 코드에서 사용</a:t>
            </a:r>
            <a:endParaRPr lang="en-US" altLang="ko-KR" sz="1600" dirty="0">
              <a:latin typeface="D2Coding" panose="020B0609020101020101" pitchFamily="49" charset="-127"/>
              <a:ea typeface="D2Coding" panose="020B0609020101020101" pitchFamily="49" charset="-127"/>
            </a:endParaRPr>
          </a:p>
          <a:p>
            <a:pPr>
              <a:lnSpc>
                <a:spcPct val="150000"/>
              </a:lnSpc>
            </a:pPr>
            <a:r>
              <a:rPr lang="ko-KR" altLang="ko-KR" sz="1600" dirty="0" err="1">
                <a:latin typeface="D2Coding" panose="020B0609020101020101" pitchFamily="49" charset="-127"/>
                <a:ea typeface="D2Coding" panose="020B0609020101020101" pitchFamily="49" charset="-127"/>
              </a:rPr>
              <a:t>import</a:t>
            </a:r>
            <a:r>
              <a:rPr lang="ko-KR" altLang="ko-KR" sz="1600" dirty="0">
                <a:latin typeface="D2Coding" panose="020B0609020101020101" pitchFamily="49" charset="-127"/>
                <a:ea typeface="D2Coding" panose="020B0609020101020101" pitchFamily="49" charset="-127"/>
              </a:rPr>
              <a:t> </a:t>
            </a:r>
            <a:r>
              <a:rPr lang="ko-KR" altLang="ko-KR" sz="1600" dirty="0" err="1">
                <a:latin typeface="D2Coding" panose="020B0609020101020101" pitchFamily="49" charset="-127"/>
                <a:ea typeface="D2Coding" panose="020B0609020101020101" pitchFamily="49" charset="-127"/>
              </a:rPr>
              <a:t>numpy</a:t>
            </a:r>
            <a:r>
              <a:rPr lang="ko-KR" altLang="ko-KR" sz="1600" dirty="0">
                <a:latin typeface="D2Coding" panose="020B0609020101020101" pitchFamily="49" charset="-127"/>
                <a:ea typeface="D2Coding" panose="020B0609020101020101" pitchFamily="49" charset="-127"/>
              </a:rPr>
              <a:t> </a:t>
            </a:r>
            <a:r>
              <a:rPr lang="ko-KR" altLang="ko-KR" sz="1600" dirty="0" err="1">
                <a:latin typeface="D2Coding" panose="020B0609020101020101" pitchFamily="49" charset="-127"/>
                <a:ea typeface="D2Coding" panose="020B0609020101020101" pitchFamily="49" charset="-127"/>
              </a:rPr>
              <a:t>as</a:t>
            </a:r>
            <a:r>
              <a:rPr lang="ko-KR" altLang="ko-KR" sz="1600" dirty="0">
                <a:latin typeface="D2Coding" panose="020B0609020101020101" pitchFamily="49" charset="-127"/>
                <a:ea typeface="D2Coding" panose="020B0609020101020101" pitchFamily="49" charset="-127"/>
              </a:rPr>
              <a:t> </a:t>
            </a:r>
            <a:r>
              <a:rPr lang="ko-KR" altLang="ko-KR" sz="1600" dirty="0" err="1">
                <a:latin typeface="D2Coding" panose="020B0609020101020101" pitchFamily="49" charset="-127"/>
                <a:ea typeface="D2Coding" panose="020B0609020101020101" pitchFamily="49" charset="-127"/>
              </a:rPr>
              <a:t>np</a:t>
            </a:r>
            <a:r>
              <a:rPr lang="ko-KR" altLang="ko-KR" sz="1600" dirty="0">
                <a:latin typeface="D2Coding" panose="020B0609020101020101" pitchFamily="49" charset="-127"/>
                <a:ea typeface="D2Coding" panose="020B0609020101020101" pitchFamily="49" charset="-127"/>
              </a:rPr>
              <a:t> </a:t>
            </a:r>
            <a:endParaRPr lang="en-US" altLang="ko-KR" sz="1600" dirty="0">
              <a:latin typeface="D2Coding" panose="020B0609020101020101" pitchFamily="49" charset="-127"/>
              <a:ea typeface="D2Coding" panose="020B0609020101020101" pitchFamily="49" charset="-127"/>
            </a:endParaRPr>
          </a:p>
          <a:p>
            <a:pPr>
              <a:lnSpc>
                <a:spcPct val="150000"/>
              </a:lnSpc>
            </a:pPr>
            <a:r>
              <a:rPr lang="ko-KR" altLang="ko-KR" sz="1600" dirty="0" err="1">
                <a:latin typeface="D2Coding" panose="020B0609020101020101" pitchFamily="49" charset="-127"/>
                <a:ea typeface="D2Coding" panose="020B0609020101020101" pitchFamily="49" charset="-127"/>
              </a:rPr>
              <a:t>print</a:t>
            </a:r>
            <a:r>
              <a:rPr lang="ko-KR" altLang="ko-KR" sz="1600" dirty="0">
                <a:latin typeface="D2Coding" panose="020B0609020101020101" pitchFamily="49" charset="-127"/>
                <a:ea typeface="D2Coding" panose="020B0609020101020101" pitchFamily="49" charset="-127"/>
              </a:rPr>
              <a:t>(</a:t>
            </a:r>
            <a:r>
              <a:rPr lang="ko-KR" altLang="ko-KR" sz="1600" dirty="0" err="1">
                <a:latin typeface="D2Coding" panose="020B0609020101020101" pitchFamily="49" charset="-127"/>
                <a:ea typeface="D2Coding" panose="020B0609020101020101" pitchFamily="49" charset="-127"/>
              </a:rPr>
              <a:t>np.array</a:t>
            </a:r>
            <a:r>
              <a:rPr lang="ko-KR" altLang="ko-KR" sz="1600" dirty="0">
                <a:latin typeface="D2Coding" panose="020B0609020101020101" pitchFamily="49" charset="-127"/>
                <a:ea typeface="D2Coding" panose="020B0609020101020101" pitchFamily="49" charset="-127"/>
              </a:rPr>
              <a:t>([1,2,3]))</a:t>
            </a:r>
            <a:endParaRPr lang="en-US" altLang="ko-KR" sz="1600" dirty="0">
              <a:latin typeface="D2Coding" panose="020B0609020101020101" pitchFamily="49" charset="-127"/>
              <a:ea typeface="D2Coding" panose="020B0609020101020101" pitchFamily="49" charset="-127"/>
            </a:endParaRPr>
          </a:p>
          <a:p>
            <a:pPr>
              <a:lnSpc>
                <a:spcPct val="150000"/>
              </a:lnSpc>
            </a:pPr>
            <a:endParaRPr lang="en-US" altLang="ko-KR" sz="1600" dirty="0">
              <a:latin typeface="D2Coding" panose="020B0609020101020101" pitchFamily="49" charset="-127"/>
              <a:ea typeface="D2Coding" panose="020B0609020101020101" pitchFamily="49" charset="-127"/>
            </a:endParaRPr>
          </a:p>
          <a:p>
            <a:pPr>
              <a:lnSpc>
                <a:spcPct val="150000"/>
              </a:lnSpc>
            </a:pPr>
            <a:r>
              <a:rPr lang="en-US" altLang="ko-KR" sz="1600" dirty="0">
                <a:latin typeface="D2Coding" panose="020B0609020101020101" pitchFamily="49" charset="-127"/>
                <a:ea typeface="D2Coding" panose="020B0609020101020101" pitchFamily="49" charset="-127"/>
              </a:rPr>
              <a:t>import requests</a:t>
            </a:r>
            <a:endParaRPr lang="ko-KR" altLang="en-US" sz="1600"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0799880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7EDADB-5520-0FE2-6A7D-7F345E1A4EC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3E3EE0E-C76C-1BBF-74F4-C2EF9D54199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pip vs.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npm</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7" name="슬라이드 번호 개체 틀 3">
            <a:extLst>
              <a:ext uri="{FF2B5EF4-FFF2-40B4-BE49-F238E27FC236}">
                <a16:creationId xmlns:a16="http://schemas.microsoft.com/office/drawing/2014/main" id="{212B8839-56A0-F5FF-2DAB-FFD5E69C546E}"/>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15</a:t>
            </a:fld>
            <a:endParaRPr lang="en-US" b="1" dirty="0">
              <a:latin typeface="Segoe UI Emoji" panose="020B0502040204020203" pitchFamily="34" charset="0"/>
              <a:ea typeface="Segoe UI Emoji" panose="020B0502040204020203" pitchFamily="34" charset="0"/>
            </a:endParaRPr>
          </a:p>
        </p:txBody>
      </p:sp>
      <p:graphicFrame>
        <p:nvGraphicFramePr>
          <p:cNvPr id="14" name="표 13">
            <a:extLst>
              <a:ext uri="{FF2B5EF4-FFF2-40B4-BE49-F238E27FC236}">
                <a16:creationId xmlns:a16="http://schemas.microsoft.com/office/drawing/2014/main" id="{C0CBA43E-2CEF-646A-8B01-A29043AE5655}"/>
              </a:ext>
            </a:extLst>
          </p:cNvPr>
          <p:cNvGraphicFramePr>
            <a:graphicFrameLocks noGrp="1"/>
          </p:cNvGraphicFramePr>
          <p:nvPr>
            <p:extLst>
              <p:ext uri="{D42A27DB-BD31-4B8C-83A1-F6EECF244321}">
                <p14:modId xmlns:p14="http://schemas.microsoft.com/office/powerpoint/2010/main" val="2398569650"/>
              </p:ext>
            </p:extLst>
          </p:nvPr>
        </p:nvGraphicFramePr>
        <p:xfrm>
          <a:off x="1789256" y="2418397"/>
          <a:ext cx="9174308" cy="2717022"/>
        </p:xfrm>
        <a:graphic>
          <a:graphicData uri="http://schemas.openxmlformats.org/drawingml/2006/table">
            <a:tbl>
              <a:tblPr/>
              <a:tblGrid>
                <a:gridCol w="4587154">
                  <a:extLst>
                    <a:ext uri="{9D8B030D-6E8A-4147-A177-3AD203B41FA5}">
                      <a16:colId xmlns:a16="http://schemas.microsoft.com/office/drawing/2014/main" val="677213452"/>
                    </a:ext>
                  </a:extLst>
                </a:gridCol>
                <a:gridCol w="4587154">
                  <a:extLst>
                    <a:ext uri="{9D8B030D-6E8A-4147-A177-3AD203B41FA5}">
                      <a16:colId xmlns:a16="http://schemas.microsoft.com/office/drawing/2014/main" val="3497374252"/>
                    </a:ext>
                  </a:extLst>
                </a:gridCol>
              </a:tblGrid>
              <a:tr h="494004">
                <a:tc>
                  <a:txBody>
                    <a:bodyPr/>
                    <a:lstStyle/>
                    <a:p>
                      <a:pPr>
                        <a:buNone/>
                      </a:pPr>
                      <a:r>
                        <a:rPr lang="ko-KR" sz="1800" dirty="0">
                          <a:latin typeface="D2Coding" panose="020B0609020101020101" pitchFamily="49" charset="-127"/>
                          <a:ea typeface="D2Coding" panose="020B0609020101020101" pitchFamily="49" charset="-127"/>
                        </a:rPr>
                        <a:t>파이썬</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buNone/>
                      </a:pPr>
                      <a:r>
                        <a:rPr lang="ko-KR" sz="1800" dirty="0" err="1">
                          <a:latin typeface="D2Coding" panose="020B0609020101020101" pitchFamily="49" charset="-127"/>
                          <a:ea typeface="D2Coding" panose="020B0609020101020101" pitchFamily="49" charset="-127"/>
                        </a:rPr>
                        <a:t>JavaScript</a:t>
                      </a:r>
                      <a:r>
                        <a:rPr lang="ko-KR" sz="1800" dirty="0">
                          <a:latin typeface="D2Coding" panose="020B0609020101020101" pitchFamily="49" charset="-127"/>
                          <a:ea typeface="D2Coding" panose="020B0609020101020101" pitchFamily="49" charset="-127"/>
                        </a:rPr>
                        <a:t>(</a:t>
                      </a:r>
                      <a:r>
                        <a:rPr lang="ko-KR" sz="1800" dirty="0" err="1">
                          <a:latin typeface="D2Coding" panose="020B0609020101020101" pitchFamily="49" charset="-127"/>
                          <a:ea typeface="D2Coding" panose="020B0609020101020101" pitchFamily="49" charset="-127"/>
                        </a:rPr>
                        <a:t>Node.js</a:t>
                      </a:r>
                      <a:r>
                        <a:rPr lang="ko-KR" sz="1800" dirty="0">
                          <a:latin typeface="D2Coding" panose="020B0609020101020101" pitchFamily="49" charset="-127"/>
                          <a:ea typeface="D2Coding" panose="020B0609020101020101" pitchFamily="49" charset="-127"/>
                        </a:rPr>
                        <a:t>)</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46582001"/>
                  </a:ext>
                </a:extLst>
              </a:tr>
              <a:tr h="864507">
                <a:tc>
                  <a:txBody>
                    <a:bodyPr/>
                    <a:lstStyle/>
                    <a:p>
                      <a:pPr>
                        <a:buNone/>
                      </a:pPr>
                      <a:r>
                        <a:rPr lang="ko-KR" sz="1800" dirty="0" err="1">
                          <a:latin typeface="D2Coding" panose="020B0609020101020101" pitchFamily="49" charset="-127"/>
                          <a:ea typeface="D2Coding" panose="020B0609020101020101" pitchFamily="49" charset="-127"/>
                        </a:rPr>
                        <a:t>PyPI</a:t>
                      </a:r>
                      <a:r>
                        <a:rPr lang="ko-KR" sz="1800" dirty="0">
                          <a:latin typeface="D2Coding" panose="020B0609020101020101" pitchFamily="49" charset="-127"/>
                          <a:ea typeface="D2Coding" panose="020B0609020101020101" pitchFamily="49" charset="-127"/>
                        </a:rPr>
                        <a:t> (저장소)</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tc>
                  <a:txBody>
                    <a:bodyPr/>
                    <a:lstStyle/>
                    <a:p>
                      <a:pPr>
                        <a:buNone/>
                      </a:pPr>
                      <a:r>
                        <a:rPr lang="ko-KR" sz="1800" dirty="0" err="1">
                          <a:latin typeface="D2Coding" panose="020B0609020101020101" pitchFamily="49" charset="-127"/>
                          <a:ea typeface="D2Coding" panose="020B0609020101020101" pitchFamily="49" charset="-127"/>
                        </a:rPr>
                        <a:t>npm</a:t>
                      </a:r>
                      <a:r>
                        <a:rPr lang="ko-KR" sz="1800" dirty="0">
                          <a:latin typeface="D2Coding" panose="020B0609020101020101" pitchFamily="49" charset="-127"/>
                          <a:ea typeface="D2Coding" panose="020B0609020101020101" pitchFamily="49" charset="-127"/>
                        </a:rPr>
                        <a:t> </a:t>
                      </a:r>
                      <a:r>
                        <a:rPr lang="ko-KR" sz="1800" dirty="0" err="1">
                          <a:latin typeface="D2Coding" panose="020B0609020101020101" pitchFamily="49" charset="-127"/>
                          <a:ea typeface="D2Coding" panose="020B0609020101020101" pitchFamily="49" charset="-127"/>
                        </a:rPr>
                        <a:t>registry</a:t>
                      </a:r>
                      <a:r>
                        <a:rPr lang="ko-KR" sz="1800" dirty="0">
                          <a:latin typeface="D2Coding" panose="020B0609020101020101" pitchFamily="49" charset="-127"/>
                          <a:ea typeface="D2Coding" panose="020B0609020101020101" pitchFamily="49" charset="-127"/>
                        </a:rPr>
                        <a:t> (저장소)</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550367122"/>
                  </a:ext>
                </a:extLst>
              </a:tr>
              <a:tr h="494004">
                <a:tc>
                  <a:txBody>
                    <a:bodyPr/>
                    <a:lstStyle/>
                    <a:p>
                      <a:pPr>
                        <a:buNone/>
                      </a:pPr>
                      <a:r>
                        <a:rPr lang="ko-KR" sz="1800" dirty="0" err="1">
                          <a:latin typeface="D2Coding" panose="020B0609020101020101" pitchFamily="49" charset="-127"/>
                          <a:ea typeface="D2Coding" panose="020B0609020101020101" pitchFamily="49" charset="-127"/>
                        </a:rPr>
                        <a:t>pip</a:t>
                      </a:r>
                      <a:r>
                        <a:rPr lang="ko-KR" sz="1800" dirty="0">
                          <a:latin typeface="D2Coding" panose="020B0609020101020101" pitchFamily="49" charset="-127"/>
                          <a:ea typeface="D2Coding" panose="020B0609020101020101" pitchFamily="49" charset="-127"/>
                        </a:rPr>
                        <a:t> (설치 도구)</a:t>
                      </a:r>
                    </a:p>
                  </a:txBody>
                  <a:tcPr anchor="ctr">
                    <a:lnL>
                      <a:noFill/>
                    </a:lnL>
                    <a:lnR w="12700" cap="flat" cmpd="sng" algn="ctr">
                      <a:solidFill>
                        <a:schemeClr val="tx1"/>
                      </a:solidFill>
                      <a:prstDash val="solid"/>
                      <a:round/>
                      <a:headEnd type="none" w="med" len="med"/>
                      <a:tailEnd type="none" w="med" len="med"/>
                    </a:lnR>
                    <a:lnT>
                      <a:noFill/>
                    </a:lnT>
                    <a:lnB>
                      <a:noFill/>
                    </a:lnB>
                    <a:noFill/>
                  </a:tcPr>
                </a:tc>
                <a:tc>
                  <a:txBody>
                    <a:bodyPr/>
                    <a:lstStyle/>
                    <a:p>
                      <a:pPr>
                        <a:buNone/>
                      </a:pPr>
                      <a:r>
                        <a:rPr lang="ko-KR" sz="1800" dirty="0" err="1">
                          <a:latin typeface="D2Coding" panose="020B0609020101020101" pitchFamily="49" charset="-127"/>
                          <a:ea typeface="D2Coding" panose="020B0609020101020101" pitchFamily="49" charset="-127"/>
                        </a:rPr>
                        <a:t>npm</a:t>
                      </a:r>
                      <a:r>
                        <a:rPr lang="ko-KR" sz="1800" dirty="0">
                          <a:latin typeface="D2Coding" panose="020B0609020101020101" pitchFamily="49" charset="-127"/>
                          <a:ea typeface="D2Coding" panose="020B0609020101020101" pitchFamily="49" charset="-127"/>
                        </a:rPr>
                        <a:t> (설치 도구)</a:t>
                      </a:r>
                    </a:p>
                  </a:txBody>
                  <a:tcPr anchor="ctr">
                    <a:lnL w="12700" cap="flat" cmpd="sng" algn="ctr">
                      <a:solidFill>
                        <a:schemeClr val="tx1"/>
                      </a:solidFill>
                      <a:prstDash val="solid"/>
                      <a:round/>
                      <a:headEnd type="none" w="med" len="med"/>
                      <a:tailEnd type="none" w="med" len="med"/>
                    </a:lnL>
                    <a:lnR>
                      <a:noFill/>
                    </a:lnR>
                    <a:lnT>
                      <a:noFill/>
                    </a:lnT>
                    <a:lnB>
                      <a:noFill/>
                    </a:lnB>
                    <a:noFill/>
                  </a:tcPr>
                </a:tc>
                <a:extLst>
                  <a:ext uri="{0D108BD9-81ED-4DB2-BD59-A6C34878D82A}">
                    <a16:rowId xmlns:a16="http://schemas.microsoft.com/office/drawing/2014/main" val="2827576864"/>
                  </a:ext>
                </a:extLst>
              </a:tr>
              <a:tr h="864507">
                <a:tc>
                  <a:txBody>
                    <a:bodyPr/>
                    <a:lstStyle/>
                    <a:p>
                      <a:pPr>
                        <a:buNone/>
                      </a:pPr>
                      <a:r>
                        <a:rPr lang="ko-KR" sz="1800" dirty="0" err="1">
                          <a:latin typeface="D2Coding" panose="020B0609020101020101" pitchFamily="49" charset="-127"/>
                          <a:ea typeface="D2Coding" panose="020B0609020101020101" pitchFamily="49" charset="-127"/>
                        </a:rPr>
                        <a:t>pip</a:t>
                      </a:r>
                      <a:r>
                        <a:rPr lang="ko-KR" sz="1800" dirty="0">
                          <a:latin typeface="D2Coding" panose="020B0609020101020101" pitchFamily="49" charset="-127"/>
                          <a:ea typeface="D2Coding" panose="020B0609020101020101" pitchFamily="49" charset="-127"/>
                        </a:rPr>
                        <a:t> </a:t>
                      </a:r>
                      <a:r>
                        <a:rPr lang="ko-KR" sz="1800" dirty="0" err="1">
                          <a:latin typeface="D2Coding" panose="020B0609020101020101" pitchFamily="49" charset="-127"/>
                          <a:ea typeface="D2Coding" panose="020B0609020101020101" pitchFamily="49" charset="-127"/>
                        </a:rPr>
                        <a:t>install</a:t>
                      </a:r>
                      <a:r>
                        <a:rPr lang="ko-KR" sz="1800" dirty="0">
                          <a:latin typeface="D2Coding" panose="020B0609020101020101" pitchFamily="49" charset="-127"/>
                          <a:ea typeface="D2Coding" panose="020B0609020101020101" pitchFamily="49" charset="-127"/>
                        </a:rPr>
                        <a:t> </a:t>
                      </a:r>
                      <a:r>
                        <a:rPr lang="ko-KR" sz="1800" dirty="0" err="1">
                          <a:latin typeface="D2Coding" panose="020B0609020101020101" pitchFamily="49" charset="-127"/>
                          <a:ea typeface="D2Coding" panose="020B0609020101020101" pitchFamily="49" charset="-127"/>
                        </a:rPr>
                        <a:t>requests</a:t>
                      </a:r>
                      <a:endParaRPr lang="ko-KR" sz="1800" dirty="0">
                        <a:latin typeface="D2Coding" panose="020B0609020101020101" pitchFamily="49" charset="-127"/>
                        <a:ea typeface="D2Coding" panose="020B0609020101020101" pitchFamily="49" charset="-127"/>
                      </a:endParaRPr>
                    </a:p>
                  </a:txBody>
                  <a:tcPr anchor="ctr">
                    <a:lnL>
                      <a:noFill/>
                    </a:lnL>
                    <a:lnR w="12700" cap="flat" cmpd="sng" algn="ctr">
                      <a:solidFill>
                        <a:schemeClr val="tx1"/>
                      </a:solidFill>
                      <a:prstDash val="solid"/>
                      <a:round/>
                      <a:headEnd type="none" w="med" len="med"/>
                      <a:tailEnd type="none" w="med" len="med"/>
                    </a:lnR>
                    <a:lnT>
                      <a:noFill/>
                    </a:lnT>
                    <a:lnB>
                      <a:noFill/>
                    </a:lnB>
                    <a:noFill/>
                  </a:tcPr>
                </a:tc>
                <a:tc>
                  <a:txBody>
                    <a:bodyPr/>
                    <a:lstStyle/>
                    <a:p>
                      <a:pPr>
                        <a:buNone/>
                      </a:pPr>
                      <a:r>
                        <a:rPr lang="ko-KR" sz="1800" dirty="0" err="1">
                          <a:latin typeface="D2Coding" panose="020B0609020101020101" pitchFamily="49" charset="-127"/>
                          <a:ea typeface="D2Coding" panose="020B0609020101020101" pitchFamily="49" charset="-127"/>
                        </a:rPr>
                        <a:t>npm</a:t>
                      </a:r>
                      <a:r>
                        <a:rPr lang="ko-KR" sz="1800" dirty="0">
                          <a:latin typeface="D2Coding" panose="020B0609020101020101" pitchFamily="49" charset="-127"/>
                          <a:ea typeface="D2Coding" panose="020B0609020101020101" pitchFamily="49" charset="-127"/>
                        </a:rPr>
                        <a:t> </a:t>
                      </a:r>
                      <a:r>
                        <a:rPr lang="ko-KR" sz="1800" dirty="0" err="1">
                          <a:latin typeface="D2Coding" panose="020B0609020101020101" pitchFamily="49" charset="-127"/>
                          <a:ea typeface="D2Coding" panose="020B0609020101020101" pitchFamily="49" charset="-127"/>
                        </a:rPr>
                        <a:t>install</a:t>
                      </a:r>
                      <a:r>
                        <a:rPr lang="ko-KR" sz="1800" dirty="0">
                          <a:latin typeface="D2Coding" panose="020B0609020101020101" pitchFamily="49" charset="-127"/>
                          <a:ea typeface="D2Coding" panose="020B0609020101020101" pitchFamily="49" charset="-127"/>
                        </a:rPr>
                        <a:t> </a:t>
                      </a:r>
                      <a:r>
                        <a:rPr lang="ko-KR" sz="1800" dirty="0" err="1">
                          <a:latin typeface="D2Coding" panose="020B0609020101020101" pitchFamily="49" charset="-127"/>
                          <a:ea typeface="D2Coding" panose="020B0609020101020101" pitchFamily="49" charset="-127"/>
                        </a:rPr>
                        <a:t>express</a:t>
                      </a:r>
                      <a:endParaRPr lang="ko-KR" sz="1800" dirty="0">
                        <a:latin typeface="D2Coding" panose="020B0609020101020101" pitchFamily="49" charset="-127"/>
                        <a:ea typeface="D2Coding" panose="020B0609020101020101" pitchFamily="49" charset="-127"/>
                      </a:endParaRPr>
                    </a:p>
                  </a:txBody>
                  <a:tcPr anchor="ctr">
                    <a:lnL w="12700" cap="flat" cmpd="sng" algn="ctr">
                      <a:solidFill>
                        <a:schemeClr val="tx1"/>
                      </a:solidFill>
                      <a:prstDash val="solid"/>
                      <a:round/>
                      <a:headEnd type="none" w="med" len="med"/>
                      <a:tailEnd type="none" w="med" len="med"/>
                    </a:lnL>
                    <a:lnR>
                      <a:noFill/>
                    </a:lnR>
                    <a:lnT>
                      <a:noFill/>
                    </a:lnT>
                    <a:lnB>
                      <a:noFill/>
                    </a:lnB>
                    <a:noFill/>
                  </a:tcPr>
                </a:tc>
                <a:extLst>
                  <a:ext uri="{0D108BD9-81ED-4DB2-BD59-A6C34878D82A}">
                    <a16:rowId xmlns:a16="http://schemas.microsoft.com/office/drawing/2014/main" val="555102015"/>
                  </a:ext>
                </a:extLst>
              </a:tr>
            </a:tbl>
          </a:graphicData>
        </a:graphic>
      </p:graphicFrame>
    </p:spTree>
    <p:extLst>
      <p:ext uri="{BB962C8B-B14F-4D97-AF65-F5344CB8AC3E}">
        <p14:creationId xmlns:p14="http://schemas.microsoft.com/office/powerpoint/2010/main" val="29980249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D4C53C-6099-26F1-4ACA-BFB60E4FEE4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801CDFC-6760-3F0C-7C97-0418F6CD8B9B}"/>
              </a:ext>
            </a:extLst>
          </p:cNvPr>
          <p:cNvSpPr>
            <a:spLocks noGrp="1"/>
          </p:cNvSpPr>
          <p:nvPr>
            <p:ph type="ctrTitle"/>
          </p:nvPr>
        </p:nvSpPr>
        <p:spPr>
          <a:xfrm>
            <a:off x="838199" y="1164324"/>
            <a:ext cx="10934701" cy="1588548"/>
          </a:xfrm>
        </p:spPr>
        <p:txBody>
          <a:bodyPr rtlCol="0" anchor="ctr" anchorCtr="0">
            <a:normAutofit/>
          </a:bodyPr>
          <a:lstStyle/>
          <a:p>
            <a:r>
              <a:rPr lang="en-US" altLang="ko-KR" sz="5400" dirty="0">
                <a:solidFill>
                  <a:schemeClr val="bg1"/>
                </a:solidFill>
                <a:latin typeface="D2Coding" panose="020B0609020101020101" pitchFamily="49" charset="-127"/>
                <a:ea typeface="D2Coding" panose="020B0609020101020101" pitchFamily="49" charset="-127"/>
              </a:rPr>
              <a:t>Create</a:t>
            </a:r>
            <a:r>
              <a:rPr lang="ko-KR" altLang="en-US" sz="5400" dirty="0">
                <a:solidFill>
                  <a:schemeClr val="bg1"/>
                </a:solidFill>
                <a:latin typeface="D2Coding" panose="020B0609020101020101" pitchFamily="49" charset="-127"/>
                <a:ea typeface="D2Coding" panose="020B0609020101020101" pitchFamily="49" charset="-127"/>
              </a:rPr>
              <a:t> </a:t>
            </a:r>
            <a:r>
              <a:rPr lang="en-US" altLang="ko-KR" sz="5400" dirty="0">
                <a:solidFill>
                  <a:schemeClr val="bg1"/>
                </a:solidFill>
                <a:latin typeface="D2Coding" panose="020B0609020101020101" pitchFamily="49" charset="-127"/>
                <a:ea typeface="D2Coding" panose="020B0609020101020101" pitchFamily="49" charset="-127"/>
              </a:rPr>
              <a:t>your own </a:t>
            </a:r>
            <a:r>
              <a:rPr lang="en-US" altLang="ko-KR" sz="5400" dirty="0" err="1">
                <a:solidFill>
                  <a:schemeClr val="bg1"/>
                </a:solidFill>
                <a:latin typeface="D2Coding" panose="020B0609020101020101" pitchFamily="49" charset="-127"/>
                <a:ea typeface="D2Coding" panose="020B0609020101020101" pitchFamily="49" charset="-127"/>
              </a:rPr>
              <a:t>github</a:t>
            </a:r>
            <a:br>
              <a:rPr lang="en-US" altLang="ko-KR" sz="5400" dirty="0">
                <a:solidFill>
                  <a:schemeClr val="bg1"/>
                </a:solidFill>
                <a:latin typeface="D2Coding" panose="020B0609020101020101" pitchFamily="49" charset="-127"/>
                <a:ea typeface="D2Coding" panose="020B0609020101020101" pitchFamily="49" charset="-127"/>
              </a:rPr>
            </a:br>
            <a:r>
              <a:rPr lang="en-US" altLang="ko-KR" dirty="0">
                <a:solidFill>
                  <a:schemeClr val="bg1"/>
                </a:solidFill>
                <a:latin typeface="D2Coding" panose="020B0609020101020101" pitchFamily="49" charset="-127"/>
                <a:ea typeface="D2Coding" panose="020B0609020101020101" pitchFamily="49" charset="-127"/>
              </a:rPr>
              <a:t>Create</a:t>
            </a:r>
            <a:r>
              <a:rPr lang="ko-KR" altLang="en-US" dirty="0">
                <a:solidFill>
                  <a:schemeClr val="bg1"/>
                </a:solidFill>
                <a:latin typeface="D2Coding" panose="020B0609020101020101" pitchFamily="49" charset="-127"/>
                <a:ea typeface="D2Coding" panose="020B0609020101020101" pitchFamily="49" charset="-127"/>
              </a:rPr>
              <a:t> </a:t>
            </a:r>
            <a:r>
              <a:rPr lang="en-US" altLang="ko-KR" dirty="0">
                <a:solidFill>
                  <a:schemeClr val="bg1"/>
                </a:solidFill>
                <a:latin typeface="D2Coding" panose="020B0609020101020101" pitchFamily="49" charset="-127"/>
                <a:ea typeface="D2Coding" panose="020B0609020101020101" pitchFamily="49" charset="-127"/>
              </a:rPr>
              <a:t>your own GitHub(Install git GitHub Desktop)</a:t>
            </a:r>
            <a:endParaRPr lang="ko-KR" altLang="en-US" sz="2000" dirty="0">
              <a:solidFill>
                <a:schemeClr val="bg1"/>
              </a:solidFill>
              <a:latin typeface="D2Coding" panose="020B0609020101020101" pitchFamily="49" charset="-127"/>
              <a:ea typeface="D2Coding" panose="020B0609020101020101" pitchFamily="49" charset="-127"/>
            </a:endParaRPr>
          </a:p>
        </p:txBody>
      </p:sp>
      <p:sp>
        <p:nvSpPr>
          <p:cNvPr id="5" name="부제목 2">
            <a:extLst>
              <a:ext uri="{FF2B5EF4-FFF2-40B4-BE49-F238E27FC236}">
                <a16:creationId xmlns:a16="http://schemas.microsoft.com/office/drawing/2014/main" id="{DCC85391-272C-61E0-450E-2C98538E0B0A}"/>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latin typeface="D2Coding" panose="020B0609020101020101" pitchFamily="49" charset="-127"/>
                <a:ea typeface="D2Coding" panose="020B0609020101020101" pitchFamily="49" charset="-127"/>
              </a:rPr>
              <a:t>2026 Fall</a:t>
            </a:r>
          </a:p>
          <a:p>
            <a:r>
              <a:rPr lang="ko-KR" altLang="en-US" sz="2400" dirty="0" err="1">
                <a:solidFill>
                  <a:schemeClr val="bg1"/>
                </a:solidFill>
                <a:latin typeface="D2Coding" panose="020B0609020101020101" pitchFamily="49" charset="-127"/>
                <a:ea typeface="D2Coding" panose="020B0609020101020101" pitchFamily="49" charset="-127"/>
              </a:rPr>
              <a:t>조상구교수</a:t>
            </a:r>
            <a:endParaRPr lang="en-US" altLang="ko-KR" sz="2400" dirty="0">
              <a:solidFill>
                <a:schemeClr val="bg1"/>
              </a:solidFill>
              <a:latin typeface="D2Coding" panose="020B0609020101020101" pitchFamily="49" charset="-127"/>
              <a:ea typeface="D2Coding" panose="020B0609020101020101" pitchFamily="49" charset="-127"/>
            </a:endParaRPr>
          </a:p>
        </p:txBody>
      </p:sp>
      <p:sp>
        <p:nvSpPr>
          <p:cNvPr id="4" name="TextBox 3">
            <a:extLst>
              <a:ext uri="{FF2B5EF4-FFF2-40B4-BE49-F238E27FC236}">
                <a16:creationId xmlns:a16="http://schemas.microsoft.com/office/drawing/2014/main" id="{DB8E03DF-FCB5-19F3-8626-DE1E2DBE2E3C}"/>
              </a:ext>
            </a:extLst>
          </p:cNvPr>
          <p:cNvSpPr txBox="1"/>
          <p:nvPr/>
        </p:nvSpPr>
        <p:spPr>
          <a:xfrm>
            <a:off x="838199" y="2963680"/>
            <a:ext cx="9374230" cy="463397"/>
          </a:xfrm>
          <a:prstGeom prst="rect">
            <a:avLst/>
          </a:prstGeom>
          <a:noFill/>
        </p:spPr>
        <p:txBody>
          <a:bodyPr wrap="square">
            <a:spAutoFit/>
          </a:bodyPr>
          <a:lstStyle/>
          <a:p>
            <a:pPr marL="285750" indent="-285750">
              <a:lnSpc>
                <a:spcPct val="150000"/>
              </a:lnSpc>
              <a:buFont typeface="Wingdings" panose="05000000000000000000" pitchFamily="2" charset="2"/>
              <a:buChar char="ü"/>
            </a:pPr>
            <a:r>
              <a:rPr lang="ko-KR" altLang="en-US" dirty="0">
                <a:solidFill>
                  <a:schemeClr val="bg1"/>
                </a:solidFill>
                <a:latin typeface="D2Coding" panose="020B0609020101020101" pitchFamily="49" charset="-127"/>
                <a:ea typeface="D2Coding" panose="020B0609020101020101" pitchFamily="49" charset="-127"/>
              </a:rPr>
              <a:t>소프트웨어 형상관리 실습 </a:t>
            </a:r>
            <a:endParaRPr lang="ko-KR" altLang="en-US" dirty="0"/>
          </a:p>
        </p:txBody>
      </p:sp>
    </p:spTree>
    <p:extLst>
      <p:ext uri="{BB962C8B-B14F-4D97-AF65-F5344CB8AC3E}">
        <p14:creationId xmlns:p14="http://schemas.microsoft.com/office/powerpoint/2010/main" val="36176325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24842-69AF-773F-D38B-E9D52BEF795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FBAB160-354F-BDB0-FEF8-2771F2F3E39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형상관리</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개념</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 1">
            <a:extLst>
              <a:ext uri="{FF2B5EF4-FFF2-40B4-BE49-F238E27FC236}">
                <a16:creationId xmlns:a16="http://schemas.microsoft.com/office/drawing/2014/main" id="{17B1CE0C-AB55-CA69-3BDC-7380347BDA6B}"/>
              </a:ext>
            </a:extLst>
          </p:cNvPr>
          <p:cNvSpPr/>
          <p:nvPr/>
        </p:nvSpPr>
        <p:spPr>
          <a:xfrm>
            <a:off x="640080" y="1365885"/>
            <a:ext cx="10515600" cy="411480"/>
          </a:xfrm>
          <a:prstGeom prst="rect">
            <a:avLst/>
          </a:prstGeom>
          <a:noFill/>
          <a:ln/>
        </p:spPr>
        <p:txBody>
          <a:bodyPr wrap="square" lIns="0" tIns="0" rIns="0" bIns="0" rtlCol="0" anchor="ctr"/>
          <a:lstStyle/>
          <a:p>
            <a:pPr marL="0" indent="0">
              <a:buNone/>
            </a:pPr>
            <a:r>
              <a:rPr lang="en-US" dirty="0">
                <a:latin typeface="D2Coding" panose="020B0609020101020101" pitchFamily="49" charset="-127"/>
                <a:ea typeface="D2Coding" panose="020B0609020101020101" pitchFamily="49" charset="-127"/>
                <a:cs typeface="Malgun Gothic" pitchFamily="34" charset="-120"/>
              </a:rPr>
              <a:t>형상관리(Configuration Management)란 변경의 맥락을 기록하고 </a:t>
            </a:r>
            <a:r>
              <a:rPr lang="en-US" dirty="0" err="1">
                <a:latin typeface="D2Coding" panose="020B0609020101020101" pitchFamily="49" charset="-127"/>
                <a:ea typeface="D2Coding" panose="020B0609020101020101" pitchFamily="49" charset="-127"/>
                <a:cs typeface="Malgun Gothic" pitchFamily="34" charset="-120"/>
              </a:rPr>
              <a:t>추적하는</a:t>
            </a:r>
            <a:r>
              <a:rPr lang="en-US" dirty="0">
                <a:latin typeface="D2Coding" panose="020B0609020101020101" pitchFamily="49" charset="-127"/>
                <a:ea typeface="D2Coding" panose="020B0609020101020101" pitchFamily="49" charset="-127"/>
                <a:cs typeface="Malgun Gothic" pitchFamily="34" charset="-120"/>
              </a:rPr>
              <a:t> 것</a:t>
            </a:r>
            <a:endParaRPr lang="en-US" dirty="0">
              <a:latin typeface="D2Coding" panose="020B0609020101020101" pitchFamily="49" charset="-127"/>
              <a:ea typeface="D2Coding" panose="020B0609020101020101" pitchFamily="49" charset="-127"/>
            </a:endParaRPr>
          </a:p>
        </p:txBody>
      </p:sp>
      <p:sp>
        <p:nvSpPr>
          <p:cNvPr id="6" name="Shape 2">
            <a:extLst>
              <a:ext uri="{FF2B5EF4-FFF2-40B4-BE49-F238E27FC236}">
                <a16:creationId xmlns:a16="http://schemas.microsoft.com/office/drawing/2014/main" id="{EA7CADBF-89B3-59BF-2105-56C417AAB64C}"/>
              </a:ext>
            </a:extLst>
          </p:cNvPr>
          <p:cNvSpPr/>
          <p:nvPr/>
        </p:nvSpPr>
        <p:spPr>
          <a:xfrm>
            <a:off x="1463040" y="2005965"/>
            <a:ext cx="9235440" cy="1005840"/>
          </a:xfrm>
          <a:prstGeom prst="roundRect">
            <a:avLst>
              <a:gd name="adj" fmla="val 10909"/>
            </a:avLst>
          </a:prstGeom>
          <a:solidFill>
            <a:srgbClr val="24393D"/>
          </a:solidFill>
          <a:ln/>
        </p:spPr>
        <p:txBody>
          <a:bodyPr/>
          <a:lstStyle/>
          <a:p>
            <a:endParaRPr lang="ko-KR" altLang="en-US"/>
          </a:p>
        </p:txBody>
      </p:sp>
      <p:sp>
        <p:nvSpPr>
          <p:cNvPr id="8" name="Text 3">
            <a:extLst>
              <a:ext uri="{FF2B5EF4-FFF2-40B4-BE49-F238E27FC236}">
                <a16:creationId xmlns:a16="http://schemas.microsoft.com/office/drawing/2014/main" id="{81EC6B50-C0E8-C081-59D1-2162EBEBA7C8}"/>
              </a:ext>
            </a:extLst>
          </p:cNvPr>
          <p:cNvSpPr/>
          <p:nvPr/>
        </p:nvSpPr>
        <p:spPr>
          <a:xfrm>
            <a:off x="1645920" y="2005965"/>
            <a:ext cx="8869680" cy="1005840"/>
          </a:xfrm>
          <a:prstGeom prst="rect">
            <a:avLst/>
          </a:prstGeom>
          <a:noFill/>
          <a:ln/>
        </p:spPr>
        <p:txBody>
          <a:bodyPr wrap="square" lIns="0" tIns="0" rIns="0" bIns="0" rtlCol="0" anchor="ctr"/>
          <a:lstStyle/>
          <a:p>
            <a:pPr marL="0" indent="0" algn="ctr">
              <a:buNone/>
            </a:pPr>
            <a:r>
              <a:rPr lang="en-US" sz="2800" b="1" i="1" dirty="0">
                <a:solidFill>
                  <a:srgbClr val="02C39A"/>
                </a:solidFill>
                <a:latin typeface="D2Coding" panose="020B0609020101020101" pitchFamily="49" charset="-127"/>
                <a:ea typeface="D2Coding" panose="020B0609020101020101" pitchFamily="49" charset="-127"/>
                <a:cs typeface="Malgun Gothic" pitchFamily="34" charset="-120"/>
              </a:rPr>
              <a:t>“ 무엇이, 언제, 누가, 왜 변경되었는가? ”</a:t>
            </a:r>
            <a:endParaRPr lang="en-US" sz="2800" dirty="0">
              <a:latin typeface="D2Coding" panose="020B0609020101020101" pitchFamily="49" charset="-127"/>
              <a:ea typeface="D2Coding" panose="020B0609020101020101" pitchFamily="49" charset="-127"/>
            </a:endParaRPr>
          </a:p>
        </p:txBody>
      </p:sp>
      <p:sp>
        <p:nvSpPr>
          <p:cNvPr id="9" name="Shape 4">
            <a:extLst>
              <a:ext uri="{FF2B5EF4-FFF2-40B4-BE49-F238E27FC236}">
                <a16:creationId xmlns:a16="http://schemas.microsoft.com/office/drawing/2014/main" id="{46B57970-56B6-39BF-38FE-82FBCB2DE2DB}"/>
              </a:ext>
            </a:extLst>
          </p:cNvPr>
          <p:cNvSpPr/>
          <p:nvPr/>
        </p:nvSpPr>
        <p:spPr>
          <a:xfrm>
            <a:off x="1005840" y="3377565"/>
            <a:ext cx="2377440" cy="2926080"/>
          </a:xfrm>
          <a:prstGeom prst="roundRect">
            <a:avLst>
              <a:gd name="adj" fmla="val 3846"/>
            </a:avLst>
          </a:prstGeom>
          <a:solidFill>
            <a:srgbClr val="24393D"/>
          </a:solidFill>
          <a:ln w="15875">
            <a:solidFill>
              <a:srgbClr val="028090"/>
            </a:solidFill>
            <a:prstDash val="solid"/>
          </a:ln>
        </p:spPr>
        <p:txBody>
          <a:bodyPr/>
          <a:lstStyle/>
          <a:p>
            <a:endParaRPr lang="ko-KR" altLang="en-US"/>
          </a:p>
        </p:txBody>
      </p:sp>
      <p:sp>
        <p:nvSpPr>
          <p:cNvPr id="10" name="Shape 5">
            <a:extLst>
              <a:ext uri="{FF2B5EF4-FFF2-40B4-BE49-F238E27FC236}">
                <a16:creationId xmlns:a16="http://schemas.microsoft.com/office/drawing/2014/main" id="{DCE5B930-B2EC-58CC-393E-436B140AE94F}"/>
              </a:ext>
            </a:extLst>
          </p:cNvPr>
          <p:cNvSpPr/>
          <p:nvPr/>
        </p:nvSpPr>
        <p:spPr>
          <a:xfrm>
            <a:off x="1828800" y="3697605"/>
            <a:ext cx="731520" cy="731520"/>
          </a:xfrm>
          <a:prstGeom prst="ellipse">
            <a:avLst/>
          </a:prstGeom>
          <a:solidFill>
            <a:srgbClr val="028090"/>
          </a:solidFill>
          <a:ln/>
        </p:spPr>
        <p:txBody>
          <a:bodyPr/>
          <a:lstStyle/>
          <a:p>
            <a:endParaRPr lang="ko-KR" altLang="en-US"/>
          </a:p>
        </p:txBody>
      </p:sp>
      <p:sp>
        <p:nvSpPr>
          <p:cNvPr id="11" name="Text 6">
            <a:extLst>
              <a:ext uri="{FF2B5EF4-FFF2-40B4-BE49-F238E27FC236}">
                <a16:creationId xmlns:a16="http://schemas.microsoft.com/office/drawing/2014/main" id="{8347CAE4-BA92-EB2A-8D3C-61F01CE59B99}"/>
              </a:ext>
            </a:extLst>
          </p:cNvPr>
          <p:cNvSpPr/>
          <p:nvPr/>
        </p:nvSpPr>
        <p:spPr>
          <a:xfrm>
            <a:off x="1828800" y="3697605"/>
            <a:ext cx="731520" cy="731520"/>
          </a:xfrm>
          <a:prstGeom prst="rect">
            <a:avLst/>
          </a:prstGeom>
          <a:noFill/>
          <a:ln/>
        </p:spPr>
        <p:txBody>
          <a:bodyPr wrap="square" lIns="0" tIns="0" rIns="0" bIns="0" rtlCol="0" anchor="ctr"/>
          <a:lstStyle/>
          <a:p>
            <a:pPr marL="0" indent="0" algn="ctr">
              <a:buNone/>
            </a:pPr>
            <a:r>
              <a:rPr lang="en-US" b="1" dirty="0">
                <a:solidFill>
                  <a:srgbClr val="FFFFFF"/>
                </a:solidFill>
                <a:latin typeface="D2Coding" panose="020B0609020101020101" pitchFamily="49" charset="-127"/>
                <a:ea typeface="D2Coding" panose="020B0609020101020101" pitchFamily="49" charset="-127"/>
                <a:cs typeface="Malgun Gothic" pitchFamily="34" charset="-120"/>
              </a:rPr>
              <a:t>무엇이</a:t>
            </a:r>
            <a:endParaRPr lang="en-US" dirty="0">
              <a:latin typeface="D2Coding" panose="020B0609020101020101" pitchFamily="49" charset="-127"/>
              <a:ea typeface="D2Coding" panose="020B0609020101020101" pitchFamily="49" charset="-127"/>
            </a:endParaRPr>
          </a:p>
        </p:txBody>
      </p:sp>
      <p:sp>
        <p:nvSpPr>
          <p:cNvPr id="12" name="Text 7">
            <a:extLst>
              <a:ext uri="{FF2B5EF4-FFF2-40B4-BE49-F238E27FC236}">
                <a16:creationId xmlns:a16="http://schemas.microsoft.com/office/drawing/2014/main" id="{BC546CF0-C372-DFE7-B3DB-7ED75373B423}"/>
              </a:ext>
            </a:extLst>
          </p:cNvPr>
          <p:cNvSpPr/>
          <p:nvPr/>
        </p:nvSpPr>
        <p:spPr>
          <a:xfrm>
            <a:off x="1143000" y="4749165"/>
            <a:ext cx="2103120" cy="1188720"/>
          </a:xfrm>
          <a:prstGeom prst="rect">
            <a:avLst/>
          </a:prstGeom>
          <a:noFill/>
          <a:ln/>
        </p:spPr>
        <p:txBody>
          <a:bodyPr wrap="square" lIns="0" tIns="0" rIns="0" bIns="0" rtlCol="0" anchor="ctr"/>
          <a:lstStyle/>
          <a:p>
            <a:pPr marL="0" indent="0" algn="ctr">
              <a:lnSpc>
                <a:spcPct val="130000"/>
              </a:lnSpc>
              <a:buNone/>
            </a:pPr>
            <a:r>
              <a:rPr lang="en-US" sz="1600" dirty="0">
                <a:solidFill>
                  <a:srgbClr val="D7E5E5"/>
                </a:solidFill>
                <a:latin typeface="D2Coding" panose="020B0609020101020101" pitchFamily="49" charset="-127"/>
                <a:ea typeface="D2Coding" panose="020B0609020101020101" pitchFamily="49" charset="-127"/>
                <a:cs typeface="Malgun Gothic" pitchFamily="34" charset="-120"/>
              </a:rPr>
              <a:t>변경된 파일과 내용</a:t>
            </a:r>
            <a:endParaRPr lang="en-US" sz="1600" dirty="0">
              <a:latin typeface="D2Coding" panose="020B0609020101020101" pitchFamily="49" charset="-127"/>
              <a:ea typeface="D2Coding" panose="020B0609020101020101" pitchFamily="49" charset="-127"/>
            </a:endParaRPr>
          </a:p>
          <a:p>
            <a:pPr marL="0" indent="0" algn="ctr">
              <a:lnSpc>
                <a:spcPct val="130000"/>
              </a:lnSpc>
              <a:buNone/>
            </a:pPr>
            <a:r>
              <a:rPr lang="en-US" sz="1600" dirty="0">
                <a:solidFill>
                  <a:srgbClr val="D7E5E5"/>
                </a:solidFill>
                <a:latin typeface="D2Coding" panose="020B0609020101020101" pitchFamily="49" charset="-127"/>
                <a:ea typeface="D2Coding" panose="020B0609020101020101" pitchFamily="49" charset="-127"/>
                <a:cs typeface="Malgun Gothic" pitchFamily="34" charset="-120"/>
              </a:rPr>
              <a:t>(diff)</a:t>
            </a:r>
            <a:endParaRPr lang="en-US" sz="1600" dirty="0">
              <a:latin typeface="D2Coding" panose="020B0609020101020101" pitchFamily="49" charset="-127"/>
              <a:ea typeface="D2Coding" panose="020B0609020101020101" pitchFamily="49" charset="-127"/>
            </a:endParaRPr>
          </a:p>
        </p:txBody>
      </p:sp>
      <p:sp>
        <p:nvSpPr>
          <p:cNvPr id="13" name="Shape 8">
            <a:extLst>
              <a:ext uri="{FF2B5EF4-FFF2-40B4-BE49-F238E27FC236}">
                <a16:creationId xmlns:a16="http://schemas.microsoft.com/office/drawing/2014/main" id="{3B12AE36-E702-D1C1-8025-F29D7D9BB8B7}"/>
              </a:ext>
            </a:extLst>
          </p:cNvPr>
          <p:cNvSpPr/>
          <p:nvPr/>
        </p:nvSpPr>
        <p:spPr>
          <a:xfrm>
            <a:off x="3611880" y="3377565"/>
            <a:ext cx="2377440" cy="2926080"/>
          </a:xfrm>
          <a:prstGeom prst="roundRect">
            <a:avLst>
              <a:gd name="adj" fmla="val 3846"/>
            </a:avLst>
          </a:prstGeom>
          <a:solidFill>
            <a:srgbClr val="24393D"/>
          </a:solidFill>
          <a:ln w="15875">
            <a:solidFill>
              <a:srgbClr val="00A896"/>
            </a:solidFill>
            <a:prstDash val="solid"/>
          </a:ln>
        </p:spPr>
        <p:txBody>
          <a:bodyPr/>
          <a:lstStyle/>
          <a:p>
            <a:endParaRPr lang="ko-KR" altLang="en-US"/>
          </a:p>
        </p:txBody>
      </p:sp>
      <p:sp>
        <p:nvSpPr>
          <p:cNvPr id="14" name="Shape 9">
            <a:extLst>
              <a:ext uri="{FF2B5EF4-FFF2-40B4-BE49-F238E27FC236}">
                <a16:creationId xmlns:a16="http://schemas.microsoft.com/office/drawing/2014/main" id="{C805067E-7E6A-BE19-1EA0-9DF667B6B3C9}"/>
              </a:ext>
            </a:extLst>
          </p:cNvPr>
          <p:cNvSpPr/>
          <p:nvPr/>
        </p:nvSpPr>
        <p:spPr>
          <a:xfrm>
            <a:off x="4434840" y="3697605"/>
            <a:ext cx="731520" cy="731520"/>
          </a:xfrm>
          <a:prstGeom prst="ellipse">
            <a:avLst/>
          </a:prstGeom>
          <a:solidFill>
            <a:srgbClr val="00A896"/>
          </a:solidFill>
          <a:ln/>
        </p:spPr>
        <p:txBody>
          <a:bodyPr/>
          <a:lstStyle/>
          <a:p>
            <a:endParaRPr lang="ko-KR" altLang="en-US"/>
          </a:p>
        </p:txBody>
      </p:sp>
      <p:sp>
        <p:nvSpPr>
          <p:cNvPr id="15" name="Text 10">
            <a:extLst>
              <a:ext uri="{FF2B5EF4-FFF2-40B4-BE49-F238E27FC236}">
                <a16:creationId xmlns:a16="http://schemas.microsoft.com/office/drawing/2014/main" id="{DAEBAE22-84C2-B418-FB11-E79EA42AC2B2}"/>
              </a:ext>
            </a:extLst>
          </p:cNvPr>
          <p:cNvSpPr/>
          <p:nvPr/>
        </p:nvSpPr>
        <p:spPr>
          <a:xfrm>
            <a:off x="4434840" y="3697605"/>
            <a:ext cx="731520" cy="731520"/>
          </a:xfrm>
          <a:prstGeom prst="rect">
            <a:avLst/>
          </a:prstGeom>
          <a:noFill/>
          <a:ln/>
        </p:spPr>
        <p:txBody>
          <a:bodyPr wrap="square" lIns="0" tIns="0" rIns="0" bIns="0" rtlCol="0" anchor="ctr"/>
          <a:lstStyle/>
          <a:p>
            <a:pPr marL="0" indent="0" algn="ctr">
              <a:buNone/>
            </a:pPr>
            <a:r>
              <a:rPr lang="en-US" b="1" dirty="0">
                <a:solidFill>
                  <a:srgbClr val="FFFFFF"/>
                </a:solidFill>
                <a:latin typeface="D2Coding" panose="020B0609020101020101" pitchFamily="49" charset="-127"/>
                <a:ea typeface="D2Coding" panose="020B0609020101020101" pitchFamily="49" charset="-127"/>
                <a:cs typeface="Malgun Gothic" pitchFamily="34" charset="-120"/>
              </a:rPr>
              <a:t>언제</a:t>
            </a:r>
            <a:endParaRPr lang="en-US" dirty="0">
              <a:latin typeface="D2Coding" panose="020B0609020101020101" pitchFamily="49" charset="-127"/>
              <a:ea typeface="D2Coding" panose="020B0609020101020101" pitchFamily="49" charset="-127"/>
            </a:endParaRPr>
          </a:p>
        </p:txBody>
      </p:sp>
      <p:sp>
        <p:nvSpPr>
          <p:cNvPr id="16" name="Text 11">
            <a:extLst>
              <a:ext uri="{FF2B5EF4-FFF2-40B4-BE49-F238E27FC236}">
                <a16:creationId xmlns:a16="http://schemas.microsoft.com/office/drawing/2014/main" id="{9CED88CD-7A71-D74A-D7A2-D468CCB1EF5F}"/>
              </a:ext>
            </a:extLst>
          </p:cNvPr>
          <p:cNvSpPr/>
          <p:nvPr/>
        </p:nvSpPr>
        <p:spPr>
          <a:xfrm>
            <a:off x="3749040" y="4749165"/>
            <a:ext cx="2103120" cy="1188720"/>
          </a:xfrm>
          <a:prstGeom prst="rect">
            <a:avLst/>
          </a:prstGeom>
          <a:noFill/>
          <a:ln/>
        </p:spPr>
        <p:txBody>
          <a:bodyPr wrap="square" lIns="0" tIns="0" rIns="0" bIns="0" rtlCol="0" anchor="ctr"/>
          <a:lstStyle/>
          <a:p>
            <a:pPr marL="0" indent="0" algn="ctr">
              <a:lnSpc>
                <a:spcPct val="130000"/>
              </a:lnSpc>
              <a:buNone/>
            </a:pPr>
            <a:r>
              <a:rPr lang="en-US" sz="1600" dirty="0">
                <a:solidFill>
                  <a:srgbClr val="D7E5E5"/>
                </a:solidFill>
                <a:latin typeface="D2Coding" panose="020B0609020101020101" pitchFamily="49" charset="-127"/>
                <a:ea typeface="D2Coding" panose="020B0609020101020101" pitchFamily="49" charset="-127"/>
                <a:cs typeface="Malgun Gothic" pitchFamily="34" charset="-120"/>
              </a:rPr>
              <a:t>변경이 발생한</a:t>
            </a:r>
            <a:endParaRPr lang="en-US" sz="1600" dirty="0">
              <a:latin typeface="D2Coding" panose="020B0609020101020101" pitchFamily="49" charset="-127"/>
              <a:ea typeface="D2Coding" panose="020B0609020101020101" pitchFamily="49" charset="-127"/>
            </a:endParaRPr>
          </a:p>
          <a:p>
            <a:pPr marL="0" indent="0" algn="ctr">
              <a:lnSpc>
                <a:spcPct val="130000"/>
              </a:lnSpc>
              <a:buNone/>
            </a:pPr>
            <a:r>
              <a:rPr lang="en-US" sz="1600" dirty="0">
                <a:solidFill>
                  <a:srgbClr val="D7E5E5"/>
                </a:solidFill>
                <a:latin typeface="D2Coding" panose="020B0609020101020101" pitchFamily="49" charset="-127"/>
                <a:ea typeface="D2Coding" panose="020B0609020101020101" pitchFamily="49" charset="-127"/>
                <a:cs typeface="Malgun Gothic" pitchFamily="34" charset="-120"/>
              </a:rPr>
              <a:t>시점 (timestamp)</a:t>
            </a:r>
            <a:endParaRPr lang="en-US" sz="1600" dirty="0">
              <a:latin typeface="D2Coding" panose="020B0609020101020101" pitchFamily="49" charset="-127"/>
              <a:ea typeface="D2Coding" panose="020B0609020101020101" pitchFamily="49" charset="-127"/>
            </a:endParaRPr>
          </a:p>
        </p:txBody>
      </p:sp>
      <p:sp>
        <p:nvSpPr>
          <p:cNvPr id="17" name="Shape 12">
            <a:extLst>
              <a:ext uri="{FF2B5EF4-FFF2-40B4-BE49-F238E27FC236}">
                <a16:creationId xmlns:a16="http://schemas.microsoft.com/office/drawing/2014/main" id="{C73CBFC5-4BA9-7495-65C7-B582418D45DA}"/>
              </a:ext>
            </a:extLst>
          </p:cNvPr>
          <p:cNvSpPr/>
          <p:nvPr/>
        </p:nvSpPr>
        <p:spPr>
          <a:xfrm>
            <a:off x="6217920" y="3377565"/>
            <a:ext cx="2377440" cy="2926080"/>
          </a:xfrm>
          <a:prstGeom prst="roundRect">
            <a:avLst>
              <a:gd name="adj" fmla="val 3846"/>
            </a:avLst>
          </a:prstGeom>
          <a:solidFill>
            <a:srgbClr val="24393D"/>
          </a:solidFill>
          <a:ln w="15875">
            <a:solidFill>
              <a:srgbClr val="02C39A"/>
            </a:solidFill>
            <a:prstDash val="solid"/>
          </a:ln>
        </p:spPr>
        <p:txBody>
          <a:bodyPr/>
          <a:lstStyle/>
          <a:p>
            <a:endParaRPr lang="ko-KR" altLang="en-US"/>
          </a:p>
        </p:txBody>
      </p:sp>
      <p:sp>
        <p:nvSpPr>
          <p:cNvPr id="18" name="Shape 13">
            <a:extLst>
              <a:ext uri="{FF2B5EF4-FFF2-40B4-BE49-F238E27FC236}">
                <a16:creationId xmlns:a16="http://schemas.microsoft.com/office/drawing/2014/main" id="{42F4A58B-9E89-AAF9-871A-E48E88B36C75}"/>
              </a:ext>
            </a:extLst>
          </p:cNvPr>
          <p:cNvSpPr/>
          <p:nvPr/>
        </p:nvSpPr>
        <p:spPr>
          <a:xfrm>
            <a:off x="7040880" y="3697605"/>
            <a:ext cx="731520" cy="731520"/>
          </a:xfrm>
          <a:prstGeom prst="ellipse">
            <a:avLst/>
          </a:prstGeom>
          <a:solidFill>
            <a:srgbClr val="02C39A"/>
          </a:solidFill>
          <a:ln/>
        </p:spPr>
        <p:txBody>
          <a:bodyPr/>
          <a:lstStyle/>
          <a:p>
            <a:endParaRPr lang="ko-KR" altLang="en-US"/>
          </a:p>
        </p:txBody>
      </p:sp>
      <p:sp>
        <p:nvSpPr>
          <p:cNvPr id="19" name="Text 14">
            <a:extLst>
              <a:ext uri="{FF2B5EF4-FFF2-40B4-BE49-F238E27FC236}">
                <a16:creationId xmlns:a16="http://schemas.microsoft.com/office/drawing/2014/main" id="{C634A831-C3E7-20C1-7598-EF638D051FC3}"/>
              </a:ext>
            </a:extLst>
          </p:cNvPr>
          <p:cNvSpPr/>
          <p:nvPr/>
        </p:nvSpPr>
        <p:spPr>
          <a:xfrm>
            <a:off x="7040880" y="3697605"/>
            <a:ext cx="731520" cy="731520"/>
          </a:xfrm>
          <a:prstGeom prst="rect">
            <a:avLst/>
          </a:prstGeom>
          <a:noFill/>
          <a:ln/>
        </p:spPr>
        <p:txBody>
          <a:bodyPr wrap="square" lIns="0" tIns="0" rIns="0" bIns="0" rtlCol="0" anchor="ctr"/>
          <a:lstStyle/>
          <a:p>
            <a:pPr marL="0" indent="0" algn="ctr">
              <a:buNone/>
            </a:pPr>
            <a:r>
              <a:rPr lang="en-US" b="1" dirty="0">
                <a:solidFill>
                  <a:srgbClr val="FFFFFF"/>
                </a:solidFill>
                <a:latin typeface="D2Coding" panose="020B0609020101020101" pitchFamily="49" charset="-127"/>
                <a:ea typeface="D2Coding" panose="020B0609020101020101" pitchFamily="49" charset="-127"/>
                <a:cs typeface="Malgun Gothic" pitchFamily="34" charset="-120"/>
              </a:rPr>
              <a:t>누가</a:t>
            </a:r>
            <a:endParaRPr lang="en-US" dirty="0">
              <a:latin typeface="D2Coding" panose="020B0609020101020101" pitchFamily="49" charset="-127"/>
              <a:ea typeface="D2Coding" panose="020B0609020101020101" pitchFamily="49" charset="-127"/>
            </a:endParaRPr>
          </a:p>
        </p:txBody>
      </p:sp>
      <p:sp>
        <p:nvSpPr>
          <p:cNvPr id="20" name="Text 15">
            <a:extLst>
              <a:ext uri="{FF2B5EF4-FFF2-40B4-BE49-F238E27FC236}">
                <a16:creationId xmlns:a16="http://schemas.microsoft.com/office/drawing/2014/main" id="{60F7F895-71B1-A5C0-8D17-FCA2BB599483}"/>
              </a:ext>
            </a:extLst>
          </p:cNvPr>
          <p:cNvSpPr/>
          <p:nvPr/>
        </p:nvSpPr>
        <p:spPr>
          <a:xfrm>
            <a:off x="6355080" y="4749165"/>
            <a:ext cx="2103120" cy="1188720"/>
          </a:xfrm>
          <a:prstGeom prst="rect">
            <a:avLst/>
          </a:prstGeom>
          <a:noFill/>
          <a:ln/>
        </p:spPr>
        <p:txBody>
          <a:bodyPr wrap="square" lIns="0" tIns="0" rIns="0" bIns="0" rtlCol="0" anchor="ctr"/>
          <a:lstStyle/>
          <a:p>
            <a:pPr marL="0" indent="0" algn="ctr">
              <a:lnSpc>
                <a:spcPct val="130000"/>
              </a:lnSpc>
              <a:buNone/>
            </a:pPr>
            <a:r>
              <a:rPr lang="en-US" sz="1600" dirty="0">
                <a:solidFill>
                  <a:srgbClr val="D7E5E5"/>
                </a:solidFill>
                <a:latin typeface="D2Coding" panose="020B0609020101020101" pitchFamily="49" charset="-127"/>
                <a:ea typeface="D2Coding" panose="020B0609020101020101" pitchFamily="49" charset="-127"/>
                <a:cs typeface="Malgun Gothic" pitchFamily="34" charset="-120"/>
              </a:rPr>
              <a:t>변경을 수행한</a:t>
            </a:r>
            <a:endParaRPr lang="en-US" sz="1600" dirty="0">
              <a:latin typeface="D2Coding" panose="020B0609020101020101" pitchFamily="49" charset="-127"/>
              <a:ea typeface="D2Coding" panose="020B0609020101020101" pitchFamily="49" charset="-127"/>
            </a:endParaRPr>
          </a:p>
          <a:p>
            <a:pPr marL="0" indent="0" algn="ctr">
              <a:lnSpc>
                <a:spcPct val="130000"/>
              </a:lnSpc>
              <a:buNone/>
            </a:pPr>
            <a:r>
              <a:rPr lang="en-US" sz="1600" dirty="0">
                <a:solidFill>
                  <a:srgbClr val="D7E5E5"/>
                </a:solidFill>
                <a:latin typeface="D2Coding" panose="020B0609020101020101" pitchFamily="49" charset="-127"/>
                <a:ea typeface="D2Coding" panose="020B0609020101020101" pitchFamily="49" charset="-127"/>
                <a:cs typeface="Malgun Gothic" pitchFamily="34" charset="-120"/>
              </a:rPr>
              <a:t>작성자 (author)</a:t>
            </a:r>
            <a:endParaRPr lang="en-US" sz="1600" dirty="0">
              <a:latin typeface="D2Coding" panose="020B0609020101020101" pitchFamily="49" charset="-127"/>
              <a:ea typeface="D2Coding" panose="020B0609020101020101" pitchFamily="49" charset="-127"/>
            </a:endParaRPr>
          </a:p>
        </p:txBody>
      </p:sp>
      <p:sp>
        <p:nvSpPr>
          <p:cNvPr id="21" name="Shape 16">
            <a:extLst>
              <a:ext uri="{FF2B5EF4-FFF2-40B4-BE49-F238E27FC236}">
                <a16:creationId xmlns:a16="http://schemas.microsoft.com/office/drawing/2014/main" id="{0E6F9929-6080-9A0D-DC23-F9FCF9AE3311}"/>
              </a:ext>
            </a:extLst>
          </p:cNvPr>
          <p:cNvSpPr/>
          <p:nvPr/>
        </p:nvSpPr>
        <p:spPr>
          <a:xfrm>
            <a:off x="8823960" y="3377565"/>
            <a:ext cx="2377440" cy="2926080"/>
          </a:xfrm>
          <a:prstGeom prst="roundRect">
            <a:avLst>
              <a:gd name="adj" fmla="val 3846"/>
            </a:avLst>
          </a:prstGeom>
          <a:solidFill>
            <a:srgbClr val="24393D"/>
          </a:solidFill>
          <a:ln w="15875">
            <a:solidFill>
              <a:srgbClr val="028090"/>
            </a:solidFill>
            <a:prstDash val="solid"/>
          </a:ln>
        </p:spPr>
        <p:txBody>
          <a:bodyPr/>
          <a:lstStyle/>
          <a:p>
            <a:endParaRPr lang="ko-KR" altLang="en-US"/>
          </a:p>
        </p:txBody>
      </p:sp>
      <p:sp>
        <p:nvSpPr>
          <p:cNvPr id="22" name="Shape 17">
            <a:extLst>
              <a:ext uri="{FF2B5EF4-FFF2-40B4-BE49-F238E27FC236}">
                <a16:creationId xmlns:a16="http://schemas.microsoft.com/office/drawing/2014/main" id="{C6D89BD9-477A-3427-A498-0C6AE5B2DD58}"/>
              </a:ext>
            </a:extLst>
          </p:cNvPr>
          <p:cNvSpPr/>
          <p:nvPr/>
        </p:nvSpPr>
        <p:spPr>
          <a:xfrm>
            <a:off x="9646920" y="3697605"/>
            <a:ext cx="731520" cy="731520"/>
          </a:xfrm>
          <a:prstGeom prst="ellipse">
            <a:avLst/>
          </a:prstGeom>
          <a:solidFill>
            <a:srgbClr val="028090"/>
          </a:solidFill>
          <a:ln/>
        </p:spPr>
        <p:txBody>
          <a:bodyPr/>
          <a:lstStyle/>
          <a:p>
            <a:endParaRPr lang="ko-KR" altLang="en-US"/>
          </a:p>
        </p:txBody>
      </p:sp>
      <p:sp>
        <p:nvSpPr>
          <p:cNvPr id="23" name="Text 18">
            <a:extLst>
              <a:ext uri="{FF2B5EF4-FFF2-40B4-BE49-F238E27FC236}">
                <a16:creationId xmlns:a16="http://schemas.microsoft.com/office/drawing/2014/main" id="{C0CFE320-1BF1-F045-AEC7-28D22C32C809}"/>
              </a:ext>
            </a:extLst>
          </p:cNvPr>
          <p:cNvSpPr/>
          <p:nvPr/>
        </p:nvSpPr>
        <p:spPr>
          <a:xfrm>
            <a:off x="9646920" y="3697605"/>
            <a:ext cx="731520" cy="731520"/>
          </a:xfrm>
          <a:prstGeom prst="rect">
            <a:avLst/>
          </a:prstGeom>
          <a:noFill/>
          <a:ln/>
        </p:spPr>
        <p:txBody>
          <a:bodyPr wrap="square" lIns="0" tIns="0" rIns="0" bIns="0" rtlCol="0" anchor="ctr"/>
          <a:lstStyle/>
          <a:p>
            <a:pPr marL="0" indent="0" algn="ctr">
              <a:buNone/>
            </a:pPr>
            <a:r>
              <a:rPr lang="en-US" b="1" dirty="0">
                <a:solidFill>
                  <a:srgbClr val="FFFFFF"/>
                </a:solidFill>
                <a:latin typeface="D2Coding" panose="020B0609020101020101" pitchFamily="49" charset="-127"/>
                <a:ea typeface="D2Coding" panose="020B0609020101020101" pitchFamily="49" charset="-127"/>
                <a:cs typeface="Malgun Gothic" pitchFamily="34" charset="-120"/>
              </a:rPr>
              <a:t>왜</a:t>
            </a:r>
            <a:endParaRPr lang="en-US" dirty="0">
              <a:latin typeface="D2Coding" panose="020B0609020101020101" pitchFamily="49" charset="-127"/>
              <a:ea typeface="D2Coding" panose="020B0609020101020101" pitchFamily="49" charset="-127"/>
            </a:endParaRPr>
          </a:p>
        </p:txBody>
      </p:sp>
      <p:sp>
        <p:nvSpPr>
          <p:cNvPr id="24" name="Text 19">
            <a:extLst>
              <a:ext uri="{FF2B5EF4-FFF2-40B4-BE49-F238E27FC236}">
                <a16:creationId xmlns:a16="http://schemas.microsoft.com/office/drawing/2014/main" id="{9448AEC1-1D1D-CD38-B4DA-9C3EB1C7FB5E}"/>
              </a:ext>
            </a:extLst>
          </p:cNvPr>
          <p:cNvSpPr/>
          <p:nvPr/>
        </p:nvSpPr>
        <p:spPr>
          <a:xfrm>
            <a:off x="8961120" y="4749165"/>
            <a:ext cx="2103120" cy="1188720"/>
          </a:xfrm>
          <a:prstGeom prst="rect">
            <a:avLst/>
          </a:prstGeom>
          <a:noFill/>
          <a:ln/>
        </p:spPr>
        <p:txBody>
          <a:bodyPr wrap="square" lIns="0" tIns="0" rIns="0" bIns="0" rtlCol="0" anchor="ctr"/>
          <a:lstStyle/>
          <a:p>
            <a:pPr marL="0" indent="0" algn="ctr">
              <a:lnSpc>
                <a:spcPct val="130000"/>
              </a:lnSpc>
              <a:buNone/>
            </a:pPr>
            <a:r>
              <a:rPr lang="en-US" sz="1600" dirty="0">
                <a:solidFill>
                  <a:srgbClr val="D7E5E5"/>
                </a:solidFill>
                <a:latin typeface="D2Coding" panose="020B0609020101020101" pitchFamily="49" charset="-127"/>
                <a:ea typeface="D2Coding" panose="020B0609020101020101" pitchFamily="49" charset="-127"/>
                <a:cs typeface="Malgun Gothic" pitchFamily="34" charset="-120"/>
              </a:rPr>
              <a:t>변경의 이유와 목적</a:t>
            </a:r>
            <a:endParaRPr lang="en-US" sz="1600" dirty="0">
              <a:latin typeface="D2Coding" panose="020B0609020101020101" pitchFamily="49" charset="-127"/>
              <a:ea typeface="D2Coding" panose="020B0609020101020101" pitchFamily="49" charset="-127"/>
            </a:endParaRPr>
          </a:p>
          <a:p>
            <a:pPr marL="0" indent="0" algn="ctr">
              <a:lnSpc>
                <a:spcPct val="130000"/>
              </a:lnSpc>
              <a:buNone/>
            </a:pPr>
            <a:r>
              <a:rPr lang="en-US" sz="1600" dirty="0">
                <a:solidFill>
                  <a:srgbClr val="D7E5E5"/>
                </a:solidFill>
                <a:latin typeface="D2Coding" panose="020B0609020101020101" pitchFamily="49" charset="-127"/>
                <a:ea typeface="D2Coding" panose="020B0609020101020101" pitchFamily="49" charset="-127"/>
                <a:cs typeface="Malgun Gothic" pitchFamily="34" charset="-120"/>
              </a:rPr>
              <a:t>(commit message)</a:t>
            </a:r>
            <a:endParaRPr lang="en-US" sz="1600" dirty="0">
              <a:latin typeface="D2Coding" panose="020B0609020101020101" pitchFamily="49" charset="-127"/>
              <a:ea typeface="D2Coding" panose="020B0609020101020101" pitchFamily="49" charset="-127"/>
            </a:endParaRPr>
          </a:p>
        </p:txBody>
      </p:sp>
      <p:sp>
        <p:nvSpPr>
          <p:cNvPr id="4" name="슬라이드 번호 개체 틀 3">
            <a:extLst>
              <a:ext uri="{FF2B5EF4-FFF2-40B4-BE49-F238E27FC236}">
                <a16:creationId xmlns:a16="http://schemas.microsoft.com/office/drawing/2014/main" id="{617E7BB2-F3DC-926F-F649-2A98ACA7CEB5}"/>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17</a:t>
            </a:fld>
            <a:endParaRPr lang="en-US" b="1" dirty="0">
              <a:latin typeface="Segoe UI Emoji" panose="020B0502040204020203" pitchFamily="34" charset="0"/>
              <a:ea typeface="Segoe UI Emoji" panose="020B0502040204020203" pitchFamily="34" charset="0"/>
            </a:endParaRPr>
          </a:p>
        </p:txBody>
      </p:sp>
    </p:spTree>
    <p:extLst>
      <p:ext uri="{BB962C8B-B14F-4D97-AF65-F5344CB8AC3E}">
        <p14:creationId xmlns:p14="http://schemas.microsoft.com/office/powerpoint/2010/main" val="8981086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898A1D-C108-7CBD-99EF-C5D3099CEDF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CEED010-748D-4435-5E81-F12574F8196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전통적</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형상관리</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개념</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vs Git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개념</a:t>
            </a:r>
            <a:endPar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graphicFrame>
        <p:nvGraphicFramePr>
          <p:cNvPr id="2" name="Table 0">
            <a:extLst>
              <a:ext uri="{FF2B5EF4-FFF2-40B4-BE49-F238E27FC236}">
                <a16:creationId xmlns:a16="http://schemas.microsoft.com/office/drawing/2014/main" id="{56A1088C-055F-D008-275C-AC66BB5A9728}"/>
              </a:ext>
            </a:extLst>
          </p:cNvPr>
          <p:cNvGraphicFramePr>
            <a:graphicFrameLocks noGrp="1"/>
          </p:cNvGraphicFramePr>
          <p:nvPr>
            <p:extLst>
              <p:ext uri="{D42A27DB-BD31-4B8C-83A1-F6EECF244321}">
                <p14:modId xmlns:p14="http://schemas.microsoft.com/office/powerpoint/2010/main" val="1907026385"/>
              </p:ext>
            </p:extLst>
          </p:nvPr>
        </p:nvGraphicFramePr>
        <p:xfrm>
          <a:off x="1463040" y="1506855"/>
          <a:ext cx="9235440" cy="4206240"/>
        </p:xfrm>
        <a:graphic>
          <a:graphicData uri="http://schemas.openxmlformats.org/drawingml/2006/table">
            <a:tbl>
              <a:tblPr/>
              <a:tblGrid>
                <a:gridCol w="411480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525780">
                <a:tc>
                  <a:txBody>
                    <a:bodyPr/>
                    <a:lstStyle/>
                    <a:p>
                      <a:pPr marL="0" indent="0" algn="ctr">
                        <a:buNone/>
                      </a:pPr>
                      <a:r>
                        <a:rPr lang="en-US" sz="1800" b="1" dirty="0">
                          <a:solidFill>
                            <a:srgbClr val="FFFFFF"/>
                          </a:solidFill>
                          <a:latin typeface="D2Coding" panose="020B0609020101020101" pitchFamily="49" charset="-127"/>
                          <a:ea typeface="D2Coding" panose="020B0609020101020101" pitchFamily="49" charset="-127"/>
                          <a:cs typeface="Malgun Gothic" pitchFamily="34" charset="-120"/>
                        </a:rPr>
                        <a:t>전통적 개념</a:t>
                      </a:r>
                      <a:endParaRPr lang="en-US" sz="18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028090"/>
                    </a:solidFill>
                  </a:tcPr>
                </a:tc>
                <a:tc>
                  <a:txBody>
                    <a:bodyPr/>
                    <a:lstStyle/>
                    <a:p>
                      <a:pPr marL="0" indent="0" algn="ctr">
                        <a:buNone/>
                      </a:pPr>
                      <a:r>
                        <a:rPr lang="en-US" sz="1800" b="1" dirty="0">
                          <a:solidFill>
                            <a:srgbClr val="FFFFFF"/>
                          </a:solidFill>
                          <a:latin typeface="D2Coding" panose="020B0609020101020101" pitchFamily="49" charset="-127"/>
                          <a:ea typeface="D2Coding" panose="020B0609020101020101" pitchFamily="49" charset="-127"/>
                          <a:cs typeface="Malgun Gothic" pitchFamily="34" charset="-120"/>
                        </a:rPr>
                        <a:t>Git에서의 주요 개념</a:t>
                      </a:r>
                      <a:endParaRPr lang="en-US" sz="18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028090"/>
                    </a:solidFill>
                  </a:tcPr>
                </a:tc>
                <a:extLst>
                  <a:ext uri="{0D108BD9-81ED-4DB2-BD59-A6C34878D82A}">
                    <a16:rowId xmlns:a16="http://schemas.microsoft.com/office/drawing/2014/main" val="10000"/>
                  </a:ext>
                </a:extLst>
              </a:tr>
              <a:tr h="525780">
                <a:tc>
                  <a:txBody>
                    <a:bodyPr/>
                    <a:lstStyle/>
                    <a:p>
                      <a:pPr marL="0" indent="0" algn="ctr">
                        <a:buNone/>
                      </a:pPr>
                      <a:r>
                        <a:rPr lang="en-US" sz="1600" b="1" dirty="0">
                          <a:solidFill>
                            <a:srgbClr val="1B2A2E"/>
                          </a:solidFill>
                          <a:latin typeface="D2Coding" panose="020B0609020101020101" pitchFamily="49" charset="-127"/>
                          <a:ea typeface="D2Coding" panose="020B0609020101020101" pitchFamily="49" charset="-127"/>
                          <a:cs typeface="Malgun Gothic" pitchFamily="34" charset="-120"/>
                        </a:rPr>
                        <a:t>Repository</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5B6B6E"/>
                          </a:solidFill>
                          <a:latin typeface="D2Coding" panose="020B0609020101020101" pitchFamily="49" charset="-127"/>
                          <a:ea typeface="D2Coding" panose="020B0609020101020101" pitchFamily="49" charset="-127"/>
                          <a:cs typeface="Malgun Gothic" pitchFamily="34" charset="-120"/>
                        </a:rPr>
                        <a:t>Repository</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25780">
                <a:tc>
                  <a:txBody>
                    <a:bodyPr/>
                    <a:lstStyle/>
                    <a:p>
                      <a:pPr marL="0" indent="0" algn="ctr">
                        <a:buNone/>
                      </a:pPr>
                      <a:r>
                        <a:rPr lang="en-US" sz="1600" b="1" dirty="0">
                          <a:solidFill>
                            <a:srgbClr val="1B2A2E"/>
                          </a:solidFill>
                          <a:latin typeface="D2Coding" panose="020B0609020101020101" pitchFamily="49" charset="-127"/>
                          <a:ea typeface="D2Coding" panose="020B0609020101020101" pitchFamily="49" charset="-127"/>
                          <a:cs typeface="Malgun Gothic" pitchFamily="34" charset="-120"/>
                        </a:rPr>
                        <a:t>Check-out</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7FAFA"/>
                    </a:solidFill>
                  </a:tcPr>
                </a:tc>
                <a:tc>
                  <a:txBody>
                    <a:bodyPr/>
                    <a:lstStyle/>
                    <a:p>
                      <a:pPr marL="0" indent="0" algn="ctr">
                        <a:buNone/>
                      </a:pPr>
                      <a:r>
                        <a:rPr lang="en-US" sz="1600" dirty="0">
                          <a:solidFill>
                            <a:srgbClr val="5B6B6E"/>
                          </a:solidFill>
                          <a:latin typeface="D2Coding" panose="020B0609020101020101" pitchFamily="49" charset="-127"/>
                          <a:ea typeface="D2Coding" panose="020B0609020101020101" pitchFamily="49" charset="-127"/>
                          <a:cs typeface="Malgun Gothic" pitchFamily="34" charset="-120"/>
                        </a:rPr>
                        <a:t>Clone / Pull</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7FAFA"/>
                    </a:solidFill>
                  </a:tcPr>
                </a:tc>
                <a:extLst>
                  <a:ext uri="{0D108BD9-81ED-4DB2-BD59-A6C34878D82A}">
                    <a16:rowId xmlns:a16="http://schemas.microsoft.com/office/drawing/2014/main" val="10002"/>
                  </a:ext>
                </a:extLst>
              </a:tr>
              <a:tr h="525780">
                <a:tc>
                  <a:txBody>
                    <a:bodyPr/>
                    <a:lstStyle/>
                    <a:p>
                      <a:pPr marL="0" indent="0" algn="ctr">
                        <a:buNone/>
                      </a:pPr>
                      <a:r>
                        <a:rPr lang="en-US" sz="1600" b="1" dirty="0">
                          <a:solidFill>
                            <a:srgbClr val="1B2A2E"/>
                          </a:solidFill>
                          <a:latin typeface="D2Coding" panose="020B0609020101020101" pitchFamily="49" charset="-127"/>
                          <a:ea typeface="D2Coding" panose="020B0609020101020101" pitchFamily="49" charset="-127"/>
                          <a:cs typeface="Malgun Gothic" pitchFamily="34" charset="-120"/>
                        </a:rPr>
                        <a:t>Check-in</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5B6B6E"/>
                          </a:solidFill>
                          <a:latin typeface="D2Coding" panose="020B0609020101020101" pitchFamily="49" charset="-127"/>
                          <a:ea typeface="D2Coding" panose="020B0609020101020101" pitchFamily="49" charset="-127"/>
                          <a:cs typeface="Malgun Gothic" pitchFamily="34" charset="-120"/>
                        </a:rPr>
                        <a:t>Commit + Push</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25780">
                <a:tc>
                  <a:txBody>
                    <a:bodyPr/>
                    <a:lstStyle/>
                    <a:p>
                      <a:pPr marL="0" indent="0" algn="ctr">
                        <a:buNone/>
                      </a:pPr>
                      <a:r>
                        <a:rPr lang="en-US" sz="1600" b="1" dirty="0">
                          <a:solidFill>
                            <a:srgbClr val="1B2A2E"/>
                          </a:solidFill>
                          <a:latin typeface="D2Coding" panose="020B0609020101020101" pitchFamily="49" charset="-127"/>
                          <a:ea typeface="D2Coding" panose="020B0609020101020101" pitchFamily="49" charset="-127"/>
                          <a:cs typeface="Malgun Gothic" pitchFamily="34" charset="-120"/>
                        </a:rPr>
                        <a:t>Version</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7FAFA"/>
                    </a:solidFill>
                  </a:tcPr>
                </a:tc>
                <a:tc>
                  <a:txBody>
                    <a:bodyPr/>
                    <a:lstStyle/>
                    <a:p>
                      <a:pPr marL="0" indent="0" algn="ctr">
                        <a:buNone/>
                      </a:pPr>
                      <a:r>
                        <a:rPr lang="en-US" sz="1600" dirty="0">
                          <a:solidFill>
                            <a:srgbClr val="5B6B6E"/>
                          </a:solidFill>
                          <a:latin typeface="D2Coding" panose="020B0609020101020101" pitchFamily="49" charset="-127"/>
                          <a:ea typeface="D2Coding" panose="020B0609020101020101" pitchFamily="49" charset="-127"/>
                          <a:cs typeface="Malgun Gothic" pitchFamily="34" charset="-120"/>
                        </a:rPr>
                        <a:t>Commit</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7FAFA"/>
                    </a:solidFill>
                  </a:tcPr>
                </a:tc>
                <a:extLst>
                  <a:ext uri="{0D108BD9-81ED-4DB2-BD59-A6C34878D82A}">
                    <a16:rowId xmlns:a16="http://schemas.microsoft.com/office/drawing/2014/main" val="10004"/>
                  </a:ext>
                </a:extLst>
              </a:tr>
              <a:tr h="525780">
                <a:tc>
                  <a:txBody>
                    <a:bodyPr/>
                    <a:lstStyle/>
                    <a:p>
                      <a:pPr marL="0" indent="0" algn="ctr">
                        <a:buNone/>
                      </a:pPr>
                      <a:r>
                        <a:rPr lang="en-US" sz="1600" b="1" dirty="0">
                          <a:solidFill>
                            <a:srgbClr val="1B2A2E"/>
                          </a:solidFill>
                          <a:latin typeface="D2Coding" panose="020B0609020101020101" pitchFamily="49" charset="-127"/>
                          <a:ea typeface="D2Coding" panose="020B0609020101020101" pitchFamily="49" charset="-127"/>
                          <a:cs typeface="Malgun Gothic" pitchFamily="34" charset="-120"/>
                        </a:rPr>
                        <a:t>Branch</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5B6B6E"/>
                          </a:solidFill>
                          <a:latin typeface="D2Coding" panose="020B0609020101020101" pitchFamily="49" charset="-127"/>
                          <a:ea typeface="D2Coding" panose="020B0609020101020101" pitchFamily="49" charset="-127"/>
                          <a:cs typeface="Malgun Gothic" pitchFamily="34" charset="-120"/>
                        </a:rPr>
                        <a:t>Branch</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25780">
                <a:tc>
                  <a:txBody>
                    <a:bodyPr/>
                    <a:lstStyle/>
                    <a:p>
                      <a:pPr marL="0" indent="0" algn="ctr">
                        <a:buNone/>
                      </a:pPr>
                      <a:r>
                        <a:rPr lang="en-US" sz="1600" b="1" dirty="0">
                          <a:solidFill>
                            <a:srgbClr val="1B2A2E"/>
                          </a:solidFill>
                          <a:latin typeface="D2Coding" panose="020B0609020101020101" pitchFamily="49" charset="-127"/>
                          <a:ea typeface="D2Coding" panose="020B0609020101020101" pitchFamily="49" charset="-127"/>
                          <a:cs typeface="Malgun Gothic" pitchFamily="34" charset="-120"/>
                        </a:rPr>
                        <a:t>Baseline</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7FAFA"/>
                    </a:solidFill>
                  </a:tcPr>
                </a:tc>
                <a:tc>
                  <a:txBody>
                    <a:bodyPr/>
                    <a:lstStyle/>
                    <a:p>
                      <a:pPr marL="0" indent="0" algn="ctr">
                        <a:buNone/>
                      </a:pPr>
                      <a:r>
                        <a:rPr lang="en-US" sz="1600" dirty="0">
                          <a:solidFill>
                            <a:srgbClr val="5B6B6E"/>
                          </a:solidFill>
                          <a:latin typeface="D2Coding" panose="020B0609020101020101" pitchFamily="49" charset="-127"/>
                          <a:ea typeface="D2Coding" panose="020B0609020101020101" pitchFamily="49" charset="-127"/>
                          <a:cs typeface="Malgun Gothic" pitchFamily="34" charset="-120"/>
                        </a:rPr>
                        <a:t>Tag / Release</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7FAFA"/>
                    </a:solidFill>
                  </a:tcPr>
                </a:tc>
                <a:extLst>
                  <a:ext uri="{0D108BD9-81ED-4DB2-BD59-A6C34878D82A}">
                    <a16:rowId xmlns:a16="http://schemas.microsoft.com/office/drawing/2014/main" val="10006"/>
                  </a:ext>
                </a:extLst>
              </a:tr>
              <a:tr h="525780">
                <a:tc>
                  <a:txBody>
                    <a:bodyPr/>
                    <a:lstStyle/>
                    <a:p>
                      <a:pPr marL="0" indent="0" algn="ctr">
                        <a:buNone/>
                      </a:pPr>
                      <a:r>
                        <a:rPr lang="en-US" sz="1600" b="1" dirty="0">
                          <a:solidFill>
                            <a:srgbClr val="1B2A2E"/>
                          </a:solidFill>
                          <a:latin typeface="D2Coding" panose="020B0609020101020101" pitchFamily="49" charset="-127"/>
                          <a:ea typeface="D2Coding" panose="020B0609020101020101" pitchFamily="49" charset="-127"/>
                          <a:cs typeface="Malgun Gothic" pitchFamily="34" charset="-120"/>
                        </a:rPr>
                        <a:t>Lock</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FFFFF"/>
                    </a:solidFill>
                  </a:tcPr>
                </a:tc>
                <a:tc>
                  <a:txBody>
                    <a:bodyPr/>
                    <a:lstStyle/>
                    <a:p>
                      <a:pPr marL="0" indent="0" algn="ctr">
                        <a:buNone/>
                      </a:pPr>
                      <a:r>
                        <a:rPr lang="en-US" sz="1600" dirty="0">
                          <a:solidFill>
                            <a:srgbClr val="5B6B6E"/>
                          </a:solidFill>
                          <a:latin typeface="D2Coding" panose="020B0609020101020101" pitchFamily="49" charset="-127"/>
                          <a:ea typeface="D2Coding" panose="020B0609020101020101" pitchFamily="49" charset="-127"/>
                          <a:cs typeface="Malgun Gothic" pitchFamily="34" charset="-120"/>
                        </a:rPr>
                        <a:t>일반적으로 Lock 없이 Branch/Merge 방식</a:t>
                      </a:r>
                      <a:endParaRPr lang="en-US" sz="1600" dirty="0">
                        <a:latin typeface="D2Coding" panose="020B0609020101020101" pitchFamily="49" charset="-127"/>
                        <a:ea typeface="D2Coding" panose="020B0609020101020101" pitchFamily="49" charset="-127"/>
                        <a:cs typeface="Malgun Gothic" charset="0"/>
                      </a:endParaRPr>
                    </a:p>
                  </a:txBody>
                  <a:tcPr anchor="ctr">
                    <a:lnL w="12700" cap="flat" cmpd="sng" algn="ctr">
                      <a:solidFill>
                        <a:srgbClr val="E2E8E8"/>
                      </a:solidFill>
                      <a:prstDash val="solid"/>
                      <a:round/>
                      <a:headEnd type="none" w="med" len="med"/>
                      <a:tailEnd type="none" w="med" len="med"/>
                    </a:lnL>
                    <a:lnR w="12700" cap="flat" cmpd="sng" algn="ctr">
                      <a:solidFill>
                        <a:srgbClr val="E2E8E8"/>
                      </a:solidFill>
                      <a:prstDash val="solid"/>
                      <a:round/>
                      <a:headEnd type="none" w="med" len="med"/>
                      <a:tailEnd type="none" w="med" len="med"/>
                    </a:lnR>
                    <a:lnT w="12700" cap="flat" cmpd="sng" algn="ctr">
                      <a:solidFill>
                        <a:srgbClr val="E2E8E8"/>
                      </a:solidFill>
                      <a:prstDash val="solid"/>
                      <a:round/>
                      <a:headEnd type="none" w="med" len="med"/>
                      <a:tailEnd type="none" w="med" len="med"/>
                    </a:lnT>
                    <a:lnB w="12700" cap="flat" cmpd="sng" algn="ctr">
                      <a:solidFill>
                        <a:srgbClr val="E2E8E8"/>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Shape 2">
            <a:extLst>
              <a:ext uri="{FF2B5EF4-FFF2-40B4-BE49-F238E27FC236}">
                <a16:creationId xmlns:a16="http://schemas.microsoft.com/office/drawing/2014/main" id="{78D1C5B0-2845-DDA0-57C2-246510E4D049}"/>
              </a:ext>
            </a:extLst>
          </p:cNvPr>
          <p:cNvSpPr/>
          <p:nvPr/>
        </p:nvSpPr>
        <p:spPr>
          <a:xfrm>
            <a:off x="1463040" y="5850255"/>
            <a:ext cx="9235440" cy="548640"/>
          </a:xfrm>
          <a:prstGeom prst="roundRect">
            <a:avLst>
              <a:gd name="adj" fmla="val 10000"/>
            </a:avLst>
          </a:prstGeom>
          <a:solidFill>
            <a:srgbClr val="E8F6F3"/>
          </a:solidFill>
          <a:ln/>
        </p:spPr>
        <p:txBody>
          <a:bodyPr/>
          <a:lstStyle/>
          <a:p>
            <a:endParaRPr lang="ko-KR" altLang="en-US"/>
          </a:p>
        </p:txBody>
      </p:sp>
      <p:sp>
        <p:nvSpPr>
          <p:cNvPr id="33" name="Text 3">
            <a:extLst>
              <a:ext uri="{FF2B5EF4-FFF2-40B4-BE49-F238E27FC236}">
                <a16:creationId xmlns:a16="http://schemas.microsoft.com/office/drawing/2014/main" id="{3730D5BE-80E5-0DE4-8B58-DF075D03A688}"/>
              </a:ext>
            </a:extLst>
          </p:cNvPr>
          <p:cNvSpPr/>
          <p:nvPr/>
        </p:nvSpPr>
        <p:spPr>
          <a:xfrm>
            <a:off x="1691640" y="5850255"/>
            <a:ext cx="8778240" cy="548640"/>
          </a:xfrm>
          <a:prstGeom prst="rect">
            <a:avLst/>
          </a:prstGeom>
          <a:noFill/>
          <a:ln/>
        </p:spPr>
        <p:txBody>
          <a:bodyPr wrap="square" lIns="0" tIns="0" rIns="0" bIns="0" rtlCol="0" anchor="ctr"/>
          <a:lstStyle/>
          <a:p>
            <a:pPr marL="0" indent="0">
              <a:buNone/>
            </a:pPr>
            <a:r>
              <a:rPr lang="en-US" sz="1400" i="1" dirty="0">
                <a:solidFill>
                  <a:srgbClr val="028090"/>
                </a:solidFill>
                <a:latin typeface="D2Coding" panose="020B0609020101020101" pitchFamily="49" charset="-127"/>
                <a:ea typeface="D2Coding" panose="020B0609020101020101" pitchFamily="49" charset="-127"/>
                <a:cs typeface="Malgun Gothic" pitchFamily="34" charset="-120"/>
              </a:rPr>
              <a:t>Git은 파일을 잠그는 대신, Branch에서 독립적으로 작업 후 Merge하는 방식으로 동시 작업 </a:t>
            </a:r>
            <a:r>
              <a:rPr lang="en-US" sz="1400" i="1" dirty="0" err="1">
                <a:solidFill>
                  <a:srgbClr val="028090"/>
                </a:solidFill>
                <a:latin typeface="D2Coding" panose="020B0609020101020101" pitchFamily="49" charset="-127"/>
                <a:ea typeface="D2Coding" panose="020B0609020101020101" pitchFamily="49" charset="-127"/>
                <a:cs typeface="Malgun Gothic" pitchFamily="34" charset="-120"/>
              </a:rPr>
              <a:t>충돌을</a:t>
            </a:r>
            <a:r>
              <a:rPr lang="en-US" sz="1400" i="1" dirty="0">
                <a:solidFill>
                  <a:srgbClr val="028090"/>
                </a:solidFill>
                <a:latin typeface="D2Coding" panose="020B0609020101020101" pitchFamily="49" charset="-127"/>
                <a:ea typeface="D2Coding" panose="020B0609020101020101" pitchFamily="49" charset="-127"/>
                <a:cs typeface="Malgun Gothic" pitchFamily="34" charset="-120"/>
              </a:rPr>
              <a:t> </a:t>
            </a:r>
            <a:r>
              <a:rPr lang="en-US" sz="1400" i="1" dirty="0" err="1">
                <a:solidFill>
                  <a:srgbClr val="028090"/>
                </a:solidFill>
                <a:latin typeface="D2Coding" panose="020B0609020101020101" pitchFamily="49" charset="-127"/>
                <a:ea typeface="D2Coding" panose="020B0609020101020101" pitchFamily="49" charset="-127"/>
                <a:cs typeface="Malgun Gothic" pitchFamily="34" charset="-120"/>
              </a:rPr>
              <a:t>관리</a:t>
            </a:r>
            <a:endParaRPr lang="en-US" sz="1400" dirty="0">
              <a:latin typeface="D2Coding" panose="020B0609020101020101" pitchFamily="49" charset="-127"/>
              <a:ea typeface="D2Coding" panose="020B0609020101020101" pitchFamily="49" charset="-127"/>
            </a:endParaRPr>
          </a:p>
        </p:txBody>
      </p:sp>
      <p:sp>
        <p:nvSpPr>
          <p:cNvPr id="5" name="슬라이드 번호 개체 틀 3">
            <a:extLst>
              <a:ext uri="{FF2B5EF4-FFF2-40B4-BE49-F238E27FC236}">
                <a16:creationId xmlns:a16="http://schemas.microsoft.com/office/drawing/2014/main" id="{D29BD4DE-1847-AD44-96E5-7722216B84A8}"/>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18</a:t>
            </a:fld>
            <a:endParaRPr lang="en-US" b="1" dirty="0">
              <a:latin typeface="Segoe UI Emoji" panose="020B0502040204020203" pitchFamily="34" charset="0"/>
              <a:ea typeface="Segoe UI Emoji" panose="020B0502040204020203" pitchFamily="34" charset="0"/>
            </a:endParaRPr>
          </a:p>
        </p:txBody>
      </p:sp>
    </p:spTree>
    <p:extLst>
      <p:ext uri="{BB962C8B-B14F-4D97-AF65-F5344CB8AC3E}">
        <p14:creationId xmlns:p14="http://schemas.microsoft.com/office/powerpoint/2010/main" val="31601731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F2216-E6DD-C354-8DE6-CD397973AE8E}"/>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E96695B-1906-1CDF-ED81-479E0F93437A}"/>
              </a:ext>
            </a:extLst>
          </p:cNvPr>
          <p:cNvSpPr>
            <a:spLocks noGrp="1"/>
          </p:cNvSpPr>
          <p:nvPr>
            <p:ph type="ctrTitle"/>
          </p:nvPr>
        </p:nvSpPr>
        <p:spPr>
          <a:xfrm>
            <a:off x="838199" y="1164324"/>
            <a:ext cx="10934701" cy="1293126"/>
          </a:xfrm>
        </p:spPr>
        <p:txBody>
          <a:bodyPr rtlCol="0" anchor="ctr" anchorCtr="0">
            <a:noAutofit/>
          </a:bodyPr>
          <a:lstStyle/>
          <a:p>
            <a:r>
              <a:rPr lang="en-US" altLang="ko-KR" sz="4400" dirty="0">
                <a:solidFill>
                  <a:schemeClr val="bg1"/>
                </a:solidFill>
                <a:latin typeface="D2Coding" panose="020B0609020101020101" pitchFamily="49" charset="-127"/>
                <a:ea typeface="D2Coding" panose="020B0609020101020101" pitchFamily="49" charset="-127"/>
              </a:rPr>
              <a:t>Install git &amp; Install GitHub Desktop</a:t>
            </a:r>
            <a:endParaRPr lang="ko-KR" altLang="en-US" sz="4400" dirty="0">
              <a:solidFill>
                <a:schemeClr val="bg1"/>
              </a:solidFill>
              <a:latin typeface="D2Coding" panose="020B0609020101020101" pitchFamily="49" charset="-127"/>
              <a:ea typeface="D2Coding" panose="020B0609020101020101" pitchFamily="49" charset="-127"/>
            </a:endParaRPr>
          </a:p>
        </p:txBody>
      </p:sp>
      <p:sp>
        <p:nvSpPr>
          <p:cNvPr id="5" name="부제목 2">
            <a:extLst>
              <a:ext uri="{FF2B5EF4-FFF2-40B4-BE49-F238E27FC236}">
                <a16:creationId xmlns:a16="http://schemas.microsoft.com/office/drawing/2014/main" id="{174C4D4D-DEB1-B216-B574-1455BD02CA87}"/>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latin typeface="D2Coding" panose="020B0609020101020101" pitchFamily="49" charset="-127"/>
                <a:ea typeface="D2Coding" panose="020B0609020101020101" pitchFamily="49" charset="-127"/>
              </a:rPr>
              <a:t>2026 Fall</a:t>
            </a:r>
          </a:p>
          <a:p>
            <a:r>
              <a:rPr lang="ko-KR" altLang="en-US" sz="2400" dirty="0" err="1">
                <a:solidFill>
                  <a:schemeClr val="bg1"/>
                </a:solidFill>
                <a:latin typeface="D2Coding" panose="020B0609020101020101" pitchFamily="49" charset="-127"/>
                <a:ea typeface="D2Coding" panose="020B0609020101020101" pitchFamily="49" charset="-127"/>
              </a:rPr>
              <a:t>조상구교수</a:t>
            </a:r>
            <a:endParaRPr lang="en-US" altLang="ko-KR" sz="2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596914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F710A-9B4B-B99A-5697-76D644AD774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B0487A8-431F-141A-E5AA-E86C41A1639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Install git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11887E94-4CA7-4086-8B31-031B3C67191A}"/>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3BB4A0C2-1E75-443C-7349-EAFC6D529D33}"/>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20</a:t>
            </a:fld>
            <a:endParaRPr lang="en-US" b="1" dirty="0">
              <a:latin typeface="Segoe UI Emoji" panose="020B0502040204020203" pitchFamily="34" charset="0"/>
              <a:ea typeface="Segoe UI Emoji" panose="020B0502040204020203" pitchFamily="34" charset="0"/>
            </a:endParaRPr>
          </a:p>
        </p:txBody>
      </p:sp>
      <p:pic>
        <p:nvPicPr>
          <p:cNvPr id="12" name="그래픽 11" descr="수영">
            <a:extLst>
              <a:ext uri="{FF2B5EF4-FFF2-40B4-BE49-F238E27FC236}">
                <a16:creationId xmlns:a16="http://schemas.microsoft.com/office/drawing/2014/main" id="{8279C13D-97BA-1614-817B-F8BE4787AE3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pic>
        <p:nvPicPr>
          <p:cNvPr id="7" name="그림 6">
            <a:extLst>
              <a:ext uri="{FF2B5EF4-FFF2-40B4-BE49-F238E27FC236}">
                <a16:creationId xmlns:a16="http://schemas.microsoft.com/office/drawing/2014/main" id="{7BFEA084-9B97-420F-90A9-FD7462D0B5D9}"/>
              </a:ext>
            </a:extLst>
          </p:cNvPr>
          <p:cNvPicPr>
            <a:picLocks noChangeAspect="1"/>
          </p:cNvPicPr>
          <p:nvPr/>
        </p:nvPicPr>
        <p:blipFill>
          <a:blip r:embed="rId3"/>
          <a:stretch>
            <a:fillRect/>
          </a:stretch>
        </p:blipFill>
        <p:spPr>
          <a:xfrm>
            <a:off x="1231982" y="1517072"/>
            <a:ext cx="5032720" cy="3823855"/>
          </a:xfrm>
          <a:prstGeom prst="rect">
            <a:avLst/>
          </a:prstGeom>
        </p:spPr>
      </p:pic>
      <p:sp>
        <p:nvSpPr>
          <p:cNvPr id="13" name="TextBox 12">
            <a:extLst>
              <a:ext uri="{FF2B5EF4-FFF2-40B4-BE49-F238E27FC236}">
                <a16:creationId xmlns:a16="http://schemas.microsoft.com/office/drawing/2014/main" id="{3E056742-6B0D-265F-1310-460BAEE3257F}"/>
              </a:ext>
            </a:extLst>
          </p:cNvPr>
          <p:cNvSpPr txBox="1"/>
          <p:nvPr/>
        </p:nvSpPr>
        <p:spPr>
          <a:xfrm>
            <a:off x="5430981" y="3575250"/>
            <a:ext cx="6400801" cy="2800767"/>
          </a:xfrm>
          <a:prstGeom prst="rect">
            <a:avLst/>
          </a:prstGeom>
          <a:solidFill>
            <a:schemeClr val="tx1"/>
          </a:solidFill>
        </p:spPr>
        <p:txBody>
          <a:bodyPr wrap="square">
            <a:spAutoFit/>
          </a:bodyPr>
          <a:lstStyle/>
          <a:p>
            <a:endParaRPr lang="ko-KR" altLang="en-US" sz="1100" dirty="0">
              <a:solidFill>
                <a:schemeClr val="bg1"/>
              </a:solidFill>
              <a:latin typeface="D2Coding" panose="020B0609020101020101" pitchFamily="49" charset="-127"/>
              <a:ea typeface="D2Coding" panose="020B0609020101020101" pitchFamily="49" charset="-127"/>
            </a:endParaRPr>
          </a:p>
          <a:p>
            <a:r>
              <a:rPr lang="ko-KR" altLang="en-US" sz="1100" dirty="0">
                <a:solidFill>
                  <a:schemeClr val="bg1"/>
                </a:solidFill>
                <a:latin typeface="D2Coding" panose="020B0609020101020101" pitchFamily="49" charset="-127"/>
                <a:ea typeface="D2Coding" panose="020B0609020101020101" pitchFamily="49" charset="-127"/>
              </a:rPr>
              <a:t>(</a:t>
            </a:r>
            <a:r>
              <a:rPr lang="ko-KR" altLang="en-US" sz="1100" dirty="0" err="1">
                <a:solidFill>
                  <a:schemeClr val="bg1"/>
                </a:solidFill>
                <a:latin typeface="D2Coding" panose="020B0609020101020101" pitchFamily="49" charset="-127"/>
                <a:ea typeface="D2Coding" panose="020B0609020101020101" pitchFamily="49" charset="-127"/>
              </a:rPr>
              <a:t>myenv</a:t>
            </a:r>
            <a:r>
              <a:rPr lang="ko-KR" altLang="en-US" sz="1100" dirty="0">
                <a:solidFill>
                  <a:schemeClr val="bg1"/>
                </a:solidFill>
                <a:latin typeface="D2Coding" panose="020B0609020101020101" pitchFamily="49" charset="-127"/>
                <a:ea typeface="D2Coding" panose="020B0609020101020101" pitchFamily="49" charset="-127"/>
              </a:rPr>
              <a:t>) D:\ai_agent&gt;git</a:t>
            </a:r>
          </a:p>
          <a:p>
            <a:r>
              <a:rPr lang="ko-KR" altLang="en-US" sz="1100" dirty="0" err="1">
                <a:solidFill>
                  <a:schemeClr val="bg1"/>
                </a:solidFill>
                <a:latin typeface="D2Coding" panose="020B0609020101020101" pitchFamily="49" charset="-127"/>
                <a:ea typeface="D2Coding" panose="020B0609020101020101" pitchFamily="49" charset="-127"/>
              </a:rPr>
              <a:t>usage</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git</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v</a:t>
            </a:r>
            <a:r>
              <a:rPr lang="ko-KR" altLang="en-US" sz="1100" dirty="0">
                <a:solidFill>
                  <a:schemeClr val="bg1"/>
                </a:solidFill>
                <a:latin typeface="D2Coding" panose="020B0609020101020101" pitchFamily="49" charset="-127"/>
                <a:ea typeface="D2Coding" panose="020B0609020101020101" pitchFamily="49" charset="-127"/>
              </a:rPr>
              <a:t> | --</a:t>
            </a:r>
            <a:r>
              <a:rPr lang="ko-KR" altLang="en-US" sz="1100" dirty="0" err="1">
                <a:solidFill>
                  <a:schemeClr val="bg1"/>
                </a:solidFill>
                <a:latin typeface="D2Coding" panose="020B0609020101020101" pitchFamily="49" charset="-127"/>
                <a:ea typeface="D2Coding" panose="020B0609020101020101" pitchFamily="49" charset="-127"/>
              </a:rPr>
              <a:t>version</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h</a:t>
            </a:r>
            <a:r>
              <a:rPr lang="ko-KR" altLang="en-US" sz="1100" dirty="0">
                <a:solidFill>
                  <a:schemeClr val="bg1"/>
                </a:solidFill>
                <a:latin typeface="D2Coding" panose="020B0609020101020101" pitchFamily="49" charset="-127"/>
                <a:ea typeface="D2Coding" panose="020B0609020101020101" pitchFamily="49" charset="-127"/>
              </a:rPr>
              <a:t> | --</a:t>
            </a:r>
            <a:r>
              <a:rPr lang="ko-KR" altLang="en-US" sz="1100" dirty="0" err="1">
                <a:solidFill>
                  <a:schemeClr val="bg1"/>
                </a:solidFill>
                <a:latin typeface="D2Coding" panose="020B0609020101020101" pitchFamily="49" charset="-127"/>
                <a:ea typeface="D2Coding" panose="020B0609020101020101" pitchFamily="49" charset="-127"/>
              </a:rPr>
              <a:t>help</a:t>
            </a:r>
            <a:r>
              <a:rPr lang="ko-KR" altLang="en-US" sz="1100" dirty="0">
                <a:solidFill>
                  <a:schemeClr val="bg1"/>
                </a:solidFill>
                <a:latin typeface="D2Coding" panose="020B0609020101020101" pitchFamily="49" charset="-127"/>
                <a:ea typeface="D2Coding" panose="020B0609020101020101" pitchFamily="49" charset="-127"/>
              </a:rPr>
              <a:t>] [-C &lt;</a:t>
            </a:r>
            <a:r>
              <a:rPr lang="ko-KR" altLang="en-US" sz="1100" dirty="0" err="1">
                <a:solidFill>
                  <a:schemeClr val="bg1"/>
                </a:solidFill>
                <a:latin typeface="D2Coding" panose="020B0609020101020101" pitchFamily="49" charset="-127"/>
                <a:ea typeface="D2Coding" panose="020B0609020101020101" pitchFamily="49" charset="-127"/>
              </a:rPr>
              <a:t>path</a:t>
            </a:r>
            <a:r>
              <a:rPr lang="ko-KR" altLang="en-US" sz="1100" dirty="0">
                <a:solidFill>
                  <a:schemeClr val="bg1"/>
                </a:solidFill>
                <a:latin typeface="D2Coding" panose="020B0609020101020101" pitchFamily="49" charset="-127"/>
                <a:ea typeface="D2Coding" panose="020B0609020101020101" pitchFamily="49" charset="-127"/>
              </a:rPr>
              <a:t>&gt;] [-c &lt;</a:t>
            </a:r>
            <a:r>
              <a:rPr lang="ko-KR" altLang="en-US" sz="1100" dirty="0" err="1">
                <a:solidFill>
                  <a:schemeClr val="bg1"/>
                </a:solidFill>
                <a:latin typeface="D2Coding" panose="020B0609020101020101" pitchFamily="49" charset="-127"/>
                <a:ea typeface="D2Coding" panose="020B0609020101020101" pitchFamily="49" charset="-127"/>
              </a:rPr>
              <a:t>name</a:t>
            </a:r>
            <a:r>
              <a:rPr lang="ko-KR" altLang="en-US" sz="1100" dirty="0">
                <a:solidFill>
                  <a:schemeClr val="bg1"/>
                </a:solidFill>
                <a:latin typeface="D2Coding" panose="020B0609020101020101" pitchFamily="49" charset="-127"/>
                <a:ea typeface="D2Coding" panose="020B0609020101020101" pitchFamily="49" charset="-127"/>
              </a:rPr>
              <a:t>&gt;=&lt;</a:t>
            </a:r>
            <a:r>
              <a:rPr lang="ko-KR" altLang="en-US" sz="1100" dirty="0" err="1">
                <a:solidFill>
                  <a:schemeClr val="bg1"/>
                </a:solidFill>
                <a:latin typeface="D2Coding" panose="020B0609020101020101" pitchFamily="49" charset="-127"/>
                <a:ea typeface="D2Coding" panose="020B0609020101020101" pitchFamily="49" charset="-127"/>
              </a:rPr>
              <a:t>value</a:t>
            </a:r>
            <a:r>
              <a:rPr lang="ko-KR" altLang="en-US" sz="1100" dirty="0">
                <a:solidFill>
                  <a:schemeClr val="bg1"/>
                </a:solidFill>
                <a:latin typeface="D2Coding" panose="020B0609020101020101" pitchFamily="49" charset="-127"/>
                <a:ea typeface="D2Coding" panose="020B0609020101020101" pitchFamily="49" charset="-127"/>
              </a:rPr>
              <a:t>&gt;]</a:t>
            </a:r>
          </a:p>
          <a:p>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exec-path</a:t>
            </a:r>
            <a:r>
              <a:rPr lang="ko-KR" altLang="en-US" sz="1100" dirty="0">
                <a:solidFill>
                  <a:schemeClr val="bg1"/>
                </a:solidFill>
                <a:latin typeface="D2Coding" panose="020B0609020101020101" pitchFamily="49" charset="-127"/>
                <a:ea typeface="D2Coding" panose="020B0609020101020101" pitchFamily="49" charset="-127"/>
              </a:rPr>
              <a:t>[=&lt;</a:t>
            </a:r>
            <a:r>
              <a:rPr lang="ko-KR" altLang="en-US" sz="1100" dirty="0" err="1">
                <a:solidFill>
                  <a:schemeClr val="bg1"/>
                </a:solidFill>
                <a:latin typeface="D2Coding" panose="020B0609020101020101" pitchFamily="49" charset="-127"/>
                <a:ea typeface="D2Coding" panose="020B0609020101020101" pitchFamily="49" charset="-127"/>
              </a:rPr>
              <a:t>path</a:t>
            </a:r>
            <a:r>
              <a:rPr lang="ko-KR" altLang="en-US" sz="1100" dirty="0">
                <a:solidFill>
                  <a:schemeClr val="bg1"/>
                </a:solidFill>
                <a:latin typeface="D2Coding" panose="020B0609020101020101" pitchFamily="49" charset="-127"/>
                <a:ea typeface="D2Coding" panose="020B0609020101020101" pitchFamily="49" charset="-127"/>
              </a:rPr>
              <a:t>&gt;]] [--</a:t>
            </a:r>
            <a:r>
              <a:rPr lang="ko-KR" altLang="en-US" sz="1100" dirty="0" err="1">
                <a:solidFill>
                  <a:schemeClr val="bg1"/>
                </a:solidFill>
                <a:latin typeface="D2Coding" panose="020B0609020101020101" pitchFamily="49" charset="-127"/>
                <a:ea typeface="D2Coding" panose="020B0609020101020101" pitchFamily="49" charset="-127"/>
              </a:rPr>
              <a:t>html-path</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man-path</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info-path</a:t>
            </a:r>
            <a:r>
              <a:rPr lang="ko-KR" altLang="en-US" sz="1100" dirty="0">
                <a:solidFill>
                  <a:schemeClr val="bg1"/>
                </a:solidFill>
                <a:latin typeface="D2Coding" panose="020B0609020101020101" pitchFamily="49" charset="-127"/>
                <a:ea typeface="D2Coding" panose="020B0609020101020101" pitchFamily="49" charset="-127"/>
              </a:rPr>
              <a:t>]</a:t>
            </a:r>
          </a:p>
          <a:p>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p</a:t>
            </a:r>
            <a:r>
              <a:rPr lang="ko-KR" altLang="en-US" sz="1100" dirty="0">
                <a:solidFill>
                  <a:schemeClr val="bg1"/>
                </a:solidFill>
                <a:latin typeface="D2Coding" panose="020B0609020101020101" pitchFamily="49" charset="-127"/>
                <a:ea typeface="D2Coding" panose="020B0609020101020101" pitchFamily="49" charset="-127"/>
              </a:rPr>
              <a:t> | --</a:t>
            </a:r>
            <a:r>
              <a:rPr lang="ko-KR" altLang="en-US" sz="1100" dirty="0" err="1">
                <a:solidFill>
                  <a:schemeClr val="bg1"/>
                </a:solidFill>
                <a:latin typeface="D2Coding" panose="020B0609020101020101" pitchFamily="49" charset="-127"/>
                <a:ea typeface="D2Coding" panose="020B0609020101020101" pitchFamily="49" charset="-127"/>
              </a:rPr>
              <a:t>paginate</a:t>
            </a:r>
            <a:r>
              <a:rPr lang="ko-KR" altLang="en-US" sz="1100" dirty="0">
                <a:solidFill>
                  <a:schemeClr val="bg1"/>
                </a:solidFill>
                <a:latin typeface="D2Coding" panose="020B0609020101020101" pitchFamily="49" charset="-127"/>
                <a:ea typeface="D2Coding" panose="020B0609020101020101" pitchFamily="49" charset="-127"/>
              </a:rPr>
              <a:t> | -</a:t>
            </a:r>
            <a:r>
              <a:rPr lang="ko-KR" altLang="en-US" sz="1100" dirty="0" err="1">
                <a:solidFill>
                  <a:schemeClr val="bg1"/>
                </a:solidFill>
                <a:latin typeface="D2Coding" panose="020B0609020101020101" pitchFamily="49" charset="-127"/>
                <a:ea typeface="D2Coding" panose="020B0609020101020101" pitchFamily="49" charset="-127"/>
              </a:rPr>
              <a:t>P</a:t>
            </a:r>
            <a:r>
              <a:rPr lang="ko-KR" altLang="en-US" sz="1100" dirty="0">
                <a:solidFill>
                  <a:schemeClr val="bg1"/>
                </a:solidFill>
                <a:latin typeface="D2Coding" panose="020B0609020101020101" pitchFamily="49" charset="-127"/>
                <a:ea typeface="D2Coding" panose="020B0609020101020101" pitchFamily="49" charset="-127"/>
              </a:rPr>
              <a:t> | --</a:t>
            </a:r>
            <a:r>
              <a:rPr lang="ko-KR" altLang="en-US" sz="1100" dirty="0" err="1">
                <a:solidFill>
                  <a:schemeClr val="bg1"/>
                </a:solidFill>
                <a:latin typeface="D2Coding" panose="020B0609020101020101" pitchFamily="49" charset="-127"/>
                <a:ea typeface="D2Coding" panose="020B0609020101020101" pitchFamily="49" charset="-127"/>
              </a:rPr>
              <a:t>no-pager</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no-replace-objects</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no-lazy-fetch</a:t>
            </a:r>
            <a:r>
              <a:rPr lang="ko-KR" altLang="en-US" sz="1100" dirty="0">
                <a:solidFill>
                  <a:schemeClr val="bg1"/>
                </a:solidFill>
                <a:latin typeface="D2Coding" panose="020B0609020101020101" pitchFamily="49" charset="-127"/>
                <a:ea typeface="D2Coding" panose="020B0609020101020101" pitchFamily="49" charset="-127"/>
              </a:rPr>
              <a:t>]</a:t>
            </a:r>
          </a:p>
          <a:p>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no-optional-locks</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no-advice</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bare</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git-dir</a:t>
            </a:r>
            <a:r>
              <a:rPr lang="ko-KR" altLang="en-US" sz="1100" dirty="0">
                <a:solidFill>
                  <a:schemeClr val="bg1"/>
                </a:solidFill>
                <a:latin typeface="D2Coding" panose="020B0609020101020101" pitchFamily="49" charset="-127"/>
                <a:ea typeface="D2Coding" panose="020B0609020101020101" pitchFamily="49" charset="-127"/>
              </a:rPr>
              <a:t>=&lt;</a:t>
            </a:r>
            <a:r>
              <a:rPr lang="ko-KR" altLang="en-US" sz="1100" dirty="0" err="1">
                <a:solidFill>
                  <a:schemeClr val="bg1"/>
                </a:solidFill>
                <a:latin typeface="D2Coding" panose="020B0609020101020101" pitchFamily="49" charset="-127"/>
                <a:ea typeface="D2Coding" panose="020B0609020101020101" pitchFamily="49" charset="-127"/>
              </a:rPr>
              <a:t>path</a:t>
            </a:r>
            <a:r>
              <a:rPr lang="ko-KR" altLang="en-US" sz="1100" dirty="0">
                <a:solidFill>
                  <a:schemeClr val="bg1"/>
                </a:solidFill>
                <a:latin typeface="D2Coding" panose="020B0609020101020101" pitchFamily="49" charset="-127"/>
                <a:ea typeface="D2Coding" panose="020B0609020101020101" pitchFamily="49" charset="-127"/>
              </a:rPr>
              <a:t>&gt;]</a:t>
            </a:r>
          </a:p>
          <a:p>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work-tree</a:t>
            </a:r>
            <a:r>
              <a:rPr lang="ko-KR" altLang="en-US" sz="1100" dirty="0">
                <a:solidFill>
                  <a:schemeClr val="bg1"/>
                </a:solidFill>
                <a:latin typeface="D2Coding" panose="020B0609020101020101" pitchFamily="49" charset="-127"/>
                <a:ea typeface="D2Coding" panose="020B0609020101020101" pitchFamily="49" charset="-127"/>
              </a:rPr>
              <a:t>=&lt;</a:t>
            </a:r>
            <a:r>
              <a:rPr lang="ko-KR" altLang="en-US" sz="1100" dirty="0" err="1">
                <a:solidFill>
                  <a:schemeClr val="bg1"/>
                </a:solidFill>
                <a:latin typeface="D2Coding" panose="020B0609020101020101" pitchFamily="49" charset="-127"/>
                <a:ea typeface="D2Coding" panose="020B0609020101020101" pitchFamily="49" charset="-127"/>
              </a:rPr>
              <a:t>path</a:t>
            </a:r>
            <a:r>
              <a:rPr lang="ko-KR" altLang="en-US" sz="1100" dirty="0">
                <a:solidFill>
                  <a:schemeClr val="bg1"/>
                </a:solidFill>
                <a:latin typeface="D2Coding" panose="020B0609020101020101" pitchFamily="49" charset="-127"/>
                <a:ea typeface="D2Coding" panose="020B0609020101020101" pitchFamily="49" charset="-127"/>
              </a:rPr>
              <a:t>&gt;] [--</a:t>
            </a:r>
            <a:r>
              <a:rPr lang="ko-KR" altLang="en-US" sz="1100" dirty="0" err="1">
                <a:solidFill>
                  <a:schemeClr val="bg1"/>
                </a:solidFill>
                <a:latin typeface="D2Coding" panose="020B0609020101020101" pitchFamily="49" charset="-127"/>
                <a:ea typeface="D2Coding" panose="020B0609020101020101" pitchFamily="49" charset="-127"/>
              </a:rPr>
              <a:t>namespace</a:t>
            </a:r>
            <a:r>
              <a:rPr lang="ko-KR" altLang="en-US" sz="1100" dirty="0">
                <a:solidFill>
                  <a:schemeClr val="bg1"/>
                </a:solidFill>
                <a:latin typeface="D2Coding" panose="020B0609020101020101" pitchFamily="49" charset="-127"/>
                <a:ea typeface="D2Coding" panose="020B0609020101020101" pitchFamily="49" charset="-127"/>
              </a:rPr>
              <a:t>=&lt;</a:t>
            </a:r>
            <a:r>
              <a:rPr lang="ko-KR" altLang="en-US" sz="1100" dirty="0" err="1">
                <a:solidFill>
                  <a:schemeClr val="bg1"/>
                </a:solidFill>
                <a:latin typeface="D2Coding" panose="020B0609020101020101" pitchFamily="49" charset="-127"/>
                <a:ea typeface="D2Coding" panose="020B0609020101020101" pitchFamily="49" charset="-127"/>
              </a:rPr>
              <a:t>name</a:t>
            </a:r>
            <a:r>
              <a:rPr lang="ko-KR" altLang="en-US" sz="1100" dirty="0">
                <a:solidFill>
                  <a:schemeClr val="bg1"/>
                </a:solidFill>
                <a:latin typeface="D2Coding" panose="020B0609020101020101" pitchFamily="49" charset="-127"/>
                <a:ea typeface="D2Coding" panose="020B0609020101020101" pitchFamily="49" charset="-127"/>
              </a:rPr>
              <a:t>&gt;] [--</a:t>
            </a:r>
            <a:r>
              <a:rPr lang="ko-KR" altLang="en-US" sz="1100" dirty="0" err="1">
                <a:solidFill>
                  <a:schemeClr val="bg1"/>
                </a:solidFill>
                <a:latin typeface="D2Coding" panose="020B0609020101020101" pitchFamily="49" charset="-127"/>
                <a:ea typeface="D2Coding" panose="020B0609020101020101" pitchFamily="49" charset="-127"/>
              </a:rPr>
              <a:t>config-env</a:t>
            </a:r>
            <a:r>
              <a:rPr lang="ko-KR" altLang="en-US" sz="1100" dirty="0">
                <a:solidFill>
                  <a:schemeClr val="bg1"/>
                </a:solidFill>
                <a:latin typeface="D2Coding" panose="020B0609020101020101" pitchFamily="49" charset="-127"/>
                <a:ea typeface="D2Coding" panose="020B0609020101020101" pitchFamily="49" charset="-127"/>
              </a:rPr>
              <a:t>=&lt;</a:t>
            </a:r>
            <a:r>
              <a:rPr lang="ko-KR" altLang="en-US" sz="1100" dirty="0" err="1">
                <a:solidFill>
                  <a:schemeClr val="bg1"/>
                </a:solidFill>
                <a:latin typeface="D2Coding" panose="020B0609020101020101" pitchFamily="49" charset="-127"/>
                <a:ea typeface="D2Coding" panose="020B0609020101020101" pitchFamily="49" charset="-127"/>
              </a:rPr>
              <a:t>name</a:t>
            </a:r>
            <a:r>
              <a:rPr lang="ko-KR" altLang="en-US" sz="1100" dirty="0">
                <a:solidFill>
                  <a:schemeClr val="bg1"/>
                </a:solidFill>
                <a:latin typeface="D2Coding" panose="020B0609020101020101" pitchFamily="49" charset="-127"/>
                <a:ea typeface="D2Coding" panose="020B0609020101020101" pitchFamily="49" charset="-127"/>
              </a:rPr>
              <a:t>&gt;=&lt;</a:t>
            </a:r>
            <a:r>
              <a:rPr lang="ko-KR" altLang="en-US" sz="1100" dirty="0" err="1">
                <a:solidFill>
                  <a:schemeClr val="bg1"/>
                </a:solidFill>
                <a:latin typeface="D2Coding" panose="020B0609020101020101" pitchFamily="49" charset="-127"/>
                <a:ea typeface="D2Coding" panose="020B0609020101020101" pitchFamily="49" charset="-127"/>
              </a:rPr>
              <a:t>envvar</a:t>
            </a:r>
            <a:r>
              <a:rPr lang="ko-KR" altLang="en-US" sz="1100" dirty="0">
                <a:solidFill>
                  <a:schemeClr val="bg1"/>
                </a:solidFill>
                <a:latin typeface="D2Coding" panose="020B0609020101020101" pitchFamily="49" charset="-127"/>
                <a:ea typeface="D2Coding" panose="020B0609020101020101" pitchFamily="49" charset="-127"/>
              </a:rPr>
              <a:t>&gt;]</a:t>
            </a:r>
          </a:p>
          <a:p>
            <a:r>
              <a:rPr lang="ko-KR" altLang="en-US" sz="1100" dirty="0">
                <a:solidFill>
                  <a:schemeClr val="bg1"/>
                </a:solidFill>
                <a:latin typeface="D2Coding" panose="020B0609020101020101" pitchFamily="49" charset="-127"/>
                <a:ea typeface="D2Coding" panose="020B0609020101020101" pitchFamily="49" charset="-127"/>
              </a:rPr>
              <a:t>           &lt;</a:t>
            </a:r>
            <a:r>
              <a:rPr lang="ko-KR" altLang="en-US" sz="1100" dirty="0" err="1">
                <a:solidFill>
                  <a:schemeClr val="bg1"/>
                </a:solidFill>
                <a:latin typeface="D2Coding" panose="020B0609020101020101" pitchFamily="49" charset="-127"/>
                <a:ea typeface="D2Coding" panose="020B0609020101020101" pitchFamily="49" charset="-127"/>
              </a:rPr>
              <a:t>command</a:t>
            </a:r>
            <a:r>
              <a:rPr lang="ko-KR" altLang="en-US" sz="1100" dirty="0">
                <a:solidFill>
                  <a:schemeClr val="bg1"/>
                </a:solidFill>
                <a:latin typeface="D2Coding" panose="020B0609020101020101" pitchFamily="49" charset="-127"/>
                <a:ea typeface="D2Coding" panose="020B0609020101020101" pitchFamily="49" charset="-127"/>
              </a:rPr>
              <a:t>&gt; [&lt;</a:t>
            </a:r>
            <a:r>
              <a:rPr lang="ko-KR" altLang="en-US" sz="1100" dirty="0" err="1">
                <a:solidFill>
                  <a:schemeClr val="bg1"/>
                </a:solidFill>
                <a:latin typeface="D2Coding" panose="020B0609020101020101" pitchFamily="49" charset="-127"/>
                <a:ea typeface="D2Coding" panose="020B0609020101020101" pitchFamily="49" charset="-127"/>
              </a:rPr>
              <a:t>args</a:t>
            </a:r>
            <a:r>
              <a:rPr lang="ko-KR" altLang="en-US" sz="1100" dirty="0">
                <a:solidFill>
                  <a:schemeClr val="bg1"/>
                </a:solidFill>
                <a:latin typeface="D2Coding" panose="020B0609020101020101" pitchFamily="49" charset="-127"/>
                <a:ea typeface="D2Coding" panose="020B0609020101020101" pitchFamily="49" charset="-127"/>
              </a:rPr>
              <a:t>&gt;]</a:t>
            </a:r>
          </a:p>
          <a:p>
            <a:endParaRPr lang="ko-KR" altLang="en-US" sz="1100" dirty="0">
              <a:solidFill>
                <a:schemeClr val="bg1"/>
              </a:solidFill>
              <a:latin typeface="D2Coding" panose="020B0609020101020101" pitchFamily="49" charset="-127"/>
              <a:ea typeface="D2Coding" panose="020B0609020101020101" pitchFamily="49" charset="-127"/>
            </a:endParaRPr>
          </a:p>
          <a:p>
            <a:r>
              <a:rPr lang="ko-KR" altLang="en-US" sz="1100" dirty="0" err="1">
                <a:solidFill>
                  <a:schemeClr val="bg1"/>
                </a:solidFill>
                <a:latin typeface="D2Coding" panose="020B0609020101020101" pitchFamily="49" charset="-127"/>
                <a:ea typeface="D2Coding" panose="020B0609020101020101" pitchFamily="49" charset="-127"/>
              </a:rPr>
              <a:t>These</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are</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common</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Git</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commands</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used</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in</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various</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situations</a:t>
            </a:r>
            <a:r>
              <a:rPr lang="ko-KR" altLang="en-US" sz="1100" dirty="0">
                <a:solidFill>
                  <a:schemeClr val="bg1"/>
                </a:solidFill>
                <a:latin typeface="D2Coding" panose="020B0609020101020101" pitchFamily="49" charset="-127"/>
                <a:ea typeface="D2Coding" panose="020B0609020101020101" pitchFamily="49" charset="-127"/>
              </a:rPr>
              <a:t>:</a:t>
            </a:r>
          </a:p>
          <a:p>
            <a:endParaRPr lang="ko-KR" altLang="en-US" sz="1100" dirty="0">
              <a:solidFill>
                <a:schemeClr val="bg1"/>
              </a:solidFill>
              <a:latin typeface="D2Coding" panose="020B0609020101020101" pitchFamily="49" charset="-127"/>
              <a:ea typeface="D2Coding" panose="020B0609020101020101" pitchFamily="49" charset="-127"/>
            </a:endParaRPr>
          </a:p>
          <a:p>
            <a:r>
              <a:rPr lang="ko-KR" altLang="en-US" sz="1100" dirty="0" err="1">
                <a:solidFill>
                  <a:schemeClr val="bg1"/>
                </a:solidFill>
                <a:latin typeface="D2Coding" panose="020B0609020101020101" pitchFamily="49" charset="-127"/>
                <a:ea typeface="D2Coding" panose="020B0609020101020101" pitchFamily="49" charset="-127"/>
              </a:rPr>
              <a:t>start</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a</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working</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area</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see</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also</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git</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help</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tutorial</a:t>
            </a:r>
            <a:r>
              <a:rPr lang="ko-KR" altLang="en-US" sz="1100" dirty="0">
                <a:solidFill>
                  <a:schemeClr val="bg1"/>
                </a:solidFill>
                <a:latin typeface="D2Coding" panose="020B0609020101020101" pitchFamily="49" charset="-127"/>
                <a:ea typeface="D2Coding" panose="020B0609020101020101" pitchFamily="49" charset="-127"/>
              </a:rPr>
              <a:t>)</a:t>
            </a:r>
          </a:p>
          <a:p>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clone</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Clone</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a</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repository</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into</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a</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new</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directory</a:t>
            </a:r>
            <a:endParaRPr lang="ko-KR" altLang="en-US" sz="1100" dirty="0">
              <a:solidFill>
                <a:schemeClr val="bg1"/>
              </a:solidFill>
              <a:latin typeface="D2Coding" panose="020B0609020101020101" pitchFamily="49" charset="-127"/>
              <a:ea typeface="D2Coding" panose="020B0609020101020101" pitchFamily="49" charset="-127"/>
            </a:endParaRPr>
          </a:p>
          <a:p>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init</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Create</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an</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empty</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Git</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repository</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or</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reinitialize</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an</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existing</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one</a:t>
            </a:r>
            <a:endParaRPr lang="ko-KR" altLang="en-US" sz="1100" dirty="0">
              <a:solidFill>
                <a:schemeClr val="bg1"/>
              </a:solidFill>
              <a:latin typeface="D2Coding" panose="020B0609020101020101" pitchFamily="49" charset="-127"/>
              <a:ea typeface="D2Coding" panose="020B0609020101020101" pitchFamily="49" charset="-127"/>
            </a:endParaRPr>
          </a:p>
          <a:p>
            <a:endParaRPr lang="ko-KR" altLang="en-US" sz="1100" dirty="0">
              <a:solidFill>
                <a:schemeClr val="bg1"/>
              </a:solidFill>
              <a:latin typeface="D2Coding" panose="020B0609020101020101" pitchFamily="49" charset="-127"/>
              <a:ea typeface="D2Coding" panose="020B0609020101020101" pitchFamily="49" charset="-127"/>
            </a:endParaRPr>
          </a:p>
          <a:p>
            <a:r>
              <a:rPr lang="ko-KR" altLang="en-US" sz="1100" dirty="0" err="1">
                <a:solidFill>
                  <a:schemeClr val="bg1"/>
                </a:solidFill>
                <a:latin typeface="D2Coding" panose="020B0609020101020101" pitchFamily="49" charset="-127"/>
                <a:ea typeface="D2Coding" panose="020B0609020101020101" pitchFamily="49" charset="-127"/>
              </a:rPr>
              <a:t>work</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on</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the</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current</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change</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see</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also</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git</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help</a:t>
            </a:r>
            <a:r>
              <a:rPr lang="ko-KR" altLang="en-US" sz="1100" dirty="0">
                <a:solidFill>
                  <a:schemeClr val="bg1"/>
                </a:solidFill>
                <a:latin typeface="D2Coding" panose="020B0609020101020101" pitchFamily="49" charset="-127"/>
                <a:ea typeface="D2Coding" panose="020B0609020101020101" pitchFamily="49" charset="-127"/>
              </a:rPr>
              <a:t> </a:t>
            </a:r>
            <a:r>
              <a:rPr lang="ko-KR" altLang="en-US" sz="1100" dirty="0" err="1">
                <a:solidFill>
                  <a:schemeClr val="bg1"/>
                </a:solidFill>
                <a:latin typeface="D2Coding" panose="020B0609020101020101" pitchFamily="49" charset="-127"/>
                <a:ea typeface="D2Coding" panose="020B0609020101020101" pitchFamily="49" charset="-127"/>
              </a:rPr>
              <a:t>everyday</a:t>
            </a:r>
            <a:r>
              <a:rPr lang="ko-KR" altLang="en-US" sz="1100" dirty="0">
                <a:solidFill>
                  <a:schemeClr val="bg1"/>
                </a:solidFill>
                <a:latin typeface="D2Coding" panose="020B0609020101020101" pitchFamily="49" charset="-127"/>
                <a:ea typeface="D2Coding" panose="020B0609020101020101" pitchFamily="49" charset="-127"/>
              </a:rPr>
              <a:t>)</a:t>
            </a:r>
          </a:p>
        </p:txBody>
      </p:sp>
    </p:spTree>
    <p:extLst>
      <p:ext uri="{BB962C8B-B14F-4D97-AF65-F5344CB8AC3E}">
        <p14:creationId xmlns:p14="http://schemas.microsoft.com/office/powerpoint/2010/main" val="19854159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E5A-56AD-3D56-14A3-D8F3CCACED5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270E751-FE5B-CF60-8255-7C707469D0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Download GitHub Desktop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20D776EA-F86D-8C17-2A5F-846CABC37B33}"/>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7F007F5-62B9-09FD-3DEB-3E227994ABC4}"/>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21</a:t>
            </a:fld>
            <a:endParaRPr lang="en-US" b="1" dirty="0">
              <a:latin typeface="Segoe UI Emoji" panose="020B0502040204020203" pitchFamily="34" charset="0"/>
              <a:ea typeface="Segoe UI Emoji" panose="020B0502040204020203" pitchFamily="34" charset="0"/>
            </a:endParaRPr>
          </a:p>
        </p:txBody>
      </p:sp>
      <p:pic>
        <p:nvPicPr>
          <p:cNvPr id="12" name="그래픽 11" descr="수영">
            <a:extLst>
              <a:ext uri="{FF2B5EF4-FFF2-40B4-BE49-F238E27FC236}">
                <a16:creationId xmlns:a16="http://schemas.microsoft.com/office/drawing/2014/main" id="{537AC996-3581-51B4-F957-9B49F5757C5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pic>
        <p:nvPicPr>
          <p:cNvPr id="5" name="그림 4">
            <a:extLst>
              <a:ext uri="{FF2B5EF4-FFF2-40B4-BE49-F238E27FC236}">
                <a16:creationId xmlns:a16="http://schemas.microsoft.com/office/drawing/2014/main" id="{29F769FF-1AAC-0461-4847-E3C99F67229C}"/>
              </a:ext>
            </a:extLst>
          </p:cNvPr>
          <p:cNvPicPr>
            <a:picLocks noChangeAspect="1"/>
          </p:cNvPicPr>
          <p:nvPr/>
        </p:nvPicPr>
        <p:blipFill>
          <a:blip r:embed="rId3"/>
          <a:stretch>
            <a:fillRect/>
          </a:stretch>
        </p:blipFill>
        <p:spPr>
          <a:xfrm>
            <a:off x="475645" y="1288330"/>
            <a:ext cx="6073207" cy="4909127"/>
          </a:xfrm>
          <a:prstGeom prst="rect">
            <a:avLst/>
          </a:prstGeom>
        </p:spPr>
      </p:pic>
      <p:pic>
        <p:nvPicPr>
          <p:cNvPr id="9" name="그림 8">
            <a:extLst>
              <a:ext uri="{FF2B5EF4-FFF2-40B4-BE49-F238E27FC236}">
                <a16:creationId xmlns:a16="http://schemas.microsoft.com/office/drawing/2014/main" id="{B8BC2297-FC37-1195-D69E-F35F52C94D3F}"/>
              </a:ext>
            </a:extLst>
          </p:cNvPr>
          <p:cNvPicPr>
            <a:picLocks noChangeAspect="1"/>
          </p:cNvPicPr>
          <p:nvPr/>
        </p:nvPicPr>
        <p:blipFill>
          <a:blip r:embed="rId4"/>
          <a:stretch>
            <a:fillRect/>
          </a:stretch>
        </p:blipFill>
        <p:spPr>
          <a:xfrm>
            <a:off x="6237601" y="2702793"/>
            <a:ext cx="5478754" cy="3781277"/>
          </a:xfrm>
          <a:prstGeom prst="rect">
            <a:avLst/>
          </a:prstGeom>
        </p:spPr>
      </p:pic>
    </p:spTree>
    <p:extLst>
      <p:ext uri="{BB962C8B-B14F-4D97-AF65-F5344CB8AC3E}">
        <p14:creationId xmlns:p14="http://schemas.microsoft.com/office/powerpoint/2010/main" val="27899675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4D940-69A6-74AE-2745-A192282253C9}"/>
            </a:ext>
          </a:extLst>
        </p:cNvPr>
        <p:cNvGrpSpPr/>
        <p:nvPr/>
      </p:nvGrpSpPr>
      <p:grpSpPr>
        <a:xfrm>
          <a:off x="0" y="0"/>
          <a:ext cx="0" cy="0"/>
          <a:chOff x="0" y="0"/>
          <a:chExt cx="0" cy="0"/>
        </a:xfrm>
      </p:grpSpPr>
      <p:sp>
        <p:nvSpPr>
          <p:cNvPr id="5" name="부제목 2">
            <a:extLst>
              <a:ext uri="{FF2B5EF4-FFF2-40B4-BE49-F238E27FC236}">
                <a16:creationId xmlns:a16="http://schemas.microsoft.com/office/drawing/2014/main" id="{59DA375E-6466-65EA-0528-D944F2783957}"/>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latin typeface="D2Coding" panose="020B0609020101020101" pitchFamily="49" charset="-127"/>
                <a:ea typeface="D2Coding" panose="020B0609020101020101" pitchFamily="49" charset="-127"/>
              </a:rPr>
              <a:t>2026 Fall</a:t>
            </a:r>
          </a:p>
          <a:p>
            <a:r>
              <a:rPr lang="ko-KR" altLang="en-US" sz="2400" dirty="0" err="1">
                <a:solidFill>
                  <a:schemeClr val="bg1"/>
                </a:solidFill>
                <a:latin typeface="D2Coding" panose="020B0609020101020101" pitchFamily="49" charset="-127"/>
                <a:ea typeface="D2Coding" panose="020B0609020101020101" pitchFamily="49" charset="-127"/>
              </a:rPr>
              <a:t>조상구교수</a:t>
            </a:r>
            <a:endParaRPr lang="en-US" altLang="ko-KR" sz="2400" dirty="0">
              <a:solidFill>
                <a:schemeClr val="bg1"/>
              </a:solidFill>
              <a:latin typeface="D2Coding" panose="020B0609020101020101" pitchFamily="49" charset="-127"/>
              <a:ea typeface="D2Coding" panose="020B0609020101020101" pitchFamily="49" charset="-127"/>
            </a:endParaRPr>
          </a:p>
        </p:txBody>
      </p:sp>
      <p:sp>
        <p:nvSpPr>
          <p:cNvPr id="4" name="제목 1">
            <a:extLst>
              <a:ext uri="{FF2B5EF4-FFF2-40B4-BE49-F238E27FC236}">
                <a16:creationId xmlns:a16="http://schemas.microsoft.com/office/drawing/2014/main" id="{EAACF42A-DACC-D4EC-622E-71A8768699CB}"/>
              </a:ext>
            </a:extLst>
          </p:cNvPr>
          <p:cNvSpPr txBox="1">
            <a:spLocks/>
          </p:cNvSpPr>
          <p:nvPr/>
        </p:nvSpPr>
        <p:spPr>
          <a:xfrm>
            <a:off x="838199" y="1164324"/>
            <a:ext cx="10934701" cy="1293126"/>
          </a:xfrm>
          <a:prstGeom prst="rect">
            <a:avLst/>
          </a:prstGeom>
        </p:spPr>
        <p:txBody>
          <a:bodyPr vert="horz" lIns="91440" tIns="45720" rIns="91440" bIns="45720" rtlCol="0" anchor="ctr" anchorCtr="0">
            <a:normAutofit/>
          </a:bodyPr>
          <a:lst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a:lstStyle>
          <a:p>
            <a:r>
              <a:rPr lang="en-US" altLang="ko-KR" sz="5400" dirty="0">
                <a:solidFill>
                  <a:schemeClr val="bg1"/>
                </a:solidFill>
                <a:latin typeface="D2Coding" panose="020B0609020101020101" pitchFamily="49" charset="-127"/>
                <a:ea typeface="D2Coding" panose="020B0609020101020101" pitchFamily="49" charset="-127"/>
              </a:rPr>
              <a:t>CI/CD</a:t>
            </a:r>
            <a:endParaRPr lang="ko-KR" altLang="en-US" sz="2000" dirty="0">
              <a:solidFill>
                <a:schemeClr val="bg1"/>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EA7D54A8-C6BB-E04C-4A65-AEFB677DEFE3}"/>
              </a:ext>
            </a:extLst>
          </p:cNvPr>
          <p:cNvSpPr txBox="1"/>
          <p:nvPr/>
        </p:nvSpPr>
        <p:spPr>
          <a:xfrm>
            <a:off x="838199" y="2419350"/>
            <a:ext cx="9374230" cy="1709892"/>
          </a:xfrm>
          <a:prstGeom prst="rect">
            <a:avLst/>
          </a:prstGeom>
          <a:noFill/>
        </p:spPr>
        <p:txBody>
          <a:bodyPr wrap="square">
            <a:spAutoFit/>
          </a:bodyPr>
          <a:lstStyle/>
          <a:p>
            <a:pPr marL="285750" indent="-285750">
              <a:lnSpc>
                <a:spcPct val="150000"/>
              </a:lnSpc>
              <a:buFont typeface="Wingdings" panose="05000000000000000000" pitchFamily="2" charset="2"/>
              <a:buChar char="ü"/>
            </a:pPr>
            <a:r>
              <a:rPr lang="en-US" altLang="ko-KR" dirty="0">
                <a:solidFill>
                  <a:schemeClr val="bg1"/>
                </a:solidFill>
                <a:latin typeface="D2Coding" panose="020B0609020101020101" pitchFamily="49" charset="-127"/>
                <a:ea typeface="D2Coding" panose="020B0609020101020101" pitchFamily="49" charset="-127"/>
              </a:rPr>
              <a:t>Virtual Environment</a:t>
            </a:r>
          </a:p>
          <a:p>
            <a:pPr marL="285750" indent="-285750">
              <a:lnSpc>
                <a:spcPct val="150000"/>
              </a:lnSpc>
              <a:buFont typeface="Wingdings" panose="05000000000000000000" pitchFamily="2" charset="2"/>
              <a:buChar char="ü"/>
            </a:pPr>
            <a:r>
              <a:rPr lang="en-US" altLang="ko-KR" dirty="0">
                <a:solidFill>
                  <a:schemeClr val="bg1"/>
                </a:solidFill>
                <a:latin typeface="D2Coding" panose="020B0609020101020101" pitchFamily="49" charset="-127"/>
                <a:ea typeface="D2Coding" panose="020B0609020101020101" pitchFamily="49" charset="-127"/>
              </a:rPr>
              <a:t>python + </a:t>
            </a:r>
            <a:r>
              <a:rPr lang="en-US" altLang="ko-KR" dirty="0" err="1">
                <a:solidFill>
                  <a:schemeClr val="bg1"/>
                </a:solidFill>
                <a:latin typeface="D2Coding" panose="020B0609020101020101" pitchFamily="49" charset="-127"/>
                <a:ea typeface="D2Coding" panose="020B0609020101020101" pitchFamily="49" charset="-127"/>
              </a:rPr>
              <a:t>gradio</a:t>
            </a:r>
            <a:r>
              <a:rPr lang="ko-KR" altLang="en-US" dirty="0">
                <a:solidFill>
                  <a:schemeClr val="bg1"/>
                </a:solidFill>
                <a:latin typeface="D2Coding" panose="020B0609020101020101" pitchFamily="49" charset="-127"/>
                <a:ea typeface="D2Coding" panose="020B0609020101020101" pitchFamily="49" charset="-127"/>
              </a:rPr>
              <a:t> </a:t>
            </a:r>
            <a:r>
              <a:rPr lang="en-US" altLang="ko-KR" dirty="0">
                <a:solidFill>
                  <a:schemeClr val="bg1"/>
                </a:solidFill>
                <a:latin typeface="D2Coding" panose="020B0609020101020101" pitchFamily="49" charset="-127"/>
                <a:ea typeface="D2Coding" panose="020B0609020101020101" pitchFamily="49" charset="-127"/>
              </a:rPr>
              <a:t>+ </a:t>
            </a:r>
            <a:r>
              <a:rPr lang="en-US" altLang="ko-KR" dirty="0" err="1">
                <a:solidFill>
                  <a:schemeClr val="bg1"/>
                </a:solidFill>
                <a:latin typeface="D2Coding" panose="020B0609020101020101" pitchFamily="49" charset="-127"/>
                <a:ea typeface="D2Coding" panose="020B0609020101020101" pitchFamily="49" charset="-127"/>
              </a:rPr>
              <a:t>Huggingface</a:t>
            </a:r>
            <a:r>
              <a:rPr lang="ko-KR" altLang="en-US" dirty="0">
                <a:solidFill>
                  <a:schemeClr val="bg1"/>
                </a:solidFill>
                <a:latin typeface="D2Coding" panose="020B0609020101020101" pitchFamily="49" charset="-127"/>
                <a:ea typeface="D2Coding" panose="020B0609020101020101" pitchFamily="49" charset="-127"/>
              </a:rPr>
              <a:t> </a:t>
            </a:r>
            <a:r>
              <a:rPr lang="en-US" altLang="ko-KR" dirty="0">
                <a:solidFill>
                  <a:schemeClr val="bg1"/>
                </a:solidFill>
                <a:latin typeface="D2Coding" panose="020B0609020101020101" pitchFamily="49" charset="-127"/>
                <a:ea typeface="D2Coding" panose="020B0609020101020101" pitchFamily="49" charset="-127"/>
              </a:rPr>
              <a:t>space </a:t>
            </a:r>
            <a:r>
              <a:rPr lang="ko-KR" altLang="en-US" dirty="0">
                <a:solidFill>
                  <a:schemeClr val="bg1"/>
                </a:solidFill>
                <a:latin typeface="D2Coding" panose="020B0609020101020101" pitchFamily="49" charset="-127"/>
                <a:ea typeface="D2Coding" panose="020B0609020101020101" pitchFamily="49" charset="-127"/>
              </a:rPr>
              <a:t>구성</a:t>
            </a:r>
            <a:endParaRPr lang="en-US" altLang="ko-KR" dirty="0">
              <a:solidFill>
                <a:schemeClr val="bg1"/>
              </a:solidFill>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ü"/>
            </a:pPr>
            <a:r>
              <a:rPr lang="en-US" altLang="ko-KR" dirty="0">
                <a:solidFill>
                  <a:schemeClr val="bg1"/>
                </a:solidFill>
                <a:latin typeface="D2Coding" panose="020B0609020101020101" pitchFamily="49" charset="-127"/>
                <a:ea typeface="D2Coding" panose="020B0609020101020101" pitchFamily="49" charset="-127"/>
              </a:rPr>
              <a:t>GitHub Actions </a:t>
            </a:r>
            <a:r>
              <a:rPr lang="ko-KR" altLang="en-US" dirty="0">
                <a:solidFill>
                  <a:schemeClr val="bg1"/>
                </a:solidFill>
                <a:latin typeface="D2Coding" panose="020B0609020101020101" pitchFamily="49" charset="-127"/>
                <a:ea typeface="D2Coding" panose="020B0609020101020101" pitchFamily="49" charset="-127"/>
              </a:rPr>
              <a:t>실습</a:t>
            </a:r>
            <a:endParaRPr lang="en-US" altLang="ko-KR" dirty="0">
              <a:solidFill>
                <a:schemeClr val="bg1"/>
              </a:solidFill>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ü"/>
            </a:pPr>
            <a:r>
              <a:rPr lang="en-US" altLang="ko-KR" dirty="0">
                <a:solidFill>
                  <a:schemeClr val="bg1"/>
                </a:solidFill>
                <a:latin typeface="D2Coding" panose="020B0609020101020101" pitchFamily="49" charset="-127"/>
                <a:ea typeface="D2Coding" panose="020B0609020101020101" pitchFamily="49" charset="-127"/>
              </a:rPr>
              <a:t>CI(Continuous Integration)/CD(Continuous Deployment) </a:t>
            </a:r>
            <a:r>
              <a:rPr lang="ko-KR" altLang="en-US" dirty="0">
                <a:solidFill>
                  <a:schemeClr val="bg1"/>
                </a:solidFill>
                <a:latin typeface="D2Coding" panose="020B0609020101020101" pitchFamily="49" charset="-127"/>
                <a:ea typeface="D2Coding" panose="020B0609020101020101" pitchFamily="49" charset="-127"/>
              </a:rPr>
              <a:t>이해</a:t>
            </a:r>
            <a:endParaRPr lang="ko-KR" altLang="en-US" dirty="0"/>
          </a:p>
        </p:txBody>
      </p:sp>
    </p:spTree>
    <p:extLst>
      <p:ext uri="{BB962C8B-B14F-4D97-AF65-F5344CB8AC3E}">
        <p14:creationId xmlns:p14="http://schemas.microsoft.com/office/powerpoint/2010/main" val="307724358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8C0FA-21B6-18F8-F59C-C6BA0242F55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63D7929-0F0B-9C2B-9B20-E8E6B04018E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Virtual Environment</a:t>
            </a:r>
          </a:p>
        </p:txBody>
      </p:sp>
      <p:sp>
        <p:nvSpPr>
          <p:cNvPr id="5" name="Text 1">
            <a:extLst>
              <a:ext uri="{FF2B5EF4-FFF2-40B4-BE49-F238E27FC236}">
                <a16:creationId xmlns:a16="http://schemas.microsoft.com/office/drawing/2014/main" id="{8A53A5EC-CA0C-FE54-F5D7-08AF9885651E}"/>
              </a:ext>
            </a:extLst>
          </p:cNvPr>
          <p:cNvSpPr/>
          <p:nvPr/>
        </p:nvSpPr>
        <p:spPr>
          <a:xfrm>
            <a:off x="641998" y="1128349"/>
            <a:ext cx="11292308" cy="1011036"/>
          </a:xfrm>
          <a:prstGeom prst="rect">
            <a:avLst/>
          </a:prstGeom>
          <a:noFill/>
          <a:ln/>
        </p:spPr>
        <p:txBody>
          <a:bodyPr wrap="square" lIns="0" tIns="0" rIns="0" bIns="0" rtlCol="0" anchor="ctr"/>
          <a:lstStyle/>
          <a:p>
            <a:pPr>
              <a:lnSpc>
                <a:spcPct val="150000"/>
              </a:lnSpc>
            </a:pPr>
            <a:r>
              <a:rPr lang="ko-KR" altLang="ko-KR" sz="1600" dirty="0">
                <a:solidFill>
                  <a:srgbClr val="5B6B6E"/>
                </a:solidFill>
                <a:latin typeface="D2Coding" panose="020B0609020101020101" pitchFamily="49" charset="-127"/>
                <a:ea typeface="D2Coding" panose="020B0609020101020101" pitchFamily="49" charset="-127"/>
              </a:rPr>
              <a:t>프로젝트마다 독립된 파이썬 실행 공간을 만들어주는 기능</a:t>
            </a:r>
            <a:r>
              <a:rPr lang="ko-KR" altLang="en-US" sz="1600" dirty="0">
                <a:solidFill>
                  <a:srgbClr val="5B6B6E"/>
                </a:solidFill>
                <a:latin typeface="D2Coding" panose="020B0609020101020101" pitchFamily="49" charset="-127"/>
                <a:ea typeface="D2Coding" panose="020B0609020101020101" pitchFamily="49" charset="-127"/>
              </a:rPr>
              <a:t>으로</a:t>
            </a:r>
            <a:r>
              <a:rPr lang="en-US" altLang="ko-KR" sz="1600" dirty="0">
                <a:solidFill>
                  <a:srgbClr val="5B6B6E"/>
                </a:solidFill>
                <a:latin typeface="D2Coding" panose="020B0609020101020101" pitchFamily="49" charset="-127"/>
                <a:ea typeface="D2Coding" panose="020B0609020101020101" pitchFamily="49" charset="-127"/>
              </a:rPr>
              <a:t> </a:t>
            </a:r>
            <a:r>
              <a:rPr lang="ko-KR" altLang="ko-KR" sz="1600" dirty="0">
                <a:solidFill>
                  <a:srgbClr val="5B6B6E"/>
                </a:solidFill>
                <a:latin typeface="D2Coding" panose="020B0609020101020101" pitchFamily="49" charset="-127"/>
                <a:ea typeface="D2Coding" panose="020B0609020101020101" pitchFamily="49" charset="-127"/>
              </a:rPr>
              <a:t>한 컴퓨터에서 여러 프로젝트를 진행할 때,</a:t>
            </a:r>
            <a:r>
              <a:rPr lang="en-US" altLang="ko-KR" sz="1600" dirty="0">
                <a:solidFill>
                  <a:srgbClr val="5B6B6E"/>
                </a:solidFill>
                <a:latin typeface="D2Coding" panose="020B0609020101020101" pitchFamily="49" charset="-127"/>
                <a:ea typeface="D2Coding" panose="020B0609020101020101" pitchFamily="49" charset="-127"/>
              </a:rPr>
              <a:t> </a:t>
            </a:r>
            <a:r>
              <a:rPr lang="ko-KR" altLang="en-US" sz="1600" dirty="0">
                <a:solidFill>
                  <a:srgbClr val="5B6B6E"/>
                </a:solidFill>
                <a:latin typeface="D2Coding" panose="020B0609020101020101" pitchFamily="49" charset="-127"/>
                <a:ea typeface="D2Coding" panose="020B0609020101020101" pitchFamily="49" charset="-127"/>
              </a:rPr>
              <a:t>프</a:t>
            </a:r>
            <a:r>
              <a:rPr lang="ko-KR" altLang="ko-KR" sz="1600" dirty="0">
                <a:solidFill>
                  <a:srgbClr val="5B6B6E"/>
                </a:solidFill>
                <a:latin typeface="D2Coding" panose="020B0609020101020101" pitchFamily="49" charset="-127"/>
                <a:ea typeface="D2Coding" panose="020B0609020101020101" pitchFamily="49" charset="-127"/>
              </a:rPr>
              <a:t>로젝트마다 필요한 패키지 버전이 다를 수 있는데, 가상환경 없이 전역(</a:t>
            </a:r>
            <a:r>
              <a:rPr lang="ko-KR" altLang="ko-KR" sz="1600" dirty="0" err="1">
                <a:solidFill>
                  <a:srgbClr val="5B6B6E"/>
                </a:solidFill>
                <a:latin typeface="D2Coding" panose="020B0609020101020101" pitchFamily="49" charset="-127"/>
                <a:ea typeface="D2Coding" panose="020B0609020101020101" pitchFamily="49" charset="-127"/>
              </a:rPr>
              <a:t>global</a:t>
            </a:r>
            <a:r>
              <a:rPr lang="ko-KR" altLang="ko-KR" sz="1600" dirty="0">
                <a:solidFill>
                  <a:srgbClr val="5B6B6E"/>
                </a:solidFill>
                <a:latin typeface="D2Coding" panose="020B0609020101020101" pitchFamily="49" charset="-127"/>
                <a:ea typeface="D2Coding" panose="020B0609020101020101" pitchFamily="49" charset="-127"/>
              </a:rPr>
              <a:t>)에 설치하면 충돌이 </a:t>
            </a:r>
            <a:r>
              <a:rPr lang="ko-KR" altLang="en-US" sz="1600" dirty="0">
                <a:solidFill>
                  <a:srgbClr val="5B6B6E"/>
                </a:solidFill>
                <a:latin typeface="D2Coding" panose="020B0609020101020101" pitchFamily="49" charset="-127"/>
                <a:ea typeface="D2Coding" panose="020B0609020101020101" pitchFamily="49" charset="-127"/>
              </a:rPr>
              <a:t>발생</a:t>
            </a:r>
            <a:endParaRPr lang="en-US" sz="1600" dirty="0">
              <a:solidFill>
                <a:srgbClr val="5B6B6E"/>
              </a:solidFill>
              <a:latin typeface="D2Coding" panose="020B0609020101020101" pitchFamily="49" charset="-127"/>
              <a:ea typeface="D2Coding" panose="020B0609020101020101" pitchFamily="49" charset="-127"/>
            </a:endParaRPr>
          </a:p>
        </p:txBody>
      </p:sp>
      <p:sp>
        <p:nvSpPr>
          <p:cNvPr id="4" name="슬라이드 번호 개체 틀 3">
            <a:extLst>
              <a:ext uri="{FF2B5EF4-FFF2-40B4-BE49-F238E27FC236}">
                <a16:creationId xmlns:a16="http://schemas.microsoft.com/office/drawing/2014/main" id="{71945096-FA34-F2C6-6E24-6219C7BAA5B9}"/>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23</a:t>
            </a:fld>
            <a:endParaRPr lang="en-US" b="1" dirty="0">
              <a:latin typeface="Segoe UI Emoji" panose="020B0502040204020203" pitchFamily="34" charset="0"/>
              <a:ea typeface="Segoe UI Emoji" panose="020B0502040204020203" pitchFamily="34" charset="0"/>
            </a:endParaRPr>
          </a:p>
        </p:txBody>
      </p:sp>
      <p:pic>
        <p:nvPicPr>
          <p:cNvPr id="26" name="그림 25">
            <a:extLst>
              <a:ext uri="{FF2B5EF4-FFF2-40B4-BE49-F238E27FC236}">
                <a16:creationId xmlns:a16="http://schemas.microsoft.com/office/drawing/2014/main" id="{CF94951F-ECDA-1254-8E5F-D6F50F95BDA2}"/>
              </a:ext>
            </a:extLst>
          </p:cNvPr>
          <p:cNvPicPr>
            <a:picLocks noChangeAspect="1"/>
          </p:cNvPicPr>
          <p:nvPr/>
        </p:nvPicPr>
        <p:blipFill>
          <a:blip r:embed="rId2"/>
          <a:stretch>
            <a:fillRect/>
          </a:stretch>
        </p:blipFill>
        <p:spPr>
          <a:xfrm>
            <a:off x="641998" y="2238278"/>
            <a:ext cx="5287747" cy="4216097"/>
          </a:xfrm>
          <a:prstGeom prst="rect">
            <a:avLst/>
          </a:prstGeom>
        </p:spPr>
      </p:pic>
      <p:sp>
        <p:nvSpPr>
          <p:cNvPr id="24" name="TextBox 23">
            <a:extLst>
              <a:ext uri="{FF2B5EF4-FFF2-40B4-BE49-F238E27FC236}">
                <a16:creationId xmlns:a16="http://schemas.microsoft.com/office/drawing/2014/main" id="{DA1DCDBB-7CAD-79B4-AF55-A79F6491A827}"/>
              </a:ext>
            </a:extLst>
          </p:cNvPr>
          <p:cNvSpPr txBox="1"/>
          <p:nvPr/>
        </p:nvSpPr>
        <p:spPr>
          <a:xfrm>
            <a:off x="4775199" y="3056622"/>
            <a:ext cx="6908800" cy="3323987"/>
          </a:xfrm>
          <a:prstGeom prst="rect">
            <a:avLst/>
          </a:prstGeom>
          <a:solidFill>
            <a:schemeClr val="tx1"/>
          </a:solidFill>
        </p:spPr>
        <p:txBody>
          <a:bodyPr wrap="square">
            <a:spAutoFit/>
          </a:bodyPr>
          <a:lstStyle/>
          <a:p>
            <a:r>
              <a:rPr lang="ko-KR" altLang="en-US" sz="1400" dirty="0">
                <a:solidFill>
                  <a:schemeClr val="bg1"/>
                </a:solidFill>
                <a:latin typeface="D2Coding" panose="020B0609020101020101" pitchFamily="49" charset="-127"/>
                <a:ea typeface="D2Coding" panose="020B0609020101020101" pitchFamily="49" charset="-127"/>
              </a:rPr>
              <a:t># 1. 가상환경 생성 (</a:t>
            </a:r>
            <a:r>
              <a:rPr lang="ko-KR" altLang="en-US" sz="1400" dirty="0" err="1">
                <a:solidFill>
                  <a:schemeClr val="bg1"/>
                </a:solidFill>
                <a:latin typeface="D2Coding" panose="020B0609020101020101" pitchFamily="49" charset="-127"/>
                <a:ea typeface="D2Coding" panose="020B0609020101020101" pitchFamily="49" charset="-127"/>
              </a:rPr>
              <a:t>myenv라는</a:t>
            </a:r>
            <a:r>
              <a:rPr lang="ko-KR" altLang="en-US" sz="1400" dirty="0">
                <a:solidFill>
                  <a:schemeClr val="bg1"/>
                </a:solidFill>
                <a:latin typeface="D2Coding" panose="020B0609020101020101" pitchFamily="49" charset="-127"/>
                <a:ea typeface="D2Coding" panose="020B0609020101020101" pitchFamily="49" charset="-127"/>
              </a:rPr>
              <a:t> 이름의 폴더 생성)</a:t>
            </a:r>
          </a:p>
          <a:p>
            <a:r>
              <a:rPr lang="ko-KR" altLang="en-US" sz="1400" dirty="0" err="1">
                <a:solidFill>
                  <a:schemeClr val="bg1"/>
                </a:solidFill>
                <a:latin typeface="D2Coding" panose="020B0609020101020101" pitchFamily="49" charset="-127"/>
                <a:ea typeface="D2Coding" panose="020B0609020101020101" pitchFamily="49" charset="-127"/>
              </a:rPr>
              <a:t>python</a:t>
            </a:r>
            <a:r>
              <a:rPr lang="ko-KR" altLang="en-US" sz="1400" dirty="0">
                <a:solidFill>
                  <a:schemeClr val="bg1"/>
                </a:solidFill>
                <a:latin typeface="D2Coding" panose="020B0609020101020101" pitchFamily="49" charset="-127"/>
                <a:ea typeface="D2Coding" panose="020B0609020101020101" pitchFamily="49" charset="-127"/>
              </a:rPr>
              <a:t> -</a:t>
            </a:r>
            <a:r>
              <a:rPr lang="ko-KR" altLang="en-US" sz="1400" dirty="0" err="1">
                <a:solidFill>
                  <a:schemeClr val="bg1"/>
                </a:solidFill>
                <a:latin typeface="D2Coding" panose="020B0609020101020101" pitchFamily="49" charset="-127"/>
                <a:ea typeface="D2Coding" panose="020B0609020101020101" pitchFamily="49" charset="-127"/>
              </a:rPr>
              <a:t>m</a:t>
            </a:r>
            <a:r>
              <a:rPr lang="ko-KR" altLang="en-US" sz="1400" dirty="0">
                <a:solidFill>
                  <a:schemeClr val="bg1"/>
                </a:solidFill>
                <a:latin typeface="D2Coding" panose="020B0609020101020101" pitchFamily="49" charset="-127"/>
                <a:ea typeface="D2Coding" panose="020B0609020101020101" pitchFamily="49" charset="-127"/>
              </a:rPr>
              <a:t> </a:t>
            </a:r>
            <a:r>
              <a:rPr lang="ko-KR" altLang="en-US" sz="1400" dirty="0" err="1">
                <a:solidFill>
                  <a:schemeClr val="bg1"/>
                </a:solidFill>
                <a:latin typeface="D2Coding" panose="020B0609020101020101" pitchFamily="49" charset="-127"/>
                <a:ea typeface="D2Coding" panose="020B0609020101020101" pitchFamily="49" charset="-127"/>
              </a:rPr>
              <a:t>venv</a:t>
            </a:r>
            <a:r>
              <a:rPr lang="ko-KR" altLang="en-US" sz="1400" dirty="0">
                <a:solidFill>
                  <a:schemeClr val="bg1"/>
                </a:solidFill>
                <a:latin typeface="D2Coding" panose="020B0609020101020101" pitchFamily="49" charset="-127"/>
                <a:ea typeface="D2Coding" panose="020B0609020101020101" pitchFamily="49" charset="-127"/>
              </a:rPr>
              <a:t> </a:t>
            </a:r>
            <a:r>
              <a:rPr lang="ko-KR" altLang="en-US" sz="1400" dirty="0" err="1">
                <a:solidFill>
                  <a:schemeClr val="bg1"/>
                </a:solidFill>
                <a:latin typeface="D2Coding" panose="020B0609020101020101" pitchFamily="49" charset="-127"/>
                <a:ea typeface="D2Coding" panose="020B0609020101020101" pitchFamily="49" charset="-127"/>
              </a:rPr>
              <a:t>myenv</a:t>
            </a:r>
            <a:endParaRPr lang="ko-KR" altLang="en-US" sz="1400" dirty="0">
              <a:solidFill>
                <a:schemeClr val="bg1"/>
              </a:solidFill>
              <a:latin typeface="D2Coding" panose="020B0609020101020101" pitchFamily="49" charset="-127"/>
              <a:ea typeface="D2Coding" panose="020B0609020101020101" pitchFamily="49" charset="-127"/>
            </a:endParaRPr>
          </a:p>
          <a:p>
            <a:endParaRPr lang="ko-KR" altLang="en-US" sz="1400" dirty="0">
              <a:solidFill>
                <a:schemeClr val="bg1"/>
              </a:solidFill>
              <a:latin typeface="D2Coding" panose="020B0609020101020101" pitchFamily="49" charset="-127"/>
              <a:ea typeface="D2Coding" panose="020B0609020101020101" pitchFamily="49" charset="-127"/>
            </a:endParaRPr>
          </a:p>
          <a:p>
            <a:r>
              <a:rPr lang="ko-KR" altLang="en-US" sz="1400" dirty="0">
                <a:solidFill>
                  <a:schemeClr val="bg1"/>
                </a:solidFill>
                <a:latin typeface="D2Coding" panose="020B0609020101020101" pitchFamily="49" charset="-127"/>
                <a:ea typeface="D2Coding" panose="020B0609020101020101" pitchFamily="49" charset="-127"/>
              </a:rPr>
              <a:t># 2. 가상환경 활성화</a:t>
            </a:r>
          </a:p>
          <a:p>
            <a:r>
              <a:rPr lang="ko-KR" altLang="en-US" sz="1400" dirty="0">
                <a:solidFill>
                  <a:schemeClr val="bg1"/>
                </a:solidFill>
                <a:latin typeface="D2Coding" panose="020B0609020101020101" pitchFamily="49" charset="-127"/>
                <a:ea typeface="D2Coding" panose="020B0609020101020101" pitchFamily="49" charset="-127"/>
              </a:rPr>
              <a:t># </a:t>
            </a:r>
            <a:r>
              <a:rPr lang="ko-KR" altLang="en-US" sz="1400" dirty="0" err="1">
                <a:solidFill>
                  <a:schemeClr val="bg1"/>
                </a:solidFill>
                <a:latin typeface="D2Coding" panose="020B0609020101020101" pitchFamily="49" charset="-127"/>
                <a:ea typeface="D2Coding" panose="020B0609020101020101" pitchFamily="49" charset="-127"/>
              </a:rPr>
              <a:t>macOS</a:t>
            </a:r>
            <a:r>
              <a:rPr lang="ko-KR" altLang="en-US" sz="1400" dirty="0">
                <a:solidFill>
                  <a:schemeClr val="bg1"/>
                </a:solidFill>
                <a:latin typeface="D2Coding" panose="020B0609020101020101" pitchFamily="49" charset="-127"/>
                <a:ea typeface="D2Coding" panose="020B0609020101020101" pitchFamily="49" charset="-127"/>
              </a:rPr>
              <a:t>/</a:t>
            </a:r>
            <a:r>
              <a:rPr lang="ko-KR" altLang="en-US" sz="1400" dirty="0" err="1">
                <a:solidFill>
                  <a:schemeClr val="bg1"/>
                </a:solidFill>
                <a:latin typeface="D2Coding" panose="020B0609020101020101" pitchFamily="49" charset="-127"/>
                <a:ea typeface="D2Coding" panose="020B0609020101020101" pitchFamily="49" charset="-127"/>
              </a:rPr>
              <a:t>Linux</a:t>
            </a:r>
            <a:endParaRPr lang="ko-KR" altLang="en-US" sz="1400" dirty="0">
              <a:solidFill>
                <a:schemeClr val="bg1"/>
              </a:solidFill>
              <a:latin typeface="D2Coding" panose="020B0609020101020101" pitchFamily="49" charset="-127"/>
              <a:ea typeface="D2Coding" panose="020B0609020101020101" pitchFamily="49" charset="-127"/>
            </a:endParaRPr>
          </a:p>
          <a:p>
            <a:r>
              <a:rPr lang="ko-KR" altLang="en-US" sz="1400" dirty="0" err="1">
                <a:solidFill>
                  <a:schemeClr val="bg1"/>
                </a:solidFill>
                <a:latin typeface="D2Coding" panose="020B0609020101020101" pitchFamily="49" charset="-127"/>
                <a:ea typeface="D2Coding" panose="020B0609020101020101" pitchFamily="49" charset="-127"/>
              </a:rPr>
              <a:t>source</a:t>
            </a:r>
            <a:r>
              <a:rPr lang="ko-KR" altLang="en-US" sz="1400" dirty="0">
                <a:solidFill>
                  <a:schemeClr val="bg1"/>
                </a:solidFill>
                <a:latin typeface="D2Coding" panose="020B0609020101020101" pitchFamily="49" charset="-127"/>
                <a:ea typeface="D2Coding" panose="020B0609020101020101" pitchFamily="49" charset="-127"/>
              </a:rPr>
              <a:t> </a:t>
            </a:r>
            <a:r>
              <a:rPr lang="ko-KR" altLang="en-US" sz="1400" dirty="0" err="1">
                <a:solidFill>
                  <a:schemeClr val="bg1"/>
                </a:solidFill>
                <a:latin typeface="D2Coding" panose="020B0609020101020101" pitchFamily="49" charset="-127"/>
                <a:ea typeface="D2Coding" panose="020B0609020101020101" pitchFamily="49" charset="-127"/>
              </a:rPr>
              <a:t>myenv</a:t>
            </a:r>
            <a:r>
              <a:rPr lang="ko-KR" altLang="en-US" sz="1400" dirty="0">
                <a:solidFill>
                  <a:schemeClr val="bg1"/>
                </a:solidFill>
                <a:latin typeface="D2Coding" panose="020B0609020101020101" pitchFamily="49" charset="-127"/>
                <a:ea typeface="D2Coding" panose="020B0609020101020101" pitchFamily="49" charset="-127"/>
              </a:rPr>
              <a:t>/</a:t>
            </a:r>
            <a:r>
              <a:rPr lang="ko-KR" altLang="en-US" sz="1400" dirty="0" err="1">
                <a:solidFill>
                  <a:schemeClr val="bg1"/>
                </a:solidFill>
                <a:latin typeface="D2Coding" panose="020B0609020101020101" pitchFamily="49" charset="-127"/>
                <a:ea typeface="D2Coding" panose="020B0609020101020101" pitchFamily="49" charset="-127"/>
              </a:rPr>
              <a:t>bin</a:t>
            </a:r>
            <a:r>
              <a:rPr lang="ko-KR" altLang="en-US" sz="1400" dirty="0">
                <a:solidFill>
                  <a:schemeClr val="bg1"/>
                </a:solidFill>
                <a:latin typeface="D2Coding" panose="020B0609020101020101" pitchFamily="49" charset="-127"/>
                <a:ea typeface="D2Coding" panose="020B0609020101020101" pitchFamily="49" charset="-127"/>
              </a:rPr>
              <a:t>/</a:t>
            </a:r>
            <a:r>
              <a:rPr lang="ko-KR" altLang="en-US" sz="1400" dirty="0" err="1">
                <a:solidFill>
                  <a:schemeClr val="bg1"/>
                </a:solidFill>
                <a:latin typeface="D2Coding" panose="020B0609020101020101" pitchFamily="49" charset="-127"/>
                <a:ea typeface="D2Coding" panose="020B0609020101020101" pitchFamily="49" charset="-127"/>
              </a:rPr>
              <a:t>activate</a:t>
            </a:r>
            <a:endParaRPr lang="ko-KR" altLang="en-US" sz="1400" dirty="0">
              <a:solidFill>
                <a:schemeClr val="bg1"/>
              </a:solidFill>
              <a:latin typeface="D2Coding" panose="020B0609020101020101" pitchFamily="49" charset="-127"/>
              <a:ea typeface="D2Coding" panose="020B0609020101020101" pitchFamily="49" charset="-127"/>
            </a:endParaRPr>
          </a:p>
          <a:p>
            <a:endParaRPr lang="ko-KR" altLang="en-US" sz="1400" dirty="0">
              <a:solidFill>
                <a:schemeClr val="bg1"/>
              </a:solidFill>
              <a:latin typeface="D2Coding" panose="020B0609020101020101" pitchFamily="49" charset="-127"/>
              <a:ea typeface="D2Coding" panose="020B0609020101020101" pitchFamily="49" charset="-127"/>
            </a:endParaRPr>
          </a:p>
          <a:p>
            <a:r>
              <a:rPr lang="ko-KR" altLang="en-US" sz="1400" dirty="0">
                <a:solidFill>
                  <a:schemeClr val="bg1"/>
                </a:solidFill>
                <a:latin typeface="D2Coding" panose="020B0609020101020101" pitchFamily="49" charset="-127"/>
                <a:ea typeface="D2Coding" panose="020B0609020101020101" pitchFamily="49" charset="-127"/>
              </a:rPr>
              <a:t># Windows</a:t>
            </a:r>
          </a:p>
          <a:p>
            <a:r>
              <a:rPr lang="ko-KR" altLang="en-US" sz="1400" dirty="0" err="1">
                <a:solidFill>
                  <a:schemeClr val="bg1"/>
                </a:solidFill>
                <a:latin typeface="D2Coding" panose="020B0609020101020101" pitchFamily="49" charset="-127"/>
                <a:ea typeface="D2Coding" panose="020B0609020101020101" pitchFamily="49" charset="-127"/>
              </a:rPr>
              <a:t>myenv</a:t>
            </a:r>
            <a:r>
              <a:rPr lang="ko-KR" altLang="en-US" sz="1400" dirty="0">
                <a:solidFill>
                  <a:schemeClr val="bg1"/>
                </a:solidFill>
                <a:latin typeface="D2Coding" panose="020B0609020101020101" pitchFamily="49" charset="-127"/>
                <a:ea typeface="D2Coding" panose="020B0609020101020101" pitchFamily="49" charset="-127"/>
              </a:rPr>
              <a:t>\Scripts\</a:t>
            </a:r>
            <a:r>
              <a:rPr lang="ko-KR" altLang="en-US" sz="1400" dirty="0" err="1">
                <a:solidFill>
                  <a:schemeClr val="bg1"/>
                </a:solidFill>
                <a:latin typeface="D2Coding" panose="020B0609020101020101" pitchFamily="49" charset="-127"/>
                <a:ea typeface="D2Coding" panose="020B0609020101020101" pitchFamily="49" charset="-127"/>
              </a:rPr>
              <a:t>activate</a:t>
            </a:r>
            <a:endParaRPr lang="ko-KR" altLang="en-US" sz="1400" dirty="0">
              <a:solidFill>
                <a:schemeClr val="bg1"/>
              </a:solidFill>
              <a:latin typeface="D2Coding" panose="020B0609020101020101" pitchFamily="49" charset="-127"/>
              <a:ea typeface="D2Coding" panose="020B0609020101020101" pitchFamily="49" charset="-127"/>
            </a:endParaRPr>
          </a:p>
          <a:p>
            <a:endParaRPr lang="ko-KR" altLang="en-US" sz="1400" dirty="0">
              <a:solidFill>
                <a:schemeClr val="bg1"/>
              </a:solidFill>
              <a:latin typeface="D2Coding" panose="020B0609020101020101" pitchFamily="49" charset="-127"/>
              <a:ea typeface="D2Coding" panose="020B0609020101020101" pitchFamily="49" charset="-127"/>
            </a:endParaRPr>
          </a:p>
          <a:p>
            <a:r>
              <a:rPr lang="ko-KR" altLang="en-US" sz="1400" dirty="0">
                <a:solidFill>
                  <a:schemeClr val="bg1"/>
                </a:solidFill>
                <a:latin typeface="D2Coding" panose="020B0609020101020101" pitchFamily="49" charset="-127"/>
                <a:ea typeface="D2Coding" panose="020B0609020101020101" pitchFamily="49" charset="-127"/>
              </a:rPr>
              <a:t># 3. 활성화되면 프롬프트 앞에 (</a:t>
            </a:r>
            <a:r>
              <a:rPr lang="ko-KR" altLang="en-US" sz="1400" dirty="0" err="1">
                <a:solidFill>
                  <a:schemeClr val="bg1"/>
                </a:solidFill>
                <a:latin typeface="D2Coding" panose="020B0609020101020101" pitchFamily="49" charset="-127"/>
                <a:ea typeface="D2Coding" panose="020B0609020101020101" pitchFamily="49" charset="-127"/>
              </a:rPr>
              <a:t>myenv</a:t>
            </a:r>
            <a:r>
              <a:rPr lang="ko-KR" altLang="en-US" sz="1400" dirty="0">
                <a:solidFill>
                  <a:schemeClr val="bg1"/>
                </a:solidFill>
                <a:latin typeface="D2Coding" panose="020B0609020101020101" pitchFamily="49" charset="-127"/>
                <a:ea typeface="D2Coding" panose="020B0609020101020101" pitchFamily="49" charset="-127"/>
              </a:rPr>
              <a:t>) 표시됨</a:t>
            </a:r>
          </a:p>
          <a:p>
            <a:r>
              <a:rPr lang="ko-KR" altLang="en-US" sz="1400" dirty="0">
                <a:solidFill>
                  <a:schemeClr val="bg1"/>
                </a:solidFill>
                <a:latin typeface="D2Coding" panose="020B0609020101020101" pitchFamily="49" charset="-127"/>
                <a:ea typeface="D2Coding" panose="020B0609020101020101" pitchFamily="49" charset="-127"/>
              </a:rPr>
              <a:t>(</a:t>
            </a:r>
            <a:r>
              <a:rPr lang="ko-KR" altLang="en-US" sz="1400" dirty="0" err="1">
                <a:solidFill>
                  <a:schemeClr val="bg1"/>
                </a:solidFill>
                <a:latin typeface="D2Coding" panose="020B0609020101020101" pitchFamily="49" charset="-127"/>
                <a:ea typeface="D2Coding" panose="020B0609020101020101" pitchFamily="49" charset="-127"/>
              </a:rPr>
              <a:t>myenv</a:t>
            </a:r>
            <a:r>
              <a:rPr lang="ko-KR" altLang="en-US" sz="1400" dirty="0">
                <a:solidFill>
                  <a:schemeClr val="bg1"/>
                </a:solidFill>
                <a:latin typeface="D2Coding" panose="020B0609020101020101" pitchFamily="49" charset="-127"/>
                <a:ea typeface="D2Coding" panose="020B0609020101020101" pitchFamily="49" charset="-127"/>
              </a:rPr>
              <a:t>) $ </a:t>
            </a:r>
            <a:r>
              <a:rPr lang="ko-KR" altLang="en-US" sz="1400" dirty="0" err="1">
                <a:solidFill>
                  <a:schemeClr val="bg1"/>
                </a:solidFill>
                <a:latin typeface="D2Coding" panose="020B0609020101020101" pitchFamily="49" charset="-127"/>
                <a:ea typeface="D2Coding" panose="020B0609020101020101" pitchFamily="49" charset="-127"/>
              </a:rPr>
              <a:t>pip</a:t>
            </a:r>
            <a:r>
              <a:rPr lang="ko-KR" altLang="en-US" sz="1400" dirty="0">
                <a:solidFill>
                  <a:schemeClr val="bg1"/>
                </a:solidFill>
                <a:latin typeface="D2Coding" panose="020B0609020101020101" pitchFamily="49" charset="-127"/>
                <a:ea typeface="D2Coding" panose="020B0609020101020101" pitchFamily="49" charset="-127"/>
              </a:rPr>
              <a:t> </a:t>
            </a:r>
            <a:r>
              <a:rPr lang="ko-KR" altLang="en-US" sz="1400" dirty="0" err="1">
                <a:solidFill>
                  <a:schemeClr val="bg1"/>
                </a:solidFill>
                <a:latin typeface="D2Coding" panose="020B0609020101020101" pitchFamily="49" charset="-127"/>
                <a:ea typeface="D2Coding" panose="020B0609020101020101" pitchFamily="49" charset="-127"/>
              </a:rPr>
              <a:t>install</a:t>
            </a:r>
            <a:r>
              <a:rPr lang="ko-KR" altLang="en-US" sz="1400" dirty="0">
                <a:solidFill>
                  <a:schemeClr val="bg1"/>
                </a:solidFill>
                <a:latin typeface="D2Coding" panose="020B0609020101020101" pitchFamily="49" charset="-127"/>
                <a:ea typeface="D2Coding" panose="020B0609020101020101" pitchFamily="49" charset="-127"/>
              </a:rPr>
              <a:t> </a:t>
            </a:r>
            <a:r>
              <a:rPr lang="ko-KR" altLang="en-US" sz="1400" dirty="0" err="1">
                <a:solidFill>
                  <a:schemeClr val="bg1"/>
                </a:solidFill>
                <a:latin typeface="D2Coding" panose="020B0609020101020101" pitchFamily="49" charset="-127"/>
                <a:ea typeface="D2Coding" panose="020B0609020101020101" pitchFamily="49" charset="-127"/>
              </a:rPr>
              <a:t>requests</a:t>
            </a:r>
            <a:r>
              <a:rPr lang="ko-KR" altLang="en-US" sz="1400" dirty="0">
                <a:solidFill>
                  <a:schemeClr val="bg1"/>
                </a:solidFill>
                <a:latin typeface="D2Coding" panose="020B0609020101020101" pitchFamily="49" charset="-127"/>
                <a:ea typeface="D2Coding" panose="020B0609020101020101" pitchFamily="49" charset="-127"/>
              </a:rPr>
              <a:t>   # 이 가상환경 안에만 설치됨</a:t>
            </a:r>
          </a:p>
          <a:p>
            <a:endParaRPr lang="ko-KR" altLang="en-US" sz="1400" dirty="0">
              <a:solidFill>
                <a:schemeClr val="bg1"/>
              </a:solidFill>
              <a:latin typeface="D2Coding" panose="020B0609020101020101" pitchFamily="49" charset="-127"/>
              <a:ea typeface="D2Coding" panose="020B0609020101020101" pitchFamily="49" charset="-127"/>
            </a:endParaRPr>
          </a:p>
          <a:p>
            <a:r>
              <a:rPr lang="ko-KR" altLang="en-US" sz="1400" dirty="0">
                <a:solidFill>
                  <a:schemeClr val="bg1"/>
                </a:solidFill>
                <a:latin typeface="D2Coding" panose="020B0609020101020101" pitchFamily="49" charset="-127"/>
                <a:ea typeface="D2Coding" panose="020B0609020101020101" pitchFamily="49" charset="-127"/>
              </a:rPr>
              <a:t># 4. 가상환경 비활성화 (원래 상태로 복귀)</a:t>
            </a:r>
          </a:p>
          <a:p>
            <a:r>
              <a:rPr lang="ko-KR" altLang="en-US" sz="1400" dirty="0" err="1">
                <a:solidFill>
                  <a:schemeClr val="bg1"/>
                </a:solidFill>
                <a:latin typeface="D2Coding" panose="020B0609020101020101" pitchFamily="49" charset="-127"/>
                <a:ea typeface="D2Coding" panose="020B0609020101020101" pitchFamily="49" charset="-127"/>
              </a:rPr>
              <a:t>deactivate</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12093021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4A59B-335B-1F6A-B1F3-88A62DF375D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8956231-EA1F-E9D7-5EDA-A9312DD0E34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CI (Continuous Integration)</a:t>
            </a:r>
          </a:p>
        </p:txBody>
      </p:sp>
      <p:sp>
        <p:nvSpPr>
          <p:cNvPr id="5" name="Text 1">
            <a:extLst>
              <a:ext uri="{FF2B5EF4-FFF2-40B4-BE49-F238E27FC236}">
                <a16:creationId xmlns:a16="http://schemas.microsoft.com/office/drawing/2014/main" id="{AD1F729E-CAAF-5237-9DCB-ECBD698DE849}"/>
              </a:ext>
            </a:extLst>
          </p:cNvPr>
          <p:cNvSpPr/>
          <p:nvPr/>
        </p:nvSpPr>
        <p:spPr>
          <a:xfrm>
            <a:off x="640080" y="1261110"/>
            <a:ext cx="10515600" cy="411480"/>
          </a:xfrm>
          <a:prstGeom prst="rect">
            <a:avLst/>
          </a:prstGeom>
          <a:noFill/>
          <a:ln/>
        </p:spPr>
        <p:txBody>
          <a:bodyPr wrap="square" lIns="0" tIns="0" rIns="0" bIns="0" rtlCol="0" anchor="ctr"/>
          <a:lstStyle/>
          <a:p>
            <a:pPr marL="0" indent="0">
              <a:buNone/>
            </a:pPr>
            <a:r>
              <a:rPr lang="en-US" dirty="0">
                <a:solidFill>
                  <a:srgbClr val="5B6B6E"/>
                </a:solidFill>
                <a:latin typeface="D2Coding" panose="020B0609020101020101" pitchFamily="49" charset="-127"/>
                <a:ea typeface="D2Coding" panose="020B0609020101020101" pitchFamily="49" charset="-127"/>
                <a:cs typeface="Malgun Gothic" pitchFamily="34" charset="-120"/>
              </a:rPr>
              <a:t>지속적 통합 — 변경사항을 자주, 자동으로 검증하는 개발 방식</a:t>
            </a:r>
            <a:endParaRPr lang="en-US" dirty="0">
              <a:latin typeface="D2Coding" panose="020B0609020101020101" pitchFamily="49" charset="-127"/>
              <a:ea typeface="D2Coding" panose="020B0609020101020101" pitchFamily="49" charset="-127"/>
            </a:endParaRPr>
          </a:p>
        </p:txBody>
      </p:sp>
      <p:sp>
        <p:nvSpPr>
          <p:cNvPr id="6" name="Shape 2">
            <a:extLst>
              <a:ext uri="{FF2B5EF4-FFF2-40B4-BE49-F238E27FC236}">
                <a16:creationId xmlns:a16="http://schemas.microsoft.com/office/drawing/2014/main" id="{01601CAA-779B-321F-A2F5-255AE86C50AB}"/>
              </a:ext>
            </a:extLst>
          </p:cNvPr>
          <p:cNvSpPr/>
          <p:nvPr/>
        </p:nvSpPr>
        <p:spPr>
          <a:xfrm>
            <a:off x="640080" y="1901190"/>
            <a:ext cx="10881360" cy="960120"/>
          </a:xfrm>
          <a:prstGeom prst="roundRect">
            <a:avLst>
              <a:gd name="adj" fmla="val 9524"/>
            </a:avLst>
          </a:prstGeom>
          <a:solidFill>
            <a:srgbClr val="028090"/>
          </a:solidFill>
          <a:ln/>
        </p:spPr>
        <p:txBody>
          <a:bodyPr/>
          <a:lstStyle/>
          <a:p>
            <a:endParaRPr lang="ko-KR" altLang="en-US"/>
          </a:p>
        </p:txBody>
      </p:sp>
      <p:sp>
        <p:nvSpPr>
          <p:cNvPr id="8" name="Text 3">
            <a:extLst>
              <a:ext uri="{FF2B5EF4-FFF2-40B4-BE49-F238E27FC236}">
                <a16:creationId xmlns:a16="http://schemas.microsoft.com/office/drawing/2014/main" id="{9F73631A-8529-E553-0597-86F90A5EEA0E}"/>
              </a:ext>
            </a:extLst>
          </p:cNvPr>
          <p:cNvSpPr/>
          <p:nvPr/>
        </p:nvSpPr>
        <p:spPr>
          <a:xfrm>
            <a:off x="914400" y="1901190"/>
            <a:ext cx="10332720" cy="960120"/>
          </a:xfrm>
          <a:prstGeom prst="rect">
            <a:avLst/>
          </a:prstGeom>
          <a:noFill/>
          <a:ln/>
        </p:spPr>
        <p:txBody>
          <a:bodyPr wrap="square" lIns="0" tIns="0" rIns="0" bIns="0" rtlCol="0" anchor="ctr"/>
          <a:lstStyle/>
          <a:p>
            <a:pPr marL="0" indent="0" algn="l">
              <a:lnSpc>
                <a:spcPct val="130000"/>
              </a:lnSpc>
              <a:buNone/>
            </a:pPr>
            <a:r>
              <a:rPr lang="en-US" sz="1600" dirty="0">
                <a:solidFill>
                  <a:srgbClr val="FFFFFF"/>
                </a:solidFill>
                <a:latin typeface="D2Coding" panose="020B0609020101020101" pitchFamily="49" charset="-127"/>
                <a:ea typeface="D2Coding" panose="020B0609020101020101" pitchFamily="49" charset="-127"/>
                <a:cs typeface="Malgun Gothic" pitchFamily="34" charset="-120"/>
              </a:rPr>
              <a:t>개발자들이 작성한 코드를 자주(하루에도 여러 번) 공유 저장소(Repository)에 병합(merge)하고,</a:t>
            </a:r>
            <a:endParaRPr lang="en-US" sz="1600" dirty="0">
              <a:latin typeface="D2Coding" panose="020B0609020101020101" pitchFamily="49" charset="-127"/>
              <a:ea typeface="D2Coding" panose="020B0609020101020101" pitchFamily="49" charset="-127"/>
            </a:endParaRPr>
          </a:p>
          <a:p>
            <a:pPr marL="0" indent="0" algn="l">
              <a:lnSpc>
                <a:spcPct val="130000"/>
              </a:lnSpc>
              <a:buNone/>
            </a:pPr>
            <a:r>
              <a:rPr lang="en-US" sz="1600" dirty="0">
                <a:solidFill>
                  <a:srgbClr val="FFFFFF"/>
                </a:solidFill>
                <a:latin typeface="D2Coding" panose="020B0609020101020101" pitchFamily="49" charset="-127"/>
                <a:ea typeface="D2Coding" panose="020B0609020101020101" pitchFamily="49" charset="-127"/>
                <a:cs typeface="Malgun Gothic" pitchFamily="34" charset="-120"/>
              </a:rPr>
              <a:t>그때마다 자동으로 빌드·테스트하여 문제를 조기에 발견하는 개발 방식</a:t>
            </a:r>
            <a:endParaRPr lang="en-US" sz="1600" dirty="0">
              <a:latin typeface="D2Coding" panose="020B0609020101020101" pitchFamily="49" charset="-127"/>
              <a:ea typeface="D2Coding" panose="020B0609020101020101" pitchFamily="49" charset="-127"/>
            </a:endParaRPr>
          </a:p>
        </p:txBody>
      </p:sp>
      <p:sp>
        <p:nvSpPr>
          <p:cNvPr id="9" name="Shape 4">
            <a:extLst>
              <a:ext uri="{FF2B5EF4-FFF2-40B4-BE49-F238E27FC236}">
                <a16:creationId xmlns:a16="http://schemas.microsoft.com/office/drawing/2014/main" id="{DC2B1DF6-D5BA-4FDE-2946-060060F4FFDD}"/>
              </a:ext>
            </a:extLst>
          </p:cNvPr>
          <p:cNvSpPr/>
          <p:nvPr/>
        </p:nvSpPr>
        <p:spPr>
          <a:xfrm>
            <a:off x="685800" y="3199638"/>
            <a:ext cx="640080" cy="640080"/>
          </a:xfrm>
          <a:prstGeom prst="ellipse">
            <a:avLst/>
          </a:prstGeom>
          <a:solidFill>
            <a:srgbClr val="00A896"/>
          </a:solidFill>
          <a:ln/>
        </p:spPr>
        <p:txBody>
          <a:bodyPr/>
          <a:lstStyle/>
          <a:p>
            <a:endParaRPr lang="ko-KR" altLang="en-US"/>
          </a:p>
        </p:txBody>
      </p:sp>
      <p:sp>
        <p:nvSpPr>
          <p:cNvPr id="10" name="Text 5">
            <a:extLst>
              <a:ext uri="{FF2B5EF4-FFF2-40B4-BE49-F238E27FC236}">
                <a16:creationId xmlns:a16="http://schemas.microsoft.com/office/drawing/2014/main" id="{1B5091CD-6A0B-0B8A-B381-013DC1B763B6}"/>
              </a:ext>
            </a:extLst>
          </p:cNvPr>
          <p:cNvSpPr/>
          <p:nvPr/>
        </p:nvSpPr>
        <p:spPr>
          <a:xfrm>
            <a:off x="685800" y="3199638"/>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D2Coding" panose="020B0609020101020101" pitchFamily="49" charset="-127"/>
                <a:ea typeface="D2Coding" panose="020B0609020101020101" pitchFamily="49" charset="-127"/>
                <a:cs typeface="Malgun Gothic" pitchFamily="34" charset="-120"/>
              </a:rPr>
              <a:t>1</a:t>
            </a:r>
            <a:endParaRPr lang="en-US" sz="2400" dirty="0">
              <a:latin typeface="D2Coding" panose="020B0609020101020101" pitchFamily="49" charset="-127"/>
              <a:ea typeface="D2Coding" panose="020B0609020101020101" pitchFamily="49" charset="-127"/>
            </a:endParaRPr>
          </a:p>
        </p:txBody>
      </p:sp>
      <p:sp>
        <p:nvSpPr>
          <p:cNvPr id="11" name="Shape 6">
            <a:extLst>
              <a:ext uri="{FF2B5EF4-FFF2-40B4-BE49-F238E27FC236}">
                <a16:creationId xmlns:a16="http://schemas.microsoft.com/office/drawing/2014/main" id="{B24FB9B6-CCA8-427D-B4F3-478776F866A9}"/>
              </a:ext>
            </a:extLst>
          </p:cNvPr>
          <p:cNvSpPr/>
          <p:nvPr/>
        </p:nvSpPr>
        <p:spPr>
          <a:xfrm>
            <a:off x="1508760" y="3089910"/>
            <a:ext cx="10012680" cy="868680"/>
          </a:xfrm>
          <a:prstGeom prst="roundRect">
            <a:avLst>
              <a:gd name="adj" fmla="val 8421"/>
            </a:avLst>
          </a:prstGeom>
          <a:solidFill>
            <a:srgbClr val="F7FAFA"/>
          </a:solidFill>
          <a:ln>
            <a:solidFill>
              <a:schemeClr val="accent6">
                <a:lumMod val="60000"/>
                <a:lumOff val="40000"/>
              </a:schemeClr>
            </a:solidFill>
          </a:ln>
        </p:spPr>
        <p:txBody>
          <a:bodyPr/>
          <a:lstStyle/>
          <a:p>
            <a:endParaRPr lang="ko-KR" altLang="en-US"/>
          </a:p>
        </p:txBody>
      </p:sp>
      <p:sp>
        <p:nvSpPr>
          <p:cNvPr id="12" name="Text 7">
            <a:extLst>
              <a:ext uri="{FF2B5EF4-FFF2-40B4-BE49-F238E27FC236}">
                <a16:creationId xmlns:a16="http://schemas.microsoft.com/office/drawing/2014/main" id="{ECA97B1B-FA43-02DC-753C-98EBA82B85BE}"/>
              </a:ext>
            </a:extLst>
          </p:cNvPr>
          <p:cNvSpPr/>
          <p:nvPr/>
        </p:nvSpPr>
        <p:spPr>
          <a:xfrm>
            <a:off x="1737360" y="3089910"/>
            <a:ext cx="2468880" cy="868680"/>
          </a:xfrm>
          <a:prstGeom prst="rect">
            <a:avLst/>
          </a:prstGeom>
          <a:noFill/>
          <a:ln/>
        </p:spPr>
        <p:txBody>
          <a:bodyPr wrap="square" lIns="0" tIns="0" rIns="0" bIns="0" rtlCol="0" anchor="ctr"/>
          <a:lstStyle/>
          <a:p>
            <a:pPr marL="0" indent="0">
              <a:buNone/>
            </a:pPr>
            <a:r>
              <a:rPr lang="en-US" b="1" dirty="0">
                <a:solidFill>
                  <a:srgbClr val="1B2A2E"/>
                </a:solidFill>
                <a:latin typeface="D2Coding" panose="020B0609020101020101" pitchFamily="49" charset="-127"/>
                <a:ea typeface="D2Coding" panose="020B0609020101020101" pitchFamily="49" charset="-127"/>
                <a:cs typeface="Malgun Gothic" pitchFamily="34" charset="-120"/>
              </a:rPr>
              <a:t>잦은 통합</a:t>
            </a:r>
            <a:endParaRPr lang="en-US" dirty="0">
              <a:latin typeface="D2Coding" panose="020B0609020101020101" pitchFamily="49" charset="-127"/>
              <a:ea typeface="D2Coding" panose="020B0609020101020101" pitchFamily="49" charset="-127"/>
            </a:endParaRPr>
          </a:p>
        </p:txBody>
      </p:sp>
      <p:sp>
        <p:nvSpPr>
          <p:cNvPr id="13" name="Text 8">
            <a:extLst>
              <a:ext uri="{FF2B5EF4-FFF2-40B4-BE49-F238E27FC236}">
                <a16:creationId xmlns:a16="http://schemas.microsoft.com/office/drawing/2014/main" id="{E3753F3C-B20B-B8EF-B9C6-8772F2A851F1}"/>
              </a:ext>
            </a:extLst>
          </p:cNvPr>
          <p:cNvSpPr/>
          <p:nvPr/>
        </p:nvSpPr>
        <p:spPr>
          <a:xfrm>
            <a:off x="4160520" y="3089910"/>
            <a:ext cx="7132320" cy="868680"/>
          </a:xfrm>
          <a:prstGeom prst="rect">
            <a:avLst/>
          </a:prstGeom>
          <a:noFill/>
          <a:ln/>
        </p:spPr>
        <p:txBody>
          <a:bodyPr wrap="square" lIns="0" tIns="0" rIns="0" bIns="0" rtlCol="0" anchor="ctr"/>
          <a:lstStyle/>
          <a:p>
            <a:pPr marL="0" indent="0">
              <a:lnSpc>
                <a:spcPct val="120000"/>
              </a:lnSpc>
              <a:buNone/>
            </a:pPr>
            <a:r>
              <a:rPr lang="en-US" sz="1600" dirty="0">
                <a:solidFill>
                  <a:srgbClr val="5B6B6E"/>
                </a:solidFill>
                <a:latin typeface="D2Coding" panose="020B0609020101020101" pitchFamily="49" charset="-127"/>
                <a:ea typeface="D2Coding" panose="020B0609020101020101" pitchFamily="49" charset="-127"/>
                <a:cs typeface="Malgun Gothic" pitchFamily="34" charset="-120"/>
              </a:rPr>
              <a:t>개발자가 작은 단위의 변경사항을 짧은 주기로 공유 저장소에 지속적으로 병합</a:t>
            </a:r>
            <a:endParaRPr lang="en-US" sz="1600" dirty="0">
              <a:latin typeface="D2Coding" panose="020B0609020101020101" pitchFamily="49" charset="-127"/>
              <a:ea typeface="D2Coding" panose="020B0609020101020101" pitchFamily="49" charset="-127"/>
            </a:endParaRPr>
          </a:p>
        </p:txBody>
      </p:sp>
      <p:sp>
        <p:nvSpPr>
          <p:cNvPr id="14" name="Shape 9">
            <a:extLst>
              <a:ext uri="{FF2B5EF4-FFF2-40B4-BE49-F238E27FC236}">
                <a16:creationId xmlns:a16="http://schemas.microsoft.com/office/drawing/2014/main" id="{7459BDD8-EDA9-C485-4BEB-4A459DF53578}"/>
              </a:ext>
            </a:extLst>
          </p:cNvPr>
          <p:cNvSpPr/>
          <p:nvPr/>
        </p:nvSpPr>
        <p:spPr>
          <a:xfrm>
            <a:off x="685800" y="4251198"/>
            <a:ext cx="640080" cy="640080"/>
          </a:xfrm>
          <a:prstGeom prst="ellipse">
            <a:avLst/>
          </a:prstGeom>
          <a:solidFill>
            <a:srgbClr val="02C39A"/>
          </a:solidFill>
          <a:ln/>
        </p:spPr>
        <p:txBody>
          <a:bodyPr/>
          <a:lstStyle/>
          <a:p>
            <a:endParaRPr lang="ko-KR" altLang="en-US"/>
          </a:p>
        </p:txBody>
      </p:sp>
      <p:sp>
        <p:nvSpPr>
          <p:cNvPr id="15" name="Text 10">
            <a:extLst>
              <a:ext uri="{FF2B5EF4-FFF2-40B4-BE49-F238E27FC236}">
                <a16:creationId xmlns:a16="http://schemas.microsoft.com/office/drawing/2014/main" id="{71EB93E2-8A08-00F0-E6D9-EC9D6A41E065}"/>
              </a:ext>
            </a:extLst>
          </p:cNvPr>
          <p:cNvSpPr/>
          <p:nvPr/>
        </p:nvSpPr>
        <p:spPr>
          <a:xfrm>
            <a:off x="685800" y="4251198"/>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D2Coding" panose="020B0609020101020101" pitchFamily="49" charset="-127"/>
                <a:ea typeface="D2Coding" panose="020B0609020101020101" pitchFamily="49" charset="-127"/>
                <a:cs typeface="Malgun Gothic" pitchFamily="34" charset="-120"/>
              </a:rPr>
              <a:t>2</a:t>
            </a:r>
            <a:endParaRPr lang="en-US" sz="2400" dirty="0">
              <a:latin typeface="D2Coding" panose="020B0609020101020101" pitchFamily="49" charset="-127"/>
              <a:ea typeface="D2Coding" panose="020B0609020101020101" pitchFamily="49" charset="-127"/>
            </a:endParaRPr>
          </a:p>
        </p:txBody>
      </p:sp>
      <p:sp>
        <p:nvSpPr>
          <p:cNvPr id="16" name="Shape 11">
            <a:extLst>
              <a:ext uri="{FF2B5EF4-FFF2-40B4-BE49-F238E27FC236}">
                <a16:creationId xmlns:a16="http://schemas.microsoft.com/office/drawing/2014/main" id="{300F5D6B-4054-F4CF-8AFC-9470FCFC8802}"/>
              </a:ext>
            </a:extLst>
          </p:cNvPr>
          <p:cNvSpPr/>
          <p:nvPr/>
        </p:nvSpPr>
        <p:spPr>
          <a:xfrm>
            <a:off x="1508760" y="4141470"/>
            <a:ext cx="10012680" cy="868680"/>
          </a:xfrm>
          <a:prstGeom prst="roundRect">
            <a:avLst>
              <a:gd name="adj" fmla="val 8421"/>
            </a:avLst>
          </a:prstGeom>
          <a:solidFill>
            <a:srgbClr val="F7FAFA"/>
          </a:solidFill>
          <a:ln>
            <a:solidFill>
              <a:schemeClr val="accent6">
                <a:lumMod val="60000"/>
                <a:lumOff val="40000"/>
              </a:schemeClr>
            </a:solidFill>
          </a:ln>
        </p:spPr>
        <p:txBody>
          <a:bodyPr/>
          <a:lstStyle/>
          <a:p>
            <a:endParaRPr lang="ko-KR" altLang="en-US"/>
          </a:p>
        </p:txBody>
      </p:sp>
      <p:sp>
        <p:nvSpPr>
          <p:cNvPr id="17" name="Text 12">
            <a:extLst>
              <a:ext uri="{FF2B5EF4-FFF2-40B4-BE49-F238E27FC236}">
                <a16:creationId xmlns:a16="http://schemas.microsoft.com/office/drawing/2014/main" id="{1BC0CB0D-37A0-9C14-4CAC-F4FD9ABBA3E8}"/>
              </a:ext>
            </a:extLst>
          </p:cNvPr>
          <p:cNvSpPr/>
          <p:nvPr/>
        </p:nvSpPr>
        <p:spPr>
          <a:xfrm>
            <a:off x="1737360" y="4141470"/>
            <a:ext cx="2468880" cy="868680"/>
          </a:xfrm>
          <a:prstGeom prst="rect">
            <a:avLst/>
          </a:prstGeom>
          <a:noFill/>
          <a:ln/>
        </p:spPr>
        <p:txBody>
          <a:bodyPr wrap="square" lIns="0" tIns="0" rIns="0" bIns="0" rtlCol="0" anchor="ctr"/>
          <a:lstStyle/>
          <a:p>
            <a:pPr marL="0" indent="0">
              <a:buNone/>
            </a:pPr>
            <a:r>
              <a:rPr lang="en-US" b="1" dirty="0">
                <a:solidFill>
                  <a:srgbClr val="1B2A2E"/>
                </a:solidFill>
                <a:latin typeface="D2Coding" panose="020B0609020101020101" pitchFamily="49" charset="-127"/>
                <a:ea typeface="D2Coding" panose="020B0609020101020101" pitchFamily="49" charset="-127"/>
                <a:cs typeface="Malgun Gothic" pitchFamily="34" charset="-120"/>
              </a:rPr>
              <a:t>자동 빌드 &amp; 테스트</a:t>
            </a:r>
            <a:endParaRPr lang="en-US" dirty="0">
              <a:latin typeface="D2Coding" panose="020B0609020101020101" pitchFamily="49" charset="-127"/>
              <a:ea typeface="D2Coding" panose="020B0609020101020101" pitchFamily="49" charset="-127"/>
            </a:endParaRPr>
          </a:p>
        </p:txBody>
      </p:sp>
      <p:sp>
        <p:nvSpPr>
          <p:cNvPr id="18" name="Text 13">
            <a:extLst>
              <a:ext uri="{FF2B5EF4-FFF2-40B4-BE49-F238E27FC236}">
                <a16:creationId xmlns:a16="http://schemas.microsoft.com/office/drawing/2014/main" id="{6BC9F2A9-4D8A-5735-9B56-B15C19A0972A}"/>
              </a:ext>
            </a:extLst>
          </p:cNvPr>
          <p:cNvSpPr/>
          <p:nvPr/>
        </p:nvSpPr>
        <p:spPr>
          <a:xfrm>
            <a:off x="4160520" y="4141470"/>
            <a:ext cx="7132320" cy="868680"/>
          </a:xfrm>
          <a:prstGeom prst="rect">
            <a:avLst/>
          </a:prstGeom>
          <a:noFill/>
          <a:ln/>
        </p:spPr>
        <p:txBody>
          <a:bodyPr wrap="square" lIns="0" tIns="0" rIns="0" bIns="0" rtlCol="0" anchor="ctr"/>
          <a:lstStyle/>
          <a:p>
            <a:pPr marL="0" indent="0">
              <a:lnSpc>
                <a:spcPct val="120000"/>
              </a:lnSpc>
              <a:buNone/>
            </a:pPr>
            <a:r>
              <a:rPr lang="en-US" sz="1600" dirty="0">
                <a:solidFill>
                  <a:srgbClr val="5B6B6E"/>
                </a:solidFill>
                <a:latin typeface="D2Coding" panose="020B0609020101020101" pitchFamily="49" charset="-127"/>
                <a:ea typeface="D2Coding" panose="020B0609020101020101" pitchFamily="49" charset="-127"/>
                <a:cs typeface="Malgun Gothic" pitchFamily="34" charset="-120"/>
              </a:rPr>
              <a:t>코드가 통합될 때마다 빌드와 테스트가 자동으로 실행되어 사람의 개입을 최소화</a:t>
            </a:r>
            <a:endParaRPr lang="en-US" sz="1600" dirty="0">
              <a:latin typeface="D2Coding" panose="020B0609020101020101" pitchFamily="49" charset="-127"/>
              <a:ea typeface="D2Coding" panose="020B0609020101020101" pitchFamily="49" charset="-127"/>
            </a:endParaRPr>
          </a:p>
        </p:txBody>
      </p:sp>
      <p:sp>
        <p:nvSpPr>
          <p:cNvPr id="19" name="Shape 14">
            <a:extLst>
              <a:ext uri="{FF2B5EF4-FFF2-40B4-BE49-F238E27FC236}">
                <a16:creationId xmlns:a16="http://schemas.microsoft.com/office/drawing/2014/main" id="{500A20C2-5F54-15E5-EC48-C5D883E06655}"/>
              </a:ext>
            </a:extLst>
          </p:cNvPr>
          <p:cNvSpPr/>
          <p:nvPr/>
        </p:nvSpPr>
        <p:spPr>
          <a:xfrm>
            <a:off x="685800" y="5302758"/>
            <a:ext cx="640080" cy="640080"/>
          </a:xfrm>
          <a:prstGeom prst="ellipse">
            <a:avLst/>
          </a:prstGeom>
          <a:solidFill>
            <a:srgbClr val="028090"/>
          </a:solidFill>
          <a:ln/>
        </p:spPr>
        <p:txBody>
          <a:bodyPr/>
          <a:lstStyle/>
          <a:p>
            <a:endParaRPr lang="ko-KR" altLang="en-US"/>
          </a:p>
        </p:txBody>
      </p:sp>
      <p:sp>
        <p:nvSpPr>
          <p:cNvPr id="20" name="Text 15">
            <a:extLst>
              <a:ext uri="{FF2B5EF4-FFF2-40B4-BE49-F238E27FC236}">
                <a16:creationId xmlns:a16="http://schemas.microsoft.com/office/drawing/2014/main" id="{DFE1D1AE-D80A-A60F-B4D1-0A3F906146EC}"/>
              </a:ext>
            </a:extLst>
          </p:cNvPr>
          <p:cNvSpPr/>
          <p:nvPr/>
        </p:nvSpPr>
        <p:spPr>
          <a:xfrm>
            <a:off x="685800" y="5302758"/>
            <a:ext cx="640080" cy="640080"/>
          </a:xfrm>
          <a:prstGeom prst="rect">
            <a:avLst/>
          </a:prstGeom>
          <a:noFill/>
          <a:ln/>
        </p:spPr>
        <p:txBody>
          <a:bodyPr wrap="square" lIns="0" tIns="0" rIns="0" bIns="0" rtlCol="0" anchor="ctr"/>
          <a:lstStyle/>
          <a:p>
            <a:pPr marL="0" indent="0" algn="ctr">
              <a:buNone/>
            </a:pPr>
            <a:r>
              <a:rPr lang="en-US" sz="2400" b="1" dirty="0">
                <a:solidFill>
                  <a:srgbClr val="FFFFFF"/>
                </a:solidFill>
                <a:latin typeface="D2Coding" panose="020B0609020101020101" pitchFamily="49" charset="-127"/>
                <a:ea typeface="D2Coding" panose="020B0609020101020101" pitchFamily="49" charset="-127"/>
                <a:cs typeface="Malgun Gothic" pitchFamily="34" charset="-120"/>
              </a:rPr>
              <a:t>3</a:t>
            </a:r>
            <a:endParaRPr lang="en-US" sz="2400" dirty="0">
              <a:latin typeface="D2Coding" panose="020B0609020101020101" pitchFamily="49" charset="-127"/>
              <a:ea typeface="D2Coding" panose="020B0609020101020101" pitchFamily="49" charset="-127"/>
            </a:endParaRPr>
          </a:p>
        </p:txBody>
      </p:sp>
      <p:sp>
        <p:nvSpPr>
          <p:cNvPr id="21" name="Shape 16">
            <a:extLst>
              <a:ext uri="{FF2B5EF4-FFF2-40B4-BE49-F238E27FC236}">
                <a16:creationId xmlns:a16="http://schemas.microsoft.com/office/drawing/2014/main" id="{9438C446-4AF6-4808-4127-A632D60187B7}"/>
              </a:ext>
            </a:extLst>
          </p:cNvPr>
          <p:cNvSpPr/>
          <p:nvPr/>
        </p:nvSpPr>
        <p:spPr>
          <a:xfrm>
            <a:off x="1508760" y="5193030"/>
            <a:ext cx="10012680" cy="868680"/>
          </a:xfrm>
          <a:prstGeom prst="roundRect">
            <a:avLst>
              <a:gd name="adj" fmla="val 8421"/>
            </a:avLst>
          </a:prstGeom>
          <a:solidFill>
            <a:srgbClr val="F7FAFA"/>
          </a:solidFill>
          <a:ln>
            <a:solidFill>
              <a:schemeClr val="accent6">
                <a:lumMod val="60000"/>
                <a:lumOff val="40000"/>
              </a:schemeClr>
            </a:solidFill>
          </a:ln>
        </p:spPr>
        <p:txBody>
          <a:bodyPr/>
          <a:lstStyle/>
          <a:p>
            <a:endParaRPr lang="ko-KR" altLang="en-US"/>
          </a:p>
        </p:txBody>
      </p:sp>
      <p:sp>
        <p:nvSpPr>
          <p:cNvPr id="22" name="Text 17">
            <a:extLst>
              <a:ext uri="{FF2B5EF4-FFF2-40B4-BE49-F238E27FC236}">
                <a16:creationId xmlns:a16="http://schemas.microsoft.com/office/drawing/2014/main" id="{7E9163C2-E0B6-0B25-EF0E-59497C9A3693}"/>
              </a:ext>
            </a:extLst>
          </p:cNvPr>
          <p:cNvSpPr/>
          <p:nvPr/>
        </p:nvSpPr>
        <p:spPr>
          <a:xfrm>
            <a:off x="1737360" y="5193030"/>
            <a:ext cx="2468880" cy="868680"/>
          </a:xfrm>
          <a:prstGeom prst="rect">
            <a:avLst/>
          </a:prstGeom>
          <a:noFill/>
          <a:ln/>
        </p:spPr>
        <p:txBody>
          <a:bodyPr wrap="square" lIns="0" tIns="0" rIns="0" bIns="0" rtlCol="0" anchor="ctr"/>
          <a:lstStyle/>
          <a:p>
            <a:pPr marL="0" indent="0">
              <a:buNone/>
            </a:pPr>
            <a:r>
              <a:rPr lang="en-US" b="1" dirty="0">
                <a:solidFill>
                  <a:srgbClr val="1B2A2E"/>
                </a:solidFill>
                <a:latin typeface="D2Coding" panose="020B0609020101020101" pitchFamily="49" charset="-127"/>
                <a:ea typeface="D2Coding" panose="020B0609020101020101" pitchFamily="49" charset="-127"/>
                <a:cs typeface="Malgun Gothic" pitchFamily="34" charset="-120"/>
              </a:rPr>
              <a:t>빠른 피드백</a:t>
            </a:r>
            <a:endParaRPr lang="en-US" dirty="0">
              <a:latin typeface="D2Coding" panose="020B0609020101020101" pitchFamily="49" charset="-127"/>
              <a:ea typeface="D2Coding" panose="020B0609020101020101" pitchFamily="49" charset="-127"/>
            </a:endParaRPr>
          </a:p>
        </p:txBody>
      </p:sp>
      <p:sp>
        <p:nvSpPr>
          <p:cNvPr id="23" name="Text 18">
            <a:extLst>
              <a:ext uri="{FF2B5EF4-FFF2-40B4-BE49-F238E27FC236}">
                <a16:creationId xmlns:a16="http://schemas.microsoft.com/office/drawing/2014/main" id="{8741F488-C62B-C29A-2507-3A6871FD2B4A}"/>
              </a:ext>
            </a:extLst>
          </p:cNvPr>
          <p:cNvSpPr/>
          <p:nvPr/>
        </p:nvSpPr>
        <p:spPr>
          <a:xfrm>
            <a:off x="4160520" y="5193030"/>
            <a:ext cx="7132320" cy="868680"/>
          </a:xfrm>
          <a:prstGeom prst="rect">
            <a:avLst/>
          </a:prstGeom>
          <a:noFill/>
          <a:ln/>
        </p:spPr>
        <p:txBody>
          <a:bodyPr wrap="square" lIns="0" tIns="0" rIns="0" bIns="0" rtlCol="0" anchor="ctr"/>
          <a:lstStyle/>
          <a:p>
            <a:pPr marL="0" indent="0">
              <a:lnSpc>
                <a:spcPct val="120000"/>
              </a:lnSpc>
              <a:buNone/>
            </a:pPr>
            <a:r>
              <a:rPr lang="en-US" sz="1600" dirty="0">
                <a:solidFill>
                  <a:srgbClr val="5B6B6E"/>
                </a:solidFill>
                <a:latin typeface="D2Coding" panose="020B0609020101020101" pitchFamily="49" charset="-127"/>
                <a:ea typeface="D2Coding" panose="020B0609020101020101" pitchFamily="49" charset="-127"/>
                <a:cs typeface="Malgun Gothic" pitchFamily="34" charset="-120"/>
              </a:rPr>
              <a:t>오류 발생 시 즉시 알림을 받아, 문제가 커지기 전에 조기 발견 및 수정</a:t>
            </a:r>
            <a:endParaRPr lang="en-US" sz="1600" dirty="0">
              <a:latin typeface="D2Coding" panose="020B0609020101020101" pitchFamily="49" charset="-127"/>
              <a:ea typeface="D2Coding" panose="020B0609020101020101" pitchFamily="49" charset="-127"/>
            </a:endParaRPr>
          </a:p>
        </p:txBody>
      </p:sp>
      <p:sp>
        <p:nvSpPr>
          <p:cNvPr id="4" name="슬라이드 번호 개체 틀 3">
            <a:extLst>
              <a:ext uri="{FF2B5EF4-FFF2-40B4-BE49-F238E27FC236}">
                <a16:creationId xmlns:a16="http://schemas.microsoft.com/office/drawing/2014/main" id="{E30E9A0A-EF64-D05A-3A76-463D89E55743}"/>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24</a:t>
            </a:fld>
            <a:endParaRPr lang="en-US" b="1" dirty="0">
              <a:latin typeface="Segoe UI Emoji" panose="020B0502040204020203" pitchFamily="34" charset="0"/>
              <a:ea typeface="Segoe UI Emoji" panose="020B0502040204020203" pitchFamily="34" charset="0"/>
            </a:endParaRPr>
          </a:p>
        </p:txBody>
      </p:sp>
    </p:spTree>
    <p:extLst>
      <p:ext uri="{BB962C8B-B14F-4D97-AF65-F5344CB8AC3E}">
        <p14:creationId xmlns:p14="http://schemas.microsoft.com/office/powerpoint/2010/main" val="42843899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AD688-81BD-A730-FB4D-15578BA58D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8FE2DB-C78A-59C3-AE94-56541135D3E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GitHub Actions Exercise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7159C719-70DA-E335-6E30-7EA20CACB266}"/>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CFBACB0A-609D-1358-139D-925052A0D9B4}"/>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25</a:t>
            </a:fld>
            <a:endParaRPr lang="en-US" b="1" dirty="0">
              <a:latin typeface="Segoe UI Emoji" panose="020B0502040204020203" pitchFamily="34" charset="0"/>
              <a:ea typeface="Segoe UI Emoji" panose="020B0502040204020203" pitchFamily="34" charset="0"/>
            </a:endParaRPr>
          </a:p>
        </p:txBody>
      </p:sp>
      <p:sp>
        <p:nvSpPr>
          <p:cNvPr id="4" name="TextBox 3">
            <a:extLst>
              <a:ext uri="{FF2B5EF4-FFF2-40B4-BE49-F238E27FC236}">
                <a16:creationId xmlns:a16="http://schemas.microsoft.com/office/drawing/2014/main" id="{C6084553-1240-F4AB-5C9A-FF6A74293622}"/>
              </a:ext>
            </a:extLst>
          </p:cNvPr>
          <p:cNvSpPr txBox="1"/>
          <p:nvPr/>
        </p:nvSpPr>
        <p:spPr>
          <a:xfrm>
            <a:off x="591620" y="1248422"/>
            <a:ext cx="11047930" cy="1162498"/>
          </a:xfrm>
          <a:prstGeom prst="rect">
            <a:avLst/>
          </a:prstGeom>
          <a:noFill/>
        </p:spPr>
        <p:txBody>
          <a:bodyPr wrap="square" rtlCol="0">
            <a:spAutoFit/>
          </a:bodyPr>
          <a:lstStyle/>
          <a:p>
            <a:pPr marL="285750" indent="-285750">
              <a:lnSpc>
                <a:spcPct val="150000"/>
              </a:lnSpc>
              <a:buFont typeface="Wingdings" panose="05000000000000000000" pitchFamily="2" charset="2"/>
              <a:buChar char="v"/>
            </a:pPr>
            <a:r>
              <a:rPr lang="en-US" altLang="ko-KR" sz="1600" dirty="0" err="1">
                <a:latin typeface="D2Coding" panose="020B0609020101020101" pitchFamily="49" charset="-127"/>
                <a:ea typeface="D2Coding" panose="020B0609020101020101" pitchFamily="49" charset="-127"/>
                <a:hlinkClick r:id="rId2"/>
              </a:rPr>
              <a:t>Github</a:t>
            </a:r>
            <a:r>
              <a:rPr lang="en-US" altLang="ko-KR" sz="1600" dirty="0">
                <a:latin typeface="D2Coding" panose="020B0609020101020101" pitchFamily="49" charset="-127"/>
                <a:ea typeface="D2Coding" panose="020B0609020101020101" pitchFamily="49" charset="-127"/>
                <a:hlinkClick r:id="rId2"/>
              </a:rPr>
              <a:t> Actions </a:t>
            </a:r>
            <a:r>
              <a:rPr lang="ko-KR" altLang="en-US" sz="1600" dirty="0">
                <a:latin typeface="D2Coding" panose="020B0609020101020101" pitchFamily="49" charset="-127"/>
                <a:ea typeface="D2Coding" panose="020B0609020101020101" pitchFamily="49" charset="-127"/>
                <a:hlinkClick r:id="rId2"/>
              </a:rPr>
              <a:t>기본 사용 방법 및 </a:t>
            </a:r>
            <a:r>
              <a:rPr lang="en-US" altLang="ko-KR" sz="1600" dirty="0">
                <a:latin typeface="D2Coding" panose="020B0609020101020101" pitchFamily="49" charset="-127"/>
                <a:ea typeface="D2Coding" panose="020B0609020101020101" pitchFamily="49" charset="-127"/>
                <a:hlinkClick r:id="rId2"/>
              </a:rPr>
              <a:t>CI/CD </a:t>
            </a:r>
            <a:r>
              <a:rPr lang="ko-KR" altLang="en-US" sz="1600" dirty="0">
                <a:latin typeface="D2Coding" panose="020B0609020101020101" pitchFamily="49" charset="-127"/>
                <a:ea typeface="D2Coding" panose="020B0609020101020101" pitchFamily="49" charset="-127"/>
                <a:hlinkClick r:id="rId2"/>
              </a:rPr>
              <a:t>워크플로우 구성하기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600" dirty="0">
                <a:latin typeface="D2Coding" panose="020B0609020101020101" pitchFamily="49" charset="-127"/>
                <a:ea typeface="D2Coding" panose="020B0609020101020101" pitchFamily="49" charset="-127"/>
              </a:rPr>
              <a:t>가상환경</a:t>
            </a:r>
            <a:r>
              <a:rPr lang="en-US" altLang="ko-KR" sz="1600" dirty="0">
                <a:latin typeface="D2Coding" panose="020B0609020101020101" pitchFamily="49" charset="-127"/>
                <a:ea typeface="D2Coding" panose="020B0609020101020101" pitchFamily="49" charset="-127"/>
              </a:rPr>
              <a:t>(Virtual Environment)</a:t>
            </a:r>
          </a:p>
          <a:p>
            <a:pPr marL="285750" indent="-285750">
              <a:lnSpc>
                <a:spcPct val="150000"/>
              </a:lnSpc>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hlinkClick r:id="rId3"/>
              </a:rPr>
              <a:t>https://github.com/ancestor9/my-gradio-app</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실습 파일</a:t>
            </a: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998D85BC-4D9F-B91C-3041-7AA66F21CF7E}"/>
              </a:ext>
            </a:extLst>
          </p:cNvPr>
          <p:cNvPicPr>
            <a:picLocks noChangeAspect="1"/>
          </p:cNvPicPr>
          <p:nvPr/>
        </p:nvPicPr>
        <p:blipFill>
          <a:blip r:embed="rId4"/>
          <a:stretch>
            <a:fillRect/>
          </a:stretch>
        </p:blipFill>
        <p:spPr>
          <a:xfrm>
            <a:off x="3353870" y="2639855"/>
            <a:ext cx="4056430" cy="3265645"/>
          </a:xfrm>
          <a:prstGeom prst="rect">
            <a:avLst/>
          </a:prstGeom>
        </p:spPr>
      </p:pic>
      <p:pic>
        <p:nvPicPr>
          <p:cNvPr id="12" name="그래픽 11" descr="수영">
            <a:extLst>
              <a:ext uri="{FF2B5EF4-FFF2-40B4-BE49-F238E27FC236}">
                <a16:creationId xmlns:a16="http://schemas.microsoft.com/office/drawing/2014/main" id="{C1D71D42-D86C-CD8D-0A44-CBB293213A8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5980" y="373930"/>
            <a:ext cx="914400" cy="914400"/>
          </a:xfrm>
          <a:prstGeom prst="rect">
            <a:avLst/>
          </a:prstGeom>
        </p:spPr>
      </p:pic>
    </p:spTree>
    <p:extLst>
      <p:ext uri="{BB962C8B-B14F-4D97-AF65-F5344CB8AC3E}">
        <p14:creationId xmlns:p14="http://schemas.microsoft.com/office/powerpoint/2010/main" val="391948371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BD8B7A-DB89-FE54-0CAC-B383B9C958D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17C9541-25DE-D61B-075D-D5726EE80C9F}"/>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deploy.yml</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D20FAF6E-9718-5E48-D104-52F4CB05D210}"/>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CEF58C93-CFF4-FCA6-E9D0-DF153293F01A}"/>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26</a:t>
            </a:fld>
            <a:endParaRPr lang="en-US" b="1" dirty="0">
              <a:latin typeface="Segoe UI Emoji" panose="020B0502040204020203" pitchFamily="34" charset="0"/>
              <a:ea typeface="Segoe UI Emoji" panose="020B0502040204020203" pitchFamily="34" charset="0"/>
            </a:endParaRPr>
          </a:p>
        </p:txBody>
      </p:sp>
      <p:sp>
        <p:nvSpPr>
          <p:cNvPr id="7" name="TextBox 6">
            <a:extLst>
              <a:ext uri="{FF2B5EF4-FFF2-40B4-BE49-F238E27FC236}">
                <a16:creationId xmlns:a16="http://schemas.microsoft.com/office/drawing/2014/main" id="{CE4DB55D-0615-F477-52F2-18CE5A65581B}"/>
              </a:ext>
            </a:extLst>
          </p:cNvPr>
          <p:cNvSpPr txBox="1"/>
          <p:nvPr/>
        </p:nvSpPr>
        <p:spPr>
          <a:xfrm>
            <a:off x="571500" y="1248422"/>
            <a:ext cx="10020300" cy="5478423"/>
          </a:xfrm>
          <a:prstGeom prst="rect">
            <a:avLst/>
          </a:prstGeom>
          <a:solidFill>
            <a:schemeClr val="tx1"/>
          </a:solidFill>
        </p:spPr>
        <p:txBody>
          <a:bodyPr wrap="square">
            <a:spAutoFit/>
          </a:bodyPr>
          <a:lstStyle/>
          <a:p>
            <a:pPr>
              <a:buNone/>
            </a:pPr>
            <a:r>
              <a:rPr lang="en-US" altLang="ko-KR" sz="1400" b="0" dirty="0">
                <a:solidFill>
                  <a:srgbClr val="569CD6"/>
                </a:solidFill>
                <a:effectLst/>
                <a:latin typeface="D2Coding" panose="020B0609020101020101" pitchFamily="49" charset="-127"/>
                <a:ea typeface="D2Coding" panose="020B0609020101020101" pitchFamily="49" charset="-127"/>
              </a:rPr>
              <a:t>name</a:t>
            </a: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CE9178"/>
                </a:solidFill>
                <a:effectLst/>
                <a:latin typeface="D2Coding" panose="020B0609020101020101" pitchFamily="49" charset="-127"/>
                <a:ea typeface="D2Coding" panose="020B0609020101020101" pitchFamily="49" charset="-127"/>
              </a:rPr>
              <a:t>Deploy to Hugging Face Spaces</a:t>
            </a: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400" b="0" dirty="0">
                <a:solidFill>
                  <a:srgbClr val="569CD6"/>
                </a:solidFill>
                <a:effectLst/>
                <a:latin typeface="D2Coding" panose="020B0609020101020101" pitchFamily="49" charset="-127"/>
                <a:ea typeface="D2Coding" panose="020B0609020101020101" pitchFamily="49" charset="-127"/>
              </a:rPr>
              <a:t>on</a:t>
            </a:r>
            <a:r>
              <a:rPr lang="en-US" altLang="ko-KR" sz="14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569CD6"/>
                </a:solidFill>
                <a:effectLst/>
                <a:latin typeface="D2Coding" panose="020B0609020101020101" pitchFamily="49" charset="-127"/>
                <a:ea typeface="D2Coding" panose="020B0609020101020101" pitchFamily="49" charset="-127"/>
              </a:rPr>
              <a:t>push</a:t>
            </a:r>
            <a:r>
              <a:rPr lang="en-US" altLang="ko-KR" sz="14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569CD6"/>
                </a:solidFill>
                <a:effectLst/>
                <a:latin typeface="D2Coding" panose="020B0609020101020101" pitchFamily="49" charset="-127"/>
                <a:ea typeface="D2Coding" panose="020B0609020101020101" pitchFamily="49" charset="-127"/>
              </a:rPr>
              <a:t>branches</a:t>
            </a:r>
            <a:r>
              <a:rPr lang="en-US" altLang="ko-KR" sz="14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 </a:t>
            </a:r>
            <a:r>
              <a:rPr lang="en-US" altLang="ko-KR" sz="1400" b="0" dirty="0">
                <a:solidFill>
                  <a:srgbClr val="CE9178"/>
                </a:solidFill>
                <a:effectLst/>
                <a:latin typeface="D2Coding" panose="020B0609020101020101" pitchFamily="49" charset="-127"/>
                <a:ea typeface="D2Coding" panose="020B0609020101020101" pitchFamily="49" charset="-127"/>
              </a:rPr>
              <a:t>main</a:t>
            </a: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400" b="0" dirty="0">
                <a:solidFill>
                  <a:srgbClr val="569CD6"/>
                </a:solidFill>
                <a:effectLst/>
                <a:latin typeface="D2Coding" panose="020B0609020101020101" pitchFamily="49" charset="-127"/>
                <a:ea typeface="D2Coding" panose="020B0609020101020101" pitchFamily="49" charset="-127"/>
              </a:rPr>
              <a:t>jobs</a:t>
            </a:r>
            <a:r>
              <a:rPr lang="en-US" altLang="ko-KR" sz="14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569CD6"/>
                </a:solidFill>
                <a:effectLst/>
                <a:latin typeface="D2Coding" panose="020B0609020101020101" pitchFamily="49" charset="-127"/>
                <a:ea typeface="D2Coding" panose="020B0609020101020101" pitchFamily="49" charset="-127"/>
              </a:rPr>
              <a:t>deploy</a:t>
            </a:r>
            <a:r>
              <a:rPr lang="en-US" altLang="ko-KR" sz="14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569CD6"/>
                </a:solidFill>
                <a:effectLst/>
                <a:latin typeface="D2Coding" panose="020B0609020101020101" pitchFamily="49" charset="-127"/>
                <a:ea typeface="D2Coding" panose="020B0609020101020101" pitchFamily="49" charset="-127"/>
              </a:rPr>
              <a:t>runs-on</a:t>
            </a: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CE9178"/>
                </a:solidFill>
                <a:effectLst/>
                <a:latin typeface="D2Coding" panose="020B0609020101020101" pitchFamily="49" charset="-127"/>
                <a:ea typeface="D2Coding" panose="020B0609020101020101" pitchFamily="49" charset="-127"/>
              </a:rPr>
              <a:t>ubuntu-latest</a:t>
            </a: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569CD6"/>
                </a:solidFill>
                <a:effectLst/>
                <a:latin typeface="D2Coding" panose="020B0609020101020101" pitchFamily="49" charset="-127"/>
                <a:ea typeface="D2Coding" panose="020B0609020101020101" pitchFamily="49" charset="-127"/>
              </a:rPr>
              <a:t>steps</a:t>
            </a:r>
            <a:r>
              <a:rPr lang="en-US" altLang="ko-KR" sz="14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 </a:t>
            </a:r>
            <a:r>
              <a:rPr lang="en-US" altLang="ko-KR" sz="1400" b="0" dirty="0">
                <a:solidFill>
                  <a:srgbClr val="569CD6"/>
                </a:solidFill>
                <a:effectLst/>
                <a:latin typeface="D2Coding" panose="020B0609020101020101" pitchFamily="49" charset="-127"/>
                <a:ea typeface="D2Coding" panose="020B0609020101020101" pitchFamily="49" charset="-127"/>
              </a:rPr>
              <a:t>name</a:t>
            </a: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CE9178"/>
                </a:solidFill>
                <a:effectLst/>
                <a:latin typeface="D2Coding" panose="020B0609020101020101" pitchFamily="49" charset="-127"/>
                <a:ea typeface="D2Coding" panose="020B0609020101020101" pitchFamily="49" charset="-127"/>
              </a:rPr>
              <a:t>Checkout repository</a:t>
            </a: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569CD6"/>
                </a:solidFill>
                <a:effectLst/>
                <a:latin typeface="D2Coding" panose="020B0609020101020101" pitchFamily="49" charset="-127"/>
                <a:ea typeface="D2Coding" panose="020B0609020101020101" pitchFamily="49" charset="-127"/>
              </a:rPr>
              <a:t>uses</a:t>
            </a: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CE9178"/>
                </a:solidFill>
                <a:effectLst/>
                <a:latin typeface="D2Coding" panose="020B0609020101020101" pitchFamily="49" charset="-127"/>
                <a:ea typeface="D2Coding" panose="020B0609020101020101" pitchFamily="49" charset="-127"/>
              </a:rPr>
              <a:t>actions/checkout@v4</a:t>
            </a: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569CD6"/>
                </a:solidFill>
                <a:effectLst/>
                <a:latin typeface="D2Coding" panose="020B0609020101020101" pitchFamily="49" charset="-127"/>
                <a:ea typeface="D2Coding" panose="020B0609020101020101" pitchFamily="49" charset="-127"/>
              </a:rPr>
              <a:t>with</a:t>
            </a:r>
            <a:r>
              <a:rPr lang="en-US" altLang="ko-KR" sz="14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569CD6"/>
                </a:solidFill>
                <a:effectLst/>
                <a:latin typeface="D2Coding" panose="020B0609020101020101" pitchFamily="49" charset="-127"/>
                <a:ea typeface="D2Coding" panose="020B0609020101020101" pitchFamily="49" charset="-127"/>
              </a:rPr>
              <a:t>fetch-depth</a:t>
            </a: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B5CEA8"/>
                </a:solidFill>
                <a:effectLst/>
                <a:latin typeface="D2Coding" panose="020B0609020101020101" pitchFamily="49" charset="-127"/>
                <a:ea typeface="D2Coding" panose="020B0609020101020101" pitchFamily="49" charset="-127"/>
              </a:rPr>
              <a:t>0</a:t>
            </a: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err="1">
                <a:solidFill>
                  <a:srgbClr val="569CD6"/>
                </a:solidFill>
                <a:effectLst/>
                <a:latin typeface="D2Coding" panose="020B0609020101020101" pitchFamily="49" charset="-127"/>
                <a:ea typeface="D2Coding" panose="020B0609020101020101" pitchFamily="49" charset="-127"/>
              </a:rPr>
              <a:t>lfs</a:t>
            </a: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569CD6"/>
                </a:solidFill>
                <a:effectLst/>
                <a:latin typeface="D2Coding" panose="020B0609020101020101" pitchFamily="49" charset="-127"/>
                <a:ea typeface="D2Coding" panose="020B0609020101020101" pitchFamily="49" charset="-127"/>
              </a:rPr>
              <a:t>true</a:t>
            </a: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 </a:t>
            </a:r>
            <a:r>
              <a:rPr lang="en-US" altLang="ko-KR" sz="1400" b="0" dirty="0">
                <a:solidFill>
                  <a:srgbClr val="569CD6"/>
                </a:solidFill>
                <a:effectLst/>
                <a:latin typeface="D2Coding" panose="020B0609020101020101" pitchFamily="49" charset="-127"/>
                <a:ea typeface="D2Coding" panose="020B0609020101020101" pitchFamily="49" charset="-127"/>
              </a:rPr>
              <a:t>name</a:t>
            </a: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CE9178"/>
                </a:solidFill>
                <a:effectLst/>
                <a:latin typeface="D2Coding" panose="020B0609020101020101" pitchFamily="49" charset="-127"/>
                <a:ea typeface="D2Coding" panose="020B0609020101020101" pitchFamily="49" charset="-127"/>
              </a:rPr>
              <a:t>Push to Hugging Face Space</a:t>
            </a: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569CD6"/>
                </a:solidFill>
                <a:effectLst/>
                <a:latin typeface="D2Coding" panose="020B0609020101020101" pitchFamily="49" charset="-127"/>
                <a:ea typeface="D2Coding" panose="020B0609020101020101" pitchFamily="49" charset="-127"/>
              </a:rPr>
              <a:t>env</a:t>
            </a:r>
            <a:r>
              <a:rPr lang="en-US" altLang="ko-KR" sz="14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569CD6"/>
                </a:solidFill>
                <a:effectLst/>
                <a:latin typeface="D2Coding" panose="020B0609020101020101" pitchFamily="49" charset="-127"/>
                <a:ea typeface="D2Coding" panose="020B0609020101020101" pitchFamily="49" charset="-127"/>
              </a:rPr>
              <a:t>HF_TOKEN</a:t>
            </a: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CE9178"/>
                </a:solidFill>
                <a:effectLst/>
                <a:latin typeface="D2Coding" panose="020B0609020101020101" pitchFamily="49" charset="-127"/>
                <a:ea typeface="D2Coding" panose="020B0609020101020101" pitchFamily="49" charset="-127"/>
              </a:rPr>
              <a:t>${{ </a:t>
            </a:r>
            <a:r>
              <a:rPr lang="en-US" altLang="ko-KR" sz="1400" b="0" dirty="0" err="1">
                <a:solidFill>
                  <a:srgbClr val="CE9178"/>
                </a:solidFill>
                <a:effectLst/>
                <a:latin typeface="D2Coding" panose="020B0609020101020101" pitchFamily="49" charset="-127"/>
                <a:ea typeface="D2Coding" panose="020B0609020101020101" pitchFamily="49" charset="-127"/>
              </a:rPr>
              <a:t>secrets.HF_TOKEN</a:t>
            </a:r>
            <a:r>
              <a:rPr lang="en-US" altLang="ko-KR" sz="1400" b="0" dirty="0">
                <a:solidFill>
                  <a:srgbClr val="CE9178"/>
                </a:solidFill>
                <a:effectLst/>
                <a:latin typeface="D2Coding" panose="020B0609020101020101" pitchFamily="49" charset="-127"/>
                <a:ea typeface="D2Coding" panose="020B0609020101020101" pitchFamily="49" charset="-127"/>
              </a:rPr>
              <a:t> }}</a:t>
            </a: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569CD6"/>
                </a:solidFill>
                <a:effectLst/>
                <a:latin typeface="D2Coding" panose="020B0609020101020101" pitchFamily="49" charset="-127"/>
                <a:ea typeface="D2Coding" panose="020B0609020101020101" pitchFamily="49" charset="-127"/>
              </a:rPr>
              <a:t>run</a:t>
            </a: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569CD6"/>
                </a:solidFill>
                <a:effectLst/>
                <a:latin typeface="D2Coding" panose="020B0609020101020101" pitchFamily="49" charset="-127"/>
                <a:ea typeface="D2Coding" panose="020B0609020101020101" pitchFamily="49" charset="-127"/>
              </a:rPr>
              <a:t>|</a:t>
            </a: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CE9178"/>
                </a:solidFill>
                <a:effectLst/>
                <a:latin typeface="D2Coding" panose="020B0609020101020101" pitchFamily="49" charset="-127"/>
                <a:ea typeface="D2Coding" panose="020B0609020101020101" pitchFamily="49" charset="-127"/>
              </a:rPr>
              <a:t>git config --global </a:t>
            </a:r>
            <a:r>
              <a:rPr lang="en-US" altLang="ko-KR" sz="1400" b="0" dirty="0" err="1">
                <a:solidFill>
                  <a:srgbClr val="CE9178"/>
                </a:solidFill>
                <a:effectLst/>
                <a:latin typeface="D2Coding" panose="020B0609020101020101" pitchFamily="49" charset="-127"/>
                <a:ea typeface="D2Coding" panose="020B0609020101020101" pitchFamily="49" charset="-127"/>
              </a:rPr>
              <a:t>user.email</a:t>
            </a:r>
            <a:r>
              <a:rPr lang="en-US" altLang="ko-KR" sz="1400" b="0" dirty="0">
                <a:solidFill>
                  <a:srgbClr val="CE9178"/>
                </a:solidFill>
                <a:effectLst/>
                <a:latin typeface="D2Coding" panose="020B0609020101020101" pitchFamily="49" charset="-127"/>
                <a:ea typeface="D2Coding" panose="020B0609020101020101" pitchFamily="49" charset="-127"/>
              </a:rPr>
              <a:t> "actions@github.com"</a:t>
            </a: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CE9178"/>
                </a:solidFill>
                <a:effectLst/>
                <a:latin typeface="D2Coding" panose="020B0609020101020101" pitchFamily="49" charset="-127"/>
                <a:ea typeface="D2Coding" panose="020B0609020101020101" pitchFamily="49" charset="-127"/>
              </a:rPr>
              <a:t>  git config --global user.name "GitHub Actions"</a:t>
            </a: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CE9178"/>
                </a:solidFill>
                <a:effectLst/>
                <a:latin typeface="D2Coding" panose="020B0609020101020101" pitchFamily="49" charset="-127"/>
                <a:ea typeface="D2Coding" panose="020B0609020101020101" pitchFamily="49" charset="-127"/>
              </a:rPr>
              <a:t>  git remote add space https://user:$HF_TOKEN@huggingface.co/spaces/ancestor9/my-first-gradio-app</a:t>
            </a:r>
            <a:endParaRPr lang="en-US" altLang="ko-KR" sz="14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400" b="0" dirty="0">
                <a:solidFill>
                  <a:srgbClr val="D4D4D4"/>
                </a:solidFill>
                <a:effectLst/>
                <a:latin typeface="D2Coding" panose="020B0609020101020101" pitchFamily="49" charset="-127"/>
                <a:ea typeface="D2Coding" panose="020B0609020101020101" pitchFamily="49" charset="-127"/>
              </a:rPr>
              <a:t>        </a:t>
            </a:r>
            <a:r>
              <a:rPr lang="en-US" altLang="ko-KR" sz="1400" b="0" dirty="0">
                <a:solidFill>
                  <a:srgbClr val="CE9178"/>
                </a:solidFill>
                <a:effectLst/>
                <a:latin typeface="D2Coding" panose="020B0609020101020101" pitchFamily="49" charset="-127"/>
                <a:ea typeface="D2Coding" panose="020B0609020101020101" pitchFamily="49" charset="-127"/>
              </a:rPr>
              <a:t>  git push --force space main</a:t>
            </a:r>
            <a:endParaRPr lang="en-US" altLang="ko-KR" sz="1400" b="0" dirty="0">
              <a:solidFill>
                <a:srgbClr val="D4D4D4"/>
              </a:solidFill>
              <a:effectLst/>
              <a:latin typeface="D2Coding" panose="020B0609020101020101" pitchFamily="49" charset="-127"/>
              <a:ea typeface="D2Coding" panose="020B0609020101020101" pitchFamily="49" charset="-127"/>
            </a:endParaRPr>
          </a:p>
        </p:txBody>
      </p:sp>
      <p:pic>
        <p:nvPicPr>
          <p:cNvPr id="10" name="그래픽 9" descr="수영">
            <a:extLst>
              <a:ext uri="{FF2B5EF4-FFF2-40B4-BE49-F238E27FC236}">
                <a16:creationId xmlns:a16="http://schemas.microsoft.com/office/drawing/2014/main" id="{1FCC6A42-2846-6649-9444-F493371813D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spTree>
    <p:extLst>
      <p:ext uri="{BB962C8B-B14F-4D97-AF65-F5344CB8AC3E}">
        <p14:creationId xmlns:p14="http://schemas.microsoft.com/office/powerpoint/2010/main" val="16624224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40BBE-3BED-8702-F3E1-32B1EF4B435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58B3D03-9960-6D7D-8CE3-BAC50D3E217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Readme.md</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565D2030-8F27-04B4-FDF0-BCBAF56618A0}"/>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1D283702-3058-8EAB-4AA6-37099308AF60}"/>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27</a:t>
            </a:fld>
            <a:endParaRPr lang="en-US" b="1" dirty="0">
              <a:latin typeface="Segoe UI Emoji" panose="020B0502040204020203" pitchFamily="34" charset="0"/>
              <a:ea typeface="Segoe UI Emoji" panose="020B0502040204020203" pitchFamily="34" charset="0"/>
            </a:endParaRPr>
          </a:p>
        </p:txBody>
      </p:sp>
      <p:sp>
        <p:nvSpPr>
          <p:cNvPr id="5" name="TextBox 4">
            <a:extLst>
              <a:ext uri="{FF2B5EF4-FFF2-40B4-BE49-F238E27FC236}">
                <a16:creationId xmlns:a16="http://schemas.microsoft.com/office/drawing/2014/main" id="{23AB97C6-46E6-C890-7A8F-812E312570AA}"/>
              </a:ext>
            </a:extLst>
          </p:cNvPr>
          <p:cNvSpPr txBox="1"/>
          <p:nvPr/>
        </p:nvSpPr>
        <p:spPr>
          <a:xfrm>
            <a:off x="1386423" y="1514207"/>
            <a:ext cx="6462178" cy="4620304"/>
          </a:xfrm>
          <a:prstGeom prst="rect">
            <a:avLst/>
          </a:prstGeom>
          <a:solidFill>
            <a:schemeClr val="tx1"/>
          </a:solidFill>
        </p:spPr>
        <p:txBody>
          <a:bodyPr wrap="square">
            <a:spAutoFit/>
          </a:bodyPr>
          <a:lstStyle/>
          <a:p>
            <a:pPr>
              <a:lnSpc>
                <a:spcPct val="150000"/>
              </a:lnSpc>
              <a:buNone/>
            </a:pPr>
            <a:r>
              <a:rPr lang="en-US" altLang="ko-KR" b="0" dirty="0">
                <a:solidFill>
                  <a:srgbClr val="D4D4D4"/>
                </a:solidFill>
                <a:effectLst/>
                <a:latin typeface="D2Coding" panose="020B0609020101020101" pitchFamily="49" charset="-127"/>
                <a:ea typeface="D2Coding" panose="020B0609020101020101" pitchFamily="49" charset="-127"/>
              </a:rPr>
              <a:t>---</a:t>
            </a:r>
          </a:p>
          <a:p>
            <a:pPr>
              <a:lnSpc>
                <a:spcPct val="150000"/>
              </a:lnSpc>
              <a:buNone/>
            </a:pPr>
            <a:r>
              <a:rPr lang="en-US" altLang="ko-KR" b="0" dirty="0">
                <a:solidFill>
                  <a:srgbClr val="569CD6"/>
                </a:solidFill>
                <a:effectLst/>
                <a:latin typeface="D2Coding" panose="020B0609020101020101" pitchFamily="49" charset="-127"/>
                <a:ea typeface="D2Coding" panose="020B0609020101020101" pitchFamily="49" charset="-127"/>
              </a:rPr>
              <a:t>title</a:t>
            </a:r>
            <a:r>
              <a:rPr lang="en-US" altLang="ko-KR" b="0" dirty="0">
                <a:solidFill>
                  <a:srgbClr val="D4D4D4"/>
                </a:solidFill>
                <a:effectLst/>
                <a:latin typeface="D2Coding" panose="020B0609020101020101" pitchFamily="49" charset="-127"/>
                <a:ea typeface="D2Coding" panose="020B0609020101020101" pitchFamily="49" charset="-127"/>
              </a:rPr>
              <a:t>: </a:t>
            </a:r>
            <a:r>
              <a:rPr lang="en-US" altLang="ko-KR" b="0" dirty="0">
                <a:solidFill>
                  <a:srgbClr val="CE9178"/>
                </a:solidFill>
                <a:effectLst/>
                <a:latin typeface="D2Coding" panose="020B0609020101020101" pitchFamily="49" charset="-127"/>
                <a:ea typeface="D2Coding" panose="020B0609020101020101" pitchFamily="49" charset="-127"/>
              </a:rPr>
              <a:t>My First </a:t>
            </a:r>
            <a:r>
              <a:rPr lang="en-US" altLang="ko-KR" b="0" dirty="0" err="1">
                <a:solidFill>
                  <a:srgbClr val="CE9178"/>
                </a:solidFill>
                <a:effectLst/>
                <a:latin typeface="D2Coding" panose="020B0609020101020101" pitchFamily="49" charset="-127"/>
                <a:ea typeface="D2Coding" panose="020B0609020101020101" pitchFamily="49" charset="-127"/>
              </a:rPr>
              <a:t>Gradio</a:t>
            </a:r>
            <a:r>
              <a:rPr lang="en-US" altLang="ko-KR" b="0" dirty="0">
                <a:solidFill>
                  <a:srgbClr val="CE9178"/>
                </a:solidFill>
                <a:effectLst/>
                <a:latin typeface="D2Coding" panose="020B0609020101020101" pitchFamily="49" charset="-127"/>
                <a:ea typeface="D2Coding" panose="020B0609020101020101" pitchFamily="49" charset="-127"/>
              </a:rPr>
              <a:t> App</a:t>
            </a:r>
            <a:endParaRPr lang="en-US" altLang="ko-KR" b="0" dirty="0">
              <a:solidFill>
                <a:srgbClr val="D4D4D4"/>
              </a:solidFill>
              <a:effectLst/>
              <a:latin typeface="D2Coding" panose="020B0609020101020101" pitchFamily="49" charset="-127"/>
              <a:ea typeface="D2Coding" panose="020B0609020101020101" pitchFamily="49" charset="-127"/>
            </a:endParaRPr>
          </a:p>
          <a:p>
            <a:pPr>
              <a:lnSpc>
                <a:spcPct val="150000"/>
              </a:lnSpc>
              <a:buNone/>
            </a:pPr>
            <a:r>
              <a:rPr lang="en-US" altLang="ko-KR" b="0" dirty="0">
                <a:solidFill>
                  <a:srgbClr val="569CD6"/>
                </a:solidFill>
                <a:effectLst/>
                <a:latin typeface="D2Coding" panose="020B0609020101020101" pitchFamily="49" charset="-127"/>
                <a:ea typeface="D2Coding" panose="020B0609020101020101" pitchFamily="49" charset="-127"/>
              </a:rPr>
              <a:t>emoji</a:t>
            </a:r>
            <a:r>
              <a:rPr lang="en-US" altLang="ko-KR" b="0" dirty="0">
                <a:solidFill>
                  <a:srgbClr val="D4D4D4"/>
                </a:solidFill>
                <a:effectLst/>
                <a:latin typeface="D2Coding" panose="020B0609020101020101" pitchFamily="49" charset="-127"/>
                <a:ea typeface="D2Coding" panose="020B0609020101020101" pitchFamily="49" charset="-127"/>
              </a:rPr>
              <a:t>: </a:t>
            </a:r>
            <a:r>
              <a:rPr lang="ko-KR" altLang="en-US" b="0" dirty="0">
                <a:solidFill>
                  <a:srgbClr val="CE9178"/>
                </a:solidFill>
                <a:effectLst/>
                <a:latin typeface="D2Coding" panose="020B0609020101020101" pitchFamily="49" charset="-127"/>
                <a:ea typeface="D2Coding" panose="020B0609020101020101" pitchFamily="49" charset="-127"/>
              </a:rPr>
              <a:t>🚀</a:t>
            </a:r>
            <a:endParaRPr lang="ko-KR" altLang="en-US" b="0" dirty="0">
              <a:solidFill>
                <a:srgbClr val="D4D4D4"/>
              </a:solidFill>
              <a:effectLst/>
              <a:latin typeface="D2Coding" panose="020B0609020101020101" pitchFamily="49" charset="-127"/>
              <a:ea typeface="D2Coding" panose="020B0609020101020101" pitchFamily="49" charset="-127"/>
            </a:endParaRPr>
          </a:p>
          <a:p>
            <a:pPr>
              <a:lnSpc>
                <a:spcPct val="150000"/>
              </a:lnSpc>
              <a:buNone/>
            </a:pPr>
            <a:r>
              <a:rPr lang="en-US" altLang="ko-KR" b="0" dirty="0" err="1">
                <a:solidFill>
                  <a:srgbClr val="569CD6"/>
                </a:solidFill>
                <a:effectLst/>
                <a:latin typeface="D2Coding" panose="020B0609020101020101" pitchFamily="49" charset="-127"/>
                <a:ea typeface="D2Coding" panose="020B0609020101020101" pitchFamily="49" charset="-127"/>
              </a:rPr>
              <a:t>colorFrom</a:t>
            </a:r>
            <a:r>
              <a:rPr lang="en-US" altLang="ko-KR" b="0" dirty="0">
                <a:solidFill>
                  <a:srgbClr val="D4D4D4"/>
                </a:solidFill>
                <a:effectLst/>
                <a:latin typeface="D2Coding" panose="020B0609020101020101" pitchFamily="49" charset="-127"/>
                <a:ea typeface="D2Coding" panose="020B0609020101020101" pitchFamily="49" charset="-127"/>
              </a:rPr>
              <a:t>: </a:t>
            </a:r>
            <a:r>
              <a:rPr lang="en-US" altLang="ko-KR" b="0" dirty="0">
                <a:solidFill>
                  <a:srgbClr val="CE9178"/>
                </a:solidFill>
                <a:effectLst/>
                <a:latin typeface="D2Coding" panose="020B0609020101020101" pitchFamily="49" charset="-127"/>
                <a:ea typeface="D2Coding" panose="020B0609020101020101" pitchFamily="49" charset="-127"/>
              </a:rPr>
              <a:t>blue</a:t>
            </a:r>
            <a:endParaRPr lang="en-US" altLang="ko-KR" b="0" dirty="0">
              <a:solidFill>
                <a:srgbClr val="D4D4D4"/>
              </a:solidFill>
              <a:effectLst/>
              <a:latin typeface="D2Coding" panose="020B0609020101020101" pitchFamily="49" charset="-127"/>
              <a:ea typeface="D2Coding" panose="020B0609020101020101" pitchFamily="49" charset="-127"/>
            </a:endParaRPr>
          </a:p>
          <a:p>
            <a:pPr>
              <a:lnSpc>
                <a:spcPct val="150000"/>
              </a:lnSpc>
              <a:buNone/>
            </a:pPr>
            <a:r>
              <a:rPr lang="en-US" altLang="ko-KR" b="0" dirty="0" err="1">
                <a:solidFill>
                  <a:srgbClr val="569CD6"/>
                </a:solidFill>
                <a:effectLst/>
                <a:latin typeface="D2Coding" panose="020B0609020101020101" pitchFamily="49" charset="-127"/>
                <a:ea typeface="D2Coding" panose="020B0609020101020101" pitchFamily="49" charset="-127"/>
              </a:rPr>
              <a:t>colorTo</a:t>
            </a:r>
            <a:r>
              <a:rPr lang="en-US" altLang="ko-KR" b="0" dirty="0">
                <a:solidFill>
                  <a:srgbClr val="D4D4D4"/>
                </a:solidFill>
                <a:effectLst/>
                <a:latin typeface="D2Coding" panose="020B0609020101020101" pitchFamily="49" charset="-127"/>
                <a:ea typeface="D2Coding" panose="020B0609020101020101" pitchFamily="49" charset="-127"/>
              </a:rPr>
              <a:t>: </a:t>
            </a:r>
            <a:r>
              <a:rPr lang="en-US" altLang="ko-KR" b="0" dirty="0">
                <a:solidFill>
                  <a:srgbClr val="CE9178"/>
                </a:solidFill>
                <a:effectLst/>
                <a:latin typeface="D2Coding" panose="020B0609020101020101" pitchFamily="49" charset="-127"/>
                <a:ea typeface="D2Coding" panose="020B0609020101020101" pitchFamily="49" charset="-127"/>
              </a:rPr>
              <a:t>green</a:t>
            </a:r>
            <a:endParaRPr lang="en-US" altLang="ko-KR" b="0" dirty="0">
              <a:solidFill>
                <a:srgbClr val="D4D4D4"/>
              </a:solidFill>
              <a:effectLst/>
              <a:latin typeface="D2Coding" panose="020B0609020101020101" pitchFamily="49" charset="-127"/>
              <a:ea typeface="D2Coding" panose="020B0609020101020101" pitchFamily="49" charset="-127"/>
            </a:endParaRPr>
          </a:p>
          <a:p>
            <a:pPr>
              <a:lnSpc>
                <a:spcPct val="150000"/>
              </a:lnSpc>
              <a:buNone/>
            </a:pPr>
            <a:r>
              <a:rPr lang="en-US" altLang="ko-KR" b="0" dirty="0" err="1">
                <a:solidFill>
                  <a:srgbClr val="569CD6"/>
                </a:solidFill>
                <a:effectLst/>
                <a:latin typeface="D2Coding" panose="020B0609020101020101" pitchFamily="49" charset="-127"/>
                <a:ea typeface="D2Coding" panose="020B0609020101020101" pitchFamily="49" charset="-127"/>
              </a:rPr>
              <a:t>sdk</a:t>
            </a:r>
            <a:r>
              <a:rPr lang="en-US" altLang="ko-KR" b="0" dirty="0">
                <a:solidFill>
                  <a:srgbClr val="D4D4D4"/>
                </a:solidFill>
                <a:effectLst/>
                <a:latin typeface="D2Coding" panose="020B0609020101020101" pitchFamily="49" charset="-127"/>
                <a:ea typeface="D2Coding" panose="020B0609020101020101" pitchFamily="49" charset="-127"/>
              </a:rPr>
              <a:t>: </a:t>
            </a:r>
            <a:r>
              <a:rPr lang="en-US" altLang="ko-KR" b="0" dirty="0" err="1">
                <a:solidFill>
                  <a:srgbClr val="CE9178"/>
                </a:solidFill>
                <a:effectLst/>
                <a:latin typeface="D2Coding" panose="020B0609020101020101" pitchFamily="49" charset="-127"/>
                <a:ea typeface="D2Coding" panose="020B0609020101020101" pitchFamily="49" charset="-127"/>
              </a:rPr>
              <a:t>gradio</a:t>
            </a:r>
            <a:endParaRPr lang="en-US" altLang="ko-KR" b="0" dirty="0">
              <a:solidFill>
                <a:srgbClr val="D4D4D4"/>
              </a:solidFill>
              <a:effectLst/>
              <a:latin typeface="D2Coding" panose="020B0609020101020101" pitchFamily="49" charset="-127"/>
              <a:ea typeface="D2Coding" panose="020B0609020101020101" pitchFamily="49" charset="-127"/>
            </a:endParaRPr>
          </a:p>
          <a:p>
            <a:pPr>
              <a:lnSpc>
                <a:spcPct val="150000"/>
              </a:lnSpc>
              <a:buNone/>
            </a:pPr>
            <a:r>
              <a:rPr lang="en-US" altLang="ko-KR" b="0" dirty="0" err="1">
                <a:solidFill>
                  <a:srgbClr val="569CD6"/>
                </a:solidFill>
                <a:effectLst/>
                <a:latin typeface="D2Coding" panose="020B0609020101020101" pitchFamily="49" charset="-127"/>
                <a:ea typeface="D2Coding" panose="020B0609020101020101" pitchFamily="49" charset="-127"/>
              </a:rPr>
              <a:t>sdk_version</a:t>
            </a:r>
            <a:r>
              <a:rPr lang="en-US" altLang="ko-KR" b="0" dirty="0">
                <a:solidFill>
                  <a:srgbClr val="D4D4D4"/>
                </a:solidFill>
                <a:effectLst/>
                <a:latin typeface="D2Coding" panose="020B0609020101020101" pitchFamily="49" charset="-127"/>
                <a:ea typeface="D2Coding" panose="020B0609020101020101" pitchFamily="49" charset="-127"/>
              </a:rPr>
              <a:t>: </a:t>
            </a:r>
            <a:r>
              <a:rPr lang="en-US" altLang="ko-KR" b="0" dirty="0">
                <a:solidFill>
                  <a:srgbClr val="CE9178"/>
                </a:solidFill>
                <a:effectLst/>
                <a:latin typeface="D2Coding" panose="020B0609020101020101" pitchFamily="49" charset="-127"/>
                <a:ea typeface="D2Coding" panose="020B0609020101020101" pitchFamily="49" charset="-127"/>
              </a:rPr>
              <a:t>6.21.0</a:t>
            </a:r>
            <a:endParaRPr lang="en-US" altLang="ko-KR" b="0" dirty="0">
              <a:solidFill>
                <a:srgbClr val="D4D4D4"/>
              </a:solidFill>
              <a:effectLst/>
              <a:latin typeface="D2Coding" panose="020B0609020101020101" pitchFamily="49" charset="-127"/>
              <a:ea typeface="D2Coding" panose="020B0609020101020101" pitchFamily="49" charset="-127"/>
            </a:endParaRPr>
          </a:p>
          <a:p>
            <a:pPr>
              <a:lnSpc>
                <a:spcPct val="150000"/>
              </a:lnSpc>
              <a:buNone/>
            </a:pPr>
            <a:r>
              <a:rPr lang="en-US" altLang="ko-KR" b="0" dirty="0" err="1">
                <a:solidFill>
                  <a:srgbClr val="569CD6"/>
                </a:solidFill>
                <a:effectLst/>
                <a:latin typeface="D2Coding" panose="020B0609020101020101" pitchFamily="49" charset="-127"/>
                <a:ea typeface="D2Coding" panose="020B0609020101020101" pitchFamily="49" charset="-127"/>
              </a:rPr>
              <a:t>app_file</a:t>
            </a:r>
            <a:r>
              <a:rPr lang="en-US" altLang="ko-KR" b="0" dirty="0">
                <a:solidFill>
                  <a:srgbClr val="D4D4D4"/>
                </a:solidFill>
                <a:effectLst/>
                <a:latin typeface="D2Coding" panose="020B0609020101020101" pitchFamily="49" charset="-127"/>
                <a:ea typeface="D2Coding" panose="020B0609020101020101" pitchFamily="49" charset="-127"/>
              </a:rPr>
              <a:t>: </a:t>
            </a:r>
            <a:r>
              <a:rPr lang="en-US" altLang="ko-KR" b="0" dirty="0">
                <a:solidFill>
                  <a:srgbClr val="CE9178"/>
                </a:solidFill>
                <a:effectLst/>
                <a:latin typeface="D2Coding" panose="020B0609020101020101" pitchFamily="49" charset="-127"/>
                <a:ea typeface="D2Coding" panose="020B0609020101020101" pitchFamily="49" charset="-127"/>
              </a:rPr>
              <a:t>app.py</a:t>
            </a:r>
            <a:endParaRPr lang="en-US" altLang="ko-KR" b="0" dirty="0">
              <a:solidFill>
                <a:srgbClr val="D4D4D4"/>
              </a:solidFill>
              <a:effectLst/>
              <a:latin typeface="D2Coding" panose="020B0609020101020101" pitchFamily="49" charset="-127"/>
              <a:ea typeface="D2Coding" panose="020B0609020101020101" pitchFamily="49" charset="-127"/>
            </a:endParaRPr>
          </a:p>
          <a:p>
            <a:pPr>
              <a:lnSpc>
                <a:spcPct val="150000"/>
              </a:lnSpc>
              <a:buNone/>
            </a:pPr>
            <a:r>
              <a:rPr lang="en-US" altLang="ko-KR" b="0" dirty="0">
                <a:solidFill>
                  <a:srgbClr val="569CD6"/>
                </a:solidFill>
                <a:effectLst/>
                <a:latin typeface="D2Coding" panose="020B0609020101020101" pitchFamily="49" charset="-127"/>
                <a:ea typeface="D2Coding" panose="020B0609020101020101" pitchFamily="49" charset="-127"/>
              </a:rPr>
              <a:t>pinned</a:t>
            </a:r>
            <a:r>
              <a:rPr lang="en-US" altLang="ko-KR" b="0" dirty="0">
                <a:solidFill>
                  <a:srgbClr val="D4D4D4"/>
                </a:solidFill>
                <a:effectLst/>
                <a:latin typeface="D2Coding" panose="020B0609020101020101" pitchFamily="49" charset="-127"/>
                <a:ea typeface="D2Coding" panose="020B0609020101020101" pitchFamily="49" charset="-127"/>
              </a:rPr>
              <a:t>: </a:t>
            </a:r>
            <a:r>
              <a:rPr lang="en-US" altLang="ko-KR" b="0" dirty="0">
                <a:solidFill>
                  <a:srgbClr val="569CD6"/>
                </a:solidFill>
                <a:effectLst/>
                <a:latin typeface="D2Coding" panose="020B0609020101020101" pitchFamily="49" charset="-127"/>
                <a:ea typeface="D2Coding" panose="020B0609020101020101" pitchFamily="49" charset="-127"/>
              </a:rPr>
              <a:t>false</a:t>
            </a:r>
            <a:endParaRPr lang="en-US" altLang="ko-KR" b="0" dirty="0">
              <a:solidFill>
                <a:srgbClr val="D4D4D4"/>
              </a:solidFill>
              <a:effectLst/>
              <a:latin typeface="D2Coding" panose="020B0609020101020101" pitchFamily="49" charset="-127"/>
              <a:ea typeface="D2Coding" panose="020B0609020101020101" pitchFamily="49" charset="-127"/>
            </a:endParaRPr>
          </a:p>
          <a:p>
            <a:pPr>
              <a:lnSpc>
                <a:spcPct val="150000"/>
              </a:lnSpc>
              <a:buNone/>
            </a:pPr>
            <a:r>
              <a:rPr lang="en-US" altLang="ko-KR" b="0" dirty="0">
                <a:solidFill>
                  <a:srgbClr val="D4D4D4"/>
                </a:solidFill>
                <a:effectLst/>
                <a:latin typeface="D2Coding" panose="020B0609020101020101" pitchFamily="49" charset="-127"/>
                <a:ea typeface="D2Coding" panose="020B0609020101020101" pitchFamily="49" charset="-127"/>
              </a:rPr>
              <a:t>---</a:t>
            </a:r>
          </a:p>
          <a:p>
            <a:pPr>
              <a:lnSpc>
                <a:spcPct val="150000"/>
              </a:lnSpc>
              <a:buNone/>
            </a:pPr>
            <a:r>
              <a:rPr lang="ko-KR" altLang="en-US" b="0" dirty="0">
                <a:solidFill>
                  <a:srgbClr val="D4D4D4"/>
                </a:solidFill>
                <a:effectLst/>
                <a:latin typeface="D2Coding" panose="020B0609020101020101" pitchFamily="49" charset="-127"/>
                <a:ea typeface="D2Coding" panose="020B0609020101020101" pitchFamily="49" charset="-127"/>
              </a:rPr>
              <a:t>간단한 </a:t>
            </a:r>
            <a:r>
              <a:rPr lang="en-US" altLang="ko-KR" b="0" dirty="0" err="1">
                <a:solidFill>
                  <a:srgbClr val="D4D4D4"/>
                </a:solidFill>
                <a:effectLst/>
                <a:latin typeface="D2Coding" panose="020B0609020101020101" pitchFamily="49" charset="-127"/>
                <a:ea typeface="D2Coding" panose="020B0609020101020101" pitchFamily="49" charset="-127"/>
              </a:rPr>
              <a:t>Gradio</a:t>
            </a:r>
            <a:r>
              <a:rPr lang="en-US" altLang="ko-KR" b="0" dirty="0">
                <a:solidFill>
                  <a:srgbClr val="D4D4D4"/>
                </a:solidFill>
                <a:effectLst/>
                <a:latin typeface="D2Coding" panose="020B0609020101020101" pitchFamily="49" charset="-127"/>
                <a:ea typeface="D2Coding" panose="020B0609020101020101" pitchFamily="49" charset="-127"/>
              </a:rPr>
              <a:t> </a:t>
            </a:r>
            <a:r>
              <a:rPr lang="ko-KR" altLang="en-US" b="0" dirty="0">
                <a:solidFill>
                  <a:srgbClr val="D4D4D4"/>
                </a:solidFill>
                <a:effectLst/>
                <a:latin typeface="D2Coding" panose="020B0609020101020101" pitchFamily="49" charset="-127"/>
                <a:ea typeface="D2Coding" panose="020B0609020101020101" pitchFamily="49" charset="-127"/>
              </a:rPr>
              <a:t>인터페이스 예제입니다</a:t>
            </a:r>
            <a:r>
              <a:rPr lang="en-US" altLang="ko-KR" b="0" dirty="0">
                <a:solidFill>
                  <a:srgbClr val="D4D4D4"/>
                </a:solidFill>
                <a:effectLst/>
                <a:latin typeface="D2Coding" panose="020B0609020101020101" pitchFamily="49" charset="-127"/>
                <a:ea typeface="D2Coding" panose="020B0609020101020101" pitchFamily="49" charset="-127"/>
              </a:rPr>
              <a:t>.</a:t>
            </a:r>
          </a:p>
        </p:txBody>
      </p:sp>
      <p:pic>
        <p:nvPicPr>
          <p:cNvPr id="6" name="그래픽 5" descr="수영">
            <a:extLst>
              <a:ext uri="{FF2B5EF4-FFF2-40B4-BE49-F238E27FC236}">
                <a16:creationId xmlns:a16="http://schemas.microsoft.com/office/drawing/2014/main" id="{3F0788F6-5895-75ED-17B6-3C8A2C2F036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spTree>
    <p:extLst>
      <p:ext uri="{BB962C8B-B14F-4D97-AF65-F5344CB8AC3E}">
        <p14:creationId xmlns:p14="http://schemas.microsoft.com/office/powerpoint/2010/main" val="29537470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3DC86-0CC8-A417-F58C-22184A0B4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EA4143-A38E-0CD8-6467-5120CDAC98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requirements.txt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69BBD02E-46E6-2C5A-1B01-B09188AFCCA0}"/>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2522C5B0-A438-DC35-9FFE-74C8EABCDBB0}"/>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28</a:t>
            </a:fld>
            <a:endParaRPr lang="en-US" b="1" dirty="0">
              <a:latin typeface="Segoe UI Emoji" panose="020B0502040204020203" pitchFamily="34" charset="0"/>
              <a:ea typeface="Segoe UI Emoji" panose="020B0502040204020203" pitchFamily="34" charset="0"/>
            </a:endParaRPr>
          </a:p>
        </p:txBody>
      </p:sp>
      <p:sp>
        <p:nvSpPr>
          <p:cNvPr id="6" name="TextBox 5">
            <a:extLst>
              <a:ext uri="{FF2B5EF4-FFF2-40B4-BE49-F238E27FC236}">
                <a16:creationId xmlns:a16="http://schemas.microsoft.com/office/drawing/2014/main" id="{8E7C320F-5ABD-04AC-F949-ED05A186ABF8}"/>
              </a:ext>
            </a:extLst>
          </p:cNvPr>
          <p:cNvSpPr txBox="1"/>
          <p:nvPr/>
        </p:nvSpPr>
        <p:spPr>
          <a:xfrm>
            <a:off x="619990" y="1434334"/>
            <a:ext cx="3000665" cy="286360"/>
          </a:xfrm>
          <a:prstGeom prst="rect">
            <a:avLst/>
          </a:prstGeom>
          <a:solidFill>
            <a:schemeClr val="tx1"/>
          </a:solidFill>
        </p:spPr>
        <p:txBody>
          <a:bodyPr wrap="square">
            <a:spAutoFit/>
          </a:bodyPr>
          <a:lstStyle/>
          <a:p>
            <a:pPr>
              <a:lnSpc>
                <a:spcPts val="1425"/>
              </a:lnSpc>
              <a:buNone/>
            </a:pPr>
            <a:r>
              <a:rPr lang="en-US" altLang="ko-KR" b="0" dirty="0" err="1">
                <a:solidFill>
                  <a:srgbClr val="D4D4D4"/>
                </a:solidFill>
                <a:effectLst/>
                <a:latin typeface="D2Coding" panose="020B0609020101020101" pitchFamily="49" charset="-127"/>
                <a:ea typeface="D2Coding" panose="020B0609020101020101" pitchFamily="49" charset="-127"/>
              </a:rPr>
              <a:t>gradio</a:t>
            </a:r>
            <a:r>
              <a:rPr lang="en-US" altLang="ko-KR" b="0" dirty="0">
                <a:solidFill>
                  <a:srgbClr val="D4D4D4"/>
                </a:solidFill>
                <a:effectLst/>
                <a:latin typeface="D2Coding" panose="020B0609020101020101" pitchFamily="49" charset="-127"/>
                <a:ea typeface="D2Coding" panose="020B0609020101020101" pitchFamily="49" charset="-127"/>
              </a:rPr>
              <a:t> == </a:t>
            </a:r>
            <a:r>
              <a:rPr lang="en-US" altLang="ko-KR" b="0" dirty="0">
                <a:solidFill>
                  <a:srgbClr val="B5CEA8"/>
                </a:solidFill>
                <a:effectLst/>
                <a:latin typeface="D2Coding" panose="020B0609020101020101" pitchFamily="49" charset="-127"/>
                <a:ea typeface="D2Coding" panose="020B0609020101020101" pitchFamily="49" charset="-127"/>
              </a:rPr>
              <a:t>6.21.0</a:t>
            </a:r>
            <a:endParaRPr lang="en-US" altLang="ko-KR" b="0" dirty="0">
              <a:solidFill>
                <a:srgbClr val="D4D4D4"/>
              </a:solidFill>
              <a:effectLst/>
              <a:latin typeface="D2Coding" panose="020B0609020101020101" pitchFamily="49" charset="-127"/>
              <a:ea typeface="D2Coding" panose="020B0609020101020101" pitchFamily="49" charset="-127"/>
            </a:endParaRPr>
          </a:p>
        </p:txBody>
      </p:sp>
      <p:pic>
        <p:nvPicPr>
          <p:cNvPr id="7" name="그래픽 6" descr="수영">
            <a:extLst>
              <a:ext uri="{FF2B5EF4-FFF2-40B4-BE49-F238E27FC236}">
                <a16:creationId xmlns:a16="http://schemas.microsoft.com/office/drawing/2014/main" id="{32BE3742-7138-BA32-BC09-60BCA80E695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pic>
        <p:nvPicPr>
          <p:cNvPr id="5" name="그림 4">
            <a:extLst>
              <a:ext uri="{FF2B5EF4-FFF2-40B4-BE49-F238E27FC236}">
                <a16:creationId xmlns:a16="http://schemas.microsoft.com/office/drawing/2014/main" id="{7B8D1BFE-2EB6-9044-65B2-6B73838705D5}"/>
              </a:ext>
            </a:extLst>
          </p:cNvPr>
          <p:cNvPicPr>
            <a:picLocks noChangeAspect="1"/>
          </p:cNvPicPr>
          <p:nvPr/>
        </p:nvPicPr>
        <p:blipFill>
          <a:blip r:embed="rId3"/>
          <a:stretch>
            <a:fillRect/>
          </a:stretch>
        </p:blipFill>
        <p:spPr>
          <a:xfrm>
            <a:off x="4182001" y="1434334"/>
            <a:ext cx="6217652" cy="5075382"/>
          </a:xfrm>
          <a:prstGeom prst="rect">
            <a:avLst/>
          </a:prstGeom>
        </p:spPr>
      </p:pic>
    </p:spTree>
    <p:extLst>
      <p:ext uri="{BB962C8B-B14F-4D97-AF65-F5344CB8AC3E}">
        <p14:creationId xmlns:p14="http://schemas.microsoft.com/office/powerpoint/2010/main" val="14523213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844CB-6DCE-F00B-D70A-845D2EEFC63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CEE76A4-13E6-CE66-4BA6-0D232D13D31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Readme.md</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9467E555-8DEE-B4CC-ABE8-9B64A1FBF393}"/>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A5B52623-F24E-2E31-29C1-DE65F09A7A9D}"/>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29</a:t>
            </a:fld>
            <a:endParaRPr lang="en-US" b="1" dirty="0">
              <a:latin typeface="Segoe UI Emoji" panose="020B0502040204020203" pitchFamily="34" charset="0"/>
              <a:ea typeface="Segoe UI Emoji" panose="020B0502040204020203" pitchFamily="34" charset="0"/>
            </a:endParaRPr>
          </a:p>
        </p:txBody>
      </p:sp>
      <p:sp>
        <p:nvSpPr>
          <p:cNvPr id="6" name="TextBox 5">
            <a:extLst>
              <a:ext uri="{FF2B5EF4-FFF2-40B4-BE49-F238E27FC236}">
                <a16:creationId xmlns:a16="http://schemas.microsoft.com/office/drawing/2014/main" id="{BD8ECEDC-1BC8-6143-B155-63D4DB892953}"/>
              </a:ext>
            </a:extLst>
          </p:cNvPr>
          <p:cNvSpPr txBox="1"/>
          <p:nvPr/>
        </p:nvSpPr>
        <p:spPr>
          <a:xfrm>
            <a:off x="744020" y="1334482"/>
            <a:ext cx="8668355" cy="5262979"/>
          </a:xfrm>
          <a:prstGeom prst="rect">
            <a:avLst/>
          </a:prstGeom>
          <a:solidFill>
            <a:schemeClr val="tx1"/>
          </a:solidFill>
        </p:spPr>
        <p:txBody>
          <a:bodyPr wrap="square">
            <a:spAutoFit/>
          </a:bodyPr>
          <a:lstStyle/>
          <a:p>
            <a:pPr>
              <a:buNone/>
            </a:pPr>
            <a:r>
              <a:rPr lang="en-US" altLang="ko-KR" sz="1600" b="0" dirty="0">
                <a:solidFill>
                  <a:srgbClr val="569CD6"/>
                </a:solidFill>
                <a:effectLst/>
                <a:latin typeface="D2Coding" panose="020B0609020101020101" pitchFamily="49" charset="-127"/>
                <a:ea typeface="D2Coding" panose="020B0609020101020101" pitchFamily="49" charset="-127"/>
              </a:rPr>
              <a:t>import</a:t>
            </a:r>
            <a:r>
              <a:rPr lang="en-US" altLang="ko-KR" sz="1600" b="0" dirty="0">
                <a:solidFill>
                  <a:srgbClr val="D4D4D4"/>
                </a:solidFill>
                <a:effectLst/>
                <a:latin typeface="D2Coding" panose="020B0609020101020101" pitchFamily="49" charset="-127"/>
                <a:ea typeface="D2Coding" panose="020B0609020101020101" pitchFamily="49" charset="-127"/>
              </a:rPr>
              <a:t> </a:t>
            </a:r>
            <a:r>
              <a:rPr lang="en-US" altLang="ko-KR" sz="1600" b="0" dirty="0" err="1">
                <a:solidFill>
                  <a:srgbClr val="D4D4D4"/>
                </a:solidFill>
                <a:effectLst/>
                <a:latin typeface="D2Coding" panose="020B0609020101020101" pitchFamily="49" charset="-127"/>
                <a:ea typeface="D2Coding" panose="020B0609020101020101" pitchFamily="49" charset="-127"/>
              </a:rPr>
              <a:t>gradio</a:t>
            </a:r>
            <a:r>
              <a:rPr lang="en-US" altLang="ko-KR" sz="1600" b="0" dirty="0">
                <a:solidFill>
                  <a:srgbClr val="D4D4D4"/>
                </a:solidFill>
                <a:effectLst/>
                <a:latin typeface="D2Coding" panose="020B0609020101020101" pitchFamily="49" charset="-127"/>
                <a:ea typeface="D2Coding" panose="020B0609020101020101" pitchFamily="49" charset="-127"/>
              </a:rPr>
              <a:t> </a:t>
            </a:r>
            <a:r>
              <a:rPr lang="en-US" altLang="ko-KR" sz="1600" b="0" dirty="0">
                <a:solidFill>
                  <a:srgbClr val="569CD6"/>
                </a:solidFill>
                <a:effectLst/>
                <a:latin typeface="D2Coding" panose="020B0609020101020101" pitchFamily="49" charset="-127"/>
                <a:ea typeface="D2Coding" panose="020B0609020101020101" pitchFamily="49" charset="-127"/>
              </a:rPr>
              <a:t>as</a:t>
            </a:r>
            <a:r>
              <a:rPr lang="en-US" altLang="ko-KR" sz="1600" b="0" dirty="0">
                <a:solidFill>
                  <a:srgbClr val="D4D4D4"/>
                </a:solidFill>
                <a:effectLst/>
                <a:latin typeface="D2Coding" panose="020B0609020101020101" pitchFamily="49" charset="-127"/>
                <a:ea typeface="D2Coding" panose="020B0609020101020101" pitchFamily="49" charset="-127"/>
              </a:rPr>
              <a:t> gr</a:t>
            </a:r>
          </a:p>
          <a:p>
            <a:pPr>
              <a:buNone/>
            </a:pPr>
            <a:r>
              <a:rPr lang="en-US" altLang="ko-KR" sz="1600" b="0" dirty="0">
                <a:solidFill>
                  <a:srgbClr val="569CD6"/>
                </a:solidFill>
                <a:effectLst/>
                <a:latin typeface="D2Coding" panose="020B0609020101020101" pitchFamily="49" charset="-127"/>
                <a:ea typeface="D2Coding" panose="020B0609020101020101" pitchFamily="49" charset="-127"/>
              </a:rPr>
              <a:t>import</a:t>
            </a:r>
            <a:r>
              <a:rPr lang="en-US" altLang="ko-KR" sz="1600" b="0" dirty="0">
                <a:solidFill>
                  <a:srgbClr val="D4D4D4"/>
                </a:solidFill>
                <a:effectLst/>
                <a:latin typeface="D2Coding" panose="020B0609020101020101" pitchFamily="49" charset="-127"/>
                <a:ea typeface="D2Coding" panose="020B0609020101020101" pitchFamily="49" charset="-127"/>
              </a:rPr>
              <a:t> spaces</a:t>
            </a:r>
          </a:p>
          <a:p>
            <a:pPr>
              <a:buNone/>
            </a:pPr>
            <a:endParaRPr lang="en-US" altLang="ko-KR" sz="16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600" b="0" dirty="0">
                <a:solidFill>
                  <a:srgbClr val="D4D4D4"/>
                </a:solidFill>
                <a:effectLst/>
                <a:latin typeface="D2Coding" panose="020B0609020101020101" pitchFamily="49" charset="-127"/>
                <a:ea typeface="D2Coding" panose="020B0609020101020101" pitchFamily="49" charset="-127"/>
              </a:rPr>
              <a:t>@spaces.GPU</a:t>
            </a:r>
          </a:p>
          <a:p>
            <a:pPr>
              <a:buNone/>
            </a:pPr>
            <a:r>
              <a:rPr lang="en-US" altLang="ko-KR" sz="1600" b="0" dirty="0">
                <a:solidFill>
                  <a:srgbClr val="569CD6"/>
                </a:solidFill>
                <a:effectLst/>
                <a:latin typeface="D2Coding" panose="020B0609020101020101" pitchFamily="49" charset="-127"/>
                <a:ea typeface="D2Coding" panose="020B0609020101020101" pitchFamily="49" charset="-127"/>
              </a:rPr>
              <a:t>def</a:t>
            </a:r>
            <a:r>
              <a:rPr lang="en-US" altLang="ko-KR" sz="1600" b="0" dirty="0">
                <a:solidFill>
                  <a:srgbClr val="D4D4D4"/>
                </a:solidFill>
                <a:effectLst/>
                <a:latin typeface="D2Coding" panose="020B0609020101020101" pitchFamily="49" charset="-127"/>
                <a:ea typeface="D2Coding" panose="020B0609020101020101" pitchFamily="49" charset="-127"/>
              </a:rPr>
              <a:t> predict(</a:t>
            </a:r>
            <a:r>
              <a:rPr lang="en-US" altLang="ko-KR" sz="1600" b="0" dirty="0" err="1">
                <a:solidFill>
                  <a:srgbClr val="D4D4D4"/>
                </a:solidFill>
                <a:effectLst/>
                <a:latin typeface="D2Coding" panose="020B0609020101020101" pitchFamily="49" charset="-127"/>
                <a:ea typeface="D2Coding" panose="020B0609020101020101" pitchFamily="49" charset="-127"/>
              </a:rPr>
              <a:t>input_text</a:t>
            </a:r>
            <a:r>
              <a:rPr lang="en-US" altLang="ko-KR" sz="16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600" b="0" dirty="0">
                <a:solidFill>
                  <a:srgbClr val="D4D4D4"/>
                </a:solidFill>
                <a:effectLst/>
                <a:latin typeface="D2Coding" panose="020B0609020101020101" pitchFamily="49" charset="-127"/>
                <a:ea typeface="D2Coding" panose="020B0609020101020101" pitchFamily="49" charset="-127"/>
              </a:rPr>
              <a:t>    </a:t>
            </a:r>
            <a:r>
              <a:rPr lang="en-US" altLang="ko-KR" sz="1600" b="0" dirty="0">
                <a:solidFill>
                  <a:srgbClr val="6A9955"/>
                </a:solidFill>
                <a:effectLst/>
                <a:latin typeface="D2Coding" panose="020B0609020101020101" pitchFamily="49" charset="-127"/>
                <a:ea typeface="D2Coding" panose="020B0609020101020101" pitchFamily="49" charset="-127"/>
              </a:rPr>
              <a:t># GPU </a:t>
            </a:r>
            <a:r>
              <a:rPr lang="ko-KR" altLang="en-US" sz="1600" b="0" dirty="0">
                <a:solidFill>
                  <a:srgbClr val="6A9955"/>
                </a:solidFill>
                <a:effectLst/>
                <a:latin typeface="D2Coding" panose="020B0609020101020101" pitchFamily="49" charset="-127"/>
                <a:ea typeface="D2Coding" panose="020B0609020101020101" pitchFamily="49" charset="-127"/>
              </a:rPr>
              <a:t>모델 추론 코드</a:t>
            </a:r>
            <a:endParaRPr lang="ko-KR" altLang="en-US" sz="1600" b="0" dirty="0">
              <a:solidFill>
                <a:srgbClr val="D4D4D4"/>
              </a:solidFill>
              <a:effectLst/>
              <a:latin typeface="D2Coding" panose="020B0609020101020101" pitchFamily="49" charset="-127"/>
              <a:ea typeface="D2Coding" panose="020B0609020101020101" pitchFamily="49" charset="-127"/>
            </a:endParaRPr>
          </a:p>
          <a:p>
            <a:pPr>
              <a:buNone/>
            </a:pPr>
            <a:r>
              <a:rPr lang="ko-KR" altLang="en-US" sz="1600" b="0" dirty="0">
                <a:solidFill>
                  <a:srgbClr val="D4D4D4"/>
                </a:solidFill>
                <a:effectLst/>
                <a:latin typeface="D2Coding" panose="020B0609020101020101" pitchFamily="49" charset="-127"/>
                <a:ea typeface="D2Coding" panose="020B0609020101020101" pitchFamily="49" charset="-127"/>
              </a:rPr>
              <a:t>    </a:t>
            </a:r>
            <a:r>
              <a:rPr lang="en-US" altLang="ko-KR" sz="1600" b="0" dirty="0">
                <a:solidFill>
                  <a:srgbClr val="569CD6"/>
                </a:solidFill>
                <a:effectLst/>
                <a:latin typeface="D2Coding" panose="020B0609020101020101" pitchFamily="49" charset="-127"/>
                <a:ea typeface="D2Coding" panose="020B0609020101020101" pitchFamily="49" charset="-127"/>
              </a:rPr>
              <a:t>return</a:t>
            </a:r>
            <a:r>
              <a:rPr lang="en-US" altLang="ko-KR" sz="1600" b="0" dirty="0">
                <a:solidFill>
                  <a:srgbClr val="D4D4D4"/>
                </a:solidFill>
                <a:effectLst/>
                <a:latin typeface="D2Coding" panose="020B0609020101020101" pitchFamily="49" charset="-127"/>
                <a:ea typeface="D2Coding" panose="020B0609020101020101" pitchFamily="49" charset="-127"/>
              </a:rPr>
              <a:t> output</a:t>
            </a:r>
          </a:p>
          <a:p>
            <a:pPr>
              <a:buNone/>
            </a:pPr>
            <a:endParaRPr lang="en-US" altLang="ko-KR" sz="16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600" b="0" dirty="0">
                <a:solidFill>
                  <a:srgbClr val="569CD6"/>
                </a:solidFill>
                <a:effectLst/>
                <a:latin typeface="D2Coding" panose="020B0609020101020101" pitchFamily="49" charset="-127"/>
                <a:ea typeface="D2Coding" panose="020B0609020101020101" pitchFamily="49" charset="-127"/>
              </a:rPr>
              <a:t>def</a:t>
            </a:r>
            <a:r>
              <a:rPr lang="en-US" altLang="ko-KR" sz="1600" b="0" dirty="0">
                <a:solidFill>
                  <a:srgbClr val="D4D4D4"/>
                </a:solidFill>
                <a:effectLst/>
                <a:latin typeface="D2Coding" panose="020B0609020101020101" pitchFamily="49" charset="-127"/>
                <a:ea typeface="D2Coding" panose="020B0609020101020101" pitchFamily="49" charset="-127"/>
              </a:rPr>
              <a:t> greet(name):</a:t>
            </a:r>
          </a:p>
          <a:p>
            <a:pPr>
              <a:buNone/>
            </a:pPr>
            <a:r>
              <a:rPr lang="en-US" altLang="ko-KR" sz="1600" b="0" dirty="0">
                <a:solidFill>
                  <a:srgbClr val="D4D4D4"/>
                </a:solidFill>
                <a:effectLst/>
                <a:latin typeface="D2Coding" panose="020B0609020101020101" pitchFamily="49" charset="-127"/>
                <a:ea typeface="D2Coding" panose="020B0609020101020101" pitchFamily="49" charset="-127"/>
              </a:rPr>
              <a:t>    </a:t>
            </a:r>
            <a:r>
              <a:rPr lang="en-US" altLang="ko-KR" sz="1600" b="0" dirty="0">
                <a:solidFill>
                  <a:srgbClr val="569CD6"/>
                </a:solidFill>
                <a:effectLst/>
                <a:latin typeface="D2Coding" panose="020B0609020101020101" pitchFamily="49" charset="-127"/>
                <a:ea typeface="D2Coding" panose="020B0609020101020101" pitchFamily="49" charset="-127"/>
              </a:rPr>
              <a:t>return</a:t>
            </a:r>
            <a:r>
              <a:rPr lang="en-US" altLang="ko-KR" sz="1600" b="0" dirty="0">
                <a:solidFill>
                  <a:srgbClr val="D4D4D4"/>
                </a:solidFill>
                <a:effectLst/>
                <a:latin typeface="D2Coding" panose="020B0609020101020101" pitchFamily="49" charset="-127"/>
                <a:ea typeface="D2Coding" panose="020B0609020101020101" pitchFamily="49" charset="-127"/>
              </a:rPr>
              <a:t> </a:t>
            </a:r>
            <a:r>
              <a:rPr lang="en-US" altLang="ko-KR" sz="1600" b="0" dirty="0" err="1">
                <a:solidFill>
                  <a:srgbClr val="D4D4D4"/>
                </a:solidFill>
                <a:effectLst/>
                <a:latin typeface="D2Coding" panose="020B0609020101020101" pitchFamily="49" charset="-127"/>
                <a:ea typeface="D2Coding" panose="020B0609020101020101" pitchFamily="49" charset="-127"/>
              </a:rPr>
              <a:t>f</a:t>
            </a:r>
            <a:r>
              <a:rPr lang="en-US" altLang="ko-KR" sz="1600" b="0" dirty="0" err="1">
                <a:solidFill>
                  <a:srgbClr val="CE9178"/>
                </a:solidFill>
                <a:effectLst/>
                <a:latin typeface="D2Coding" panose="020B0609020101020101" pitchFamily="49" charset="-127"/>
                <a:ea typeface="D2Coding" panose="020B0609020101020101" pitchFamily="49" charset="-127"/>
              </a:rPr>
              <a:t>"Hello</a:t>
            </a:r>
            <a:r>
              <a:rPr lang="en-US" altLang="ko-KR" sz="1600" b="0" dirty="0">
                <a:solidFill>
                  <a:srgbClr val="CE9178"/>
                </a:solidFill>
                <a:effectLst/>
                <a:latin typeface="D2Coding" panose="020B0609020101020101" pitchFamily="49" charset="-127"/>
                <a:ea typeface="D2Coding" panose="020B0609020101020101" pitchFamily="49" charset="-127"/>
              </a:rPr>
              <a:t> {name}!"</a:t>
            </a:r>
            <a:endParaRPr lang="en-US" altLang="ko-KR" sz="1600" b="0" dirty="0">
              <a:solidFill>
                <a:srgbClr val="D4D4D4"/>
              </a:solidFill>
              <a:effectLst/>
              <a:latin typeface="D2Coding" panose="020B0609020101020101" pitchFamily="49" charset="-127"/>
              <a:ea typeface="D2Coding" panose="020B0609020101020101" pitchFamily="49" charset="-127"/>
            </a:endParaRPr>
          </a:p>
          <a:p>
            <a:pPr>
              <a:buNone/>
            </a:pPr>
            <a:endParaRPr lang="en-US" altLang="ko-KR" sz="16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600" b="0" dirty="0">
                <a:solidFill>
                  <a:srgbClr val="D4D4D4"/>
                </a:solidFill>
                <a:effectLst/>
                <a:latin typeface="D2Coding" panose="020B0609020101020101" pitchFamily="49" charset="-127"/>
                <a:ea typeface="D2Coding" panose="020B0609020101020101" pitchFamily="49" charset="-127"/>
              </a:rPr>
              <a:t>demo = </a:t>
            </a:r>
            <a:r>
              <a:rPr lang="en-US" altLang="ko-KR" sz="1600" b="0" dirty="0" err="1">
                <a:solidFill>
                  <a:srgbClr val="D4D4D4"/>
                </a:solidFill>
                <a:effectLst/>
                <a:latin typeface="D2Coding" panose="020B0609020101020101" pitchFamily="49" charset="-127"/>
                <a:ea typeface="D2Coding" panose="020B0609020101020101" pitchFamily="49" charset="-127"/>
              </a:rPr>
              <a:t>gr.Interface</a:t>
            </a:r>
            <a:r>
              <a:rPr lang="en-US" altLang="ko-KR" sz="16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600" b="0" dirty="0">
                <a:solidFill>
                  <a:srgbClr val="D4D4D4"/>
                </a:solidFill>
                <a:effectLst/>
                <a:latin typeface="D2Coding" panose="020B0609020101020101" pitchFamily="49" charset="-127"/>
                <a:ea typeface="D2Coding" panose="020B0609020101020101" pitchFamily="49" charset="-127"/>
              </a:rPr>
              <a:t>    </a:t>
            </a:r>
            <a:r>
              <a:rPr lang="en-US" altLang="ko-KR" sz="1600" b="0" dirty="0" err="1">
                <a:solidFill>
                  <a:srgbClr val="D4D4D4"/>
                </a:solidFill>
                <a:effectLst/>
                <a:latin typeface="D2Coding" panose="020B0609020101020101" pitchFamily="49" charset="-127"/>
                <a:ea typeface="D2Coding" panose="020B0609020101020101" pitchFamily="49" charset="-127"/>
              </a:rPr>
              <a:t>fn</a:t>
            </a:r>
            <a:r>
              <a:rPr lang="en-US" altLang="ko-KR" sz="1600" b="0" dirty="0">
                <a:solidFill>
                  <a:srgbClr val="D4D4D4"/>
                </a:solidFill>
                <a:effectLst/>
                <a:latin typeface="D2Coding" panose="020B0609020101020101" pitchFamily="49" charset="-127"/>
                <a:ea typeface="D2Coding" panose="020B0609020101020101" pitchFamily="49" charset="-127"/>
              </a:rPr>
              <a:t>=greet,</a:t>
            </a:r>
          </a:p>
          <a:p>
            <a:pPr>
              <a:buNone/>
            </a:pPr>
            <a:r>
              <a:rPr lang="en-US" altLang="ko-KR" sz="1600" b="0" dirty="0">
                <a:solidFill>
                  <a:srgbClr val="D4D4D4"/>
                </a:solidFill>
                <a:effectLst/>
                <a:latin typeface="D2Coding" panose="020B0609020101020101" pitchFamily="49" charset="-127"/>
                <a:ea typeface="D2Coding" panose="020B0609020101020101" pitchFamily="49" charset="-127"/>
              </a:rPr>
              <a:t>    inputs=</a:t>
            </a:r>
            <a:r>
              <a:rPr lang="en-US" altLang="ko-KR" sz="1600" b="0" dirty="0" err="1">
                <a:solidFill>
                  <a:srgbClr val="D4D4D4"/>
                </a:solidFill>
                <a:effectLst/>
                <a:latin typeface="D2Coding" panose="020B0609020101020101" pitchFamily="49" charset="-127"/>
                <a:ea typeface="D2Coding" panose="020B0609020101020101" pitchFamily="49" charset="-127"/>
              </a:rPr>
              <a:t>gr.Textbox</a:t>
            </a:r>
            <a:r>
              <a:rPr lang="en-US" altLang="ko-KR" sz="1600" b="0" dirty="0">
                <a:solidFill>
                  <a:srgbClr val="D4D4D4"/>
                </a:solidFill>
                <a:effectLst/>
                <a:latin typeface="D2Coding" panose="020B0609020101020101" pitchFamily="49" charset="-127"/>
                <a:ea typeface="D2Coding" panose="020B0609020101020101" pitchFamily="49" charset="-127"/>
              </a:rPr>
              <a:t>(label=</a:t>
            </a:r>
            <a:r>
              <a:rPr lang="en-US" altLang="ko-KR" sz="1600" b="0" dirty="0">
                <a:solidFill>
                  <a:srgbClr val="CE9178"/>
                </a:solidFill>
                <a:effectLst/>
                <a:latin typeface="D2Coding" panose="020B0609020101020101" pitchFamily="49" charset="-127"/>
                <a:ea typeface="D2Coding" panose="020B0609020101020101" pitchFamily="49" charset="-127"/>
              </a:rPr>
              <a:t>"Type your name ...."</a:t>
            </a:r>
            <a:r>
              <a:rPr lang="en-US" altLang="ko-KR" sz="16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600" b="0" dirty="0">
                <a:solidFill>
                  <a:srgbClr val="D4D4D4"/>
                </a:solidFill>
                <a:effectLst/>
                <a:latin typeface="D2Coding" panose="020B0609020101020101" pitchFamily="49" charset="-127"/>
                <a:ea typeface="D2Coding" panose="020B0609020101020101" pitchFamily="49" charset="-127"/>
              </a:rPr>
              <a:t>    outputs=</a:t>
            </a:r>
            <a:r>
              <a:rPr lang="en-US" altLang="ko-KR" sz="1600" b="0" dirty="0" err="1">
                <a:solidFill>
                  <a:srgbClr val="D4D4D4"/>
                </a:solidFill>
                <a:effectLst/>
                <a:latin typeface="D2Coding" panose="020B0609020101020101" pitchFamily="49" charset="-127"/>
                <a:ea typeface="D2Coding" panose="020B0609020101020101" pitchFamily="49" charset="-127"/>
              </a:rPr>
              <a:t>gr.Textbox</a:t>
            </a:r>
            <a:r>
              <a:rPr lang="en-US" altLang="ko-KR" sz="1600" b="0" dirty="0">
                <a:solidFill>
                  <a:srgbClr val="D4D4D4"/>
                </a:solidFill>
                <a:effectLst/>
                <a:latin typeface="D2Coding" panose="020B0609020101020101" pitchFamily="49" charset="-127"/>
                <a:ea typeface="D2Coding" panose="020B0609020101020101" pitchFamily="49" charset="-127"/>
              </a:rPr>
              <a:t>(label=</a:t>
            </a:r>
            <a:r>
              <a:rPr lang="en-US" altLang="ko-KR" sz="1600" b="0" dirty="0">
                <a:solidFill>
                  <a:srgbClr val="CE9178"/>
                </a:solidFill>
                <a:effectLst/>
                <a:latin typeface="D2Coding" panose="020B0609020101020101" pitchFamily="49" charset="-127"/>
                <a:ea typeface="D2Coding" panose="020B0609020101020101" pitchFamily="49" charset="-127"/>
              </a:rPr>
              <a:t>"greeting !!!"</a:t>
            </a:r>
            <a:r>
              <a:rPr lang="en-US" altLang="ko-KR" sz="16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600" b="0" dirty="0">
                <a:solidFill>
                  <a:srgbClr val="D4D4D4"/>
                </a:solidFill>
                <a:effectLst/>
                <a:latin typeface="D2Coding" panose="020B0609020101020101" pitchFamily="49" charset="-127"/>
                <a:ea typeface="D2Coding" panose="020B0609020101020101" pitchFamily="49" charset="-127"/>
              </a:rPr>
              <a:t>    title=</a:t>
            </a:r>
            <a:r>
              <a:rPr lang="en-US" altLang="ko-KR" sz="1600" b="0" dirty="0">
                <a:solidFill>
                  <a:srgbClr val="CE9178"/>
                </a:solidFill>
                <a:effectLst/>
                <a:latin typeface="D2Coding" panose="020B0609020101020101" pitchFamily="49" charset="-127"/>
                <a:ea typeface="D2Coding" panose="020B0609020101020101" pitchFamily="49" charset="-127"/>
              </a:rPr>
              <a:t>"</a:t>
            </a:r>
            <a:r>
              <a:rPr lang="en-US" altLang="ko-KR" sz="1600" b="0" dirty="0" err="1">
                <a:solidFill>
                  <a:srgbClr val="CE9178"/>
                </a:solidFill>
                <a:effectLst/>
                <a:latin typeface="D2Coding" panose="020B0609020101020101" pitchFamily="49" charset="-127"/>
                <a:ea typeface="D2Coding" panose="020B0609020101020101" pitchFamily="49" charset="-127"/>
              </a:rPr>
              <a:t>Gradio</a:t>
            </a:r>
            <a:r>
              <a:rPr lang="en-US" altLang="ko-KR" sz="1600" b="0" dirty="0">
                <a:solidFill>
                  <a:srgbClr val="CE9178"/>
                </a:solidFill>
                <a:effectLst/>
                <a:latin typeface="D2Coding" panose="020B0609020101020101" pitchFamily="49" charset="-127"/>
                <a:ea typeface="D2Coding" panose="020B0609020101020101" pitchFamily="49" charset="-127"/>
              </a:rPr>
              <a:t> Demo app"</a:t>
            </a:r>
            <a:r>
              <a:rPr lang="en-US" altLang="ko-KR" sz="16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600" b="0" dirty="0">
                <a:solidFill>
                  <a:srgbClr val="D4D4D4"/>
                </a:solidFill>
                <a:effectLst/>
                <a:latin typeface="D2Coding" panose="020B0609020101020101" pitchFamily="49" charset="-127"/>
                <a:ea typeface="D2Coding" panose="020B0609020101020101" pitchFamily="49" charset="-127"/>
              </a:rPr>
              <a:t>    description=</a:t>
            </a:r>
            <a:r>
              <a:rPr lang="en-US" altLang="ko-KR" sz="1600" b="0" dirty="0">
                <a:solidFill>
                  <a:srgbClr val="CE9178"/>
                </a:solidFill>
                <a:effectLst/>
                <a:latin typeface="D2Coding" panose="020B0609020101020101" pitchFamily="49" charset="-127"/>
                <a:ea typeface="D2Coding" panose="020B0609020101020101" pitchFamily="49" charset="-127"/>
              </a:rPr>
              <a:t>"A simple </a:t>
            </a:r>
            <a:r>
              <a:rPr lang="en-US" altLang="ko-KR" sz="1600" b="0" dirty="0" err="1">
                <a:solidFill>
                  <a:srgbClr val="CE9178"/>
                </a:solidFill>
                <a:effectLst/>
                <a:latin typeface="D2Coding" panose="020B0609020101020101" pitchFamily="49" charset="-127"/>
                <a:ea typeface="D2Coding" panose="020B0609020101020101" pitchFamily="49" charset="-127"/>
              </a:rPr>
              <a:t>Gradio</a:t>
            </a:r>
            <a:r>
              <a:rPr lang="en-US" altLang="ko-KR" sz="1600" b="0" dirty="0">
                <a:solidFill>
                  <a:srgbClr val="CE9178"/>
                </a:solidFill>
                <a:effectLst/>
                <a:latin typeface="D2Coding" panose="020B0609020101020101" pitchFamily="49" charset="-127"/>
                <a:ea typeface="D2Coding" panose="020B0609020101020101" pitchFamily="49" charset="-127"/>
              </a:rPr>
              <a:t> interface example."</a:t>
            </a:r>
            <a:r>
              <a:rPr lang="en-US" altLang="ko-KR" sz="16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600" b="0" dirty="0">
                <a:solidFill>
                  <a:srgbClr val="D4D4D4"/>
                </a:solidFill>
                <a:effectLst/>
                <a:latin typeface="D2Coding" panose="020B0609020101020101" pitchFamily="49" charset="-127"/>
                <a:ea typeface="D2Coding" panose="020B0609020101020101" pitchFamily="49" charset="-127"/>
              </a:rPr>
              <a:t>)</a:t>
            </a:r>
          </a:p>
          <a:p>
            <a:pPr>
              <a:buNone/>
            </a:pPr>
            <a:endParaRPr lang="en-US" altLang="ko-KR" sz="1600" b="0" dirty="0">
              <a:solidFill>
                <a:srgbClr val="D4D4D4"/>
              </a:solidFill>
              <a:effectLst/>
              <a:latin typeface="D2Coding" panose="020B0609020101020101" pitchFamily="49" charset="-127"/>
              <a:ea typeface="D2Coding" panose="020B0609020101020101" pitchFamily="49" charset="-127"/>
            </a:endParaRPr>
          </a:p>
          <a:p>
            <a:pPr>
              <a:buNone/>
            </a:pPr>
            <a:r>
              <a:rPr lang="en-US" altLang="ko-KR" sz="1600" b="0" dirty="0">
                <a:solidFill>
                  <a:srgbClr val="569CD6"/>
                </a:solidFill>
                <a:effectLst/>
                <a:latin typeface="D2Coding" panose="020B0609020101020101" pitchFamily="49" charset="-127"/>
                <a:ea typeface="D2Coding" panose="020B0609020101020101" pitchFamily="49" charset="-127"/>
              </a:rPr>
              <a:t>if</a:t>
            </a:r>
            <a:r>
              <a:rPr lang="en-US" altLang="ko-KR" sz="1600" b="0" dirty="0">
                <a:solidFill>
                  <a:srgbClr val="D4D4D4"/>
                </a:solidFill>
                <a:effectLst/>
                <a:latin typeface="D2Coding" panose="020B0609020101020101" pitchFamily="49" charset="-127"/>
                <a:ea typeface="D2Coding" panose="020B0609020101020101" pitchFamily="49" charset="-127"/>
              </a:rPr>
              <a:t> __name__ == </a:t>
            </a:r>
            <a:r>
              <a:rPr lang="en-US" altLang="ko-KR" sz="1600" b="0" dirty="0">
                <a:solidFill>
                  <a:srgbClr val="CE9178"/>
                </a:solidFill>
                <a:effectLst/>
                <a:latin typeface="D2Coding" panose="020B0609020101020101" pitchFamily="49" charset="-127"/>
                <a:ea typeface="D2Coding" panose="020B0609020101020101" pitchFamily="49" charset="-127"/>
              </a:rPr>
              <a:t>"__main__"</a:t>
            </a:r>
            <a:r>
              <a:rPr lang="en-US" altLang="ko-KR" sz="1600" b="0" dirty="0">
                <a:solidFill>
                  <a:srgbClr val="D4D4D4"/>
                </a:solidFill>
                <a:effectLst/>
                <a:latin typeface="D2Coding" panose="020B0609020101020101" pitchFamily="49" charset="-127"/>
                <a:ea typeface="D2Coding" panose="020B0609020101020101" pitchFamily="49" charset="-127"/>
              </a:rPr>
              <a:t>:</a:t>
            </a:r>
          </a:p>
          <a:p>
            <a:pPr>
              <a:buNone/>
            </a:pPr>
            <a:r>
              <a:rPr lang="en-US" altLang="ko-KR" sz="1600" b="0" dirty="0">
                <a:solidFill>
                  <a:srgbClr val="D4D4D4"/>
                </a:solidFill>
                <a:effectLst/>
                <a:latin typeface="D2Coding" panose="020B0609020101020101" pitchFamily="49" charset="-127"/>
                <a:ea typeface="D2Coding" panose="020B0609020101020101" pitchFamily="49" charset="-127"/>
              </a:rPr>
              <a:t>    </a:t>
            </a:r>
            <a:r>
              <a:rPr lang="en-US" altLang="ko-KR" sz="1600" b="0" dirty="0" err="1">
                <a:solidFill>
                  <a:srgbClr val="D4D4D4"/>
                </a:solidFill>
                <a:effectLst/>
                <a:latin typeface="D2Coding" panose="020B0609020101020101" pitchFamily="49" charset="-127"/>
                <a:ea typeface="D2Coding" panose="020B0609020101020101" pitchFamily="49" charset="-127"/>
              </a:rPr>
              <a:t>demo.launch</a:t>
            </a:r>
            <a:r>
              <a:rPr lang="en-US" altLang="ko-KR" sz="1600" b="0" dirty="0">
                <a:solidFill>
                  <a:srgbClr val="D4D4D4"/>
                </a:solidFill>
                <a:effectLst/>
                <a:latin typeface="D2Coding" panose="020B0609020101020101" pitchFamily="49" charset="-127"/>
                <a:ea typeface="D2Coding" panose="020B0609020101020101" pitchFamily="49" charset="-127"/>
              </a:rPr>
              <a:t>(</a:t>
            </a:r>
            <a:r>
              <a:rPr lang="en-US" altLang="ko-KR" sz="1600" b="0" dirty="0" err="1">
                <a:solidFill>
                  <a:srgbClr val="D4D4D4"/>
                </a:solidFill>
                <a:effectLst/>
                <a:latin typeface="D2Coding" panose="020B0609020101020101" pitchFamily="49" charset="-127"/>
                <a:ea typeface="D2Coding" panose="020B0609020101020101" pitchFamily="49" charset="-127"/>
              </a:rPr>
              <a:t>server_name</a:t>
            </a:r>
            <a:r>
              <a:rPr lang="en-US" altLang="ko-KR" sz="1600" b="0" dirty="0">
                <a:solidFill>
                  <a:srgbClr val="D4D4D4"/>
                </a:solidFill>
                <a:effectLst/>
                <a:latin typeface="D2Coding" panose="020B0609020101020101" pitchFamily="49" charset="-127"/>
                <a:ea typeface="D2Coding" panose="020B0609020101020101" pitchFamily="49" charset="-127"/>
              </a:rPr>
              <a:t>=</a:t>
            </a:r>
            <a:r>
              <a:rPr lang="en-US" altLang="ko-KR" sz="1600" b="0" dirty="0">
                <a:solidFill>
                  <a:srgbClr val="CE9178"/>
                </a:solidFill>
                <a:effectLst/>
                <a:latin typeface="D2Coding" panose="020B0609020101020101" pitchFamily="49" charset="-127"/>
                <a:ea typeface="D2Coding" panose="020B0609020101020101" pitchFamily="49" charset="-127"/>
              </a:rPr>
              <a:t>"0.0.0.0"</a:t>
            </a:r>
            <a:r>
              <a:rPr lang="en-US" altLang="ko-KR" sz="1600" b="0" dirty="0">
                <a:solidFill>
                  <a:srgbClr val="D4D4D4"/>
                </a:solidFill>
                <a:effectLst/>
                <a:latin typeface="D2Coding" panose="020B0609020101020101" pitchFamily="49" charset="-127"/>
                <a:ea typeface="D2Coding" panose="020B0609020101020101" pitchFamily="49" charset="-127"/>
              </a:rPr>
              <a:t>, </a:t>
            </a:r>
            <a:r>
              <a:rPr lang="en-US" altLang="ko-KR" sz="1600" b="0" dirty="0" err="1">
                <a:solidFill>
                  <a:srgbClr val="D4D4D4"/>
                </a:solidFill>
                <a:effectLst/>
                <a:latin typeface="D2Coding" panose="020B0609020101020101" pitchFamily="49" charset="-127"/>
                <a:ea typeface="D2Coding" panose="020B0609020101020101" pitchFamily="49" charset="-127"/>
              </a:rPr>
              <a:t>server_port</a:t>
            </a:r>
            <a:r>
              <a:rPr lang="en-US" altLang="ko-KR" sz="1600" b="0" dirty="0">
                <a:solidFill>
                  <a:srgbClr val="D4D4D4"/>
                </a:solidFill>
                <a:effectLst/>
                <a:latin typeface="D2Coding" panose="020B0609020101020101" pitchFamily="49" charset="-127"/>
                <a:ea typeface="D2Coding" panose="020B0609020101020101" pitchFamily="49" charset="-127"/>
              </a:rPr>
              <a:t>=</a:t>
            </a:r>
            <a:r>
              <a:rPr lang="en-US" altLang="ko-KR" sz="1600" b="0" dirty="0">
                <a:solidFill>
                  <a:srgbClr val="B5CEA8"/>
                </a:solidFill>
                <a:effectLst/>
                <a:latin typeface="D2Coding" panose="020B0609020101020101" pitchFamily="49" charset="-127"/>
                <a:ea typeface="D2Coding" panose="020B0609020101020101" pitchFamily="49" charset="-127"/>
              </a:rPr>
              <a:t>7860</a:t>
            </a:r>
            <a:r>
              <a:rPr lang="en-US" altLang="ko-KR" sz="1600" b="0" dirty="0">
                <a:solidFill>
                  <a:srgbClr val="D4D4D4"/>
                </a:solidFill>
                <a:effectLst/>
                <a:latin typeface="D2Coding" panose="020B0609020101020101" pitchFamily="49" charset="-127"/>
                <a:ea typeface="D2Coding" panose="020B0609020101020101" pitchFamily="49" charset="-127"/>
              </a:rPr>
              <a:t>)</a:t>
            </a:r>
          </a:p>
        </p:txBody>
      </p:sp>
      <p:pic>
        <p:nvPicPr>
          <p:cNvPr id="10" name="그래픽 9" descr="수영">
            <a:extLst>
              <a:ext uri="{FF2B5EF4-FFF2-40B4-BE49-F238E27FC236}">
                <a16:creationId xmlns:a16="http://schemas.microsoft.com/office/drawing/2014/main" id="{1C32DA7A-F553-08FD-2A13-4CB17DA42D2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spTree>
    <p:extLst>
      <p:ext uri="{BB962C8B-B14F-4D97-AF65-F5344CB8AC3E}">
        <p14:creationId xmlns:p14="http://schemas.microsoft.com/office/powerpoint/2010/main" val="4136538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B3221-BCC2-E73E-5ECE-FC0D08A2102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7E98970-B8B2-8158-00D9-5C45631744D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Deployment</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UI(</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gradio</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543A0A8B-DCEE-4734-094C-DBA1FD8F4C84}"/>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03848BC8-1ABE-0BD9-D867-BEF02A368B64}"/>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30</a:t>
            </a:fld>
            <a:endParaRPr lang="en-US" b="1" dirty="0">
              <a:latin typeface="Segoe UI Emoji" panose="020B0502040204020203" pitchFamily="34" charset="0"/>
              <a:ea typeface="Segoe UI Emoji" panose="020B0502040204020203" pitchFamily="34" charset="0"/>
            </a:endParaRPr>
          </a:p>
        </p:txBody>
      </p:sp>
      <p:pic>
        <p:nvPicPr>
          <p:cNvPr id="9" name="그림 8">
            <a:extLst>
              <a:ext uri="{FF2B5EF4-FFF2-40B4-BE49-F238E27FC236}">
                <a16:creationId xmlns:a16="http://schemas.microsoft.com/office/drawing/2014/main" id="{277C49C9-1C30-EB3E-F23D-FDA9073C7FCD}"/>
              </a:ext>
            </a:extLst>
          </p:cNvPr>
          <p:cNvPicPr>
            <a:picLocks noChangeAspect="1"/>
          </p:cNvPicPr>
          <p:nvPr/>
        </p:nvPicPr>
        <p:blipFill>
          <a:blip r:embed="rId2"/>
          <a:stretch>
            <a:fillRect/>
          </a:stretch>
        </p:blipFill>
        <p:spPr>
          <a:xfrm>
            <a:off x="2039929" y="1529510"/>
            <a:ext cx="7521592" cy="4732430"/>
          </a:xfrm>
          <a:prstGeom prst="rect">
            <a:avLst/>
          </a:prstGeom>
        </p:spPr>
      </p:pic>
      <p:pic>
        <p:nvPicPr>
          <p:cNvPr id="4" name="그래픽 3" descr="수영">
            <a:extLst>
              <a:ext uri="{FF2B5EF4-FFF2-40B4-BE49-F238E27FC236}">
                <a16:creationId xmlns:a16="http://schemas.microsoft.com/office/drawing/2014/main" id="{453B4CE4-3E16-22A3-4EC3-2511DC714DE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85980" y="373930"/>
            <a:ext cx="914400" cy="914400"/>
          </a:xfrm>
          <a:prstGeom prst="rect">
            <a:avLst/>
          </a:prstGeom>
        </p:spPr>
      </p:pic>
    </p:spTree>
    <p:extLst>
      <p:ext uri="{BB962C8B-B14F-4D97-AF65-F5344CB8AC3E}">
        <p14:creationId xmlns:p14="http://schemas.microsoft.com/office/powerpoint/2010/main" val="10186831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F85D5-E24E-B833-4C4D-B3B056D31B4A}"/>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42CD545A-7E04-ABAD-5A16-156673493B1B}"/>
              </a:ext>
            </a:extLst>
          </p:cNvPr>
          <p:cNvSpPr>
            <a:spLocks noGrp="1"/>
          </p:cNvSpPr>
          <p:nvPr>
            <p:ph type="ctrTitle"/>
          </p:nvPr>
        </p:nvSpPr>
        <p:spPr>
          <a:xfrm>
            <a:off x="838199" y="1164324"/>
            <a:ext cx="10934701" cy="2387600"/>
          </a:xfrm>
        </p:spPr>
        <p:txBody>
          <a:bodyPr rtlCol="0" anchor="ctr" anchorCtr="0">
            <a:normAutofit/>
          </a:bodyPr>
          <a:lstStyle/>
          <a:p>
            <a:r>
              <a:rPr lang="en-US" altLang="ko-KR" sz="5400" dirty="0">
                <a:solidFill>
                  <a:schemeClr val="bg1"/>
                </a:solidFill>
                <a:latin typeface="D2Coding" panose="020B0609020101020101" pitchFamily="49" charset="-127"/>
                <a:ea typeface="D2Coding" panose="020B0609020101020101" pitchFamily="49" charset="-127"/>
              </a:rPr>
              <a:t>Docker</a:t>
            </a:r>
            <a:endParaRPr lang="ko-KR" altLang="en-US" sz="5400" dirty="0">
              <a:solidFill>
                <a:schemeClr val="bg1"/>
              </a:solidFill>
              <a:latin typeface="D2Coding" panose="020B0609020101020101" pitchFamily="49" charset="-127"/>
              <a:ea typeface="D2Coding" panose="020B0609020101020101" pitchFamily="49" charset="-127"/>
            </a:endParaRPr>
          </a:p>
        </p:txBody>
      </p:sp>
      <p:sp>
        <p:nvSpPr>
          <p:cNvPr id="5" name="부제목 2">
            <a:extLst>
              <a:ext uri="{FF2B5EF4-FFF2-40B4-BE49-F238E27FC236}">
                <a16:creationId xmlns:a16="http://schemas.microsoft.com/office/drawing/2014/main" id="{4B690CFB-61F9-C8A8-B334-48F3880A6791}"/>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latin typeface="D2Coding" panose="020B0609020101020101" pitchFamily="49" charset="-127"/>
                <a:ea typeface="D2Coding" panose="020B0609020101020101" pitchFamily="49" charset="-127"/>
              </a:rPr>
              <a:t>2026 Fall</a:t>
            </a:r>
          </a:p>
          <a:p>
            <a:r>
              <a:rPr lang="ko-KR" altLang="en-US" sz="2400" dirty="0" err="1">
                <a:solidFill>
                  <a:schemeClr val="bg1"/>
                </a:solidFill>
                <a:latin typeface="D2Coding" panose="020B0609020101020101" pitchFamily="49" charset="-127"/>
                <a:ea typeface="D2Coding" panose="020B0609020101020101" pitchFamily="49" charset="-127"/>
              </a:rPr>
              <a:t>조상구교수</a:t>
            </a:r>
            <a:endParaRPr lang="en-US" altLang="ko-KR" sz="2400" dirty="0">
              <a:solidFill>
                <a:schemeClr val="bg1"/>
              </a:solidFill>
              <a:latin typeface="D2Coding" panose="020B0609020101020101" pitchFamily="49" charset="-127"/>
              <a:ea typeface="D2Coding" panose="020B0609020101020101" pitchFamily="49" charset="-127"/>
            </a:endParaRPr>
          </a:p>
        </p:txBody>
      </p:sp>
      <p:sp>
        <p:nvSpPr>
          <p:cNvPr id="3" name="TextBox 2">
            <a:extLst>
              <a:ext uri="{FF2B5EF4-FFF2-40B4-BE49-F238E27FC236}">
                <a16:creationId xmlns:a16="http://schemas.microsoft.com/office/drawing/2014/main" id="{59724A80-94EF-A01B-BD87-0B53360B4349}"/>
              </a:ext>
            </a:extLst>
          </p:cNvPr>
          <p:cNvSpPr txBox="1"/>
          <p:nvPr/>
        </p:nvSpPr>
        <p:spPr>
          <a:xfrm>
            <a:off x="855620" y="2752872"/>
            <a:ext cx="9374230" cy="880819"/>
          </a:xfrm>
          <a:prstGeom prst="rect">
            <a:avLst/>
          </a:prstGeom>
          <a:noFill/>
        </p:spPr>
        <p:txBody>
          <a:bodyPr wrap="square">
            <a:spAutoFit/>
          </a:bodyPr>
          <a:lstStyle/>
          <a:p>
            <a:pPr marL="285750" indent="-285750">
              <a:lnSpc>
                <a:spcPct val="150000"/>
              </a:lnSpc>
              <a:buFont typeface="Wingdings" panose="05000000000000000000" pitchFamily="2" charset="2"/>
              <a:buChar char="ü"/>
            </a:pPr>
            <a:r>
              <a:rPr lang="en-US" altLang="ko-KR" dirty="0">
                <a:solidFill>
                  <a:schemeClr val="bg1"/>
                </a:solidFill>
                <a:latin typeface="D2Coding" panose="020B0609020101020101" pitchFamily="49" charset="-127"/>
                <a:ea typeface="D2Coding" panose="020B0609020101020101" pitchFamily="49" charset="-127"/>
              </a:rPr>
              <a:t>Docker Hub / Docker Desktop</a:t>
            </a:r>
          </a:p>
          <a:p>
            <a:pPr marL="285750" indent="-285750">
              <a:lnSpc>
                <a:spcPct val="150000"/>
              </a:lnSpc>
              <a:buFont typeface="Wingdings" panose="05000000000000000000" pitchFamily="2" charset="2"/>
              <a:buChar char="ü"/>
            </a:pPr>
            <a:r>
              <a:rPr lang="en-US" altLang="ko-KR" dirty="0">
                <a:solidFill>
                  <a:schemeClr val="bg1"/>
                </a:solidFill>
                <a:latin typeface="D2Coding" panose="020B0609020101020101" pitchFamily="49" charset="-127"/>
                <a:ea typeface="D2Coding" panose="020B0609020101020101" pitchFamily="49" charset="-127"/>
              </a:rPr>
              <a:t>Image, Container</a:t>
            </a:r>
          </a:p>
        </p:txBody>
      </p:sp>
    </p:spTree>
    <p:extLst>
      <p:ext uri="{BB962C8B-B14F-4D97-AF65-F5344CB8AC3E}">
        <p14:creationId xmlns:p14="http://schemas.microsoft.com/office/powerpoint/2010/main" val="211754222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2" name="Google Shape;172;p3"/>
          <p:cNvSpPr txBox="1">
            <a:spLocks noGrp="1"/>
          </p:cNvSpPr>
          <p:nvPr>
            <p:ph type="body" idx="1"/>
          </p:nvPr>
        </p:nvSpPr>
        <p:spPr>
          <a:xfrm>
            <a:off x="1006159" y="1727911"/>
            <a:ext cx="10353761" cy="4490912"/>
          </a:xfrm>
          <a:prstGeom prst="rect">
            <a:avLst/>
          </a:prstGeom>
          <a:noFill/>
          <a:ln>
            <a:noFill/>
          </a:ln>
          <a:effectLst>
            <a:outerShdw blurRad="25400">
              <a:srgbClr val="000000">
                <a:alpha val="45882"/>
              </a:srgbClr>
            </a:outerShdw>
          </a:effectLst>
        </p:spPr>
        <p:txBody>
          <a:bodyPr spcFirstLastPara="1" wrap="square" lIns="91425" tIns="45700" rIns="91425" bIns="45700" anchor="t" anchorCtr="0">
            <a:normAutofit/>
          </a:bodyPr>
          <a:lstStyle/>
          <a:p>
            <a:pPr marL="342900" indent="-342900" latinLnBrk="0">
              <a:spcBef>
                <a:spcPts val="956"/>
              </a:spcBef>
              <a:spcAft>
                <a:spcPts val="0"/>
              </a:spcAft>
              <a:buSzPct val="70000"/>
              <a:buFont typeface="Wingdings" panose="05000000000000000000" pitchFamily="2" charset="2"/>
              <a:buChar char="v"/>
            </a:pPr>
            <a:r>
              <a:rPr lang="en-US" sz="2000" dirty="0">
                <a:latin typeface="D2Coding" panose="020B0609020101020101" pitchFamily="49" charset="-127"/>
                <a:ea typeface="D2Coding" panose="020B0609020101020101" pitchFamily="49" charset="-127"/>
              </a:rPr>
              <a:t>Introduction of Docker</a:t>
            </a:r>
          </a:p>
          <a:p>
            <a:pPr marL="342900" lvl="0" indent="-342900" latinLnBrk="0">
              <a:spcBef>
                <a:spcPts val="956"/>
              </a:spcBef>
              <a:spcAft>
                <a:spcPts val="0"/>
              </a:spcAft>
              <a:buSzPct val="70000"/>
              <a:buFont typeface="Wingdings" panose="05000000000000000000" pitchFamily="2" charset="2"/>
              <a:buChar char="v"/>
            </a:pPr>
            <a:r>
              <a:rPr lang="en-US" sz="2000" dirty="0">
                <a:latin typeface="D2Coding" panose="020B0609020101020101" pitchFamily="49" charset="-127"/>
                <a:ea typeface="D2Coding" panose="020B0609020101020101" pitchFamily="49" charset="-127"/>
              </a:rPr>
              <a:t>Understanding Docker</a:t>
            </a:r>
            <a:endParaRPr sz="2000" dirty="0">
              <a:latin typeface="D2Coding" panose="020B0609020101020101" pitchFamily="49" charset="-127"/>
              <a:ea typeface="D2Coding" panose="020B0609020101020101" pitchFamily="49" charset="-127"/>
            </a:endParaRPr>
          </a:p>
          <a:p>
            <a:pPr marL="342900" lvl="0" indent="-342900" latinLnBrk="0">
              <a:spcBef>
                <a:spcPts val="956"/>
              </a:spcBef>
              <a:spcAft>
                <a:spcPts val="0"/>
              </a:spcAft>
              <a:buSzPct val="70000"/>
              <a:buFont typeface="Wingdings" panose="05000000000000000000" pitchFamily="2" charset="2"/>
              <a:buChar char="v"/>
            </a:pPr>
            <a:r>
              <a:rPr lang="en-US" sz="2000" dirty="0">
                <a:latin typeface="D2Coding" panose="020B0609020101020101" pitchFamily="49" charset="-127"/>
                <a:ea typeface="D2Coding" panose="020B0609020101020101" pitchFamily="49" charset="-127"/>
              </a:rPr>
              <a:t>Docker </a:t>
            </a:r>
            <a:r>
              <a:rPr lang="en-US" sz="2000" dirty="0" err="1">
                <a:latin typeface="D2Coding" panose="020B0609020101020101" pitchFamily="49" charset="-127"/>
                <a:ea typeface="D2Coding" panose="020B0609020101020101" pitchFamily="49" charset="-127"/>
              </a:rPr>
              <a:t>실습하기</a:t>
            </a:r>
            <a:endParaRPr sz="2000" dirty="0">
              <a:latin typeface="D2Coding" panose="020B0609020101020101" pitchFamily="49" charset="-127"/>
              <a:ea typeface="D2Coding" panose="020B0609020101020101" pitchFamily="49" charset="-127"/>
            </a:endParaRPr>
          </a:p>
          <a:p>
            <a:pPr marL="342900" lvl="0" indent="-342900" latinLnBrk="0">
              <a:spcBef>
                <a:spcPts val="956"/>
              </a:spcBef>
              <a:spcAft>
                <a:spcPts val="0"/>
              </a:spcAft>
              <a:buSzPct val="70000"/>
              <a:buFont typeface="Wingdings" panose="05000000000000000000" pitchFamily="2" charset="2"/>
              <a:buChar char="v"/>
            </a:pPr>
            <a:r>
              <a:rPr lang="en-US" sz="2000" dirty="0">
                <a:latin typeface="D2Coding" panose="020B0609020101020101" pitchFamily="49" charset="-127"/>
                <a:ea typeface="D2Coding" panose="020B0609020101020101" pitchFamily="49" charset="-127"/>
              </a:rPr>
              <a:t>Docker </a:t>
            </a:r>
            <a:r>
              <a:rPr lang="en-US" sz="2000" dirty="0" err="1">
                <a:latin typeface="D2Coding" panose="020B0609020101020101" pitchFamily="49" charset="-127"/>
                <a:ea typeface="D2Coding" panose="020B0609020101020101" pitchFamily="49" charset="-127"/>
              </a:rPr>
              <a:t>용어</a:t>
            </a:r>
            <a:r>
              <a:rPr lang="en-US" sz="2000" dirty="0">
                <a:latin typeface="D2Coding" panose="020B0609020101020101" pitchFamily="49" charset="-127"/>
                <a:ea typeface="D2Coding" panose="020B0609020101020101" pitchFamily="49" charset="-127"/>
              </a:rPr>
              <a:t> 및 </a:t>
            </a:r>
            <a:r>
              <a:rPr lang="en-US" sz="2000" dirty="0" err="1">
                <a:latin typeface="D2Coding" panose="020B0609020101020101" pitchFamily="49" charset="-127"/>
                <a:ea typeface="D2Coding" panose="020B0609020101020101" pitchFamily="49" charset="-127"/>
              </a:rPr>
              <a:t>개념</a:t>
            </a:r>
            <a:r>
              <a:rPr lang="en-US" sz="2000" dirty="0">
                <a:latin typeface="D2Coding" panose="020B0609020101020101" pitchFamily="49" charset="-127"/>
                <a:ea typeface="D2Coding" panose="020B0609020101020101" pitchFamily="49" charset="-127"/>
              </a:rPr>
              <a:t> </a:t>
            </a:r>
            <a:r>
              <a:rPr lang="en-US" sz="2000" dirty="0" err="1">
                <a:latin typeface="D2Coding" panose="020B0609020101020101" pitchFamily="49" charset="-127"/>
                <a:ea typeface="D2Coding" panose="020B0609020101020101" pitchFamily="49" charset="-127"/>
              </a:rPr>
              <a:t>분류</a:t>
            </a:r>
            <a:endParaRPr sz="2000" dirty="0">
              <a:latin typeface="D2Coding" panose="020B0609020101020101" pitchFamily="49" charset="-127"/>
              <a:ea typeface="D2Coding" panose="020B0609020101020101" pitchFamily="49" charset="-127"/>
            </a:endParaRPr>
          </a:p>
          <a:p>
            <a:pPr marL="342900" lvl="0" indent="-342900" latinLnBrk="0">
              <a:spcBef>
                <a:spcPts val="956"/>
              </a:spcBef>
              <a:spcAft>
                <a:spcPts val="0"/>
              </a:spcAft>
              <a:buSzPct val="70000"/>
              <a:buFont typeface="Wingdings" panose="05000000000000000000" pitchFamily="2" charset="2"/>
              <a:buChar char="v"/>
            </a:pPr>
            <a:r>
              <a:rPr lang="en-US" sz="2000" dirty="0">
                <a:latin typeface="D2Coding" panose="020B0609020101020101" pitchFamily="49" charset="-127"/>
                <a:ea typeface="D2Coding" panose="020B0609020101020101" pitchFamily="49" charset="-127"/>
              </a:rPr>
              <a:t>Docker Mechanism</a:t>
            </a:r>
            <a:endParaRPr sz="2000" dirty="0">
              <a:latin typeface="D2Coding" panose="020B0609020101020101" pitchFamily="49" charset="-127"/>
              <a:ea typeface="D2Coding" panose="020B0609020101020101" pitchFamily="49" charset="-127"/>
            </a:endParaRPr>
          </a:p>
          <a:p>
            <a:pPr marL="342900" lvl="0" indent="-342900" latinLnBrk="0">
              <a:spcBef>
                <a:spcPts val="956"/>
              </a:spcBef>
              <a:spcAft>
                <a:spcPts val="0"/>
              </a:spcAft>
              <a:buSzPct val="70000"/>
              <a:buFont typeface="Wingdings" panose="05000000000000000000" pitchFamily="2" charset="2"/>
              <a:buChar char="v"/>
            </a:pPr>
            <a:r>
              <a:rPr lang="en-US" sz="2000" dirty="0" err="1">
                <a:latin typeface="D2Coding" panose="020B0609020101020101" pitchFamily="49" charset="-127"/>
                <a:ea typeface="D2Coding" panose="020B0609020101020101" pitchFamily="49" charset="-127"/>
              </a:rPr>
              <a:t>Docker와</a:t>
            </a:r>
            <a:r>
              <a:rPr lang="en-US" sz="2000" dirty="0">
                <a:latin typeface="D2Coding" panose="020B0609020101020101" pitchFamily="49" charset="-127"/>
                <a:ea typeface="D2Coding" panose="020B0609020101020101" pitchFamily="49" charset="-127"/>
              </a:rPr>
              <a:t> </a:t>
            </a:r>
            <a:r>
              <a:rPr lang="en-US" sz="2000" dirty="0" err="1">
                <a:latin typeface="D2Coding" panose="020B0609020101020101" pitchFamily="49" charset="-127"/>
                <a:ea typeface="D2Coding" panose="020B0609020101020101" pitchFamily="49" charset="-127"/>
              </a:rPr>
              <a:t>가상머신</a:t>
            </a:r>
            <a:r>
              <a:rPr lang="en-US" sz="2000" dirty="0">
                <a:latin typeface="D2Coding" panose="020B0609020101020101" pitchFamily="49" charset="-127"/>
                <a:ea typeface="D2Coding" panose="020B0609020101020101" pitchFamily="49" charset="-127"/>
              </a:rPr>
              <a:t>(VM)</a:t>
            </a:r>
            <a:endParaRPr sz="2000" dirty="0">
              <a:latin typeface="D2Coding" panose="020B0609020101020101" pitchFamily="49" charset="-127"/>
              <a:ea typeface="D2Coding" panose="020B0609020101020101" pitchFamily="49" charset="-127"/>
            </a:endParaRPr>
          </a:p>
        </p:txBody>
      </p:sp>
      <p:sp>
        <p:nvSpPr>
          <p:cNvPr id="173" name="Google Shape;173;p3"/>
          <p:cNvSpPr txBox="1">
            <a:spLocks noGrp="1"/>
          </p:cNvSpPr>
          <p:nvPr>
            <p:ph type="sldNum" idx="12"/>
          </p:nvPr>
        </p:nvSpPr>
        <p:spPr>
          <a:xfrm>
            <a:off x="10514011" y="6036261"/>
            <a:ext cx="753545"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32</a:t>
            </a:fld>
            <a:endParaRPr/>
          </a:p>
        </p:txBody>
      </p:sp>
      <p:sp>
        <p:nvSpPr>
          <p:cNvPr id="5" name="제목 1">
            <a:extLst>
              <a:ext uri="{FF2B5EF4-FFF2-40B4-BE49-F238E27FC236}">
                <a16:creationId xmlns:a16="http://schemas.microsoft.com/office/drawing/2014/main" id="{ADF75F1B-9C09-4659-7714-4F43B524E9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학습</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내용</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D32C9-8831-7BD4-9DD2-7AACBD37C5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8B4136D-BB87-5441-BE89-2E19A00EAA1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학습</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내용</a:t>
            </a:r>
          </a:p>
        </p:txBody>
      </p:sp>
      <p:sp>
        <p:nvSpPr>
          <p:cNvPr id="8" name="TextBox 7">
            <a:extLst>
              <a:ext uri="{FF2B5EF4-FFF2-40B4-BE49-F238E27FC236}">
                <a16:creationId xmlns:a16="http://schemas.microsoft.com/office/drawing/2014/main" id="{F5041BF8-57BD-FF6A-26BC-9BF604EA4BCD}"/>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B2919CB0-5F55-77BF-0798-AB95E32044FF}"/>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33</a:t>
            </a:fld>
            <a:endParaRPr lang="en-US" b="1" dirty="0">
              <a:latin typeface="Segoe UI Emoji" panose="020B0502040204020203" pitchFamily="34" charset="0"/>
              <a:ea typeface="Segoe UI Emoji" panose="020B0502040204020203" pitchFamily="34" charset="0"/>
            </a:endParaRPr>
          </a:p>
        </p:txBody>
      </p:sp>
      <p:pic>
        <p:nvPicPr>
          <p:cNvPr id="10" name="그래픽 9" descr="수영">
            <a:extLst>
              <a:ext uri="{FF2B5EF4-FFF2-40B4-BE49-F238E27FC236}">
                <a16:creationId xmlns:a16="http://schemas.microsoft.com/office/drawing/2014/main" id="{E56311E5-7256-D3E9-E789-358C2B19FA9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sp>
        <p:nvSpPr>
          <p:cNvPr id="5" name="Rectangle 2">
            <a:extLst>
              <a:ext uri="{FF2B5EF4-FFF2-40B4-BE49-F238E27FC236}">
                <a16:creationId xmlns:a16="http://schemas.microsoft.com/office/drawing/2014/main" id="{9D2E4FE6-88CB-4B28-45F1-11126F9C14A1}"/>
              </a:ext>
            </a:extLst>
          </p:cNvPr>
          <p:cNvSpPr>
            <a:spLocks noChangeArrowheads="1"/>
          </p:cNvSpPr>
          <p:nvPr/>
        </p:nvSpPr>
        <p:spPr bwMode="auto">
          <a:xfrm>
            <a:off x="608995" y="1587267"/>
            <a:ext cx="11154380" cy="45788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Wingdings" panose="05000000000000000000" pitchFamily="2" charset="2"/>
              <a:buChar char="v"/>
              <a:tabLst/>
            </a:pPr>
            <a:r>
              <a:rPr kumimoji="0" lang="ko-KR" altLang="ko-KR"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컨테이너 실행 (</a:t>
            </a:r>
            <a:r>
              <a:rPr kumimoji="0" lang="ko-KR" altLang="ko-KR"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docker</a:t>
            </a:r>
            <a:r>
              <a:rPr kumimoji="0" lang="ko-KR" altLang="ko-KR"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run</a:t>
            </a:r>
            <a:r>
              <a:rPr kumimoji="0" lang="ko-KR" altLang="ko-KR"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a:t>
            </a:r>
            <a:endParaRPr lang="en-US" altLang="ko-KR" dirty="0">
              <a:latin typeface="D2Coding" panose="020B0609020101020101" pitchFamily="49" charset="-127"/>
              <a:ea typeface="D2Coding" panose="020B0609020101020101" pitchFamily="49" charset="-127"/>
            </a:endParaRPr>
          </a:p>
          <a:p>
            <a:pPr marL="800100" lvl="1" indent="-342900" eaLnBrk="0" fontAlgn="base" hangingPunct="0">
              <a:lnSpc>
                <a:spcPct val="150000"/>
              </a:lnSpc>
              <a:spcBef>
                <a:spcPct val="0"/>
              </a:spcBef>
              <a:spcAft>
                <a:spcPct val="0"/>
              </a:spcAft>
              <a:buFont typeface="Wingdings" panose="05000000000000000000" pitchFamily="2" charset="2"/>
              <a:buChar char="v"/>
            </a:pP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docker</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run</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hello-world</a:t>
            </a:r>
            <a:endParaRPr lang="en-US" altLang="ko-KR" sz="1600" dirty="0">
              <a:latin typeface="D2Coding" panose="020B0609020101020101" pitchFamily="49" charset="-127"/>
              <a:ea typeface="D2Coding" panose="020B0609020101020101" pitchFamily="49" charset="-127"/>
            </a:endParaRPr>
          </a:p>
          <a:p>
            <a:pPr marL="800100" lvl="1" indent="-342900" eaLnBrk="0" fontAlgn="base" hangingPunct="0">
              <a:lnSpc>
                <a:spcPct val="150000"/>
              </a:lnSpc>
              <a:spcBef>
                <a:spcPct val="0"/>
              </a:spcBef>
              <a:spcAft>
                <a:spcPct val="0"/>
              </a:spcAft>
              <a:buFont typeface="Wingdings" panose="05000000000000000000" pitchFamily="2" charset="2"/>
              <a:buChar char="v"/>
            </a:pP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도커</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허브에서 이미지 자동 다운로드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컨테이너 생성 </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sym typeface="Wingdings" panose="05000000000000000000" pitchFamily="2" charset="2"/>
              </a:rPr>
              <a:t>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테스트 메시지 출력 후 종료</a:t>
            </a:r>
            <a:endPar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800100" lvl="1" indent="-342900" eaLnBrk="0" fontAlgn="base" hangingPunct="0">
              <a:lnSpc>
                <a:spcPct val="150000"/>
              </a:lnSpc>
              <a:spcBef>
                <a:spcPct val="0"/>
              </a:spcBef>
              <a:spcAft>
                <a:spcPct val="0"/>
              </a:spcAft>
              <a:buFont typeface="Wingdings" panose="05000000000000000000" pitchFamily="2" charset="2"/>
              <a:buChar char="v"/>
            </a:pP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342900" marR="0" lvl="0" indent="-342900" algn="l" defTabSz="914400" rtl="0" eaLnBrk="0" fontAlgn="base" latinLnBrk="0" hangingPunct="0">
              <a:lnSpc>
                <a:spcPct val="150000"/>
              </a:lnSpc>
              <a:spcBef>
                <a:spcPct val="0"/>
              </a:spcBef>
              <a:spcAft>
                <a:spcPct val="0"/>
              </a:spcAft>
              <a:buClrTx/>
              <a:buSzTx/>
              <a:buFont typeface="Wingdings" panose="05000000000000000000" pitchFamily="2" charset="2"/>
              <a:buChar char="v"/>
              <a:tabLst/>
            </a:pPr>
            <a:r>
              <a:rPr kumimoji="0" lang="ko-KR" altLang="ko-KR"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컨테이너 상태 조회</a:t>
            </a:r>
          </a:p>
          <a:p>
            <a:pPr marL="800100" lvl="1" indent="-342900" eaLnBrk="0" fontAlgn="base" hangingPunct="0">
              <a:lnSpc>
                <a:spcPct val="150000"/>
              </a:lnSpc>
              <a:spcBef>
                <a:spcPct val="0"/>
              </a:spcBef>
              <a:spcAft>
                <a:spcPct val="0"/>
              </a:spcAft>
              <a:buFont typeface="Wingdings" panose="05000000000000000000" pitchFamily="2" charset="2"/>
              <a:buChar char="v"/>
            </a:pP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docker</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ps</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현재 실행 중인 컨테이너 목록 조회</a:t>
            </a:r>
          </a:p>
          <a:p>
            <a:pPr marL="800100" lvl="1" indent="-342900" eaLnBrk="0" fontAlgn="base" hangingPunct="0">
              <a:lnSpc>
                <a:spcPct val="150000"/>
              </a:lnSpc>
              <a:spcBef>
                <a:spcPct val="0"/>
              </a:spcBef>
              <a:spcAft>
                <a:spcPct val="0"/>
              </a:spcAft>
              <a:buFont typeface="Wingdings" panose="05000000000000000000" pitchFamily="2" charset="2"/>
              <a:buChar char="v"/>
            </a:pP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docker</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ps</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a</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종료된 컨테이너를 포함한 전체 실행 기록(히스토리) 조회</a:t>
            </a:r>
            <a:endPar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800100" lvl="1" indent="-342900" eaLnBrk="0" fontAlgn="base" hangingPunct="0">
              <a:lnSpc>
                <a:spcPct val="150000"/>
              </a:lnSpc>
              <a:spcBef>
                <a:spcPct val="0"/>
              </a:spcBef>
              <a:spcAft>
                <a:spcPct val="0"/>
              </a:spcAft>
              <a:buFont typeface="Wingdings" panose="05000000000000000000" pitchFamily="2" charset="2"/>
              <a:buChar char="v"/>
            </a:pP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342900" marR="0" lvl="0" indent="-342900" algn="l" defTabSz="914400" rtl="0" eaLnBrk="0" fontAlgn="base" latinLnBrk="0" hangingPunct="0">
              <a:lnSpc>
                <a:spcPct val="150000"/>
              </a:lnSpc>
              <a:spcBef>
                <a:spcPct val="0"/>
              </a:spcBef>
              <a:spcAft>
                <a:spcPct val="0"/>
              </a:spcAft>
              <a:buClrTx/>
              <a:buSzTx/>
              <a:buFont typeface="Wingdings" panose="05000000000000000000" pitchFamily="2" charset="2"/>
              <a:buChar char="v"/>
              <a:tabLst/>
            </a:pPr>
            <a:r>
              <a:rPr kumimoji="0" lang="ko-KR" altLang="ko-KR"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컨테이너 중지 및 정돈</a:t>
            </a:r>
          </a:p>
          <a:p>
            <a:pPr marL="800100" lvl="1" indent="-342900" eaLnBrk="0" fontAlgn="base" hangingPunct="0">
              <a:lnSpc>
                <a:spcPct val="150000"/>
              </a:lnSpc>
              <a:spcBef>
                <a:spcPct val="0"/>
              </a:spcBef>
              <a:spcAft>
                <a:spcPct val="0"/>
              </a:spcAft>
              <a:buFont typeface="Wingdings" panose="05000000000000000000" pitchFamily="2" charset="2"/>
              <a:buChar char="v"/>
            </a:pP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docker</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stop</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&lt;</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컨테이너ID</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/이름&gt;</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실행 중인 컨테이너 안전하게 중지</a:t>
            </a:r>
            <a:endPar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800100" lvl="1" indent="-342900" eaLnBrk="0" fontAlgn="base" hangingPunct="0">
              <a:lnSpc>
                <a:spcPct val="150000"/>
              </a:lnSpc>
              <a:spcBef>
                <a:spcPct val="0"/>
              </a:spcBef>
              <a:spcAft>
                <a:spcPct val="0"/>
              </a:spcAft>
              <a:buFont typeface="Wingdings" panose="05000000000000000000" pitchFamily="2" charset="2"/>
              <a:buChar char="v"/>
            </a:pP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a:p>
            <a:pPr marL="342900" marR="0" lvl="0" indent="-342900" algn="l" defTabSz="914400" rtl="0" eaLnBrk="0" fontAlgn="base" latinLnBrk="0" hangingPunct="0">
              <a:lnSpc>
                <a:spcPct val="150000"/>
              </a:lnSpc>
              <a:spcBef>
                <a:spcPct val="0"/>
              </a:spcBef>
              <a:spcAft>
                <a:spcPct val="0"/>
              </a:spcAft>
              <a:buClrTx/>
              <a:buSzTx/>
              <a:buFont typeface="Wingdings" panose="05000000000000000000" pitchFamily="2" charset="2"/>
              <a:buChar char="v"/>
              <a:tabLst/>
            </a:pP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docker</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rm</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&lt;</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컨테이너ID</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/이름&gt;</a:t>
            </a:r>
            <a:r>
              <a:rPr kumimoji="0" lang="en-US"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 </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중지된 컨테이너 삭제 (-</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f</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옵션 추가 시 실행 중인 컨테이너 강제 삭제)</a:t>
            </a:r>
          </a:p>
        </p:txBody>
      </p:sp>
    </p:spTree>
    <p:extLst>
      <p:ext uri="{BB962C8B-B14F-4D97-AF65-F5344CB8AC3E}">
        <p14:creationId xmlns:p14="http://schemas.microsoft.com/office/powerpoint/2010/main" val="41844785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77"/>
        <p:cNvGrpSpPr/>
        <p:nvPr/>
      </p:nvGrpSpPr>
      <p:grpSpPr>
        <a:xfrm>
          <a:off x="0" y="0"/>
          <a:ext cx="0" cy="0"/>
          <a:chOff x="0" y="0"/>
          <a:chExt cx="0" cy="0"/>
        </a:xfrm>
      </p:grpSpPr>
      <p:sp>
        <p:nvSpPr>
          <p:cNvPr id="178" name="Google Shape;178;p4"/>
          <p:cNvSpPr txBox="1">
            <a:spLocks noGrp="1"/>
          </p:cNvSpPr>
          <p:nvPr>
            <p:ph type="title"/>
          </p:nvPr>
        </p:nvSpPr>
        <p:spPr>
          <a:xfrm>
            <a:off x="627467" y="440880"/>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dirty="0"/>
              <a:t>Why SW Virtualization ?</a:t>
            </a:r>
            <a:endParaRPr dirty="0"/>
          </a:p>
        </p:txBody>
      </p:sp>
      <p:sp>
        <p:nvSpPr>
          <p:cNvPr id="179" name="Google Shape;179;p4"/>
          <p:cNvSpPr txBox="1">
            <a:spLocks noGrp="1"/>
          </p:cNvSpPr>
          <p:nvPr>
            <p:ph type="sldNum" idx="12"/>
          </p:nvPr>
        </p:nvSpPr>
        <p:spPr>
          <a:xfrm>
            <a:off x="10514011" y="6036261"/>
            <a:ext cx="753545"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34</a:t>
            </a:fld>
            <a:endParaRPr/>
          </a:p>
        </p:txBody>
      </p:sp>
      <p:sp>
        <p:nvSpPr>
          <p:cNvPr id="180" name="Google Shape;180;p4"/>
          <p:cNvSpPr txBox="1"/>
          <p:nvPr/>
        </p:nvSpPr>
        <p:spPr>
          <a:xfrm>
            <a:off x="773721" y="1559599"/>
            <a:ext cx="10934701" cy="1338828"/>
          </a:xfrm>
          <a:prstGeom prst="rect">
            <a:avLst/>
          </a:prstGeom>
          <a:noFill/>
          <a:ln>
            <a:noFill/>
          </a:ln>
        </p:spPr>
        <p:txBody>
          <a:bodyPr spcFirstLastPara="1" wrap="square" lIns="91425" tIns="45700" rIns="91425" bIns="45700" anchor="t" anchorCtr="0">
            <a:spAutoFit/>
          </a:bodyPr>
          <a:lstStyle/>
          <a:p>
            <a:pPr marL="285750" marR="0" lvl="0" indent="-285750" algn="l" rtl="0">
              <a:lnSpc>
                <a:spcPct val="150000"/>
              </a:lnSpc>
              <a:spcBef>
                <a:spcPts val="0"/>
              </a:spcBef>
              <a:spcAft>
                <a:spcPts val="0"/>
              </a:spcAft>
              <a:buClr>
                <a:srgbClr val="404040"/>
              </a:buClr>
              <a:buSzPts val="1800"/>
              <a:buFont typeface="Noto Sans Symbols"/>
              <a:buChar char="❖"/>
            </a:pPr>
            <a:r>
              <a:rPr lang="en-US" sz="1800" dirty="0">
                <a:latin typeface="D2Coding" panose="020B0609020101020101" pitchFamily="49" charset="-127"/>
                <a:ea typeface="D2Coding" panose="020B0609020101020101" pitchFamily="49" charset="-127"/>
                <a:cs typeface="Batang"/>
                <a:sym typeface="Batang"/>
              </a:rPr>
              <a:t>Different Programming Language versions : java, python</a:t>
            </a:r>
            <a:endParaRPr dirty="0">
              <a:latin typeface="D2Coding" panose="020B0609020101020101" pitchFamily="49" charset="-127"/>
              <a:ea typeface="D2Coding" panose="020B0609020101020101" pitchFamily="49" charset="-127"/>
            </a:endParaRPr>
          </a:p>
          <a:p>
            <a:pPr marL="285750" marR="0" lvl="0" indent="-285750" algn="l" rtl="0">
              <a:lnSpc>
                <a:spcPct val="150000"/>
              </a:lnSpc>
              <a:spcBef>
                <a:spcPts val="0"/>
              </a:spcBef>
              <a:spcAft>
                <a:spcPts val="0"/>
              </a:spcAft>
              <a:buClr>
                <a:srgbClr val="404040"/>
              </a:buClr>
              <a:buSzPts val="1800"/>
              <a:buFont typeface="Noto Sans Symbols"/>
              <a:buChar char="❖"/>
            </a:pPr>
            <a:r>
              <a:rPr lang="en-US" sz="1800" dirty="0">
                <a:latin typeface="D2Coding" panose="020B0609020101020101" pitchFamily="49" charset="-127"/>
                <a:ea typeface="D2Coding" panose="020B0609020101020101" pitchFamily="49" charset="-127"/>
                <a:cs typeface="Batang"/>
                <a:sym typeface="Batang"/>
              </a:rPr>
              <a:t>Different Data Base versions : MySQL, Postgres, Maria DB, Mongo DB</a:t>
            </a:r>
            <a:endParaRPr sz="1800" dirty="0">
              <a:latin typeface="D2Coding" panose="020B0609020101020101" pitchFamily="49" charset="-127"/>
              <a:ea typeface="D2Coding" panose="020B0609020101020101" pitchFamily="49" charset="-127"/>
              <a:cs typeface="Batang"/>
              <a:sym typeface="Batang"/>
            </a:endParaRPr>
          </a:p>
          <a:p>
            <a:pPr marL="285750" marR="0" lvl="0" indent="-285750" algn="l" rtl="0">
              <a:lnSpc>
                <a:spcPct val="150000"/>
              </a:lnSpc>
              <a:spcBef>
                <a:spcPts val="0"/>
              </a:spcBef>
              <a:spcAft>
                <a:spcPts val="0"/>
              </a:spcAft>
              <a:buClr>
                <a:srgbClr val="404040"/>
              </a:buClr>
              <a:buSzPts val="1800"/>
              <a:buFont typeface="Noto Sans Symbols"/>
              <a:buChar char="❖"/>
            </a:pPr>
            <a:r>
              <a:rPr lang="en-US" sz="1800" dirty="0">
                <a:latin typeface="D2Coding" panose="020B0609020101020101" pitchFamily="49" charset="-127"/>
                <a:ea typeface="D2Coding" panose="020B0609020101020101" pitchFamily="49" charset="-127"/>
                <a:cs typeface="Batang"/>
                <a:sym typeface="Batang"/>
              </a:rPr>
              <a:t>Different Operating Systems (OS application Interface, OS Kernel) : Win, Mac, Linux</a:t>
            </a:r>
            <a:endParaRPr sz="1800" dirty="0">
              <a:latin typeface="D2Coding" panose="020B0609020101020101" pitchFamily="49" charset="-127"/>
              <a:ea typeface="D2Coding" panose="020B0609020101020101" pitchFamily="49" charset="-127"/>
              <a:cs typeface="Batang"/>
              <a:sym typeface="Batang"/>
            </a:endParaRPr>
          </a:p>
        </p:txBody>
      </p:sp>
      <p:sp>
        <p:nvSpPr>
          <p:cNvPr id="181" name="Google Shape;181;p4"/>
          <p:cNvSpPr txBox="1"/>
          <p:nvPr/>
        </p:nvSpPr>
        <p:spPr>
          <a:xfrm>
            <a:off x="773721" y="4017146"/>
            <a:ext cx="10934701" cy="1754326"/>
          </a:xfrm>
          <a:prstGeom prst="rect">
            <a:avLst/>
          </a:prstGeom>
          <a:noFill/>
          <a:ln>
            <a:noFill/>
          </a:ln>
        </p:spPr>
        <p:txBody>
          <a:bodyPr spcFirstLastPara="1" wrap="square" lIns="91425" tIns="45700" rIns="91425" bIns="45700" anchor="t" anchorCtr="0">
            <a:spAutoFit/>
          </a:bodyPr>
          <a:lstStyle/>
          <a:p>
            <a:pPr marL="285750" marR="0" lvl="0" indent="-285750" algn="l" rtl="0">
              <a:lnSpc>
                <a:spcPct val="150000"/>
              </a:lnSpc>
              <a:spcBef>
                <a:spcPts val="0"/>
              </a:spcBef>
              <a:spcAft>
                <a:spcPts val="0"/>
              </a:spcAft>
              <a:buClr>
                <a:srgbClr val="404040"/>
              </a:buClr>
              <a:buSzPts val="1800"/>
              <a:buFont typeface="Noto Sans Symbols"/>
              <a:buChar char="❖"/>
            </a:pPr>
            <a:r>
              <a:rPr lang="en-US" sz="1800">
                <a:latin typeface="D2Coding" panose="020B0609020101020101" pitchFamily="49" charset="-127"/>
                <a:ea typeface="D2Coding" panose="020B0609020101020101" pitchFamily="49" charset="-127"/>
                <a:cs typeface="Batang"/>
                <a:sym typeface="Batang"/>
              </a:rPr>
              <a:t>의존성(Dependency)를 줄이고 독립(격리)시키는 것이 어떨까?</a:t>
            </a:r>
            <a:endParaRPr>
              <a:latin typeface="D2Coding" panose="020B0609020101020101" pitchFamily="49" charset="-127"/>
              <a:ea typeface="D2Coding" panose="020B0609020101020101" pitchFamily="49" charset="-127"/>
            </a:endParaRPr>
          </a:p>
          <a:p>
            <a:pPr marL="285750" marR="0" lvl="0" indent="-285750" algn="l" rtl="0">
              <a:lnSpc>
                <a:spcPct val="150000"/>
              </a:lnSpc>
              <a:spcBef>
                <a:spcPts val="0"/>
              </a:spcBef>
              <a:spcAft>
                <a:spcPts val="0"/>
              </a:spcAft>
              <a:buClr>
                <a:srgbClr val="404040"/>
              </a:buClr>
              <a:buSzPts val="1800"/>
              <a:buFont typeface="Noto Sans Symbols"/>
              <a:buChar char="❖"/>
            </a:pPr>
            <a:r>
              <a:rPr lang="en-US" sz="1800">
                <a:latin typeface="D2Coding" panose="020B0609020101020101" pitchFamily="49" charset="-127"/>
                <a:ea typeface="D2Coding" panose="020B0609020101020101" pitchFamily="49" charset="-127"/>
                <a:cs typeface="Batang"/>
                <a:sym typeface="Batang"/>
              </a:rPr>
              <a:t>물리적 독립이 아니라 논리적 가상적(Virtualization) 독립?</a:t>
            </a:r>
            <a:endParaRPr>
              <a:latin typeface="D2Coding" panose="020B0609020101020101" pitchFamily="49" charset="-127"/>
              <a:ea typeface="D2Coding" panose="020B0609020101020101" pitchFamily="49" charset="-127"/>
            </a:endParaRPr>
          </a:p>
          <a:p>
            <a:pPr marL="285750" marR="0" lvl="0" indent="-285750" algn="l" rtl="0">
              <a:lnSpc>
                <a:spcPct val="150000"/>
              </a:lnSpc>
              <a:spcBef>
                <a:spcPts val="0"/>
              </a:spcBef>
              <a:spcAft>
                <a:spcPts val="0"/>
              </a:spcAft>
              <a:buClr>
                <a:srgbClr val="404040"/>
              </a:buClr>
              <a:buSzPts val="1800"/>
              <a:buFont typeface="Noto Sans Symbols"/>
              <a:buChar char="❖"/>
            </a:pPr>
            <a:r>
              <a:rPr lang="en-US" sz="1800">
                <a:latin typeface="D2Coding" panose="020B0609020101020101" pitchFamily="49" charset="-127"/>
                <a:ea typeface="D2Coding" panose="020B0609020101020101" pitchFamily="49" charset="-127"/>
                <a:cs typeface="Batang"/>
                <a:sym typeface="Batang"/>
              </a:rPr>
              <a:t>가상화가 가능하다면 누구에게나 배포가 가능</a:t>
            </a:r>
            <a:endParaRPr sz="1800">
              <a:latin typeface="D2Coding" panose="020B0609020101020101" pitchFamily="49" charset="-127"/>
              <a:ea typeface="D2Coding" panose="020B0609020101020101" pitchFamily="49" charset="-127"/>
              <a:cs typeface="Batang"/>
              <a:sym typeface="Batang"/>
            </a:endParaRPr>
          </a:p>
          <a:p>
            <a:pPr marL="285750" marR="0" lvl="0" indent="-285750" algn="l" rtl="0">
              <a:lnSpc>
                <a:spcPct val="150000"/>
              </a:lnSpc>
              <a:spcBef>
                <a:spcPts val="0"/>
              </a:spcBef>
              <a:spcAft>
                <a:spcPts val="0"/>
              </a:spcAft>
              <a:buClr>
                <a:srgbClr val="404040"/>
              </a:buClr>
              <a:buSzPts val="1800"/>
              <a:buFont typeface="Noto Sans Symbols"/>
              <a:buChar char="❖"/>
            </a:pPr>
            <a:r>
              <a:rPr lang="en-US" sz="1800">
                <a:latin typeface="D2Coding" panose="020B0609020101020101" pitchFamily="49" charset="-127"/>
                <a:ea typeface="D2Coding" panose="020B0609020101020101" pitchFamily="49" charset="-127"/>
                <a:cs typeface="Batang"/>
                <a:sym typeface="Batang"/>
              </a:rPr>
              <a:t>Binary File(bin), Library(lib)만 Image로 만들어 Containing하면 어떨까?</a:t>
            </a:r>
            <a:endParaRPr sz="1800">
              <a:latin typeface="D2Coding" panose="020B0609020101020101" pitchFamily="49" charset="-127"/>
              <a:ea typeface="D2Coding" panose="020B0609020101020101" pitchFamily="49" charset="-127"/>
              <a:cs typeface="Batang"/>
              <a:sym typeface="Batang"/>
            </a:endParaRPr>
          </a:p>
        </p:txBody>
      </p:sp>
      <p:cxnSp>
        <p:nvCxnSpPr>
          <p:cNvPr id="182" name="Google Shape;182;p4"/>
          <p:cNvCxnSpPr/>
          <p:nvPr/>
        </p:nvCxnSpPr>
        <p:spPr>
          <a:xfrm>
            <a:off x="4985238" y="3182815"/>
            <a:ext cx="0" cy="624254"/>
          </a:xfrm>
          <a:prstGeom prst="straightConnector1">
            <a:avLst/>
          </a:prstGeom>
          <a:noFill/>
          <a:ln w="28575" cap="flat" cmpd="sng">
            <a:solidFill>
              <a:schemeClr val="tx1"/>
            </a:solidFill>
            <a:prstDash val="solid"/>
            <a:round/>
            <a:headEnd type="none" w="sm" len="sm"/>
            <a:tailEnd type="triangle" w="med" len="med"/>
          </a:ln>
        </p:spPr>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5"/>
          <p:cNvSpPr txBox="1">
            <a:spLocks noGrp="1"/>
          </p:cNvSpPr>
          <p:nvPr>
            <p:ph type="title"/>
          </p:nvPr>
        </p:nvSpPr>
        <p:spPr>
          <a:xfrm>
            <a:off x="853098" y="436686"/>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dirty="0" err="1"/>
              <a:t>사진기로</a:t>
            </a:r>
            <a:r>
              <a:rPr lang="en-US" dirty="0"/>
              <a:t> </a:t>
            </a:r>
            <a:r>
              <a:rPr lang="en-US" dirty="0" err="1"/>
              <a:t>사진찍고</a:t>
            </a:r>
            <a:r>
              <a:rPr lang="en-US" dirty="0"/>
              <a:t> </a:t>
            </a:r>
            <a:r>
              <a:rPr lang="en-US" dirty="0" err="1"/>
              <a:t>인화하기</a:t>
            </a:r>
            <a:r>
              <a:rPr lang="en-US" dirty="0"/>
              <a:t> </a:t>
            </a:r>
            <a:endParaRPr dirty="0"/>
          </a:p>
        </p:txBody>
      </p:sp>
      <p:pic>
        <p:nvPicPr>
          <p:cNvPr id="189" name="Google Shape;189;p5" descr="사람의 손에 검은 니콘 DSLR 카메라"/>
          <p:cNvPicPr preferRelativeResize="0"/>
          <p:nvPr/>
        </p:nvPicPr>
        <p:blipFill rotWithShape="1">
          <a:blip r:embed="rId3">
            <a:alphaModFix/>
          </a:blip>
          <a:srcRect/>
          <a:stretch/>
        </p:blipFill>
        <p:spPr>
          <a:xfrm>
            <a:off x="853098" y="1872760"/>
            <a:ext cx="2508739" cy="3763109"/>
          </a:xfrm>
          <a:prstGeom prst="rect">
            <a:avLst/>
          </a:prstGeom>
          <a:noFill/>
          <a:ln>
            <a:noFill/>
          </a:ln>
        </p:spPr>
      </p:pic>
      <p:pic>
        <p:nvPicPr>
          <p:cNvPr id="190" name="Google Shape;190;p5" descr="창문 앞 빨랫줄에 걸려 있는 옷"/>
          <p:cNvPicPr preferRelativeResize="0"/>
          <p:nvPr/>
        </p:nvPicPr>
        <p:blipFill rotWithShape="1">
          <a:blip r:embed="rId4">
            <a:alphaModFix/>
          </a:blip>
          <a:srcRect/>
          <a:stretch/>
        </p:blipFill>
        <p:spPr>
          <a:xfrm>
            <a:off x="4498976" y="2483123"/>
            <a:ext cx="2493483" cy="1663153"/>
          </a:xfrm>
          <a:prstGeom prst="rect">
            <a:avLst/>
          </a:prstGeom>
          <a:noFill/>
          <a:ln>
            <a:noFill/>
          </a:ln>
        </p:spPr>
      </p:pic>
      <p:pic>
        <p:nvPicPr>
          <p:cNvPr id="191" name="Google Shape;191;p5" descr="해질녘 나하가르 요새에서 바라본 자이푸르의 조감도"/>
          <p:cNvPicPr preferRelativeResize="0"/>
          <p:nvPr/>
        </p:nvPicPr>
        <p:blipFill rotWithShape="1">
          <a:blip r:embed="rId5">
            <a:alphaModFix/>
          </a:blip>
          <a:srcRect/>
          <a:stretch/>
        </p:blipFill>
        <p:spPr>
          <a:xfrm>
            <a:off x="8499474" y="1248505"/>
            <a:ext cx="2161829" cy="1441940"/>
          </a:xfrm>
          <a:prstGeom prst="rect">
            <a:avLst/>
          </a:prstGeom>
          <a:noFill/>
          <a:ln>
            <a:noFill/>
          </a:ln>
        </p:spPr>
      </p:pic>
      <p:pic>
        <p:nvPicPr>
          <p:cNvPr id="192" name="Google Shape;192;p5" descr="해질녘 나하가르 요새에서 바라본 자이푸르의 조감도"/>
          <p:cNvPicPr preferRelativeResize="0"/>
          <p:nvPr/>
        </p:nvPicPr>
        <p:blipFill rotWithShape="1">
          <a:blip r:embed="rId5">
            <a:alphaModFix/>
          </a:blip>
          <a:srcRect/>
          <a:stretch/>
        </p:blipFill>
        <p:spPr>
          <a:xfrm>
            <a:off x="8651874" y="1400905"/>
            <a:ext cx="2161829" cy="1441940"/>
          </a:xfrm>
          <a:prstGeom prst="rect">
            <a:avLst/>
          </a:prstGeom>
          <a:noFill/>
          <a:ln>
            <a:noFill/>
          </a:ln>
        </p:spPr>
      </p:pic>
      <p:pic>
        <p:nvPicPr>
          <p:cNvPr id="193" name="Google Shape;193;p5" descr="해질녘 나하가르 요새에서 바라본 자이푸르의 조감도"/>
          <p:cNvPicPr preferRelativeResize="0"/>
          <p:nvPr/>
        </p:nvPicPr>
        <p:blipFill rotWithShape="1">
          <a:blip r:embed="rId5">
            <a:alphaModFix/>
          </a:blip>
          <a:srcRect/>
          <a:stretch/>
        </p:blipFill>
        <p:spPr>
          <a:xfrm>
            <a:off x="8804274" y="1553305"/>
            <a:ext cx="2161829" cy="1441940"/>
          </a:xfrm>
          <a:prstGeom prst="rect">
            <a:avLst/>
          </a:prstGeom>
          <a:noFill/>
          <a:ln>
            <a:noFill/>
          </a:ln>
        </p:spPr>
      </p:pic>
      <p:pic>
        <p:nvPicPr>
          <p:cNvPr id="194" name="Google Shape;194;p5" descr="해질녘 나하가르 요새에서 바라본 자이푸르의 조감도"/>
          <p:cNvPicPr preferRelativeResize="0"/>
          <p:nvPr/>
        </p:nvPicPr>
        <p:blipFill rotWithShape="1">
          <a:blip r:embed="rId5">
            <a:alphaModFix/>
          </a:blip>
          <a:srcRect/>
          <a:stretch/>
        </p:blipFill>
        <p:spPr>
          <a:xfrm>
            <a:off x="8956674" y="1705705"/>
            <a:ext cx="2161829" cy="1441940"/>
          </a:xfrm>
          <a:prstGeom prst="rect">
            <a:avLst/>
          </a:prstGeom>
          <a:noFill/>
          <a:ln>
            <a:noFill/>
          </a:ln>
        </p:spPr>
      </p:pic>
      <p:pic>
        <p:nvPicPr>
          <p:cNvPr id="195" name="Google Shape;195;p5" descr="낮에는 해변에 있는 갈색 나무 계단"/>
          <p:cNvPicPr preferRelativeResize="0"/>
          <p:nvPr/>
        </p:nvPicPr>
        <p:blipFill rotWithShape="1">
          <a:blip r:embed="rId6">
            <a:alphaModFix/>
          </a:blip>
          <a:srcRect/>
          <a:stretch/>
        </p:blipFill>
        <p:spPr>
          <a:xfrm>
            <a:off x="8499474" y="3628109"/>
            <a:ext cx="1557337" cy="2336005"/>
          </a:xfrm>
          <a:prstGeom prst="rect">
            <a:avLst/>
          </a:prstGeom>
          <a:noFill/>
          <a:ln>
            <a:noFill/>
          </a:ln>
        </p:spPr>
      </p:pic>
      <p:pic>
        <p:nvPicPr>
          <p:cNvPr id="196" name="Google Shape;196;p5" descr="낮에는 해변에 있는 갈색 나무 계단"/>
          <p:cNvPicPr preferRelativeResize="0"/>
          <p:nvPr/>
        </p:nvPicPr>
        <p:blipFill rotWithShape="1">
          <a:blip r:embed="rId6">
            <a:alphaModFix/>
          </a:blip>
          <a:srcRect/>
          <a:stretch/>
        </p:blipFill>
        <p:spPr>
          <a:xfrm>
            <a:off x="8651874" y="3780509"/>
            <a:ext cx="1557337" cy="2336005"/>
          </a:xfrm>
          <a:prstGeom prst="rect">
            <a:avLst/>
          </a:prstGeom>
          <a:noFill/>
          <a:ln>
            <a:noFill/>
          </a:ln>
        </p:spPr>
      </p:pic>
      <p:pic>
        <p:nvPicPr>
          <p:cNvPr id="197" name="Google Shape;197;p5" descr="낮에는 해변에 있는 갈색 나무 계단"/>
          <p:cNvPicPr preferRelativeResize="0"/>
          <p:nvPr/>
        </p:nvPicPr>
        <p:blipFill rotWithShape="1">
          <a:blip r:embed="rId6">
            <a:alphaModFix/>
          </a:blip>
          <a:srcRect/>
          <a:stretch/>
        </p:blipFill>
        <p:spPr>
          <a:xfrm>
            <a:off x="8804274" y="3932909"/>
            <a:ext cx="1557337" cy="2336005"/>
          </a:xfrm>
          <a:prstGeom prst="rect">
            <a:avLst/>
          </a:prstGeom>
          <a:noFill/>
          <a:ln>
            <a:noFill/>
          </a:ln>
        </p:spPr>
      </p:pic>
      <p:pic>
        <p:nvPicPr>
          <p:cNvPr id="198" name="Google Shape;198;p5" descr="낮에는 해변에 있는 갈색 나무 계단"/>
          <p:cNvPicPr preferRelativeResize="0"/>
          <p:nvPr/>
        </p:nvPicPr>
        <p:blipFill rotWithShape="1">
          <a:blip r:embed="rId6">
            <a:alphaModFix/>
          </a:blip>
          <a:srcRect/>
          <a:stretch/>
        </p:blipFill>
        <p:spPr>
          <a:xfrm>
            <a:off x="8956674" y="4085309"/>
            <a:ext cx="1557337" cy="2336005"/>
          </a:xfrm>
          <a:prstGeom prst="rect">
            <a:avLst/>
          </a:prstGeom>
          <a:noFill/>
          <a:ln>
            <a:noFill/>
          </a:ln>
        </p:spPr>
      </p:pic>
      <p:cxnSp>
        <p:nvCxnSpPr>
          <p:cNvPr id="199" name="Google Shape;199;p5"/>
          <p:cNvCxnSpPr/>
          <p:nvPr/>
        </p:nvCxnSpPr>
        <p:spPr>
          <a:xfrm rot="10800000" flipH="1">
            <a:off x="3649052" y="3467100"/>
            <a:ext cx="386862" cy="8611"/>
          </a:xfrm>
          <a:prstGeom prst="straightConnector1">
            <a:avLst/>
          </a:prstGeom>
          <a:noFill/>
          <a:ln w="28575" cap="flat" cmpd="sng">
            <a:solidFill>
              <a:schemeClr val="lt1"/>
            </a:solidFill>
            <a:prstDash val="solid"/>
            <a:round/>
            <a:headEnd type="none" w="sm" len="sm"/>
            <a:tailEnd type="triangle" w="med" len="med"/>
          </a:ln>
        </p:spPr>
      </p:cxnSp>
      <p:cxnSp>
        <p:nvCxnSpPr>
          <p:cNvPr id="200" name="Google Shape;200;p5"/>
          <p:cNvCxnSpPr/>
          <p:nvPr/>
        </p:nvCxnSpPr>
        <p:spPr>
          <a:xfrm rot="10800000" flipH="1">
            <a:off x="7546973" y="3408485"/>
            <a:ext cx="386862" cy="8611"/>
          </a:xfrm>
          <a:prstGeom prst="straightConnector1">
            <a:avLst/>
          </a:prstGeom>
          <a:noFill/>
          <a:ln w="28575" cap="flat" cmpd="sng">
            <a:solidFill>
              <a:schemeClr val="lt1"/>
            </a:solidFill>
            <a:prstDash val="solid"/>
            <a:round/>
            <a:headEnd type="none" w="sm" len="sm"/>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nodeType="clickEffect">
                                  <p:stCondLst>
                                    <p:cond delay="0"/>
                                  </p:stCondLst>
                                  <p:childTnLst>
                                    <p:set>
                                      <p:cBhvr>
                                        <p:cTn id="10" dur="1" fill="hold">
                                          <p:stCondLst>
                                            <p:cond delay="0"/>
                                          </p:stCondLst>
                                        </p:cTn>
                                        <p:tgtEl>
                                          <p:spTgt spid="191"/>
                                        </p:tgtEl>
                                        <p:attrNameLst>
                                          <p:attrName>style.visibility</p:attrName>
                                        </p:attrNameLst>
                                      </p:cBhvr>
                                      <p:to>
                                        <p:strVal val="visible"/>
                                      </p:to>
                                    </p:set>
                                    <p:anim calcmode="lin" valueType="num">
                                      <p:cBhvr additive="base">
                                        <p:cTn id="11" dur="500"/>
                                        <p:tgtEl>
                                          <p:spTgt spid="191"/>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92"/>
                                        </p:tgtEl>
                                        <p:attrNameLst>
                                          <p:attrName>style.visibility</p:attrName>
                                        </p:attrNameLst>
                                      </p:cBhvr>
                                      <p:to>
                                        <p:strVal val="visible"/>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93"/>
                                        </p:tgtEl>
                                        <p:attrNameLst>
                                          <p:attrName>style.visibility</p:attrName>
                                        </p:attrNameLst>
                                      </p:cBhvr>
                                      <p:to>
                                        <p:strVal val="visible"/>
                                      </p:to>
                                    </p:set>
                                    <p:animEffect transition="in" filter="fade">
                                      <p:cBhvr>
                                        <p:cTn id="20" dur="500"/>
                                        <p:tgtEl>
                                          <p:spTgt spid="19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194"/>
                                        </p:tgtEl>
                                        <p:attrNameLst>
                                          <p:attrName>style.visibility</p:attrName>
                                        </p:attrNameLst>
                                      </p:cBhvr>
                                      <p:to>
                                        <p:strVal val="visible"/>
                                      </p:to>
                                    </p:set>
                                    <p:animEffect transition="in" filter="fade">
                                      <p:cBhvr>
                                        <p:cTn id="25" dur="2000"/>
                                        <p:tgtEl>
                                          <p:spTgt spid="194"/>
                                        </p:tgtEl>
                                      </p:cBhvr>
                                    </p:animEffec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nodeType="clickEffect">
                                  <p:stCondLst>
                                    <p:cond delay="0"/>
                                  </p:stCondLst>
                                  <p:childTnLst>
                                    <p:set>
                                      <p:cBhvr>
                                        <p:cTn id="29" dur="1" fill="hold">
                                          <p:stCondLst>
                                            <p:cond delay="0"/>
                                          </p:stCondLst>
                                        </p:cTn>
                                        <p:tgtEl>
                                          <p:spTgt spid="19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96"/>
                                        </p:tgtEl>
                                        <p:attrNameLst>
                                          <p:attrName>style.visibility</p:attrName>
                                        </p:attrNameLst>
                                      </p:cBhvr>
                                      <p:to>
                                        <p:strVal val="visible"/>
                                      </p:to>
                                    </p:set>
                                    <p:animEffect transition="in" filter="fade">
                                      <p:cBhvr>
                                        <p:cTn id="34" dur="1000"/>
                                        <p:tgtEl>
                                          <p:spTgt spid="19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97"/>
                                        </p:tgtEl>
                                        <p:attrNameLst>
                                          <p:attrName>style.visibility</p:attrName>
                                        </p:attrNameLst>
                                      </p:cBhvr>
                                      <p:to>
                                        <p:strVal val="visible"/>
                                      </p:to>
                                    </p:set>
                                    <p:animEffect transition="in" filter="fade">
                                      <p:cBhvr>
                                        <p:cTn id="39" dur="500"/>
                                        <p:tgtEl>
                                          <p:spTgt spid="19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98"/>
                                        </p:tgtEl>
                                        <p:attrNameLst>
                                          <p:attrName>style.visibility</p:attrName>
                                        </p:attrNameLst>
                                      </p:cBhvr>
                                      <p:to>
                                        <p:strVal val="visible"/>
                                      </p:to>
                                    </p:set>
                                    <p:animEffect transition="in" filter="fade">
                                      <p:cBhvr>
                                        <p:cTn id="44" dur="1822"/>
                                        <p:tgtEl>
                                          <p:spTgt spid="1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5"/>
          <p:cNvSpPr txBox="1">
            <a:spLocks noGrp="1"/>
          </p:cNvSpPr>
          <p:nvPr>
            <p:ph type="title"/>
          </p:nvPr>
        </p:nvSpPr>
        <p:spPr>
          <a:xfrm>
            <a:off x="623325" y="361098"/>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r>
              <a:rPr lang="ko-KR" altLang="en-US" dirty="0"/>
              <a:t>가상화</a:t>
            </a:r>
            <a:r>
              <a:rPr lang="en-US" altLang="ko-KR" dirty="0"/>
              <a:t>(</a:t>
            </a:r>
            <a:r>
              <a:rPr lang="en-US" altLang="ko-KR" dirty="0" err="1"/>
              <a:t>Virtualizaion</a:t>
            </a:r>
            <a:r>
              <a:rPr lang="en-US" altLang="ko-KR" dirty="0"/>
              <a:t>)</a:t>
            </a:r>
            <a:endParaRPr dirty="0"/>
          </a:p>
        </p:txBody>
      </p:sp>
      <p:sp>
        <p:nvSpPr>
          <p:cNvPr id="4" name="Google Shape;213;p6">
            <a:extLst>
              <a:ext uri="{FF2B5EF4-FFF2-40B4-BE49-F238E27FC236}">
                <a16:creationId xmlns:a16="http://schemas.microsoft.com/office/drawing/2014/main" id="{4E1A47E9-35C4-0260-A6A3-BF25DA21BECC}"/>
              </a:ext>
            </a:extLst>
          </p:cNvPr>
          <p:cNvSpPr txBox="1"/>
          <p:nvPr/>
        </p:nvSpPr>
        <p:spPr>
          <a:xfrm>
            <a:off x="623325" y="1329631"/>
            <a:ext cx="10934701" cy="923289"/>
          </a:xfrm>
          <a:prstGeom prst="rect">
            <a:avLst/>
          </a:prstGeom>
          <a:noFill/>
          <a:ln>
            <a:noFill/>
          </a:ln>
        </p:spPr>
        <p:txBody>
          <a:bodyPr spcFirstLastPara="1" wrap="square" lIns="91425" tIns="45700" rIns="91425" bIns="45700" anchor="t" anchorCtr="0">
            <a:spAutoFit/>
          </a:bodyPr>
          <a:lstStyle/>
          <a:p>
            <a:pPr marL="285750" indent="-285750">
              <a:lnSpc>
                <a:spcPct val="150000"/>
              </a:lnSpc>
              <a:buClr>
                <a:schemeClr val="tx1"/>
              </a:buClr>
              <a:buSzPts val="1600"/>
              <a:buFont typeface="Noto Sans Symbols"/>
              <a:buChar char="❖"/>
            </a:pPr>
            <a:r>
              <a:rPr lang="ko-KR" altLang="en-US" sz="1800" dirty="0" err="1">
                <a:latin typeface="D2Coding" panose="020B0609020101020101" pitchFamily="49" charset="-127"/>
                <a:ea typeface="D2Coding" panose="020B0609020101020101" pitchFamily="49" charset="-127"/>
              </a:rPr>
              <a:t>가상화란</a:t>
            </a:r>
            <a:r>
              <a:rPr lang="ko-KR" altLang="en-US" sz="1800" dirty="0">
                <a:latin typeface="D2Coding" panose="020B0609020101020101" pitchFamily="49" charset="-127"/>
                <a:ea typeface="D2Coding" panose="020B0609020101020101" pitchFamily="49" charset="-127"/>
              </a:rPr>
              <a:t> 컴퓨터 자원을 가상 환경으로 분리하여 프로그램들이 상호 충돌없이 실행 가능하도록 하는 아키텍처 기술</a:t>
            </a:r>
          </a:p>
        </p:txBody>
      </p:sp>
      <p:pic>
        <p:nvPicPr>
          <p:cNvPr id="1028" name="Picture 4" descr="가상화 개념(Virtualization)">
            <a:extLst>
              <a:ext uri="{FF2B5EF4-FFF2-40B4-BE49-F238E27FC236}">
                <a16:creationId xmlns:a16="http://schemas.microsoft.com/office/drawing/2014/main" id="{ECB0EA80-DE4C-4F7E-866E-8F39DDAC65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07469" y="2455014"/>
            <a:ext cx="7336341" cy="3581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699704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p5"/>
          <p:cNvSpPr txBox="1">
            <a:spLocks noGrp="1"/>
          </p:cNvSpPr>
          <p:nvPr>
            <p:ph type="title"/>
          </p:nvPr>
        </p:nvSpPr>
        <p:spPr>
          <a:xfrm>
            <a:off x="537021" y="456614"/>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r>
              <a:rPr lang="ko-KR" altLang="en-US" dirty="0"/>
              <a:t>가상화</a:t>
            </a:r>
            <a:r>
              <a:rPr lang="en-US" altLang="ko-KR" dirty="0"/>
              <a:t>(</a:t>
            </a:r>
            <a:r>
              <a:rPr lang="en-US" altLang="ko-KR" dirty="0" err="1"/>
              <a:t>Virtualizaion</a:t>
            </a:r>
            <a:r>
              <a:rPr lang="en-US" altLang="ko-KR" dirty="0"/>
              <a:t>) </a:t>
            </a:r>
            <a:r>
              <a:rPr lang="ko-KR" altLang="en-US" dirty="0"/>
              <a:t>종류</a:t>
            </a:r>
            <a:endParaRPr dirty="0"/>
          </a:p>
        </p:txBody>
      </p:sp>
      <p:sp>
        <p:nvSpPr>
          <p:cNvPr id="188" name="Google Shape;188;p5"/>
          <p:cNvSpPr txBox="1">
            <a:spLocks noGrp="1"/>
          </p:cNvSpPr>
          <p:nvPr>
            <p:ph type="sldNum" idx="12"/>
          </p:nvPr>
        </p:nvSpPr>
        <p:spPr>
          <a:xfrm>
            <a:off x="10514011" y="6036261"/>
            <a:ext cx="753545"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37</a:t>
            </a:fld>
            <a:endParaRPr/>
          </a:p>
        </p:txBody>
      </p:sp>
      <p:sp>
        <p:nvSpPr>
          <p:cNvPr id="2" name="Google Shape;960;p66">
            <a:extLst>
              <a:ext uri="{FF2B5EF4-FFF2-40B4-BE49-F238E27FC236}">
                <a16:creationId xmlns:a16="http://schemas.microsoft.com/office/drawing/2014/main" id="{9A5E0F03-033D-5F9B-F9D6-8922F594B74B}"/>
              </a:ext>
            </a:extLst>
          </p:cNvPr>
          <p:cNvSpPr txBox="1"/>
          <p:nvPr/>
        </p:nvSpPr>
        <p:spPr>
          <a:xfrm>
            <a:off x="785998" y="1396493"/>
            <a:ext cx="10951590" cy="4524275"/>
          </a:xfrm>
          <a:prstGeom prst="rect">
            <a:avLst/>
          </a:prstGeom>
          <a:noFill/>
          <a:ln>
            <a:noFill/>
          </a:ln>
        </p:spPr>
        <p:txBody>
          <a:bodyPr spcFirstLastPara="1" wrap="square" lIns="91425" tIns="45700" rIns="91425" bIns="45700" anchor="t" anchorCtr="0">
            <a:spAutoFit/>
          </a:bodyPr>
          <a:lstStyle/>
          <a:p>
            <a:pPr marR="0" lvl="0" algn="l" rtl="0">
              <a:lnSpc>
                <a:spcPct val="150000"/>
              </a:lnSpc>
              <a:spcBef>
                <a:spcPts val="0"/>
              </a:spcBef>
              <a:spcAft>
                <a:spcPts val="0"/>
              </a:spcAft>
              <a:buClr>
                <a:schemeClr val="tx1"/>
              </a:buClr>
              <a:buSzPts val="1800"/>
            </a:pPr>
            <a:r>
              <a:rPr lang="en-US" altLang="ko-KR" sz="2000" b="1" dirty="0">
                <a:latin typeface="D2Coding" panose="020B0609020101020101" pitchFamily="49" charset="-127"/>
                <a:ea typeface="D2Coding" panose="020B0609020101020101" pitchFamily="49" charset="-127"/>
                <a:cs typeface="Batang"/>
                <a:sym typeface="Batang"/>
              </a:rPr>
              <a:t>1. </a:t>
            </a:r>
            <a:r>
              <a:rPr lang="ko-KR" altLang="en-US" sz="2000" b="1" dirty="0">
                <a:latin typeface="D2Coding" panose="020B0609020101020101" pitchFamily="49" charset="-127"/>
                <a:ea typeface="D2Coding" panose="020B0609020101020101" pitchFamily="49" charset="-127"/>
                <a:cs typeface="Batang"/>
                <a:sym typeface="Batang"/>
              </a:rPr>
              <a:t>머신 가상화 </a:t>
            </a:r>
            <a:r>
              <a:rPr lang="en-US" altLang="ko-KR" sz="2000" b="1" dirty="0">
                <a:latin typeface="D2Coding" panose="020B0609020101020101" pitchFamily="49" charset="-127"/>
                <a:ea typeface="D2Coding" panose="020B0609020101020101" pitchFamily="49" charset="-127"/>
                <a:cs typeface="Batang"/>
                <a:sym typeface="Batang"/>
              </a:rPr>
              <a:t>– (virtual</a:t>
            </a:r>
            <a:r>
              <a:rPr lang="ko-KR" altLang="en-US" sz="2000" b="1" dirty="0">
                <a:latin typeface="D2Coding" panose="020B0609020101020101" pitchFamily="49" charset="-127"/>
                <a:ea typeface="D2Coding" panose="020B0609020101020101" pitchFamily="49" charset="-127"/>
                <a:cs typeface="Batang"/>
                <a:sym typeface="Batang"/>
              </a:rPr>
              <a:t> </a:t>
            </a:r>
            <a:r>
              <a:rPr lang="en-US" altLang="ko-KR" sz="2000" b="1" dirty="0">
                <a:latin typeface="D2Coding" panose="020B0609020101020101" pitchFamily="49" charset="-127"/>
                <a:ea typeface="D2Coding" panose="020B0609020101020101" pitchFamily="49" charset="-127"/>
                <a:cs typeface="Batang"/>
                <a:sym typeface="Batang"/>
              </a:rPr>
              <a:t>machine, </a:t>
            </a:r>
            <a:r>
              <a:rPr lang="en-US" altLang="ko-KR" sz="2000" b="1" dirty="0" err="1">
                <a:latin typeface="D2Coding" panose="020B0609020101020101" pitchFamily="49" charset="-127"/>
                <a:ea typeface="D2Coding" panose="020B0609020101020101" pitchFamily="49" charset="-127"/>
                <a:cs typeface="Batang"/>
                <a:sym typeface="Batang"/>
              </a:rPr>
              <a:t>virtualbox</a:t>
            </a:r>
            <a:r>
              <a:rPr lang="en-US" altLang="ko-KR" sz="2000" b="1" dirty="0">
                <a:latin typeface="D2Coding" panose="020B0609020101020101" pitchFamily="49" charset="-127"/>
                <a:ea typeface="D2Coding" panose="020B0609020101020101" pitchFamily="49" charset="-127"/>
                <a:cs typeface="Batang"/>
                <a:sym typeface="Batang"/>
              </a:rPr>
              <a:t>, WSL)</a:t>
            </a:r>
            <a:endParaRPr lang="ko-KR" altLang="en-US" sz="2000" b="1" dirty="0">
              <a:latin typeface="D2Coding" panose="020B0609020101020101" pitchFamily="49" charset="-127"/>
              <a:ea typeface="D2Coding" panose="020B0609020101020101" pitchFamily="49" charset="-127"/>
              <a:cs typeface="Batang"/>
              <a:sym typeface="Batang"/>
            </a:endParaRPr>
          </a:p>
          <a:p>
            <a:pPr marL="285750" marR="0" lvl="0" indent="-285750" algn="l" rtl="0">
              <a:lnSpc>
                <a:spcPct val="150000"/>
              </a:lnSpc>
              <a:spcBef>
                <a:spcPts val="0"/>
              </a:spcBef>
              <a:spcAft>
                <a:spcPts val="0"/>
              </a:spcAft>
              <a:buClr>
                <a:schemeClr val="tx1"/>
              </a:buClr>
              <a:buSzPts val="1800"/>
              <a:buFont typeface="Wingdings" panose="05000000000000000000" pitchFamily="2" charset="2"/>
              <a:buChar char="v"/>
            </a:pPr>
            <a:r>
              <a:rPr lang="ko-KR" altLang="en-US" sz="1600" dirty="0">
                <a:latin typeface="D2Coding" panose="020B0609020101020101" pitchFamily="49" charset="-127"/>
                <a:ea typeface="D2Coding" panose="020B0609020101020101" pitchFamily="49" charset="-127"/>
                <a:cs typeface="Batang"/>
                <a:sym typeface="Batang"/>
              </a:rPr>
              <a:t>다수의 </a:t>
            </a:r>
            <a:r>
              <a:rPr lang="en-US" altLang="ko-KR" sz="1600" dirty="0">
                <a:latin typeface="D2Coding" panose="020B0609020101020101" pitchFamily="49" charset="-127"/>
                <a:ea typeface="D2Coding" panose="020B0609020101020101" pitchFamily="49" charset="-127"/>
                <a:cs typeface="Batang"/>
                <a:sym typeface="Batang"/>
              </a:rPr>
              <a:t>OS</a:t>
            </a:r>
            <a:r>
              <a:rPr lang="ko-KR" altLang="en-US" sz="1600" dirty="0">
                <a:latin typeface="D2Coding" panose="020B0609020101020101" pitchFamily="49" charset="-127"/>
                <a:ea typeface="D2Coding" panose="020B0609020101020101" pitchFamily="49" charset="-127"/>
                <a:cs typeface="Batang"/>
                <a:sym typeface="Batang"/>
              </a:rPr>
              <a:t>를 동시에 실행하는 플랫폼으로 </a:t>
            </a:r>
            <a:r>
              <a:rPr lang="ko-KR" altLang="en-US" sz="1600" dirty="0" err="1">
                <a:latin typeface="D2Coding" panose="020B0609020101020101" pitchFamily="49" charset="-127"/>
                <a:ea typeface="D2Coding" panose="020B0609020101020101" pitchFamily="49" charset="-127"/>
                <a:cs typeface="Batang"/>
                <a:sym typeface="Batang"/>
              </a:rPr>
              <a:t>하이퍼바이저에</a:t>
            </a:r>
            <a:r>
              <a:rPr lang="ko-KR" altLang="en-US" sz="1600" dirty="0">
                <a:latin typeface="D2Coding" panose="020B0609020101020101" pitchFamily="49" charset="-127"/>
                <a:ea typeface="D2Coding" panose="020B0609020101020101" pitchFamily="49" charset="-127"/>
                <a:cs typeface="Batang"/>
                <a:sym typeface="Batang"/>
              </a:rPr>
              <a:t> </a:t>
            </a:r>
            <a:r>
              <a:rPr lang="en-US" altLang="ko-KR" sz="1600" dirty="0">
                <a:latin typeface="D2Coding" panose="020B0609020101020101" pitchFamily="49" charset="-127"/>
                <a:ea typeface="D2Coding" panose="020B0609020101020101" pitchFamily="49" charset="-127"/>
                <a:cs typeface="Batang"/>
                <a:sym typeface="Batang"/>
              </a:rPr>
              <a:t>OS</a:t>
            </a:r>
            <a:r>
              <a:rPr lang="ko-KR" altLang="en-US" sz="1600" dirty="0">
                <a:latin typeface="D2Coding" panose="020B0609020101020101" pitchFamily="49" charset="-127"/>
                <a:ea typeface="D2Coding" panose="020B0609020101020101" pitchFamily="49" charset="-127"/>
                <a:cs typeface="Batang"/>
                <a:sym typeface="Batang"/>
              </a:rPr>
              <a:t>를 설치하여 운영하는 구조이며</a:t>
            </a:r>
            <a:r>
              <a:rPr lang="en-US" altLang="ko-KR" sz="1600" dirty="0">
                <a:latin typeface="D2Coding" panose="020B0609020101020101" pitchFamily="49" charset="-127"/>
                <a:ea typeface="D2Coding" panose="020B0609020101020101" pitchFamily="49" charset="-127"/>
                <a:cs typeface="Batang"/>
                <a:sym typeface="Batang"/>
              </a:rPr>
              <a:t>, </a:t>
            </a:r>
            <a:r>
              <a:rPr lang="ko-KR" altLang="en-US" sz="1600" dirty="0">
                <a:latin typeface="D2Coding" panose="020B0609020101020101" pitchFamily="49" charset="-127"/>
                <a:ea typeface="D2Coding" panose="020B0609020101020101" pitchFamily="49" charset="-127"/>
                <a:cs typeface="Batang"/>
                <a:sym typeface="Batang"/>
              </a:rPr>
              <a:t>여러 가지 종류의 </a:t>
            </a:r>
            <a:r>
              <a:rPr lang="ko-KR" altLang="en-US" sz="1600" dirty="0" err="1">
                <a:latin typeface="D2Coding" panose="020B0609020101020101" pitchFamily="49" charset="-127"/>
                <a:ea typeface="D2Coding" panose="020B0609020101020101" pitchFamily="49" charset="-127"/>
                <a:cs typeface="Batang"/>
                <a:sym typeface="Batang"/>
              </a:rPr>
              <a:t>하이퍼바이저</a:t>
            </a:r>
            <a:r>
              <a:rPr lang="en-US" altLang="ko-KR" sz="1600" dirty="0">
                <a:latin typeface="D2Coding" panose="020B0609020101020101" pitchFamily="49" charset="-127"/>
                <a:ea typeface="D2Coding" panose="020B0609020101020101" pitchFamily="49" charset="-127"/>
                <a:cs typeface="Batang"/>
                <a:sym typeface="Batang"/>
              </a:rPr>
              <a:t>(Hypervisor)</a:t>
            </a:r>
            <a:r>
              <a:rPr lang="ko-KR" altLang="en-US" sz="1600" dirty="0">
                <a:latin typeface="D2Coding" panose="020B0609020101020101" pitchFamily="49" charset="-127"/>
                <a:ea typeface="D2Coding" panose="020B0609020101020101" pitchFamily="49" charset="-127"/>
                <a:cs typeface="Batang"/>
                <a:sym typeface="Batang"/>
              </a:rPr>
              <a:t>가 존재하게 되며 대표적으로 </a:t>
            </a:r>
            <a:r>
              <a:rPr lang="en-US" altLang="ko-KR" sz="1600" dirty="0" err="1">
                <a:latin typeface="D2Coding" panose="020B0609020101020101" pitchFamily="49" charset="-127"/>
                <a:ea typeface="D2Coding" panose="020B0609020101020101" pitchFamily="49" charset="-127"/>
                <a:cs typeface="Batang"/>
                <a:sym typeface="Batang"/>
              </a:rPr>
              <a:t>virtualbox</a:t>
            </a:r>
            <a:r>
              <a:rPr lang="en-US" altLang="ko-KR" sz="1600" dirty="0">
                <a:latin typeface="D2Coding" panose="020B0609020101020101" pitchFamily="49" charset="-127"/>
                <a:ea typeface="D2Coding" panose="020B0609020101020101" pitchFamily="49" charset="-127"/>
                <a:cs typeface="Batang"/>
                <a:sym typeface="Batang"/>
              </a:rPr>
              <a:t>, </a:t>
            </a:r>
            <a:r>
              <a:rPr lang="en-US" altLang="ko-KR" sz="1600" dirty="0" err="1">
                <a:latin typeface="D2Coding" panose="020B0609020101020101" pitchFamily="49" charset="-127"/>
                <a:ea typeface="D2Coding" panose="020B0609020101020101" pitchFamily="49" charset="-127"/>
                <a:cs typeface="Batang"/>
                <a:sym typeface="Batang"/>
              </a:rPr>
              <a:t>wsl</a:t>
            </a:r>
            <a:r>
              <a:rPr lang="ko-KR" altLang="en-US" sz="1600" dirty="0">
                <a:latin typeface="D2Coding" panose="020B0609020101020101" pitchFamily="49" charset="-127"/>
                <a:ea typeface="D2Coding" panose="020B0609020101020101" pitchFamily="49" charset="-127"/>
                <a:cs typeface="Batang"/>
                <a:sym typeface="Batang"/>
              </a:rPr>
              <a:t> 등이</a:t>
            </a:r>
            <a:r>
              <a:rPr lang="en-US" altLang="ko-KR" sz="1600" dirty="0">
                <a:latin typeface="D2Coding" panose="020B0609020101020101" pitchFamily="49" charset="-127"/>
                <a:ea typeface="D2Coding" panose="020B0609020101020101" pitchFamily="49" charset="-127"/>
                <a:cs typeface="Batang"/>
                <a:sym typeface="Batang"/>
              </a:rPr>
              <a:t> </a:t>
            </a:r>
            <a:r>
              <a:rPr lang="ko-KR" altLang="en-US" sz="1600" dirty="0">
                <a:latin typeface="D2Coding" panose="020B0609020101020101" pitchFamily="49" charset="-127"/>
                <a:ea typeface="D2Coding" panose="020B0609020101020101" pitchFamily="49" charset="-127"/>
                <a:cs typeface="Batang"/>
                <a:sym typeface="Batang"/>
              </a:rPr>
              <a:t>있음</a:t>
            </a:r>
            <a:endParaRPr lang="ko-KR" altLang="en-US" sz="1200" dirty="0">
              <a:latin typeface="D2Coding" panose="020B0609020101020101" pitchFamily="49" charset="-127"/>
              <a:ea typeface="D2Coding" panose="020B0609020101020101" pitchFamily="49" charset="-127"/>
            </a:endParaRPr>
          </a:p>
          <a:p>
            <a:pPr marL="285750" marR="0" lvl="0" indent="-285750" algn="l" rtl="0">
              <a:lnSpc>
                <a:spcPct val="150000"/>
              </a:lnSpc>
              <a:spcBef>
                <a:spcPts val="0"/>
              </a:spcBef>
              <a:spcAft>
                <a:spcPts val="0"/>
              </a:spcAft>
              <a:buClr>
                <a:schemeClr val="tx1"/>
              </a:buClr>
              <a:buSzPts val="1800"/>
              <a:buFont typeface="Wingdings" panose="05000000000000000000" pitchFamily="2" charset="2"/>
              <a:buChar char="v"/>
            </a:pPr>
            <a:endParaRPr lang="en-US" altLang="ko-KR" dirty="0">
              <a:latin typeface="D2Coding" panose="020B0609020101020101" pitchFamily="49" charset="-127"/>
              <a:ea typeface="D2Coding" panose="020B0609020101020101" pitchFamily="49" charset="-127"/>
              <a:cs typeface="Batang"/>
              <a:sym typeface="Batang"/>
            </a:endParaRPr>
          </a:p>
          <a:p>
            <a:pPr lvl="0">
              <a:lnSpc>
                <a:spcPct val="150000"/>
              </a:lnSpc>
              <a:buClr>
                <a:schemeClr val="tx1"/>
              </a:buClr>
              <a:buSzPts val="1800"/>
            </a:pPr>
            <a:r>
              <a:rPr lang="en-US" altLang="ko-KR" sz="2000" b="1" dirty="0">
                <a:latin typeface="D2Coding" panose="020B0609020101020101" pitchFamily="49" charset="-127"/>
                <a:ea typeface="D2Coding" panose="020B0609020101020101" pitchFamily="49" charset="-127"/>
                <a:cs typeface="Batang"/>
                <a:sym typeface="Batang"/>
              </a:rPr>
              <a:t>2. OS </a:t>
            </a:r>
            <a:r>
              <a:rPr lang="ko-KR" altLang="en-US" sz="2000" b="1" dirty="0">
                <a:latin typeface="D2Coding" panose="020B0609020101020101" pitchFamily="49" charset="-127"/>
                <a:ea typeface="D2Coding" panose="020B0609020101020101" pitchFamily="49" charset="-127"/>
                <a:cs typeface="Batang"/>
                <a:sym typeface="Batang"/>
              </a:rPr>
              <a:t>수준 가상화 </a:t>
            </a:r>
            <a:r>
              <a:rPr lang="en-US" altLang="ko-KR" sz="2000" b="1" dirty="0">
                <a:latin typeface="D2Coding" panose="020B0609020101020101" pitchFamily="49" charset="-127"/>
                <a:ea typeface="D2Coding" panose="020B0609020101020101" pitchFamily="49" charset="-127"/>
                <a:cs typeface="Batang"/>
                <a:sym typeface="Batang"/>
              </a:rPr>
              <a:t>- (docker)</a:t>
            </a:r>
          </a:p>
          <a:p>
            <a:pPr marL="285750" lvl="8" indent="-285750">
              <a:lnSpc>
                <a:spcPct val="150000"/>
              </a:lnSpc>
              <a:buClr>
                <a:schemeClr val="tx1"/>
              </a:buClr>
              <a:buSzPts val="1800"/>
              <a:buFont typeface="Wingdings" panose="05000000000000000000" pitchFamily="2" charset="2"/>
              <a:buChar char="v"/>
            </a:pPr>
            <a:r>
              <a:rPr lang="ko-KR" altLang="en-US" sz="1600" dirty="0">
                <a:latin typeface="D2Coding" panose="020B0609020101020101" pitchFamily="49" charset="-127"/>
                <a:ea typeface="D2Coding" panose="020B0609020101020101" pitchFamily="49" charset="-127"/>
                <a:cs typeface="Batang"/>
                <a:sym typeface="Batang"/>
              </a:rPr>
              <a:t>하나의 </a:t>
            </a:r>
            <a:r>
              <a:rPr lang="en-US" altLang="ko-KR" sz="1600" dirty="0">
                <a:latin typeface="D2Coding" panose="020B0609020101020101" pitchFamily="49" charset="-127"/>
                <a:ea typeface="D2Coding" panose="020B0609020101020101" pitchFamily="49" charset="-127"/>
                <a:cs typeface="Batang"/>
                <a:sym typeface="Batang"/>
              </a:rPr>
              <a:t>OS </a:t>
            </a:r>
            <a:r>
              <a:rPr lang="ko-KR" altLang="en-US" sz="1600" dirty="0">
                <a:latin typeface="D2Coding" panose="020B0609020101020101" pitchFamily="49" charset="-127"/>
                <a:ea typeface="D2Coding" panose="020B0609020101020101" pitchFamily="49" charset="-127"/>
                <a:cs typeface="Batang"/>
                <a:sym typeface="Batang"/>
              </a:rPr>
              <a:t>커널을 여러 개의 공간으로 격리하여 각각의 컨테이너가 마치 독립된 것처럼 사용하여 </a:t>
            </a:r>
            <a:r>
              <a:rPr lang="en-US" altLang="ko-KR" sz="1600" dirty="0">
                <a:latin typeface="D2Coding" panose="020B0609020101020101" pitchFamily="49" charset="-127"/>
                <a:ea typeface="D2Coding" panose="020B0609020101020101" pitchFamily="49" charset="-127"/>
                <a:cs typeface="Batang"/>
                <a:sym typeface="Batang"/>
              </a:rPr>
              <a:t>OS</a:t>
            </a:r>
            <a:r>
              <a:rPr lang="ko-KR" altLang="en-US" sz="1600" dirty="0">
                <a:latin typeface="D2Coding" panose="020B0609020101020101" pitchFamily="49" charset="-127"/>
                <a:ea typeface="D2Coding" panose="020B0609020101020101" pitchFamily="49" charset="-127"/>
                <a:cs typeface="Batang"/>
                <a:sym typeface="Batang"/>
              </a:rPr>
              <a:t>를 새로 설치하지 않고 </a:t>
            </a:r>
            <a:r>
              <a:rPr lang="en-US" altLang="ko-KR" sz="1600" dirty="0">
                <a:latin typeface="D2Coding" panose="020B0609020101020101" pitchFamily="49" charset="-127"/>
                <a:ea typeface="D2Coding" panose="020B0609020101020101" pitchFamily="49" charset="-127"/>
                <a:cs typeface="Batang"/>
                <a:sym typeface="Batang"/>
              </a:rPr>
              <a:t>host OS</a:t>
            </a:r>
            <a:r>
              <a:rPr lang="ko-KR" altLang="en-US" sz="1600" dirty="0">
                <a:latin typeface="D2Coding" panose="020B0609020101020101" pitchFamily="49" charset="-127"/>
                <a:ea typeface="D2Coding" panose="020B0609020101020101" pitchFamily="49" charset="-127"/>
                <a:cs typeface="Batang"/>
                <a:sym typeface="Batang"/>
              </a:rPr>
              <a:t>의 커널을 공유하게 되어 실행 속도가 빠르고 성능 상의 손실이 적다</a:t>
            </a:r>
            <a:r>
              <a:rPr lang="en-US" altLang="ko-KR" sz="1600" dirty="0">
                <a:latin typeface="D2Coding" panose="020B0609020101020101" pitchFamily="49" charset="-127"/>
                <a:ea typeface="D2Coding" panose="020B0609020101020101" pitchFamily="49" charset="-127"/>
                <a:cs typeface="Batang"/>
                <a:sym typeface="Batang"/>
              </a:rPr>
              <a:t>. </a:t>
            </a:r>
            <a:r>
              <a:rPr lang="ko-KR" altLang="en-US" sz="1600" dirty="0">
                <a:latin typeface="D2Coding" panose="020B0609020101020101" pitchFamily="49" charset="-127"/>
                <a:ea typeface="D2Coding" panose="020B0609020101020101" pitchFamily="49" charset="-127"/>
                <a:cs typeface="Batang"/>
                <a:sym typeface="Batang"/>
              </a:rPr>
              <a:t>사용자에게는 가상머신처럼 보임</a:t>
            </a:r>
            <a:endParaRPr lang="en-US" altLang="ko-KR" sz="1600" dirty="0">
              <a:latin typeface="D2Coding" panose="020B0609020101020101" pitchFamily="49" charset="-127"/>
              <a:ea typeface="D2Coding" panose="020B0609020101020101" pitchFamily="49" charset="-127"/>
              <a:cs typeface="Batang"/>
              <a:sym typeface="Batang"/>
            </a:endParaRPr>
          </a:p>
          <a:p>
            <a:pPr marL="285750" marR="0" lvl="0" indent="-285750" algn="l" rtl="0">
              <a:lnSpc>
                <a:spcPct val="150000"/>
              </a:lnSpc>
              <a:spcBef>
                <a:spcPts val="0"/>
              </a:spcBef>
              <a:spcAft>
                <a:spcPts val="0"/>
              </a:spcAft>
              <a:buClr>
                <a:schemeClr val="tx1"/>
              </a:buClr>
              <a:buSzPts val="1800"/>
              <a:buFont typeface="Wingdings" panose="05000000000000000000" pitchFamily="2" charset="2"/>
              <a:buChar char="v"/>
            </a:pPr>
            <a:endParaRPr lang="en-US" altLang="ko-KR" sz="1800" dirty="0">
              <a:latin typeface="D2Coding" panose="020B0609020101020101" pitchFamily="49" charset="-127"/>
              <a:ea typeface="D2Coding" panose="020B0609020101020101" pitchFamily="49" charset="-127"/>
              <a:cs typeface="Batang"/>
              <a:sym typeface="Batang"/>
            </a:endParaRPr>
          </a:p>
          <a:p>
            <a:pPr marR="0" lvl="0" algn="l" rtl="0">
              <a:lnSpc>
                <a:spcPct val="150000"/>
              </a:lnSpc>
              <a:spcBef>
                <a:spcPts val="0"/>
              </a:spcBef>
              <a:spcAft>
                <a:spcPts val="0"/>
              </a:spcAft>
              <a:buClr>
                <a:schemeClr val="tx1"/>
              </a:buClr>
              <a:buSzPts val="1800"/>
            </a:pPr>
            <a:r>
              <a:rPr lang="en-US" altLang="ko-KR" sz="2000" b="1" dirty="0">
                <a:latin typeface="D2Coding" panose="020B0609020101020101" pitchFamily="49" charset="-127"/>
                <a:ea typeface="D2Coding" panose="020B0609020101020101" pitchFamily="49" charset="-127"/>
                <a:cs typeface="Batang"/>
                <a:sym typeface="Batang"/>
              </a:rPr>
              <a:t>3. </a:t>
            </a:r>
            <a:r>
              <a:rPr lang="ko-KR" altLang="en-US" sz="2000" b="1" dirty="0">
                <a:latin typeface="D2Coding" panose="020B0609020101020101" pitchFamily="49" charset="-127"/>
                <a:ea typeface="D2Coding" panose="020B0609020101020101" pitchFamily="49" charset="-127"/>
                <a:cs typeface="Batang"/>
                <a:sym typeface="Batang"/>
              </a:rPr>
              <a:t>개발 환경 가상화 </a:t>
            </a:r>
          </a:p>
          <a:p>
            <a:pPr marL="285750" marR="0" lvl="0" indent="-285750" algn="l" rtl="0">
              <a:lnSpc>
                <a:spcPct val="150000"/>
              </a:lnSpc>
              <a:spcBef>
                <a:spcPts val="0"/>
              </a:spcBef>
              <a:spcAft>
                <a:spcPts val="0"/>
              </a:spcAft>
              <a:buClr>
                <a:schemeClr val="tx1"/>
              </a:buClr>
              <a:buSzPts val="1800"/>
              <a:buFont typeface="Wingdings" panose="05000000000000000000" pitchFamily="2" charset="2"/>
              <a:buChar char="v"/>
            </a:pPr>
            <a:r>
              <a:rPr lang="en-US" altLang="ko-KR" sz="1600" dirty="0" err="1">
                <a:latin typeface="D2Coding" panose="020B0609020101020101" pitchFamily="49" charset="-127"/>
                <a:ea typeface="D2Coding" panose="020B0609020101020101" pitchFamily="49" charset="-127"/>
                <a:cs typeface="Batang"/>
                <a:sym typeface="Batang"/>
              </a:rPr>
              <a:t>venv</a:t>
            </a:r>
            <a:r>
              <a:rPr lang="en-US" altLang="ko-KR" sz="1600" dirty="0">
                <a:latin typeface="D2Coding" panose="020B0609020101020101" pitchFamily="49" charset="-127"/>
                <a:ea typeface="D2Coding" panose="020B0609020101020101" pitchFamily="49" charset="-127"/>
                <a:cs typeface="Batang"/>
                <a:sym typeface="Batang"/>
              </a:rPr>
              <a:t> </a:t>
            </a:r>
            <a:r>
              <a:rPr lang="ko-KR" altLang="en-US" sz="1600" dirty="0">
                <a:latin typeface="D2Coding" panose="020B0609020101020101" pitchFamily="49" charset="-127"/>
                <a:ea typeface="D2Coding" panose="020B0609020101020101" pitchFamily="49" charset="-127"/>
                <a:cs typeface="Batang"/>
                <a:sym typeface="Batang"/>
              </a:rPr>
              <a:t>등 특정 폴더를 가상환경으로 만들어서 라이브러리나 소스코드를 관리하는 가상화 방식</a:t>
            </a:r>
            <a:endParaRPr lang="en-US" altLang="ko-KR" sz="1600" dirty="0">
              <a:latin typeface="D2Coding" panose="020B0609020101020101" pitchFamily="49" charset="-127"/>
              <a:ea typeface="D2Coding" panose="020B0609020101020101" pitchFamily="49" charset="-127"/>
              <a:cs typeface="Batang"/>
              <a:sym typeface="Batang"/>
            </a:endParaRPr>
          </a:p>
        </p:txBody>
      </p:sp>
    </p:spTree>
    <p:extLst>
      <p:ext uri="{BB962C8B-B14F-4D97-AF65-F5344CB8AC3E}">
        <p14:creationId xmlns:p14="http://schemas.microsoft.com/office/powerpoint/2010/main" val="25599140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7"/>
          <p:cNvSpPr txBox="1">
            <a:spLocks noGrp="1"/>
          </p:cNvSpPr>
          <p:nvPr>
            <p:ph type="title"/>
          </p:nvPr>
        </p:nvSpPr>
        <p:spPr>
          <a:xfrm>
            <a:off x="913795" y="456614"/>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b="1" dirty="0"/>
              <a:t>Traditional Installation before docker</a:t>
            </a:r>
            <a:endParaRPr dirty="0"/>
          </a:p>
        </p:txBody>
      </p:sp>
      <p:sp>
        <p:nvSpPr>
          <p:cNvPr id="220" name="Google Shape;220;p7"/>
          <p:cNvSpPr txBox="1"/>
          <p:nvPr/>
        </p:nvSpPr>
        <p:spPr>
          <a:xfrm>
            <a:off x="2363578" y="5004354"/>
            <a:ext cx="1944262" cy="31467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0" u="sng">
                <a:solidFill>
                  <a:schemeClr val="lt1"/>
                </a:solidFill>
                <a:latin typeface="Arial"/>
                <a:ea typeface="Arial"/>
                <a:cs typeface="Arial"/>
                <a:sym typeface="Arial"/>
                <a:hlinkClick r:id="rId3">
                  <a:extLst>
                    <a:ext uri="{A12FA001-AC4F-418D-AE19-62706E023703}">
                      <ahyp:hlinkClr xmlns:ahyp="http://schemas.microsoft.com/office/drawing/2018/hyperlinkcolor" val="tx"/>
                    </a:ext>
                  </a:extLst>
                </a:hlinkClick>
              </a:rPr>
              <a:t>생활코딩_Docker</a:t>
            </a:r>
            <a:endParaRPr sz="1400" b="1">
              <a:solidFill>
                <a:schemeClr val="lt1"/>
              </a:solidFill>
              <a:latin typeface="Sorts Mill Goudy"/>
              <a:ea typeface="Sorts Mill Goudy"/>
              <a:cs typeface="Sorts Mill Goudy"/>
              <a:sym typeface="Sorts Mill Goudy"/>
            </a:endParaRPr>
          </a:p>
        </p:txBody>
      </p:sp>
      <p:sp>
        <p:nvSpPr>
          <p:cNvPr id="221" name="Google Shape;221;p7" descr="Deployment evolution"/>
          <p:cNvSpPr/>
          <p:nvPr/>
        </p:nvSpPr>
        <p:spPr>
          <a:xfrm>
            <a:off x="6096000" y="3429000"/>
            <a:ext cx="304800" cy="3048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lt1"/>
              </a:solidFill>
              <a:latin typeface="Sorts Mill Goudy"/>
              <a:ea typeface="Sorts Mill Goudy"/>
              <a:cs typeface="Sorts Mill Goudy"/>
              <a:sym typeface="Sorts Mill Goudy"/>
            </a:endParaRPr>
          </a:p>
        </p:txBody>
      </p:sp>
      <p:pic>
        <p:nvPicPr>
          <p:cNvPr id="222" name="Google Shape;222;p7"/>
          <p:cNvPicPr preferRelativeResize="0"/>
          <p:nvPr/>
        </p:nvPicPr>
        <p:blipFill rotWithShape="1">
          <a:blip r:embed="rId4">
            <a:alphaModFix/>
          </a:blip>
          <a:srcRect/>
          <a:stretch/>
        </p:blipFill>
        <p:spPr>
          <a:xfrm>
            <a:off x="2513871" y="1993204"/>
            <a:ext cx="7153610" cy="2871591"/>
          </a:xfrm>
          <a:prstGeom prst="rect">
            <a:avLst/>
          </a:prstGeom>
          <a:noFill/>
          <a:ln>
            <a:noFill/>
          </a:ln>
        </p:spPr>
      </p:pic>
      <p:sp>
        <p:nvSpPr>
          <p:cNvPr id="223" name="Google Shape;223;p7"/>
          <p:cNvSpPr txBox="1"/>
          <p:nvPr/>
        </p:nvSpPr>
        <p:spPr>
          <a:xfrm>
            <a:off x="3688080" y="2026920"/>
            <a:ext cx="1691640" cy="3657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a:solidFill>
                  <a:schemeClr val="dk1"/>
                </a:solidFill>
                <a:latin typeface="Sorts Mill Goudy"/>
                <a:ea typeface="Sorts Mill Goudy"/>
                <a:cs typeface="Sorts Mill Goudy"/>
                <a:sym typeface="Sorts Mill Goudy"/>
              </a:rPr>
              <a:t>Network:port</a:t>
            </a:r>
            <a:endParaRPr sz="1800">
              <a:solidFill>
                <a:schemeClr val="dk1"/>
              </a:solidFill>
              <a:latin typeface="Sorts Mill Goudy"/>
              <a:ea typeface="Sorts Mill Goudy"/>
              <a:cs typeface="Sorts Mill Goudy"/>
              <a:sym typeface="Sorts Mill Goudy"/>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27"/>
        <p:cNvGrpSpPr/>
        <p:nvPr/>
      </p:nvGrpSpPr>
      <p:grpSpPr>
        <a:xfrm>
          <a:off x="0" y="0"/>
          <a:ext cx="0" cy="0"/>
          <a:chOff x="0" y="0"/>
          <a:chExt cx="0" cy="0"/>
        </a:xfrm>
      </p:grpSpPr>
      <p:sp>
        <p:nvSpPr>
          <p:cNvPr id="228" name="Google Shape;228;p8"/>
          <p:cNvSpPr txBox="1">
            <a:spLocks noGrp="1"/>
          </p:cNvSpPr>
          <p:nvPr>
            <p:ph type="title"/>
          </p:nvPr>
        </p:nvSpPr>
        <p:spPr>
          <a:xfrm>
            <a:off x="919119" y="445126"/>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dirty="0"/>
              <a:t>1. Virtual Machine (Linux)</a:t>
            </a:r>
            <a:endParaRPr dirty="0"/>
          </a:p>
        </p:txBody>
      </p:sp>
      <p:sp>
        <p:nvSpPr>
          <p:cNvPr id="230" name="Google Shape;230;p8"/>
          <p:cNvSpPr txBox="1"/>
          <p:nvPr/>
        </p:nvSpPr>
        <p:spPr>
          <a:xfrm>
            <a:off x="1022458" y="5773261"/>
            <a:ext cx="1944262" cy="31467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0" u="sng">
                <a:solidFill>
                  <a:schemeClr val="lt1"/>
                </a:solidFill>
                <a:latin typeface="Arial"/>
                <a:ea typeface="Arial"/>
                <a:cs typeface="Arial"/>
                <a:sym typeface="Arial"/>
                <a:hlinkClick r:id="rId3">
                  <a:extLst>
                    <a:ext uri="{A12FA001-AC4F-418D-AE19-62706E023703}">
                      <ahyp:hlinkClr xmlns:ahyp="http://schemas.microsoft.com/office/drawing/2018/hyperlinkcolor" val="tx"/>
                    </a:ext>
                  </a:extLst>
                </a:hlinkClick>
              </a:rPr>
              <a:t>생활코딩_Docker</a:t>
            </a:r>
            <a:endParaRPr sz="1400" b="1">
              <a:solidFill>
                <a:schemeClr val="lt1"/>
              </a:solidFill>
              <a:latin typeface="Sorts Mill Goudy"/>
              <a:ea typeface="Sorts Mill Goudy"/>
              <a:cs typeface="Sorts Mill Goudy"/>
              <a:sym typeface="Sorts Mill Goudy"/>
            </a:endParaRPr>
          </a:p>
        </p:txBody>
      </p:sp>
      <p:sp>
        <p:nvSpPr>
          <p:cNvPr id="231" name="Google Shape;231;p8" descr="Deployment evolution"/>
          <p:cNvSpPr/>
          <p:nvPr/>
        </p:nvSpPr>
        <p:spPr>
          <a:xfrm>
            <a:off x="6096000" y="3429000"/>
            <a:ext cx="304800" cy="3048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lt1"/>
              </a:solidFill>
              <a:latin typeface="Sorts Mill Goudy"/>
              <a:ea typeface="Sorts Mill Goudy"/>
              <a:cs typeface="Sorts Mill Goudy"/>
              <a:sym typeface="Sorts Mill Goudy"/>
            </a:endParaRPr>
          </a:p>
        </p:txBody>
      </p:sp>
      <p:pic>
        <p:nvPicPr>
          <p:cNvPr id="232" name="Google Shape;232;p8"/>
          <p:cNvPicPr preferRelativeResize="0"/>
          <p:nvPr/>
        </p:nvPicPr>
        <p:blipFill rotWithShape="1">
          <a:blip r:embed="rId4">
            <a:alphaModFix/>
          </a:blip>
          <a:srcRect/>
          <a:stretch/>
        </p:blipFill>
        <p:spPr>
          <a:xfrm>
            <a:off x="2235490" y="2287035"/>
            <a:ext cx="8025819" cy="3643562"/>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9"/>
          <p:cNvSpPr txBox="1">
            <a:spLocks noGrp="1"/>
          </p:cNvSpPr>
          <p:nvPr>
            <p:ph type="title"/>
          </p:nvPr>
        </p:nvSpPr>
        <p:spPr>
          <a:xfrm>
            <a:off x="913795" y="417887"/>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dirty="0"/>
              <a:t>2. Docker</a:t>
            </a:r>
            <a:endParaRPr dirty="0"/>
          </a:p>
        </p:txBody>
      </p:sp>
      <p:sp>
        <p:nvSpPr>
          <p:cNvPr id="239" name="Google Shape;239;p9"/>
          <p:cNvSpPr txBox="1"/>
          <p:nvPr/>
        </p:nvSpPr>
        <p:spPr>
          <a:xfrm>
            <a:off x="1022458" y="5773261"/>
            <a:ext cx="1944262" cy="31467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i="0" u="sng">
                <a:solidFill>
                  <a:schemeClr val="lt1"/>
                </a:solidFill>
                <a:latin typeface="Arial"/>
                <a:ea typeface="Arial"/>
                <a:cs typeface="Arial"/>
                <a:sym typeface="Arial"/>
                <a:hlinkClick r:id="rId3">
                  <a:extLst>
                    <a:ext uri="{A12FA001-AC4F-418D-AE19-62706E023703}">
                      <ahyp:hlinkClr xmlns:ahyp="http://schemas.microsoft.com/office/drawing/2018/hyperlinkcolor" val="tx"/>
                    </a:ext>
                  </a:extLst>
                </a:hlinkClick>
              </a:rPr>
              <a:t>생활코딩_Docker</a:t>
            </a:r>
            <a:endParaRPr sz="1400" b="1">
              <a:solidFill>
                <a:schemeClr val="lt1"/>
              </a:solidFill>
              <a:latin typeface="Sorts Mill Goudy"/>
              <a:ea typeface="Sorts Mill Goudy"/>
              <a:cs typeface="Sorts Mill Goudy"/>
              <a:sym typeface="Sorts Mill Goudy"/>
            </a:endParaRPr>
          </a:p>
        </p:txBody>
      </p:sp>
      <p:sp>
        <p:nvSpPr>
          <p:cNvPr id="240" name="Google Shape;240;p9" descr="Deployment evolution"/>
          <p:cNvSpPr/>
          <p:nvPr/>
        </p:nvSpPr>
        <p:spPr>
          <a:xfrm>
            <a:off x="6096000" y="3429000"/>
            <a:ext cx="304800" cy="3048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lt1"/>
              </a:solidFill>
              <a:latin typeface="Sorts Mill Goudy"/>
              <a:ea typeface="Sorts Mill Goudy"/>
              <a:cs typeface="Sorts Mill Goudy"/>
              <a:sym typeface="Sorts Mill Goudy"/>
            </a:endParaRPr>
          </a:p>
        </p:txBody>
      </p:sp>
      <p:pic>
        <p:nvPicPr>
          <p:cNvPr id="241" name="Google Shape;241;p9"/>
          <p:cNvPicPr preferRelativeResize="0"/>
          <p:nvPr/>
        </p:nvPicPr>
        <p:blipFill rotWithShape="1">
          <a:blip r:embed="rId4">
            <a:alphaModFix/>
          </a:blip>
          <a:srcRect/>
          <a:stretch/>
        </p:blipFill>
        <p:spPr>
          <a:xfrm>
            <a:off x="2076245" y="2643537"/>
            <a:ext cx="8028862" cy="3084932"/>
          </a:xfrm>
          <a:prstGeom prst="rect">
            <a:avLst/>
          </a:prstGeom>
          <a:noFill/>
          <a:ln>
            <a:noFill/>
          </a:ln>
        </p:spPr>
      </p:pic>
      <p:pic>
        <p:nvPicPr>
          <p:cNvPr id="242" name="Google Shape;242;p9"/>
          <p:cNvPicPr preferRelativeResize="0"/>
          <p:nvPr/>
        </p:nvPicPr>
        <p:blipFill rotWithShape="1">
          <a:blip r:embed="rId5">
            <a:alphaModFix/>
          </a:blip>
          <a:srcRect/>
          <a:stretch/>
        </p:blipFill>
        <p:spPr>
          <a:xfrm>
            <a:off x="415188" y="373094"/>
            <a:ext cx="979503" cy="766440"/>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46"/>
        <p:cNvGrpSpPr/>
        <p:nvPr/>
      </p:nvGrpSpPr>
      <p:grpSpPr>
        <a:xfrm>
          <a:off x="0" y="0"/>
          <a:ext cx="0" cy="0"/>
          <a:chOff x="0" y="0"/>
          <a:chExt cx="0" cy="0"/>
        </a:xfrm>
      </p:grpSpPr>
      <p:sp>
        <p:nvSpPr>
          <p:cNvPr id="247" name="Google Shape;247;p10"/>
          <p:cNvSpPr txBox="1">
            <a:spLocks noGrp="1"/>
          </p:cNvSpPr>
          <p:nvPr>
            <p:ph type="title"/>
          </p:nvPr>
        </p:nvSpPr>
        <p:spPr>
          <a:xfrm>
            <a:off x="913794" y="456614"/>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dirty="0"/>
              <a:t>Docker </a:t>
            </a:r>
            <a:r>
              <a:rPr lang="en-US" dirty="0" err="1"/>
              <a:t>설치</a:t>
            </a:r>
            <a:r>
              <a:rPr lang="en-US" dirty="0"/>
              <a:t>(WSL)</a:t>
            </a:r>
            <a:endParaRPr dirty="0"/>
          </a:p>
        </p:txBody>
      </p:sp>
      <p:sp>
        <p:nvSpPr>
          <p:cNvPr id="248" name="Google Shape;248;p10"/>
          <p:cNvSpPr txBox="1">
            <a:spLocks noGrp="1"/>
          </p:cNvSpPr>
          <p:nvPr>
            <p:ph type="sldNum" idx="12"/>
          </p:nvPr>
        </p:nvSpPr>
        <p:spPr>
          <a:xfrm>
            <a:off x="10514011" y="6036261"/>
            <a:ext cx="753545"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41</a:t>
            </a:fld>
            <a:endParaRPr/>
          </a:p>
        </p:txBody>
      </p:sp>
      <p:sp>
        <p:nvSpPr>
          <p:cNvPr id="249" name="Google Shape;249;p10" descr="Deployment evolution"/>
          <p:cNvSpPr/>
          <p:nvPr/>
        </p:nvSpPr>
        <p:spPr>
          <a:xfrm>
            <a:off x="6096000" y="3429000"/>
            <a:ext cx="304800" cy="3048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lt1"/>
              </a:solidFill>
              <a:latin typeface="Sorts Mill Goudy"/>
              <a:ea typeface="Sorts Mill Goudy"/>
              <a:cs typeface="Sorts Mill Goudy"/>
              <a:sym typeface="Sorts Mill Goudy"/>
            </a:endParaRPr>
          </a:p>
        </p:txBody>
      </p:sp>
      <p:pic>
        <p:nvPicPr>
          <p:cNvPr id="250" name="Google Shape;250;p10"/>
          <p:cNvPicPr preferRelativeResize="0"/>
          <p:nvPr/>
        </p:nvPicPr>
        <p:blipFill rotWithShape="1">
          <a:blip r:embed="rId3">
            <a:alphaModFix/>
          </a:blip>
          <a:srcRect/>
          <a:stretch/>
        </p:blipFill>
        <p:spPr>
          <a:xfrm>
            <a:off x="1717286" y="2320872"/>
            <a:ext cx="9062227" cy="2825856"/>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11"/>
          <p:cNvSpPr txBox="1">
            <a:spLocks noGrp="1"/>
          </p:cNvSpPr>
          <p:nvPr>
            <p:ph type="title"/>
          </p:nvPr>
        </p:nvSpPr>
        <p:spPr>
          <a:xfrm>
            <a:off x="913794" y="438519"/>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a:t>Windows PowerShell</a:t>
            </a:r>
            <a:endParaRPr/>
          </a:p>
        </p:txBody>
      </p:sp>
      <p:sp>
        <p:nvSpPr>
          <p:cNvPr id="259" name="Google Shape;259;p11"/>
          <p:cNvSpPr txBox="1"/>
          <p:nvPr/>
        </p:nvSpPr>
        <p:spPr>
          <a:xfrm>
            <a:off x="620413" y="1605947"/>
            <a:ext cx="10480459" cy="4430314"/>
          </a:xfrm>
          <a:prstGeom prst="rect">
            <a:avLst/>
          </a:prstGeom>
          <a:solidFill>
            <a:schemeClr val="tx1"/>
          </a:solidFill>
          <a:ln>
            <a:noFill/>
          </a:ln>
          <a:effectLst>
            <a:outerShdw blurRad="25400">
              <a:srgbClr val="000000">
                <a:alpha val="45882"/>
              </a:srgbClr>
            </a:outerShdw>
          </a:effectLst>
        </p:spPr>
        <p:txBody>
          <a:bodyPr spcFirstLastPara="1" wrap="square" lIns="91425" tIns="45700" rIns="91425" bIns="45700" anchor="t" anchorCtr="0">
            <a:normAutofit fontScale="55000" lnSpcReduction="20000"/>
          </a:bodyPr>
          <a:lstStyle/>
          <a:p>
            <a:pPr marL="36900" marR="0" lvl="0" indent="0" algn="l" rtl="0">
              <a:lnSpc>
                <a:spcPct val="100000"/>
              </a:lnSpc>
              <a:spcBef>
                <a:spcPts val="0"/>
              </a:spcBef>
              <a:spcAft>
                <a:spcPts val="0"/>
              </a:spcAft>
              <a:buClr>
                <a:schemeClr val="lt2"/>
              </a:buClr>
              <a:buSzPct val="70000"/>
              <a:buFont typeface="Noto Sans Symbols"/>
              <a:buNone/>
            </a:pPr>
            <a:r>
              <a:rPr lang="en-US" sz="2800" dirty="0">
                <a:solidFill>
                  <a:schemeClr val="lt2"/>
                </a:solidFill>
                <a:latin typeface="D2Coding" panose="020B0609020101020101" pitchFamily="49" charset="-127"/>
                <a:ea typeface="D2Coding" panose="020B0609020101020101" pitchFamily="49" charset="-127"/>
                <a:cs typeface="Batang"/>
                <a:sym typeface="Batang"/>
              </a:rPr>
              <a:t>PS C:\WINDOWS\system32&gt; </a:t>
            </a:r>
            <a:r>
              <a:rPr lang="en-US" sz="2800" b="1" dirty="0" err="1">
                <a:solidFill>
                  <a:srgbClr val="FFFF00"/>
                </a:solidFill>
                <a:latin typeface="D2Coding" panose="020B0609020101020101" pitchFamily="49" charset="-127"/>
                <a:ea typeface="D2Coding" panose="020B0609020101020101" pitchFamily="49" charset="-127"/>
                <a:cs typeface="Batang"/>
                <a:sym typeface="Batang"/>
              </a:rPr>
              <a:t>wsl</a:t>
            </a:r>
            <a:r>
              <a:rPr lang="en-US" sz="2800" b="1" dirty="0">
                <a:solidFill>
                  <a:srgbClr val="FFFF00"/>
                </a:solidFill>
                <a:latin typeface="D2Coding" panose="020B0609020101020101" pitchFamily="49" charset="-127"/>
                <a:ea typeface="D2Coding" panose="020B0609020101020101" pitchFamily="49" charset="-127"/>
                <a:cs typeface="Batang"/>
                <a:sym typeface="Batang"/>
              </a:rPr>
              <a:t> --version</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908"/>
              </a:spcBef>
              <a:spcAft>
                <a:spcPts val="0"/>
              </a:spcAft>
              <a:buClr>
                <a:schemeClr val="lt2"/>
              </a:buClr>
              <a:buSzPct val="70000"/>
              <a:buFont typeface="Noto Sans Symbols"/>
              <a:buNone/>
            </a:pPr>
            <a:endParaRPr sz="2800" dirty="0">
              <a:solidFill>
                <a:schemeClr val="lt2"/>
              </a:solidFill>
              <a:latin typeface="D2Coding" panose="020B0609020101020101" pitchFamily="49" charset="-127"/>
              <a:ea typeface="D2Coding" panose="020B0609020101020101" pitchFamily="49" charset="-127"/>
              <a:cs typeface="Batang"/>
              <a:sym typeface="Batang"/>
            </a:endParaRPr>
          </a:p>
          <a:p>
            <a:pPr marL="36900" marR="0" lvl="0" indent="0" algn="l" rtl="0">
              <a:lnSpc>
                <a:spcPct val="100000"/>
              </a:lnSpc>
              <a:spcBef>
                <a:spcPts val="908"/>
              </a:spcBef>
              <a:spcAft>
                <a:spcPts val="0"/>
              </a:spcAft>
              <a:buClr>
                <a:schemeClr val="lt2"/>
              </a:buClr>
              <a:buSzPct val="70000"/>
              <a:buFont typeface="Noto Sans Symbols"/>
              <a:buNone/>
            </a:pPr>
            <a:r>
              <a:rPr lang="en-US" sz="2800" dirty="0">
                <a:solidFill>
                  <a:schemeClr val="lt2"/>
                </a:solidFill>
                <a:latin typeface="D2Coding" panose="020B0609020101020101" pitchFamily="49" charset="-127"/>
                <a:ea typeface="D2Coding" panose="020B0609020101020101" pitchFamily="49" charset="-127"/>
                <a:cs typeface="Batang"/>
                <a:sym typeface="Batang"/>
              </a:rPr>
              <a:t>PS C:\WINDOWS\system32&gt; </a:t>
            </a:r>
            <a:r>
              <a:rPr lang="en-US" sz="2700" b="1" dirty="0" err="1">
                <a:solidFill>
                  <a:srgbClr val="FFFF00"/>
                </a:solidFill>
                <a:latin typeface="D2Coding" panose="020B0609020101020101" pitchFamily="49" charset="-127"/>
                <a:ea typeface="D2Coding" panose="020B0609020101020101" pitchFamily="49" charset="-127"/>
                <a:cs typeface="Batang"/>
                <a:sym typeface="Batang"/>
              </a:rPr>
              <a:t>wsl</a:t>
            </a:r>
            <a:r>
              <a:rPr lang="en-US" sz="2700" b="1" dirty="0">
                <a:solidFill>
                  <a:srgbClr val="FFFF00"/>
                </a:solidFill>
                <a:latin typeface="D2Coding" panose="020B0609020101020101" pitchFamily="49" charset="-127"/>
                <a:ea typeface="D2Coding" panose="020B0609020101020101" pitchFamily="49" charset="-127"/>
                <a:cs typeface="Batang"/>
                <a:sym typeface="Batang"/>
              </a:rPr>
              <a:t> --list –online</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NAME                                   FRIENDLY NAME</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Ubuntu                                 </a:t>
            </a:r>
            <a:r>
              <a:rPr lang="en-US" sz="1400" dirty="0" err="1">
                <a:solidFill>
                  <a:schemeClr val="lt2"/>
                </a:solidFill>
                <a:latin typeface="D2Coding" panose="020B0609020101020101" pitchFamily="49" charset="-127"/>
                <a:ea typeface="D2Coding" panose="020B0609020101020101" pitchFamily="49" charset="-127"/>
                <a:cs typeface="Batang"/>
                <a:sym typeface="Batang"/>
              </a:rPr>
              <a:t>Ubuntu</a:t>
            </a:r>
            <a:endParaRPr sz="1400" dirty="0">
              <a:solidFill>
                <a:schemeClr val="lt2"/>
              </a:solidFill>
              <a:latin typeface="D2Coding" panose="020B0609020101020101" pitchFamily="49" charset="-127"/>
              <a:ea typeface="D2Coding" panose="020B0609020101020101" pitchFamily="49" charset="-127"/>
              <a:cs typeface="Batang"/>
              <a:sym typeface="Batang"/>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Debian                                 </a:t>
            </a:r>
            <a:r>
              <a:rPr lang="en-US" sz="1400" dirty="0" err="1">
                <a:solidFill>
                  <a:schemeClr val="lt2"/>
                </a:solidFill>
                <a:latin typeface="D2Coding" panose="020B0609020101020101" pitchFamily="49" charset="-127"/>
                <a:ea typeface="D2Coding" panose="020B0609020101020101" pitchFamily="49" charset="-127"/>
                <a:cs typeface="Batang"/>
                <a:sym typeface="Batang"/>
              </a:rPr>
              <a:t>Debian</a:t>
            </a:r>
            <a:r>
              <a:rPr lang="en-US" sz="1400" dirty="0">
                <a:solidFill>
                  <a:schemeClr val="lt2"/>
                </a:solidFill>
                <a:latin typeface="D2Coding" panose="020B0609020101020101" pitchFamily="49" charset="-127"/>
                <a:ea typeface="D2Coding" panose="020B0609020101020101" pitchFamily="49" charset="-127"/>
                <a:cs typeface="Batang"/>
                <a:sym typeface="Batang"/>
              </a:rPr>
              <a:t> GNU/Linux</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kali-</a:t>
            </a:r>
            <a:r>
              <a:rPr lang="en-US" sz="1400" dirty="0" err="1">
                <a:solidFill>
                  <a:schemeClr val="lt2"/>
                </a:solidFill>
                <a:latin typeface="D2Coding" panose="020B0609020101020101" pitchFamily="49" charset="-127"/>
                <a:ea typeface="D2Coding" panose="020B0609020101020101" pitchFamily="49" charset="-127"/>
                <a:cs typeface="Batang"/>
                <a:sym typeface="Batang"/>
              </a:rPr>
              <a:t>linux</a:t>
            </a:r>
            <a:r>
              <a:rPr lang="en-US" sz="1400" dirty="0">
                <a:solidFill>
                  <a:schemeClr val="lt2"/>
                </a:solidFill>
                <a:latin typeface="D2Coding" panose="020B0609020101020101" pitchFamily="49" charset="-127"/>
                <a:ea typeface="D2Coding" panose="020B0609020101020101" pitchFamily="49" charset="-127"/>
                <a:cs typeface="Batang"/>
                <a:sym typeface="Batang"/>
              </a:rPr>
              <a:t>                             Kali Linux Rolling</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Ubuntu-18.04                           Ubuntu 18.04 LTS</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Ubuntu-20.04                           Ubuntu 20.04 LTS</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Ubuntu-22.04                           Ubuntu 22.04 LTS</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OracleLinux_7_9                        Oracle Linux 7.9</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OracleLinux_8_7                        Oracle Linux 8.7</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OracleLinux_9_1                        Oracle Linux 9.1</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openSUSE-Leap-15.5                     openSUSE Leap 15.5</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SUSE-Linux-Enterprise-Server-15-SP4    SUSE Linux Enterprise Server 15 SP4</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SUSE-Linux-Enterprise-15-SP5           SUSE Linux Enterprise 15 SP5</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754"/>
              </a:spcBef>
              <a:spcAft>
                <a:spcPts val="0"/>
              </a:spcAft>
              <a:buClr>
                <a:schemeClr val="lt2"/>
              </a:buClr>
              <a:buSzPct val="70000"/>
              <a:buFont typeface="Noto Sans Symbols"/>
              <a:buNone/>
            </a:pPr>
            <a:r>
              <a:rPr lang="en-US" sz="1400" dirty="0">
                <a:solidFill>
                  <a:schemeClr val="lt2"/>
                </a:solidFill>
                <a:latin typeface="D2Coding" panose="020B0609020101020101" pitchFamily="49" charset="-127"/>
                <a:ea typeface="D2Coding" panose="020B0609020101020101" pitchFamily="49" charset="-127"/>
                <a:cs typeface="Batang"/>
                <a:sym typeface="Batang"/>
              </a:rPr>
              <a:t>openSUSE-Tumbleweed                    openSUSE Tumbleweed</a:t>
            </a:r>
            <a:endParaRPr dirty="0">
              <a:latin typeface="D2Coding" panose="020B0609020101020101" pitchFamily="49" charset="-127"/>
              <a:ea typeface="D2Coding" panose="020B0609020101020101" pitchFamily="49" charset="-127"/>
            </a:endParaRPr>
          </a:p>
          <a:p>
            <a:pPr marL="36900" marR="0" lvl="0" indent="0" algn="l" rtl="0">
              <a:lnSpc>
                <a:spcPct val="100000"/>
              </a:lnSpc>
              <a:spcBef>
                <a:spcPts val="831"/>
              </a:spcBef>
              <a:spcAft>
                <a:spcPts val="0"/>
              </a:spcAft>
              <a:buClr>
                <a:schemeClr val="lt2"/>
              </a:buClr>
              <a:buSzPct val="70000"/>
              <a:buFont typeface="Noto Sans Symbols"/>
              <a:buNone/>
            </a:pPr>
            <a:endParaRPr sz="2100" dirty="0">
              <a:solidFill>
                <a:schemeClr val="lt2"/>
              </a:solidFill>
              <a:latin typeface="D2Coding" panose="020B0609020101020101" pitchFamily="49" charset="-127"/>
              <a:ea typeface="D2Coding" panose="020B0609020101020101" pitchFamily="49" charset="-127"/>
              <a:cs typeface="Batang"/>
              <a:sym typeface="Batang"/>
            </a:endParaRPr>
          </a:p>
          <a:p>
            <a:pPr marL="36900" marR="0" lvl="0" indent="0" algn="l" rtl="0">
              <a:lnSpc>
                <a:spcPct val="100000"/>
              </a:lnSpc>
              <a:spcBef>
                <a:spcPts val="908"/>
              </a:spcBef>
              <a:spcAft>
                <a:spcPts val="0"/>
              </a:spcAft>
              <a:buClr>
                <a:schemeClr val="lt2"/>
              </a:buClr>
              <a:buSzPct val="70000"/>
              <a:buFont typeface="Noto Sans Symbols"/>
              <a:buNone/>
            </a:pPr>
            <a:r>
              <a:rPr lang="en-US" sz="2800" dirty="0">
                <a:solidFill>
                  <a:schemeClr val="lt2"/>
                </a:solidFill>
                <a:latin typeface="D2Coding" panose="020B0609020101020101" pitchFamily="49" charset="-127"/>
                <a:ea typeface="D2Coding" panose="020B0609020101020101" pitchFamily="49" charset="-127"/>
                <a:cs typeface="Batang"/>
                <a:sym typeface="Batang"/>
              </a:rPr>
              <a:t>PS C:\WINDOWS\system32&gt; </a:t>
            </a:r>
            <a:r>
              <a:rPr lang="en-US" sz="2700" b="1" dirty="0" err="1">
                <a:solidFill>
                  <a:srgbClr val="FFFF00"/>
                </a:solidFill>
                <a:latin typeface="D2Coding" panose="020B0609020101020101" pitchFamily="49" charset="-127"/>
                <a:ea typeface="D2Coding" panose="020B0609020101020101" pitchFamily="49" charset="-127"/>
                <a:cs typeface="Batang"/>
                <a:sym typeface="Batang"/>
              </a:rPr>
              <a:t>wsl</a:t>
            </a:r>
            <a:r>
              <a:rPr lang="en-US" sz="2700" b="1" dirty="0">
                <a:solidFill>
                  <a:srgbClr val="FFFF00"/>
                </a:solidFill>
                <a:latin typeface="D2Coding" panose="020B0609020101020101" pitchFamily="49" charset="-127"/>
                <a:ea typeface="D2Coding" panose="020B0609020101020101" pitchFamily="49" charset="-127"/>
                <a:cs typeface="Batang"/>
                <a:sym typeface="Batang"/>
              </a:rPr>
              <a:t> --status</a:t>
            </a:r>
            <a:endParaRPr dirty="0">
              <a:latin typeface="D2Coding" panose="020B0609020101020101" pitchFamily="49" charset="-127"/>
              <a:ea typeface="D2Coding" panose="020B0609020101020101" pitchFamily="49" charset="-127"/>
            </a:endParaRPr>
          </a:p>
        </p:txBody>
      </p:sp>
      <p:pic>
        <p:nvPicPr>
          <p:cNvPr id="260" name="Google Shape;260;p11"/>
          <p:cNvPicPr preferRelativeResize="0"/>
          <p:nvPr/>
        </p:nvPicPr>
        <p:blipFill rotWithShape="1">
          <a:blip r:embed="rId3">
            <a:alphaModFix/>
          </a:blip>
          <a:srcRect/>
          <a:stretch/>
        </p:blipFill>
        <p:spPr>
          <a:xfrm>
            <a:off x="6090675" y="1396406"/>
            <a:ext cx="5480912" cy="5023075"/>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12"/>
          <p:cNvSpPr txBox="1">
            <a:spLocks noGrp="1"/>
          </p:cNvSpPr>
          <p:nvPr>
            <p:ph type="title"/>
          </p:nvPr>
        </p:nvSpPr>
        <p:spPr>
          <a:xfrm>
            <a:off x="919119" y="395474"/>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dirty="0"/>
              <a:t>Docker</a:t>
            </a:r>
            <a:endParaRPr dirty="0"/>
          </a:p>
        </p:txBody>
      </p:sp>
      <p:sp>
        <p:nvSpPr>
          <p:cNvPr id="269" name="Google Shape;269;p12"/>
          <p:cNvSpPr txBox="1"/>
          <p:nvPr/>
        </p:nvSpPr>
        <p:spPr>
          <a:xfrm>
            <a:off x="685067" y="1342037"/>
            <a:ext cx="10508739" cy="1180565"/>
          </a:xfrm>
          <a:prstGeom prst="rect">
            <a:avLst/>
          </a:prstGeom>
          <a:noFill/>
          <a:ln>
            <a:noFill/>
          </a:ln>
          <a:effectLst>
            <a:outerShdw blurRad="25400">
              <a:srgbClr val="000000">
                <a:alpha val="45882"/>
              </a:srgbClr>
            </a:outerShdw>
          </a:effectLst>
        </p:spPr>
        <p:txBody>
          <a:bodyPr spcFirstLastPara="1" wrap="square" lIns="91425" tIns="45700" rIns="91425" bIns="45700" anchor="t" anchorCtr="0">
            <a:normAutofit/>
          </a:bodyPr>
          <a:lstStyle/>
          <a:p>
            <a:pPr marL="342900" marR="0" lvl="0" indent="-306000" algn="l" rtl="0">
              <a:lnSpc>
                <a:spcPct val="100000"/>
              </a:lnSpc>
              <a:spcBef>
                <a:spcPts val="0"/>
              </a:spcBef>
              <a:spcAft>
                <a:spcPts val="0"/>
              </a:spcAft>
              <a:buClr>
                <a:schemeClr val="tx1"/>
              </a:buClr>
              <a:buSzPts val="1260"/>
              <a:buFont typeface="Noto Sans Symbols"/>
              <a:buChar char="❖"/>
            </a:pPr>
            <a:r>
              <a:rPr lang="en-US" sz="1800">
                <a:latin typeface="D2Coding" panose="020B0609020101020101" pitchFamily="49" charset="-127"/>
                <a:ea typeface="D2Coding" panose="020B0609020101020101" pitchFamily="49" charset="-127"/>
                <a:cs typeface="Batang"/>
                <a:sym typeface="Batang"/>
              </a:rPr>
              <a:t>도커(Docker)는 </a:t>
            </a:r>
            <a:r>
              <a:rPr lang="en-US" sz="1800" b="1">
                <a:latin typeface="D2Coding" panose="020B0609020101020101" pitchFamily="49" charset="-127"/>
                <a:ea typeface="D2Coding" panose="020B0609020101020101" pitchFamily="49" charset="-127"/>
                <a:cs typeface="Batang"/>
                <a:sym typeface="Batang"/>
              </a:rPr>
              <a:t>컨테이너(Container)</a:t>
            </a:r>
            <a:r>
              <a:rPr lang="en-US" sz="1800">
                <a:latin typeface="D2Coding" panose="020B0609020101020101" pitchFamily="49" charset="-127"/>
                <a:ea typeface="D2Coding" panose="020B0609020101020101" pitchFamily="49" charset="-127"/>
                <a:cs typeface="Batang"/>
                <a:sym typeface="Batang"/>
              </a:rPr>
              <a:t>기반의 오픈소스 </a:t>
            </a:r>
            <a:r>
              <a:rPr lang="en-US" sz="1800" b="1">
                <a:latin typeface="D2Coding" panose="020B0609020101020101" pitchFamily="49" charset="-127"/>
                <a:ea typeface="D2Coding" panose="020B0609020101020101" pitchFamily="49" charset="-127"/>
                <a:cs typeface="Batang"/>
                <a:sym typeface="Batang"/>
              </a:rPr>
              <a:t>가상화 플랫폼</a:t>
            </a:r>
            <a:endParaRPr sz="1800" b="1">
              <a:latin typeface="D2Coding" panose="020B0609020101020101" pitchFamily="49" charset="-127"/>
              <a:ea typeface="D2Coding" panose="020B0609020101020101" pitchFamily="49" charset="-127"/>
              <a:cs typeface="Batang"/>
              <a:sym typeface="Batang"/>
            </a:endParaRPr>
          </a:p>
          <a:p>
            <a:pPr marL="342900" marR="0" lvl="0" indent="-306000" algn="l" rtl="0">
              <a:lnSpc>
                <a:spcPct val="100000"/>
              </a:lnSpc>
              <a:spcBef>
                <a:spcPts val="960"/>
              </a:spcBef>
              <a:spcAft>
                <a:spcPts val="0"/>
              </a:spcAft>
              <a:buClr>
                <a:schemeClr val="tx1"/>
              </a:buClr>
              <a:buSzPts val="1260"/>
              <a:buFont typeface="Noto Sans Symbols"/>
              <a:buChar char="❖"/>
            </a:pPr>
            <a:r>
              <a:rPr lang="en-US" sz="1800">
                <a:latin typeface="D2Coding" panose="020B0609020101020101" pitchFamily="49" charset="-127"/>
                <a:ea typeface="D2Coding" panose="020B0609020101020101" pitchFamily="49" charset="-127"/>
                <a:cs typeface="Batang"/>
                <a:sym typeface="Batang"/>
              </a:rPr>
              <a:t>어떤 프로그램을 외부 환경과 격리시켜 구동할 수 있게 해주는 </a:t>
            </a:r>
            <a:r>
              <a:rPr lang="en-US" sz="1800" b="1">
                <a:latin typeface="D2Coding" panose="020B0609020101020101" pitchFamily="49" charset="-127"/>
                <a:ea typeface="D2Coding" panose="020B0609020101020101" pitchFamily="49" charset="-127"/>
                <a:cs typeface="Batang"/>
                <a:sym typeface="Batang"/>
              </a:rPr>
              <a:t>소프트웨어</a:t>
            </a:r>
            <a:endParaRPr sz="1800" b="1">
              <a:latin typeface="D2Coding" panose="020B0609020101020101" pitchFamily="49" charset="-127"/>
              <a:ea typeface="D2Coding" panose="020B0609020101020101" pitchFamily="49" charset="-127"/>
              <a:cs typeface="Batang"/>
              <a:sym typeface="Batang"/>
            </a:endParaRPr>
          </a:p>
        </p:txBody>
      </p:sp>
      <p:grpSp>
        <p:nvGrpSpPr>
          <p:cNvPr id="270" name="Google Shape;270;p12"/>
          <p:cNvGrpSpPr/>
          <p:nvPr/>
        </p:nvGrpSpPr>
        <p:grpSpPr>
          <a:xfrm>
            <a:off x="1096276" y="2522602"/>
            <a:ext cx="4843160" cy="4119214"/>
            <a:chOff x="3878443" y="2702727"/>
            <a:chExt cx="4200328" cy="3637104"/>
          </a:xfrm>
        </p:grpSpPr>
        <p:pic>
          <p:nvPicPr>
            <p:cNvPr id="271" name="Google Shape;271;p12" descr="docker asustor NAS"/>
            <p:cNvPicPr preferRelativeResize="0"/>
            <p:nvPr/>
          </p:nvPicPr>
          <p:blipFill rotWithShape="1">
            <a:blip r:embed="rId3">
              <a:alphaModFix/>
            </a:blip>
            <a:srcRect/>
            <a:stretch/>
          </p:blipFill>
          <p:spPr>
            <a:xfrm>
              <a:off x="3878443" y="2702727"/>
              <a:ext cx="3738415" cy="3225470"/>
            </a:xfrm>
            <a:prstGeom prst="rect">
              <a:avLst/>
            </a:prstGeom>
            <a:noFill/>
            <a:ln>
              <a:noFill/>
            </a:ln>
          </p:spPr>
        </p:pic>
        <p:sp>
          <p:nvSpPr>
            <p:cNvPr id="272" name="Google Shape;272;p12"/>
            <p:cNvSpPr txBox="1"/>
            <p:nvPr/>
          </p:nvSpPr>
          <p:spPr>
            <a:xfrm>
              <a:off x="3878443" y="6032054"/>
              <a:ext cx="4200328"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u="sng">
                  <a:solidFill>
                    <a:schemeClr val="lt1"/>
                  </a:solidFill>
                  <a:latin typeface="Sorts Mill Goudy"/>
                  <a:ea typeface="Sorts Mill Goudy"/>
                  <a:cs typeface="Sorts Mill Goudy"/>
                  <a:sym typeface="Sorts Mill Goudy"/>
                  <a:hlinkClick r:id="rId4">
                    <a:extLst>
                      <a:ext uri="{A12FA001-AC4F-418D-AE19-62706E023703}">
                        <ahyp:hlinkClr xmlns:ahyp="http://schemas.microsoft.com/office/drawing/2018/hyperlinkcolor" val="tx"/>
                      </a:ext>
                    </a:extLst>
                  </a:hlinkClick>
                </a:rPr>
                <a:t>https://www.asustor.com/ko/solution/what_is_docker</a:t>
              </a:r>
              <a:r>
                <a:rPr lang="en-US" sz="1400">
                  <a:solidFill>
                    <a:schemeClr val="lt1"/>
                  </a:solidFill>
                  <a:latin typeface="Sorts Mill Goudy"/>
                  <a:ea typeface="Sorts Mill Goudy"/>
                  <a:cs typeface="Sorts Mill Goudy"/>
                  <a:sym typeface="Sorts Mill Goudy"/>
                </a:rPr>
                <a:t> </a:t>
              </a:r>
              <a:endParaRPr/>
            </a:p>
          </p:txBody>
        </p:sp>
      </p:grpSp>
      <p:pic>
        <p:nvPicPr>
          <p:cNvPr id="273" name="Google Shape;273;p12" descr="물 속의 큰 배"/>
          <p:cNvPicPr preferRelativeResize="0"/>
          <p:nvPr/>
        </p:nvPicPr>
        <p:blipFill rotWithShape="1">
          <a:blip r:embed="rId5">
            <a:alphaModFix/>
          </a:blip>
          <a:srcRect/>
          <a:stretch/>
        </p:blipFill>
        <p:spPr>
          <a:xfrm>
            <a:off x="6595062" y="2522602"/>
            <a:ext cx="3952865" cy="2589709"/>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13"/>
          <p:cNvSpPr txBox="1">
            <a:spLocks noGrp="1"/>
          </p:cNvSpPr>
          <p:nvPr>
            <p:ph type="title"/>
          </p:nvPr>
        </p:nvSpPr>
        <p:spPr>
          <a:xfrm>
            <a:off x="901030" y="446858"/>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dirty="0"/>
              <a:t>Container</a:t>
            </a:r>
            <a:endParaRPr dirty="0"/>
          </a:p>
        </p:txBody>
      </p:sp>
      <p:sp>
        <p:nvSpPr>
          <p:cNvPr id="282" name="Google Shape;282;p13"/>
          <p:cNvSpPr txBox="1"/>
          <p:nvPr/>
        </p:nvSpPr>
        <p:spPr>
          <a:xfrm>
            <a:off x="888267" y="1213842"/>
            <a:ext cx="10888097" cy="1180565"/>
          </a:xfrm>
          <a:prstGeom prst="rect">
            <a:avLst/>
          </a:prstGeom>
          <a:noFill/>
          <a:ln>
            <a:noFill/>
          </a:ln>
          <a:effectLst>
            <a:outerShdw blurRad="25400">
              <a:srgbClr val="000000">
                <a:alpha val="45882"/>
              </a:srgbClr>
            </a:outerShdw>
          </a:effectLst>
        </p:spPr>
        <p:txBody>
          <a:bodyPr spcFirstLastPara="1" wrap="square" lIns="91425" tIns="45700" rIns="91425" bIns="45700" anchor="t" anchorCtr="0">
            <a:normAutofit/>
          </a:bodyPr>
          <a:lstStyle/>
          <a:p>
            <a:pPr marL="342900" marR="0" lvl="0" indent="-306000" algn="l" rtl="0">
              <a:lnSpc>
                <a:spcPct val="150000"/>
              </a:lnSpc>
              <a:spcBef>
                <a:spcPts val="0"/>
              </a:spcBef>
              <a:spcAft>
                <a:spcPts val="0"/>
              </a:spcAft>
              <a:buClr>
                <a:schemeClr val="tx1"/>
              </a:buClr>
              <a:buSzPts val="1260"/>
              <a:buFont typeface="Noto Sans Symbols"/>
              <a:buChar char="❖"/>
            </a:pPr>
            <a:r>
              <a:rPr lang="en-US" sz="1800" b="1" dirty="0" err="1">
                <a:latin typeface="D2Coding" panose="020B0609020101020101" pitchFamily="49" charset="-127"/>
                <a:ea typeface="D2Coding" panose="020B0609020101020101" pitchFamily="49" charset="-127"/>
                <a:cs typeface="Batang"/>
                <a:sym typeface="Batang"/>
              </a:rPr>
              <a:t>컨테이너</a:t>
            </a:r>
            <a:r>
              <a:rPr lang="en-US" sz="1800" b="1" dirty="0">
                <a:latin typeface="D2Coding" panose="020B0609020101020101" pitchFamily="49" charset="-127"/>
                <a:ea typeface="D2Coding" panose="020B0609020101020101" pitchFamily="49" charset="-127"/>
                <a:cs typeface="Batang"/>
                <a:sym typeface="Batang"/>
              </a:rPr>
              <a:t>(Container)</a:t>
            </a:r>
            <a:r>
              <a:rPr lang="en-US" sz="1800" dirty="0">
                <a:latin typeface="D2Coding" panose="020B0609020101020101" pitchFamily="49" charset="-127"/>
                <a:ea typeface="D2Coding" panose="020B0609020101020101" pitchFamily="49" charset="-127"/>
                <a:cs typeface="Batang"/>
                <a:sym typeface="Batang"/>
              </a:rPr>
              <a:t>란 OS </a:t>
            </a:r>
            <a:r>
              <a:rPr lang="en-US" sz="1800" dirty="0" err="1">
                <a:latin typeface="D2Coding" panose="020B0609020101020101" pitchFamily="49" charset="-127"/>
                <a:ea typeface="D2Coding" panose="020B0609020101020101" pitchFamily="49" charset="-127"/>
                <a:cs typeface="Batang"/>
                <a:sym typeface="Batang"/>
              </a:rPr>
              <a:t>사에</a:t>
            </a:r>
            <a:r>
              <a:rPr lang="en-US" sz="1800" dirty="0">
                <a:latin typeface="D2Coding" panose="020B0609020101020101" pitchFamily="49" charset="-127"/>
                <a:ea typeface="D2Coding" panose="020B0609020101020101" pitchFamily="49" charset="-127"/>
                <a:cs typeface="Batang"/>
                <a:sym typeface="Batang"/>
              </a:rPr>
              <a:t> </a:t>
            </a:r>
            <a:r>
              <a:rPr lang="en-US" sz="1800" dirty="0" err="1">
                <a:latin typeface="D2Coding" panose="020B0609020101020101" pitchFamily="49" charset="-127"/>
                <a:ea typeface="D2Coding" panose="020B0609020101020101" pitchFamily="49" charset="-127"/>
                <a:cs typeface="Batang"/>
                <a:sym typeface="Batang"/>
              </a:rPr>
              <a:t>논리적인</a:t>
            </a:r>
            <a:r>
              <a:rPr lang="en-US" sz="1800" dirty="0">
                <a:latin typeface="D2Coding" panose="020B0609020101020101" pitchFamily="49" charset="-127"/>
                <a:ea typeface="D2Coding" panose="020B0609020101020101" pitchFamily="49" charset="-127"/>
                <a:cs typeface="Batang"/>
                <a:sym typeface="Batang"/>
              </a:rPr>
              <a:t> </a:t>
            </a:r>
            <a:r>
              <a:rPr lang="en-US" sz="1800" dirty="0" err="1">
                <a:latin typeface="D2Coding" panose="020B0609020101020101" pitchFamily="49" charset="-127"/>
                <a:ea typeface="D2Coding" panose="020B0609020101020101" pitchFamily="49" charset="-127"/>
                <a:cs typeface="Batang"/>
                <a:sym typeface="Batang"/>
              </a:rPr>
              <a:t>영역을</a:t>
            </a:r>
            <a:r>
              <a:rPr lang="en-US" sz="1800" dirty="0">
                <a:latin typeface="D2Coding" panose="020B0609020101020101" pitchFamily="49" charset="-127"/>
                <a:ea typeface="D2Coding" panose="020B0609020101020101" pitchFamily="49" charset="-127"/>
                <a:cs typeface="Batang"/>
                <a:sym typeface="Batang"/>
              </a:rPr>
              <a:t> </a:t>
            </a:r>
            <a:r>
              <a:rPr lang="en-US" sz="1800" dirty="0" err="1">
                <a:latin typeface="D2Coding" panose="020B0609020101020101" pitchFamily="49" charset="-127"/>
                <a:ea typeface="D2Coding" panose="020B0609020101020101" pitchFamily="49" charset="-127"/>
                <a:cs typeface="Batang"/>
                <a:sym typeface="Batang"/>
              </a:rPr>
              <a:t>구축하여</a:t>
            </a:r>
            <a:r>
              <a:rPr lang="en-US" sz="1800" dirty="0">
                <a:latin typeface="D2Coding" panose="020B0609020101020101" pitchFamily="49" charset="-127"/>
                <a:ea typeface="D2Coding" panose="020B0609020101020101" pitchFamily="49" charset="-127"/>
                <a:cs typeface="Batang"/>
                <a:sym typeface="Batang"/>
              </a:rPr>
              <a:t> </a:t>
            </a:r>
            <a:r>
              <a:rPr lang="en-US" sz="1800" dirty="0" err="1">
                <a:latin typeface="D2Coding" panose="020B0609020101020101" pitchFamily="49" charset="-127"/>
                <a:ea typeface="D2Coding" panose="020B0609020101020101" pitchFamily="49" charset="-127"/>
                <a:cs typeface="Batang"/>
                <a:sym typeface="Batang"/>
              </a:rPr>
              <a:t>애플리케이션이</a:t>
            </a:r>
            <a:r>
              <a:rPr lang="en-US" sz="1800" dirty="0">
                <a:latin typeface="D2Coding" panose="020B0609020101020101" pitchFamily="49" charset="-127"/>
                <a:ea typeface="D2Coding" panose="020B0609020101020101" pitchFamily="49" charset="-127"/>
                <a:cs typeface="Batang"/>
                <a:sym typeface="Batang"/>
              </a:rPr>
              <a:t> </a:t>
            </a:r>
            <a:r>
              <a:rPr lang="en-US" sz="1800" dirty="0" err="1">
                <a:latin typeface="D2Coding" panose="020B0609020101020101" pitchFamily="49" charset="-127"/>
                <a:ea typeface="D2Coding" panose="020B0609020101020101" pitchFamily="49" charset="-127"/>
                <a:cs typeface="Batang"/>
                <a:sym typeface="Batang"/>
              </a:rPr>
              <a:t>작동하는데</a:t>
            </a:r>
            <a:r>
              <a:rPr lang="en-US" sz="1800" dirty="0">
                <a:latin typeface="D2Coding" panose="020B0609020101020101" pitchFamily="49" charset="-127"/>
                <a:ea typeface="D2Coding" panose="020B0609020101020101" pitchFamily="49" charset="-127"/>
                <a:cs typeface="Batang"/>
                <a:sym typeface="Batang"/>
              </a:rPr>
              <a:t> </a:t>
            </a:r>
            <a:r>
              <a:rPr lang="en-US" sz="1800" dirty="0" err="1">
                <a:latin typeface="D2Coding" panose="020B0609020101020101" pitchFamily="49" charset="-127"/>
                <a:ea typeface="D2Coding" panose="020B0609020101020101" pitchFamily="49" charset="-127"/>
                <a:cs typeface="Batang"/>
                <a:sym typeface="Batang"/>
              </a:rPr>
              <a:t>필요한</a:t>
            </a:r>
            <a:r>
              <a:rPr lang="en-US" sz="1800" dirty="0">
                <a:latin typeface="D2Coding" panose="020B0609020101020101" pitchFamily="49" charset="-127"/>
                <a:ea typeface="D2Coding" panose="020B0609020101020101" pitchFamily="49" charset="-127"/>
                <a:cs typeface="Batang"/>
                <a:sym typeface="Batang"/>
              </a:rPr>
              <a:t> </a:t>
            </a:r>
            <a:r>
              <a:rPr lang="en-US" sz="1800" dirty="0" err="1">
                <a:latin typeface="D2Coding" panose="020B0609020101020101" pitchFamily="49" charset="-127"/>
                <a:ea typeface="D2Coding" panose="020B0609020101020101" pitchFamily="49" charset="-127"/>
                <a:cs typeface="Batang"/>
                <a:sym typeface="Batang"/>
              </a:rPr>
              <a:t>요소만을</a:t>
            </a:r>
            <a:r>
              <a:rPr lang="en-US" sz="1800" dirty="0">
                <a:latin typeface="D2Coding" panose="020B0609020101020101" pitchFamily="49" charset="-127"/>
                <a:ea typeface="D2Coding" panose="020B0609020101020101" pitchFamily="49" charset="-127"/>
                <a:cs typeface="Batang"/>
                <a:sym typeface="Batang"/>
              </a:rPr>
              <a:t> </a:t>
            </a:r>
            <a:r>
              <a:rPr lang="en-US" sz="1800" dirty="0" err="1">
                <a:latin typeface="D2Coding" panose="020B0609020101020101" pitchFamily="49" charset="-127"/>
                <a:ea typeface="D2Coding" panose="020B0609020101020101" pitchFamily="49" charset="-127"/>
                <a:cs typeface="Batang"/>
                <a:sym typeface="Batang"/>
              </a:rPr>
              <a:t>모아</a:t>
            </a:r>
            <a:r>
              <a:rPr lang="en-US" sz="1800" dirty="0">
                <a:latin typeface="D2Coding" panose="020B0609020101020101" pitchFamily="49" charset="-127"/>
                <a:ea typeface="D2Coding" panose="020B0609020101020101" pitchFamily="49" charset="-127"/>
                <a:cs typeface="Batang"/>
                <a:sym typeface="Batang"/>
              </a:rPr>
              <a:t>(</a:t>
            </a:r>
            <a:r>
              <a:rPr lang="en-US" sz="1800" dirty="0" err="1">
                <a:latin typeface="D2Coding" panose="020B0609020101020101" pitchFamily="49" charset="-127"/>
                <a:ea typeface="D2Coding" panose="020B0609020101020101" pitchFamily="49" charset="-127"/>
                <a:cs typeface="Batang"/>
                <a:sym typeface="Batang"/>
              </a:rPr>
              <a:t>오버헤드가</a:t>
            </a:r>
            <a:r>
              <a:rPr lang="en-US" sz="1800" dirty="0">
                <a:latin typeface="D2Coding" panose="020B0609020101020101" pitchFamily="49" charset="-127"/>
                <a:ea typeface="D2Coding" panose="020B0609020101020101" pitchFamily="49" charset="-127"/>
                <a:cs typeface="Batang"/>
                <a:sym typeface="Batang"/>
              </a:rPr>
              <a:t> </a:t>
            </a:r>
            <a:r>
              <a:rPr lang="en-US" sz="1800" dirty="0" err="1">
                <a:latin typeface="D2Coding" panose="020B0609020101020101" pitchFamily="49" charset="-127"/>
                <a:ea typeface="D2Coding" panose="020B0609020101020101" pitchFamily="49" charset="-127"/>
                <a:cs typeface="Batang"/>
                <a:sym typeface="Batang"/>
              </a:rPr>
              <a:t>없음</a:t>
            </a:r>
            <a:r>
              <a:rPr lang="en-US" sz="1800" dirty="0">
                <a:latin typeface="D2Coding" panose="020B0609020101020101" pitchFamily="49" charset="-127"/>
                <a:ea typeface="D2Coding" panose="020B0609020101020101" pitchFamily="49" charset="-127"/>
                <a:cs typeface="Batang"/>
                <a:sym typeface="Batang"/>
              </a:rPr>
              <a:t>) </a:t>
            </a:r>
            <a:r>
              <a:rPr lang="en-US" sz="1800" dirty="0" err="1">
                <a:latin typeface="D2Coding" panose="020B0609020101020101" pitchFamily="49" charset="-127"/>
                <a:ea typeface="D2Coding" panose="020B0609020101020101" pitchFamily="49" charset="-127"/>
                <a:cs typeface="Batang"/>
                <a:sym typeface="Batang"/>
              </a:rPr>
              <a:t>별도의</a:t>
            </a:r>
            <a:r>
              <a:rPr lang="en-US" sz="1800" dirty="0">
                <a:latin typeface="D2Coding" panose="020B0609020101020101" pitchFamily="49" charset="-127"/>
                <a:ea typeface="D2Coding" panose="020B0609020101020101" pitchFamily="49" charset="-127"/>
                <a:cs typeface="Batang"/>
                <a:sym typeface="Batang"/>
              </a:rPr>
              <a:t> </a:t>
            </a:r>
            <a:r>
              <a:rPr lang="en-US" sz="1800" dirty="0" err="1">
                <a:latin typeface="D2Coding" panose="020B0609020101020101" pitchFamily="49" charset="-127"/>
                <a:ea typeface="D2Coding" panose="020B0609020101020101" pitchFamily="49" charset="-127"/>
                <a:cs typeface="Batang"/>
                <a:sym typeface="Batang"/>
              </a:rPr>
              <a:t>서버처럼</a:t>
            </a:r>
            <a:r>
              <a:rPr lang="en-US" sz="1800" dirty="0">
                <a:latin typeface="D2Coding" panose="020B0609020101020101" pitchFamily="49" charset="-127"/>
                <a:ea typeface="D2Coding" panose="020B0609020101020101" pitchFamily="49" charset="-127"/>
                <a:cs typeface="Batang"/>
                <a:sym typeface="Batang"/>
              </a:rPr>
              <a:t> </a:t>
            </a:r>
            <a:r>
              <a:rPr lang="en-US" sz="1800" dirty="0" err="1">
                <a:latin typeface="D2Coding" panose="020B0609020101020101" pitchFamily="49" charset="-127"/>
                <a:ea typeface="D2Coding" panose="020B0609020101020101" pitchFamily="49" charset="-127"/>
                <a:cs typeface="Batang"/>
                <a:sym typeface="Batang"/>
              </a:rPr>
              <a:t>격리되어</a:t>
            </a:r>
            <a:r>
              <a:rPr lang="en-US" sz="1800" dirty="0">
                <a:latin typeface="D2Coding" panose="020B0609020101020101" pitchFamily="49" charset="-127"/>
                <a:ea typeface="D2Coding" panose="020B0609020101020101" pitchFamily="49" charset="-127"/>
                <a:cs typeface="Batang"/>
                <a:sym typeface="Batang"/>
              </a:rPr>
              <a:t> </a:t>
            </a:r>
            <a:r>
              <a:rPr lang="en-US" sz="1800" dirty="0" err="1">
                <a:latin typeface="D2Coding" panose="020B0609020101020101" pitchFamily="49" charset="-127"/>
                <a:ea typeface="D2Coding" panose="020B0609020101020101" pitchFamily="49" charset="-127"/>
                <a:cs typeface="Batang"/>
                <a:sym typeface="Batang"/>
              </a:rPr>
              <a:t>동작하는</a:t>
            </a:r>
            <a:r>
              <a:rPr lang="en-US" sz="1800" dirty="0">
                <a:latin typeface="D2Coding" panose="020B0609020101020101" pitchFamily="49" charset="-127"/>
                <a:ea typeface="D2Coding" panose="020B0609020101020101" pitchFamily="49" charset="-127"/>
                <a:cs typeface="Batang"/>
                <a:sym typeface="Batang"/>
              </a:rPr>
              <a:t> 것</a:t>
            </a:r>
            <a:endParaRPr sz="1800" b="1" dirty="0">
              <a:latin typeface="D2Coding" panose="020B0609020101020101" pitchFamily="49" charset="-127"/>
              <a:ea typeface="D2Coding" panose="020B0609020101020101" pitchFamily="49" charset="-127"/>
              <a:cs typeface="Batang"/>
              <a:sym typeface="Batang"/>
            </a:endParaRPr>
          </a:p>
        </p:txBody>
      </p:sp>
      <p:grpSp>
        <p:nvGrpSpPr>
          <p:cNvPr id="283" name="Google Shape;283;p13"/>
          <p:cNvGrpSpPr/>
          <p:nvPr/>
        </p:nvGrpSpPr>
        <p:grpSpPr>
          <a:xfrm>
            <a:off x="1955374" y="2702726"/>
            <a:ext cx="5055025" cy="4002873"/>
            <a:chOff x="1955375" y="2702727"/>
            <a:chExt cx="4371680" cy="3533792"/>
          </a:xfrm>
        </p:grpSpPr>
        <p:sp>
          <p:nvSpPr>
            <p:cNvPr id="284" name="Google Shape;284;p13"/>
            <p:cNvSpPr txBox="1"/>
            <p:nvPr/>
          </p:nvSpPr>
          <p:spPr>
            <a:xfrm>
              <a:off x="1955375" y="5928742"/>
              <a:ext cx="437168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u="sng">
                  <a:solidFill>
                    <a:schemeClr val="lt1"/>
                  </a:solidFill>
                  <a:latin typeface="Sorts Mill Goudy"/>
                  <a:ea typeface="Sorts Mill Goudy"/>
                  <a:cs typeface="Sorts Mill Goudy"/>
                  <a:sym typeface="Sorts Mill Goudy"/>
                  <a:hlinkClick r:id="rId3">
                    <a:extLst>
                      <a:ext uri="{A12FA001-AC4F-418D-AE19-62706E023703}">
                        <ahyp:hlinkClr xmlns:ahyp="http://schemas.microsoft.com/office/drawing/2018/hyperlinkcolor" val="tx"/>
                      </a:ext>
                    </a:extLst>
                  </a:hlinkClick>
                </a:rPr>
                <a:t>https://www.docker.com/resources/what-container/</a:t>
              </a:r>
              <a:r>
                <a:rPr lang="en-US" sz="1400">
                  <a:solidFill>
                    <a:schemeClr val="lt1"/>
                  </a:solidFill>
                  <a:latin typeface="Sorts Mill Goudy"/>
                  <a:ea typeface="Sorts Mill Goudy"/>
                  <a:cs typeface="Sorts Mill Goudy"/>
                  <a:sym typeface="Sorts Mill Goudy"/>
                </a:rPr>
                <a:t> </a:t>
              </a:r>
              <a:endParaRPr/>
            </a:p>
          </p:txBody>
        </p:sp>
        <p:pic>
          <p:nvPicPr>
            <p:cNvPr id="285" name="Google Shape;285;p13"/>
            <p:cNvPicPr preferRelativeResize="0"/>
            <p:nvPr/>
          </p:nvPicPr>
          <p:blipFill rotWithShape="1">
            <a:blip r:embed="rId4">
              <a:alphaModFix/>
            </a:blip>
            <a:srcRect/>
            <a:stretch/>
          </p:blipFill>
          <p:spPr>
            <a:xfrm>
              <a:off x="2058569" y="2702727"/>
              <a:ext cx="3839845" cy="3225470"/>
            </a:xfrm>
            <a:prstGeom prst="rect">
              <a:avLst/>
            </a:prstGeom>
            <a:noFill/>
            <a:ln>
              <a:noFill/>
            </a:ln>
          </p:spPr>
        </p:pic>
      </p:grpSp>
      <p:pic>
        <p:nvPicPr>
          <p:cNvPr id="286" name="Google Shape;286;p13" descr="assorted-color filed 복합 운송 컨테이너"/>
          <p:cNvPicPr preferRelativeResize="0"/>
          <p:nvPr/>
        </p:nvPicPr>
        <p:blipFill rotWithShape="1">
          <a:blip r:embed="rId5">
            <a:alphaModFix/>
          </a:blip>
          <a:srcRect/>
          <a:stretch/>
        </p:blipFill>
        <p:spPr>
          <a:xfrm>
            <a:off x="7010399" y="2702726"/>
            <a:ext cx="3455378" cy="2252906"/>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3"/>
                                        </p:tgtEl>
                                        <p:attrNameLst>
                                          <p:attrName>style.visibility</p:attrName>
                                        </p:attrNameLst>
                                      </p:cBhvr>
                                      <p:to>
                                        <p:strVal val="visible"/>
                                      </p:to>
                                    </p:set>
                                    <p:animEffect transition="in" filter="fade">
                                      <p:cBhvr>
                                        <p:cTn id="7" dur="2000"/>
                                        <p:tgtEl>
                                          <p:spTgt spid="2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90"/>
        <p:cNvGrpSpPr/>
        <p:nvPr/>
      </p:nvGrpSpPr>
      <p:grpSpPr>
        <a:xfrm>
          <a:off x="0" y="0"/>
          <a:ext cx="0" cy="0"/>
          <a:chOff x="0" y="0"/>
          <a:chExt cx="0" cy="0"/>
        </a:xfrm>
      </p:grpSpPr>
      <p:sp>
        <p:nvSpPr>
          <p:cNvPr id="291" name="Google Shape;291;p14"/>
          <p:cNvSpPr txBox="1">
            <a:spLocks noGrp="1"/>
          </p:cNvSpPr>
          <p:nvPr>
            <p:ph type="title"/>
          </p:nvPr>
        </p:nvSpPr>
        <p:spPr>
          <a:xfrm>
            <a:off x="919119" y="419546"/>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dirty="0"/>
              <a:t>WSL2 Installation</a:t>
            </a:r>
            <a:endParaRPr dirty="0"/>
          </a:p>
        </p:txBody>
      </p:sp>
      <p:sp>
        <p:nvSpPr>
          <p:cNvPr id="293" name="Google Shape;293;p14"/>
          <p:cNvSpPr txBox="1"/>
          <p:nvPr/>
        </p:nvSpPr>
        <p:spPr>
          <a:xfrm>
            <a:off x="585585" y="1416783"/>
            <a:ext cx="11458633" cy="4616608"/>
          </a:xfrm>
          <a:prstGeom prst="rect">
            <a:avLst/>
          </a:prstGeom>
          <a:solidFill>
            <a:schemeClr val="tx1"/>
          </a:solid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dirty="0">
                <a:solidFill>
                  <a:schemeClr val="lt1"/>
                </a:solidFill>
                <a:latin typeface="D2Coding" panose="020B0609020101020101" pitchFamily="49" charset="-127"/>
                <a:ea typeface="D2Coding" panose="020B0609020101020101" pitchFamily="49" charset="-127"/>
                <a:cs typeface="Sorts Mill Goudy"/>
                <a:sym typeface="Sorts Mill Goudy"/>
              </a:rPr>
              <a:t>PS C:\WINDOWS\system32&gt; </a:t>
            </a:r>
            <a:r>
              <a:rPr lang="en-US" sz="1400" dirty="0" err="1">
                <a:solidFill>
                  <a:schemeClr val="lt1"/>
                </a:solidFill>
                <a:latin typeface="D2Coding" panose="020B0609020101020101" pitchFamily="49" charset="-127"/>
                <a:ea typeface="D2Coding" panose="020B0609020101020101" pitchFamily="49" charset="-127"/>
                <a:cs typeface="Sorts Mill Goudy"/>
                <a:sym typeface="Sorts Mill Goudy"/>
              </a:rPr>
              <a:t>wsl</a:t>
            </a:r>
            <a:r>
              <a:rPr lang="en-US" sz="1400" dirty="0">
                <a:solidFill>
                  <a:schemeClr val="lt1"/>
                </a:solidFill>
                <a:latin typeface="D2Coding" panose="020B0609020101020101" pitchFamily="49" charset="-127"/>
                <a:ea typeface="D2Coding" panose="020B0609020101020101" pitchFamily="49" charset="-127"/>
                <a:cs typeface="Sorts Mill Goudy"/>
                <a:sym typeface="Sorts Mill Goudy"/>
              </a:rPr>
              <a:t> --install</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Ubuntu이</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(가)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이미</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설치되어</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있습니다</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Ubuntu을</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(를)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시작하는</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중...</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To run a command as administrator (user "root"), use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sudo</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&lt;command&gt;".</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See "man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sudo_root</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for details.</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endParaRPr sz="1400" dirty="0">
              <a:solidFill>
                <a:schemeClr val="lt1"/>
              </a:solidFill>
              <a:latin typeface="D2Coding" panose="020B0609020101020101" pitchFamily="49" charset="-127"/>
              <a:ea typeface="D2Coding" panose="020B0609020101020101" pitchFamily="49" charset="-127"/>
              <a:cs typeface="Sorts Mill Goudy"/>
              <a:sym typeface="Sorts Mill Goudy"/>
            </a:endParaRPr>
          </a:p>
          <a:p>
            <a:pPr marL="0" marR="0" lvl="0" indent="0" algn="l" rtl="0">
              <a:spcBef>
                <a:spcPts val="0"/>
              </a:spcBef>
              <a:spcAft>
                <a:spcPts val="0"/>
              </a:spcAft>
              <a:buNone/>
            </a:pPr>
            <a:r>
              <a:rPr lang="en-US" sz="1400" dirty="0">
                <a:solidFill>
                  <a:schemeClr val="lt1"/>
                </a:solidFill>
                <a:latin typeface="D2Coding" panose="020B0609020101020101" pitchFamily="49" charset="-127"/>
                <a:ea typeface="D2Coding" panose="020B0609020101020101" pitchFamily="49" charset="-127"/>
                <a:cs typeface="Sorts Mill Goudy"/>
                <a:sym typeface="Sorts Mill Goudy"/>
              </a:rPr>
              <a:t>ancestor9@DESKTOP-LMLFU0S:~$ ls</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r>
              <a:rPr lang="en-US" sz="1400" dirty="0">
                <a:solidFill>
                  <a:schemeClr val="lt1"/>
                </a:solidFill>
                <a:latin typeface="D2Coding" panose="020B0609020101020101" pitchFamily="49" charset="-127"/>
                <a:ea typeface="D2Coding" panose="020B0609020101020101" pitchFamily="49" charset="-127"/>
                <a:cs typeface="Sorts Mill Goudy"/>
                <a:sym typeface="Sorts Mill Goudy"/>
              </a:rPr>
              <a:t>ancestor9@DESKTOP-LMLFU0S:~$ ls -al</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total 28</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drwxr</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-x--- 3 ancestor9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ancestor9</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4096 Dec 20 00:06 .</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drwxr</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xr</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-x 3 root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root</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4096 Dec 19 23:02 ..</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rw</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------- 1 ancestor9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ancestor9</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179 Dec 20 10:53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bash_history</a:t>
            </a:r>
            <a:endParaRPr sz="1400" dirty="0">
              <a:solidFill>
                <a:srgbClr val="00B050"/>
              </a:solidFill>
              <a:latin typeface="D2Coding" panose="020B0609020101020101" pitchFamily="49" charset="-127"/>
              <a:ea typeface="D2Coding" panose="020B0609020101020101" pitchFamily="49" charset="-127"/>
              <a:cs typeface="Sorts Mill Goudy"/>
              <a:sym typeface="Sorts Mill Goudy"/>
            </a:endParaRPr>
          </a:p>
          <a:p>
            <a:pPr marL="0" marR="0" lvl="0" indent="0" algn="l" rtl="0">
              <a:spcBef>
                <a:spcPts val="0"/>
              </a:spcBef>
              <a:spcAft>
                <a:spcPts val="0"/>
              </a:spcAft>
              <a:buNone/>
            </a:pP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rw</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-r--r-- 1 ancestor9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ancestor9</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220 Dec 19 23:02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bash_logout</a:t>
            </a:r>
            <a:endParaRPr sz="1400" dirty="0">
              <a:solidFill>
                <a:srgbClr val="00B050"/>
              </a:solidFill>
              <a:latin typeface="D2Coding" panose="020B0609020101020101" pitchFamily="49" charset="-127"/>
              <a:ea typeface="D2Coding" panose="020B0609020101020101" pitchFamily="49" charset="-127"/>
              <a:cs typeface="Sorts Mill Goudy"/>
              <a:sym typeface="Sorts Mill Goudy"/>
            </a:endParaRPr>
          </a:p>
          <a:p>
            <a:pPr marL="0" marR="0" lvl="0" indent="0" algn="l" rtl="0">
              <a:spcBef>
                <a:spcPts val="0"/>
              </a:spcBef>
              <a:spcAft>
                <a:spcPts val="0"/>
              </a:spcAft>
              <a:buNone/>
            </a:pP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rw</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-r--r-- 1 ancestor9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ancestor9</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3771 Dec 19 23:02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bashrc</a:t>
            </a:r>
            <a:endParaRPr sz="1400" dirty="0">
              <a:solidFill>
                <a:srgbClr val="00B050"/>
              </a:solidFill>
              <a:latin typeface="D2Coding" panose="020B0609020101020101" pitchFamily="49" charset="-127"/>
              <a:ea typeface="D2Coding" panose="020B0609020101020101" pitchFamily="49" charset="-127"/>
              <a:cs typeface="Sorts Mill Goudy"/>
              <a:sym typeface="Sorts Mill Goudy"/>
            </a:endParaRPr>
          </a:p>
          <a:p>
            <a:pPr marL="0" marR="0" lvl="0" indent="0" algn="l" rtl="0">
              <a:spcBef>
                <a:spcPts val="0"/>
              </a:spcBef>
              <a:spcAft>
                <a:spcPts val="0"/>
              </a:spcAft>
              <a:buNone/>
            </a:pP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drwx</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------ 2 ancestor9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ancestor9</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4096 Dec 19 23:02 .cache</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rw</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-r--r-- 1 ancestor9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ancestor9</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0 Dec 20 10:42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motd_shown</a:t>
            </a:r>
            <a:endParaRPr sz="1400" dirty="0">
              <a:solidFill>
                <a:srgbClr val="00B050"/>
              </a:solidFill>
              <a:latin typeface="D2Coding" panose="020B0609020101020101" pitchFamily="49" charset="-127"/>
              <a:ea typeface="D2Coding" panose="020B0609020101020101" pitchFamily="49" charset="-127"/>
              <a:cs typeface="Sorts Mill Goudy"/>
              <a:sym typeface="Sorts Mill Goudy"/>
            </a:endParaRPr>
          </a:p>
          <a:p>
            <a:pPr marL="0" marR="0" lvl="0" indent="0" algn="l" rtl="0">
              <a:spcBef>
                <a:spcPts val="0"/>
              </a:spcBef>
              <a:spcAft>
                <a:spcPts val="0"/>
              </a:spcAft>
              <a:buNone/>
            </a:pP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rw</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-r--r-- 1 ancestor9 </a:t>
            </a:r>
            <a:r>
              <a:rPr lang="en-US" sz="1400" dirty="0" err="1">
                <a:solidFill>
                  <a:srgbClr val="00B050"/>
                </a:solidFill>
                <a:latin typeface="D2Coding" panose="020B0609020101020101" pitchFamily="49" charset="-127"/>
                <a:ea typeface="D2Coding" panose="020B0609020101020101" pitchFamily="49" charset="-127"/>
                <a:cs typeface="Sorts Mill Goudy"/>
                <a:sym typeface="Sorts Mill Goudy"/>
              </a:rPr>
              <a:t>ancestor9</a:t>
            </a: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  807 Dec 19 23:02 .profile</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endParaRPr sz="1400" dirty="0">
              <a:solidFill>
                <a:srgbClr val="00B050"/>
              </a:solidFill>
              <a:latin typeface="D2Coding" panose="020B0609020101020101" pitchFamily="49" charset="-127"/>
              <a:ea typeface="D2Coding" panose="020B0609020101020101" pitchFamily="49" charset="-127"/>
              <a:cs typeface="Sorts Mill Goudy"/>
              <a:sym typeface="Sorts Mill Goudy"/>
            </a:endParaRPr>
          </a:p>
          <a:p>
            <a:pPr marL="0" marR="0" lvl="0" indent="0" algn="l" rtl="0">
              <a:spcBef>
                <a:spcPts val="0"/>
              </a:spcBef>
              <a:spcAft>
                <a:spcPts val="0"/>
              </a:spcAft>
              <a:buNone/>
            </a:pPr>
            <a:r>
              <a:rPr lang="en-US" sz="1400" dirty="0">
                <a:solidFill>
                  <a:schemeClr val="lt1"/>
                </a:solidFill>
                <a:latin typeface="D2Coding" panose="020B0609020101020101" pitchFamily="49" charset="-127"/>
                <a:ea typeface="D2Coding" panose="020B0609020101020101" pitchFamily="49" charset="-127"/>
                <a:cs typeface="Sorts Mill Goudy"/>
                <a:sym typeface="Sorts Mill Goudy"/>
              </a:rPr>
              <a:t>PS C:\WINDOWS\system32&gt; </a:t>
            </a:r>
            <a:r>
              <a:rPr lang="en-US" sz="1400" dirty="0" err="1">
                <a:solidFill>
                  <a:schemeClr val="lt1"/>
                </a:solidFill>
                <a:latin typeface="D2Coding" panose="020B0609020101020101" pitchFamily="49" charset="-127"/>
                <a:ea typeface="D2Coding" panose="020B0609020101020101" pitchFamily="49" charset="-127"/>
                <a:cs typeface="Sorts Mill Goudy"/>
                <a:sym typeface="Sorts Mill Goudy"/>
              </a:rPr>
              <a:t>wsl</a:t>
            </a:r>
            <a:r>
              <a:rPr lang="en-US" sz="1400" dirty="0">
                <a:solidFill>
                  <a:schemeClr val="lt1"/>
                </a:solidFill>
                <a:latin typeface="D2Coding" panose="020B0609020101020101" pitchFamily="49" charset="-127"/>
                <a:ea typeface="D2Coding" panose="020B0609020101020101" pitchFamily="49" charset="-127"/>
                <a:cs typeface="Sorts Mill Goudy"/>
                <a:sym typeface="Sorts Mill Goudy"/>
              </a:rPr>
              <a:t> -l -v</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NAME                   STATE           VERSION</a:t>
            </a:r>
            <a:endParaRPr sz="1600" dirty="0">
              <a:latin typeface="D2Coding" panose="020B0609020101020101" pitchFamily="49" charset="-127"/>
              <a:ea typeface="D2Coding" panose="020B0609020101020101" pitchFamily="49" charset="-127"/>
            </a:endParaRPr>
          </a:p>
          <a:p>
            <a:pPr marL="0" marR="0" lvl="0" indent="0" algn="l" rtl="0">
              <a:spcBef>
                <a:spcPts val="0"/>
              </a:spcBef>
              <a:spcAft>
                <a:spcPts val="0"/>
              </a:spcAft>
              <a:buNone/>
            </a:pPr>
            <a:r>
              <a:rPr lang="en-US" sz="1400" dirty="0">
                <a:solidFill>
                  <a:srgbClr val="00B050"/>
                </a:solidFill>
                <a:latin typeface="D2Coding" panose="020B0609020101020101" pitchFamily="49" charset="-127"/>
                <a:ea typeface="D2Coding" panose="020B0609020101020101" pitchFamily="49" charset="-127"/>
                <a:cs typeface="Sorts Mill Goudy"/>
                <a:sym typeface="Sorts Mill Goudy"/>
              </a:rPr>
              <a:t>Ubuntu                 Running         2</a:t>
            </a:r>
            <a:endParaRPr sz="1600" dirty="0">
              <a:latin typeface="D2Coding" panose="020B0609020101020101" pitchFamily="49" charset="-127"/>
              <a:ea typeface="D2Coding" panose="020B0609020101020101" pitchFamily="49" charset="-127"/>
            </a:endParaRPr>
          </a:p>
        </p:txBody>
      </p:sp>
      <p:sp>
        <p:nvSpPr>
          <p:cNvPr id="294" name="Google Shape;294;p14"/>
          <p:cNvSpPr/>
          <p:nvPr/>
        </p:nvSpPr>
        <p:spPr>
          <a:xfrm>
            <a:off x="7907414" y="6033391"/>
            <a:ext cx="3836894" cy="766439"/>
          </a:xfrm>
          <a:prstGeom prst="roundRect">
            <a:avLst>
              <a:gd name="adj" fmla="val 16667"/>
            </a:avLst>
          </a:prstGeom>
          <a:solidFill>
            <a:srgbClr val="00B0F0"/>
          </a:solidFill>
          <a:ln w="15875" cap="rnd" cmpd="sng">
            <a:solidFill>
              <a:srgbClr val="56370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Arial"/>
                <a:ea typeface="Arial"/>
                <a:cs typeface="Arial"/>
                <a:sym typeface="Arial"/>
              </a:rPr>
              <a:t>Window 11 Home</a:t>
            </a:r>
            <a:endParaRPr sz="1800">
              <a:solidFill>
                <a:schemeClr val="lt1"/>
              </a:solidFill>
              <a:latin typeface="Arial"/>
              <a:ea typeface="Arial"/>
              <a:cs typeface="Arial"/>
              <a:sym typeface="Arial"/>
            </a:endParaRPr>
          </a:p>
        </p:txBody>
      </p:sp>
      <p:sp>
        <p:nvSpPr>
          <p:cNvPr id="295" name="Google Shape;295;p14"/>
          <p:cNvSpPr/>
          <p:nvPr/>
        </p:nvSpPr>
        <p:spPr>
          <a:xfrm>
            <a:off x="7907414" y="5190752"/>
            <a:ext cx="3836894" cy="766439"/>
          </a:xfrm>
          <a:prstGeom prst="roundRect">
            <a:avLst>
              <a:gd name="adj" fmla="val 16667"/>
            </a:avLst>
          </a:prstGeom>
          <a:solidFill>
            <a:srgbClr val="FFC000"/>
          </a:solidFill>
          <a:ln w="15875" cap="rnd" cmpd="sng">
            <a:solidFill>
              <a:srgbClr val="56370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Arial"/>
                <a:ea typeface="Arial"/>
                <a:cs typeface="Arial"/>
                <a:sym typeface="Arial"/>
              </a:rPr>
              <a:t>WSL2</a:t>
            </a:r>
            <a:endParaRPr sz="1800">
              <a:solidFill>
                <a:schemeClr val="lt1"/>
              </a:solidFill>
              <a:latin typeface="Arial"/>
              <a:ea typeface="Arial"/>
              <a:cs typeface="Arial"/>
              <a:sym typeface="Arial"/>
            </a:endParaRPr>
          </a:p>
        </p:txBody>
      </p:sp>
      <p:sp>
        <p:nvSpPr>
          <p:cNvPr id="296" name="Google Shape;296;p14"/>
          <p:cNvSpPr/>
          <p:nvPr/>
        </p:nvSpPr>
        <p:spPr>
          <a:xfrm>
            <a:off x="7885843" y="4339105"/>
            <a:ext cx="3836894" cy="766439"/>
          </a:xfrm>
          <a:prstGeom prst="roundRect">
            <a:avLst>
              <a:gd name="adj" fmla="val 16667"/>
            </a:avLst>
          </a:prstGeom>
          <a:solidFill>
            <a:schemeClr val="accent6"/>
          </a:solidFill>
          <a:ln w="15875" cap="rnd" cmpd="sng">
            <a:solidFill>
              <a:srgbClr val="56370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lt1"/>
                </a:solidFill>
                <a:latin typeface="Arial"/>
                <a:ea typeface="Arial"/>
                <a:cs typeface="Arial"/>
                <a:sym typeface="Arial"/>
              </a:rPr>
              <a:t>Ubuntu</a:t>
            </a:r>
            <a:endParaRPr sz="1800">
              <a:solidFill>
                <a:schemeClr val="lt1"/>
              </a:solidFill>
              <a:latin typeface="Arial"/>
              <a:ea typeface="Arial"/>
              <a:cs typeface="Arial"/>
              <a:sym typeface="Arial"/>
            </a:endParaRPr>
          </a:p>
        </p:txBody>
      </p:sp>
      <p:pic>
        <p:nvPicPr>
          <p:cNvPr id="297" name="Google Shape;297;p14" descr="리눅스 (Linux) 명령어] 우분투(Ubuntu) 버전 확인하는 방법들! : 네이버 블로그"/>
          <p:cNvPicPr preferRelativeResize="0"/>
          <p:nvPr/>
        </p:nvPicPr>
        <p:blipFill rotWithShape="1">
          <a:blip r:embed="rId3">
            <a:alphaModFix/>
          </a:blip>
          <a:srcRect/>
          <a:stretch/>
        </p:blipFill>
        <p:spPr>
          <a:xfrm>
            <a:off x="8054435" y="4458107"/>
            <a:ext cx="686696" cy="52843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15"/>
          <p:cNvSpPr txBox="1">
            <a:spLocks noGrp="1"/>
          </p:cNvSpPr>
          <p:nvPr>
            <p:ph type="title"/>
          </p:nvPr>
        </p:nvSpPr>
        <p:spPr>
          <a:xfrm>
            <a:off x="919119" y="390357"/>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a:t>Docker Desktop on Ubuntu</a:t>
            </a:r>
            <a:endParaRPr/>
          </a:p>
        </p:txBody>
      </p:sp>
      <p:sp>
        <p:nvSpPr>
          <p:cNvPr id="304" name="Google Shape;304;p15"/>
          <p:cNvSpPr txBox="1"/>
          <p:nvPr/>
        </p:nvSpPr>
        <p:spPr>
          <a:xfrm>
            <a:off x="578223" y="1473502"/>
            <a:ext cx="11035553" cy="4801274"/>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tx1"/>
              </a:buClr>
              <a:buSzPts val="1800"/>
              <a:buFont typeface="Noto Sans Symbols"/>
              <a:buChar char="▪"/>
            </a:pPr>
            <a:r>
              <a:rPr lang="en-US" sz="1800" b="1" dirty="0">
                <a:latin typeface="D2Coding" panose="020B0609020101020101" pitchFamily="49" charset="-127"/>
                <a:ea typeface="D2Coding" panose="020B0609020101020101" pitchFamily="49" charset="-127"/>
                <a:cs typeface="Sorts Mill Goudy"/>
                <a:sym typeface="Sorts Mill Goudy"/>
              </a:rPr>
              <a:t>With Docker Desktop running on WSL2, </a:t>
            </a:r>
            <a:r>
              <a:rPr lang="en-US" sz="1800" dirty="0">
                <a:latin typeface="D2Coding" panose="020B0609020101020101" pitchFamily="49" charset="-127"/>
                <a:ea typeface="D2Coding" panose="020B0609020101020101" pitchFamily="49" charset="-127"/>
                <a:cs typeface="Sorts Mill Goudy"/>
                <a:sym typeface="Sorts Mill Goudy"/>
              </a:rPr>
              <a:t>users can leverage Linux workspaces and avoid having to maintain both Linux and Windows build scripts</a:t>
            </a:r>
            <a:endParaRPr dirty="0">
              <a:latin typeface="D2Coding" panose="020B0609020101020101" pitchFamily="49" charset="-127"/>
              <a:ea typeface="D2Coding" panose="020B0609020101020101" pitchFamily="49" charset="-127"/>
            </a:endParaRPr>
          </a:p>
          <a:p>
            <a:pPr marL="285750" marR="0" lvl="0" indent="-285750" algn="l" rtl="0">
              <a:spcBef>
                <a:spcPts val="0"/>
              </a:spcBef>
              <a:spcAft>
                <a:spcPts val="0"/>
              </a:spcAft>
              <a:buClr>
                <a:schemeClr val="tx1"/>
              </a:buClr>
              <a:buSzPts val="1800"/>
              <a:buFont typeface="Noto Sans Symbols"/>
              <a:buChar char="▪"/>
            </a:pPr>
            <a:r>
              <a:rPr lang="en-US" sz="1800" u="sng" dirty="0">
                <a:latin typeface="D2Coding" panose="020B0609020101020101" pitchFamily="49" charset="-127"/>
                <a:ea typeface="D2Coding" panose="020B0609020101020101" pitchFamily="49" charset="-127"/>
                <a:cs typeface="Sorts Mill Goudy"/>
                <a:sym typeface="Sorts Mill Goudy"/>
                <a:hlinkClick r:id="rId3">
                  <a:extLst>
                    <a:ext uri="{A12FA001-AC4F-418D-AE19-62706E023703}">
                      <ahyp:hlinkClr xmlns:ahyp="http://schemas.microsoft.com/office/drawing/2018/hyperlinkcolor" val="tx"/>
                    </a:ext>
                  </a:extLst>
                </a:hlinkClick>
              </a:rPr>
              <a:t>https://docs.docker.com/engine/install/ubuntu/</a:t>
            </a:r>
            <a:r>
              <a:rPr lang="en-US" sz="1800" dirty="0">
                <a:latin typeface="D2Coding" panose="020B0609020101020101" pitchFamily="49" charset="-127"/>
                <a:ea typeface="D2Coding" panose="020B0609020101020101" pitchFamily="49" charset="-127"/>
                <a:cs typeface="Sorts Mill Goudy"/>
                <a:sym typeface="Sorts Mill Goudy"/>
              </a:rPr>
              <a:t> </a:t>
            </a:r>
            <a:endParaRPr dirty="0">
              <a:latin typeface="D2Coding" panose="020B0609020101020101" pitchFamily="49" charset="-127"/>
              <a:ea typeface="D2Coding" panose="020B0609020101020101" pitchFamily="49" charset="-127"/>
            </a:endParaRPr>
          </a:p>
          <a:p>
            <a:pPr marL="285750" marR="0" lvl="0" indent="-171450" algn="l" rtl="0">
              <a:spcBef>
                <a:spcPts val="0"/>
              </a:spcBef>
              <a:spcAft>
                <a:spcPts val="0"/>
              </a:spcAft>
              <a:buClr>
                <a:schemeClr val="lt1"/>
              </a:buClr>
              <a:buSzPts val="1800"/>
              <a:buFont typeface="Noto Sans Symbols"/>
              <a:buNone/>
            </a:pPr>
            <a:endParaRPr sz="1800" dirty="0">
              <a:latin typeface="Sorts Mill Goudy"/>
              <a:ea typeface="Sorts Mill Goudy"/>
              <a:cs typeface="Sorts Mill Goudy"/>
              <a:sym typeface="Sorts Mill Goudy"/>
            </a:endParaRPr>
          </a:p>
          <a:p>
            <a:pPr marL="285750" marR="0" lvl="0" indent="-171450" algn="l" rtl="0">
              <a:spcBef>
                <a:spcPts val="0"/>
              </a:spcBef>
              <a:spcAft>
                <a:spcPts val="0"/>
              </a:spcAft>
              <a:buClr>
                <a:schemeClr val="lt1"/>
              </a:buClr>
              <a:buSzPts val="1800"/>
              <a:buFont typeface="Noto Sans Symbols"/>
              <a:buNone/>
            </a:pPr>
            <a:endParaRPr sz="1800" dirty="0">
              <a:latin typeface="Sorts Mill Goudy"/>
              <a:ea typeface="Sorts Mill Goudy"/>
              <a:cs typeface="Sorts Mill Goudy"/>
              <a:sym typeface="Sorts Mill Goudy"/>
            </a:endParaRPr>
          </a:p>
          <a:p>
            <a:pPr marL="285750" marR="0" lvl="0" indent="-171450" algn="l" rtl="0">
              <a:spcBef>
                <a:spcPts val="0"/>
              </a:spcBef>
              <a:spcAft>
                <a:spcPts val="0"/>
              </a:spcAft>
              <a:buClr>
                <a:schemeClr val="lt1"/>
              </a:buClr>
              <a:buSzPts val="1800"/>
              <a:buFont typeface="Noto Sans Symbols"/>
              <a:buNone/>
            </a:pPr>
            <a:endParaRPr sz="1800" dirty="0">
              <a:latin typeface="Sorts Mill Goudy"/>
              <a:ea typeface="Sorts Mill Goudy"/>
              <a:cs typeface="Sorts Mill Goudy"/>
              <a:sym typeface="Sorts Mill Goudy"/>
            </a:endParaRPr>
          </a:p>
          <a:p>
            <a:pPr marL="285750" marR="0" lvl="0" indent="-171450" algn="l" rtl="0">
              <a:spcBef>
                <a:spcPts val="0"/>
              </a:spcBef>
              <a:spcAft>
                <a:spcPts val="0"/>
              </a:spcAft>
              <a:buClr>
                <a:schemeClr val="lt1"/>
              </a:buClr>
              <a:buSzPts val="1800"/>
              <a:buFont typeface="Noto Sans Symbols"/>
              <a:buNone/>
            </a:pPr>
            <a:endParaRPr sz="1800" dirty="0">
              <a:latin typeface="Sorts Mill Goudy"/>
              <a:ea typeface="Sorts Mill Goudy"/>
              <a:cs typeface="Sorts Mill Goudy"/>
              <a:sym typeface="Sorts Mill Goudy"/>
            </a:endParaRPr>
          </a:p>
          <a:p>
            <a:pPr marL="285750" marR="0" lvl="0" indent="-171450" algn="l" rtl="0">
              <a:spcBef>
                <a:spcPts val="0"/>
              </a:spcBef>
              <a:spcAft>
                <a:spcPts val="0"/>
              </a:spcAft>
              <a:buClr>
                <a:schemeClr val="lt1"/>
              </a:buClr>
              <a:buSzPts val="1800"/>
              <a:buFont typeface="Noto Sans Symbols"/>
              <a:buNone/>
            </a:pPr>
            <a:endParaRPr sz="1800" dirty="0">
              <a:latin typeface="Sorts Mill Goudy"/>
              <a:ea typeface="Sorts Mill Goudy"/>
              <a:cs typeface="Sorts Mill Goudy"/>
              <a:sym typeface="Sorts Mill Goudy"/>
            </a:endParaRPr>
          </a:p>
          <a:p>
            <a:pPr marL="285750" marR="0" lvl="0" indent="-171450" algn="l" rtl="0">
              <a:spcBef>
                <a:spcPts val="0"/>
              </a:spcBef>
              <a:spcAft>
                <a:spcPts val="0"/>
              </a:spcAft>
              <a:buClr>
                <a:schemeClr val="lt1"/>
              </a:buClr>
              <a:buSzPts val="1800"/>
              <a:buFont typeface="Noto Sans Symbols"/>
              <a:buNone/>
            </a:pPr>
            <a:endParaRPr sz="1800" dirty="0">
              <a:solidFill>
                <a:schemeClr val="lt1"/>
              </a:solidFill>
              <a:latin typeface="Sorts Mill Goudy"/>
              <a:ea typeface="Sorts Mill Goudy"/>
              <a:cs typeface="Sorts Mill Goudy"/>
              <a:sym typeface="Sorts Mill Goudy"/>
            </a:endParaRPr>
          </a:p>
          <a:p>
            <a:pPr marL="285750" marR="0" lvl="0" indent="-171450" algn="l" rtl="0">
              <a:spcBef>
                <a:spcPts val="0"/>
              </a:spcBef>
              <a:spcAft>
                <a:spcPts val="0"/>
              </a:spcAft>
              <a:buClr>
                <a:schemeClr val="lt1"/>
              </a:buClr>
              <a:buSzPts val="1800"/>
              <a:buFont typeface="Noto Sans Symbols"/>
              <a:buNone/>
            </a:pPr>
            <a:endParaRPr sz="1800" dirty="0">
              <a:solidFill>
                <a:schemeClr val="lt1"/>
              </a:solidFill>
              <a:latin typeface="Sorts Mill Goudy"/>
              <a:ea typeface="Sorts Mill Goudy"/>
              <a:cs typeface="Sorts Mill Goudy"/>
              <a:sym typeface="Sorts Mill Goudy"/>
            </a:endParaRPr>
          </a:p>
          <a:p>
            <a:pPr marL="285750" marR="0" lvl="0" indent="-171450" algn="l" rtl="0">
              <a:spcBef>
                <a:spcPts val="0"/>
              </a:spcBef>
              <a:spcAft>
                <a:spcPts val="0"/>
              </a:spcAft>
              <a:buClr>
                <a:schemeClr val="lt1"/>
              </a:buClr>
              <a:buSzPts val="1800"/>
              <a:buFont typeface="Noto Sans Symbols"/>
              <a:buNone/>
            </a:pPr>
            <a:endParaRPr sz="1800" dirty="0">
              <a:solidFill>
                <a:schemeClr val="lt1"/>
              </a:solidFill>
              <a:latin typeface="Sorts Mill Goudy"/>
              <a:ea typeface="Sorts Mill Goudy"/>
              <a:cs typeface="Sorts Mill Goudy"/>
              <a:sym typeface="Sorts Mill Goudy"/>
            </a:endParaRPr>
          </a:p>
          <a:p>
            <a:pPr marL="285750" marR="0" lvl="0" indent="-171450" algn="l" rtl="0">
              <a:spcBef>
                <a:spcPts val="0"/>
              </a:spcBef>
              <a:spcAft>
                <a:spcPts val="0"/>
              </a:spcAft>
              <a:buClr>
                <a:schemeClr val="lt1"/>
              </a:buClr>
              <a:buSzPts val="1800"/>
              <a:buFont typeface="Noto Sans Symbols"/>
              <a:buNone/>
            </a:pPr>
            <a:endParaRPr sz="1800" dirty="0">
              <a:solidFill>
                <a:schemeClr val="lt1"/>
              </a:solidFill>
              <a:latin typeface="Sorts Mill Goudy"/>
              <a:ea typeface="Sorts Mill Goudy"/>
              <a:cs typeface="Sorts Mill Goudy"/>
              <a:sym typeface="Sorts Mill Goudy"/>
            </a:endParaRPr>
          </a:p>
          <a:p>
            <a:pPr marL="285750" marR="0" lvl="0" indent="-171450" algn="l" rtl="0">
              <a:spcBef>
                <a:spcPts val="0"/>
              </a:spcBef>
              <a:spcAft>
                <a:spcPts val="0"/>
              </a:spcAft>
              <a:buClr>
                <a:schemeClr val="lt1"/>
              </a:buClr>
              <a:buSzPts val="1800"/>
              <a:buFont typeface="Noto Sans Symbols"/>
              <a:buNone/>
            </a:pPr>
            <a:endParaRPr sz="1800" dirty="0">
              <a:solidFill>
                <a:schemeClr val="lt1"/>
              </a:solidFill>
              <a:latin typeface="Sorts Mill Goudy"/>
              <a:ea typeface="Sorts Mill Goudy"/>
              <a:cs typeface="Sorts Mill Goudy"/>
              <a:sym typeface="Sorts Mill Goudy"/>
            </a:endParaRPr>
          </a:p>
          <a:p>
            <a:pPr marL="285750" marR="0" lvl="0" indent="-171450" algn="l" rtl="0">
              <a:spcBef>
                <a:spcPts val="0"/>
              </a:spcBef>
              <a:spcAft>
                <a:spcPts val="0"/>
              </a:spcAft>
              <a:buClr>
                <a:schemeClr val="lt1"/>
              </a:buClr>
              <a:buSzPts val="1800"/>
              <a:buFont typeface="Noto Sans Symbols"/>
              <a:buNone/>
            </a:pPr>
            <a:endParaRPr sz="1800" dirty="0">
              <a:solidFill>
                <a:schemeClr val="lt1"/>
              </a:solidFill>
              <a:latin typeface="Sorts Mill Goudy"/>
              <a:ea typeface="Sorts Mill Goudy"/>
              <a:cs typeface="Sorts Mill Goudy"/>
              <a:sym typeface="Sorts Mill Goudy"/>
            </a:endParaRPr>
          </a:p>
          <a:p>
            <a:pPr marL="285750" marR="0" lvl="0" indent="-171450" algn="l" rtl="0">
              <a:spcBef>
                <a:spcPts val="0"/>
              </a:spcBef>
              <a:spcAft>
                <a:spcPts val="0"/>
              </a:spcAft>
              <a:buClr>
                <a:schemeClr val="lt1"/>
              </a:buClr>
              <a:buSzPts val="1800"/>
              <a:buFont typeface="Noto Sans Symbols"/>
              <a:buNone/>
            </a:pPr>
            <a:endParaRPr sz="1800" dirty="0">
              <a:solidFill>
                <a:schemeClr val="lt1"/>
              </a:solidFill>
              <a:latin typeface="Sorts Mill Goudy"/>
              <a:ea typeface="Sorts Mill Goudy"/>
              <a:cs typeface="Sorts Mill Goudy"/>
              <a:sym typeface="Sorts Mill Goudy"/>
            </a:endParaRPr>
          </a:p>
          <a:p>
            <a:pPr marL="285750" marR="0" lvl="0" indent="-171450" algn="l" rtl="0">
              <a:spcBef>
                <a:spcPts val="0"/>
              </a:spcBef>
              <a:spcAft>
                <a:spcPts val="0"/>
              </a:spcAft>
              <a:buClr>
                <a:schemeClr val="lt1"/>
              </a:buClr>
              <a:buSzPts val="1800"/>
              <a:buFont typeface="Noto Sans Symbols"/>
              <a:buNone/>
            </a:pPr>
            <a:endParaRPr sz="1800" dirty="0">
              <a:latin typeface="Sorts Mill Goudy"/>
              <a:ea typeface="Sorts Mill Goudy"/>
              <a:cs typeface="Sorts Mill Goudy"/>
              <a:sym typeface="Sorts Mill Goudy"/>
            </a:endParaRPr>
          </a:p>
          <a:p>
            <a:pPr marL="285750" marR="0" lvl="0" indent="-285750" algn="l" rtl="0">
              <a:spcBef>
                <a:spcPts val="0"/>
              </a:spcBef>
              <a:spcAft>
                <a:spcPts val="0"/>
              </a:spcAft>
              <a:buClr>
                <a:schemeClr val="tx1"/>
              </a:buClr>
              <a:buSzPts val="1800"/>
              <a:buFont typeface="Wingdings" panose="05000000000000000000" pitchFamily="2" charset="2"/>
              <a:buChar char="§"/>
            </a:pPr>
            <a:r>
              <a:rPr lang="en-US" sz="1800" dirty="0">
                <a:latin typeface="Sorts Mill Goudy"/>
                <a:ea typeface="Sorts Mill Goudy"/>
                <a:cs typeface="Sorts Mill Goudy"/>
                <a:sym typeface="Sorts Mill Goudy"/>
              </a:rPr>
              <a:t>ancestor9@DESKTOP-LMLFU0S:~$ </a:t>
            </a:r>
            <a:r>
              <a:rPr lang="en-US" sz="1800" dirty="0" err="1">
                <a:latin typeface="Sorts Mill Goudy"/>
                <a:ea typeface="Sorts Mill Goudy"/>
                <a:cs typeface="Sorts Mill Goudy"/>
                <a:sym typeface="Sorts Mill Goudy"/>
              </a:rPr>
              <a:t>sudo</a:t>
            </a:r>
            <a:r>
              <a:rPr lang="en-US" sz="1800" dirty="0">
                <a:latin typeface="Sorts Mill Goudy"/>
                <a:ea typeface="Sorts Mill Goudy"/>
                <a:cs typeface="Sorts Mill Goudy"/>
                <a:sym typeface="Sorts Mill Goudy"/>
              </a:rPr>
              <a:t> service docker start           # docker </a:t>
            </a:r>
            <a:r>
              <a:rPr lang="en-US" sz="1800" dirty="0" err="1">
                <a:latin typeface="Sorts Mill Goudy"/>
                <a:ea typeface="Sorts Mill Goudy"/>
                <a:cs typeface="Sorts Mill Goudy"/>
                <a:sym typeface="Sorts Mill Goudy"/>
              </a:rPr>
              <a:t>시작하는</a:t>
            </a:r>
            <a:r>
              <a:rPr lang="en-US" sz="1800" dirty="0">
                <a:latin typeface="Sorts Mill Goudy"/>
                <a:ea typeface="Sorts Mill Goudy"/>
                <a:cs typeface="Sorts Mill Goudy"/>
                <a:sym typeface="Sorts Mill Goudy"/>
              </a:rPr>
              <a:t> </a:t>
            </a:r>
            <a:r>
              <a:rPr lang="en-US" sz="1800" dirty="0" err="1">
                <a:latin typeface="Sorts Mill Goudy"/>
                <a:ea typeface="Sorts Mill Goudy"/>
                <a:cs typeface="Sorts Mill Goudy"/>
                <a:sym typeface="Sorts Mill Goudy"/>
              </a:rPr>
              <a:t>명령어</a:t>
            </a:r>
            <a:endParaRPr sz="1800" dirty="0">
              <a:latin typeface="Sorts Mill Goudy"/>
              <a:ea typeface="Sorts Mill Goudy"/>
              <a:cs typeface="Sorts Mill Goudy"/>
              <a:sym typeface="Sorts Mill Goudy"/>
            </a:endParaRPr>
          </a:p>
        </p:txBody>
      </p:sp>
      <p:pic>
        <p:nvPicPr>
          <p:cNvPr id="305" name="Google Shape;305;p15"/>
          <p:cNvPicPr preferRelativeResize="0"/>
          <p:nvPr/>
        </p:nvPicPr>
        <p:blipFill rotWithShape="1">
          <a:blip r:embed="rId4">
            <a:alphaModFix/>
          </a:blip>
          <a:srcRect/>
          <a:stretch/>
        </p:blipFill>
        <p:spPr>
          <a:xfrm>
            <a:off x="1127247" y="2641539"/>
            <a:ext cx="9418141" cy="293331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16"/>
          <p:cNvSpPr txBox="1">
            <a:spLocks noGrp="1"/>
          </p:cNvSpPr>
          <p:nvPr>
            <p:ph type="title"/>
          </p:nvPr>
        </p:nvSpPr>
        <p:spPr>
          <a:xfrm>
            <a:off x="913794" y="384480"/>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dirty="0"/>
              <a:t>Docker hub </a:t>
            </a:r>
            <a:r>
              <a:rPr lang="en-US" dirty="0" err="1"/>
              <a:t>가입하기</a:t>
            </a:r>
            <a:endParaRPr dirty="0"/>
          </a:p>
        </p:txBody>
      </p:sp>
      <p:sp>
        <p:nvSpPr>
          <p:cNvPr id="311" name="Google Shape;311;p16"/>
          <p:cNvSpPr txBox="1">
            <a:spLocks noGrp="1"/>
          </p:cNvSpPr>
          <p:nvPr>
            <p:ph type="sldNum" idx="12"/>
          </p:nvPr>
        </p:nvSpPr>
        <p:spPr>
          <a:xfrm>
            <a:off x="10514011" y="6036261"/>
            <a:ext cx="753545"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47</a:t>
            </a:fld>
            <a:endParaRPr/>
          </a:p>
        </p:txBody>
      </p:sp>
      <p:pic>
        <p:nvPicPr>
          <p:cNvPr id="312" name="Google Shape;312;p16"/>
          <p:cNvPicPr preferRelativeResize="0"/>
          <p:nvPr/>
        </p:nvPicPr>
        <p:blipFill rotWithShape="1">
          <a:blip r:embed="rId3">
            <a:alphaModFix/>
          </a:blip>
          <a:srcRect/>
          <a:stretch/>
        </p:blipFill>
        <p:spPr>
          <a:xfrm>
            <a:off x="1325270" y="2004711"/>
            <a:ext cx="9188741" cy="4085589"/>
          </a:xfrm>
          <a:prstGeom prst="rect">
            <a:avLst/>
          </a:prstGeom>
          <a:noFill/>
          <a:ln>
            <a:noFill/>
          </a:ln>
        </p:spPr>
      </p:pic>
      <p:sp>
        <p:nvSpPr>
          <p:cNvPr id="313" name="Google Shape;313;p16"/>
          <p:cNvSpPr/>
          <p:nvPr/>
        </p:nvSpPr>
        <p:spPr>
          <a:xfrm>
            <a:off x="6847927" y="2880258"/>
            <a:ext cx="2205318" cy="372922"/>
          </a:xfrm>
          <a:custGeom>
            <a:avLst/>
            <a:gdLst/>
            <a:ahLst/>
            <a:cxnLst/>
            <a:rect l="l" t="t" r="r" b="b"/>
            <a:pathLst>
              <a:path w="120000" h="120000" extrusionOk="0">
                <a:moveTo>
                  <a:pt x="0" y="0"/>
                </a:moveTo>
                <a:lnTo>
                  <a:pt x="120000" y="0"/>
                </a:lnTo>
                <a:lnTo>
                  <a:pt x="120000" y="120000"/>
                </a:lnTo>
                <a:lnTo>
                  <a:pt x="0" y="120000"/>
                </a:lnTo>
                <a:close/>
              </a:path>
              <a:path w="120000" h="120000" fill="none" extrusionOk="0">
                <a:moveTo>
                  <a:pt x="-10000" y="22500"/>
                </a:moveTo>
                <a:lnTo>
                  <a:pt x="-20000" y="22500"/>
                </a:lnTo>
                <a:lnTo>
                  <a:pt x="-55025" y="156640"/>
                </a:lnTo>
              </a:path>
            </a:pathLst>
          </a:custGeom>
          <a:solidFill>
            <a:srgbClr val="A5A5A5"/>
          </a:solidFill>
          <a:ln w="15875" cap="rnd"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dk1"/>
                </a:solidFill>
                <a:latin typeface="Sorts Mill Goudy"/>
                <a:ea typeface="Sorts Mill Goudy"/>
                <a:cs typeface="Sorts Mill Goudy"/>
                <a:sym typeface="Sorts Mill Goudy"/>
              </a:rPr>
              <a:t>MySQL Image</a:t>
            </a:r>
            <a:endParaRPr sz="1800" b="1">
              <a:solidFill>
                <a:schemeClr val="dk1"/>
              </a:solidFill>
              <a:latin typeface="Sorts Mill Goudy"/>
              <a:ea typeface="Sorts Mill Goudy"/>
              <a:cs typeface="Sorts Mill Goudy"/>
              <a:sym typeface="Sorts Mill Goudy"/>
            </a:endParaRPr>
          </a:p>
        </p:txBody>
      </p:sp>
      <p:sp>
        <p:nvSpPr>
          <p:cNvPr id="314" name="Google Shape;314;p16"/>
          <p:cNvSpPr/>
          <p:nvPr/>
        </p:nvSpPr>
        <p:spPr>
          <a:xfrm>
            <a:off x="6970475" y="4255637"/>
            <a:ext cx="2205318" cy="372922"/>
          </a:xfrm>
          <a:custGeom>
            <a:avLst/>
            <a:gdLst/>
            <a:ahLst/>
            <a:cxnLst/>
            <a:rect l="l" t="t" r="r" b="b"/>
            <a:pathLst>
              <a:path w="120000" h="120000" extrusionOk="0">
                <a:moveTo>
                  <a:pt x="0" y="0"/>
                </a:moveTo>
                <a:lnTo>
                  <a:pt x="120000" y="0"/>
                </a:lnTo>
                <a:lnTo>
                  <a:pt x="120000" y="120000"/>
                </a:lnTo>
                <a:lnTo>
                  <a:pt x="0" y="120000"/>
                </a:lnTo>
                <a:close/>
              </a:path>
              <a:path w="120000" h="120000" fill="none" extrusionOk="0">
                <a:moveTo>
                  <a:pt x="-10000" y="22500"/>
                </a:moveTo>
                <a:lnTo>
                  <a:pt x="-20000" y="22500"/>
                </a:lnTo>
                <a:lnTo>
                  <a:pt x="-55025" y="156640"/>
                </a:lnTo>
              </a:path>
            </a:pathLst>
          </a:custGeom>
          <a:solidFill>
            <a:srgbClr val="A5A5A5"/>
          </a:solidFill>
          <a:ln w="15875" cap="rnd"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dirty="0">
                <a:solidFill>
                  <a:schemeClr val="dk1"/>
                </a:solidFill>
                <a:latin typeface="Sorts Mill Goudy"/>
                <a:ea typeface="Sorts Mill Goudy"/>
                <a:cs typeface="Sorts Mill Goudy"/>
                <a:sym typeface="Sorts Mill Goudy"/>
              </a:rPr>
              <a:t>MariaDB Image</a:t>
            </a:r>
            <a:endParaRPr sz="1800" b="1" dirty="0">
              <a:solidFill>
                <a:schemeClr val="dk1"/>
              </a:solidFill>
              <a:latin typeface="Sorts Mill Goudy"/>
              <a:ea typeface="Sorts Mill Goudy"/>
              <a:cs typeface="Sorts Mill Goudy"/>
              <a:sym typeface="Sorts Mill Goudy"/>
            </a:endParaRPr>
          </a:p>
        </p:txBody>
      </p:sp>
      <p:sp>
        <p:nvSpPr>
          <p:cNvPr id="315" name="Google Shape;315;p16"/>
          <p:cNvSpPr txBox="1"/>
          <p:nvPr/>
        </p:nvSpPr>
        <p:spPr>
          <a:xfrm>
            <a:off x="888267" y="1213842"/>
            <a:ext cx="10379289" cy="694137"/>
          </a:xfrm>
          <a:prstGeom prst="rect">
            <a:avLst/>
          </a:prstGeom>
          <a:noFill/>
          <a:ln>
            <a:noFill/>
          </a:ln>
          <a:effectLst>
            <a:outerShdw blurRad="25400">
              <a:srgbClr val="000000">
                <a:alpha val="45882"/>
              </a:srgbClr>
            </a:outerShdw>
          </a:effectLst>
        </p:spPr>
        <p:txBody>
          <a:bodyPr spcFirstLastPara="1" wrap="square" lIns="91425" tIns="45700" rIns="91425" bIns="45700" anchor="t" anchorCtr="0">
            <a:normAutofit/>
          </a:bodyPr>
          <a:lstStyle/>
          <a:p>
            <a:pPr marL="342900" marR="0" lvl="0" indent="-306000" algn="l" rtl="0">
              <a:lnSpc>
                <a:spcPct val="150000"/>
              </a:lnSpc>
              <a:spcBef>
                <a:spcPts val="0"/>
              </a:spcBef>
              <a:spcAft>
                <a:spcPts val="0"/>
              </a:spcAft>
              <a:buClr>
                <a:srgbClr val="404040"/>
              </a:buClr>
              <a:buSzPts val="1260"/>
              <a:buFont typeface="Noto Sans Symbols"/>
              <a:buChar char="❖"/>
            </a:pPr>
            <a:r>
              <a:rPr lang="en-US" sz="1800" b="1" dirty="0" err="1">
                <a:latin typeface="D2Coding" panose="020B0609020101020101" pitchFamily="49" charset="-127"/>
                <a:ea typeface="D2Coding" panose="020B0609020101020101" pitchFamily="49" charset="-127"/>
                <a:cs typeface="Batang"/>
                <a:sym typeface="Batang"/>
              </a:rPr>
              <a:t>도커</a:t>
            </a:r>
            <a:r>
              <a:rPr lang="en-US" sz="1800" b="1" dirty="0">
                <a:latin typeface="D2Coding" panose="020B0609020101020101" pitchFamily="49" charset="-127"/>
                <a:ea typeface="D2Coding" panose="020B0609020101020101" pitchFamily="49" charset="-127"/>
                <a:cs typeface="Batang"/>
                <a:sym typeface="Batang"/>
              </a:rPr>
              <a:t> </a:t>
            </a:r>
            <a:r>
              <a:rPr lang="en-US" sz="1800" b="1" dirty="0" err="1">
                <a:latin typeface="D2Coding" panose="020B0609020101020101" pitchFamily="49" charset="-127"/>
                <a:ea typeface="D2Coding" panose="020B0609020101020101" pitchFamily="49" charset="-127"/>
                <a:cs typeface="Batang"/>
                <a:sym typeface="Batang"/>
              </a:rPr>
              <a:t>허브</a:t>
            </a:r>
            <a:r>
              <a:rPr lang="en-US" sz="1800" b="1" dirty="0">
                <a:latin typeface="D2Coding" panose="020B0609020101020101" pitchFamily="49" charset="-127"/>
                <a:ea typeface="D2Coding" panose="020B0609020101020101" pitchFamily="49" charset="-127"/>
                <a:cs typeface="Batang"/>
                <a:sym typeface="Batang"/>
              </a:rPr>
              <a:t>(</a:t>
            </a:r>
            <a:r>
              <a:rPr lang="en-US" sz="1800" b="1" u="sng" dirty="0">
                <a:latin typeface="D2Coding" panose="020B0609020101020101" pitchFamily="49" charset="-127"/>
                <a:ea typeface="D2Coding" panose="020B0609020101020101" pitchFamily="49" charset="-127"/>
                <a:cs typeface="Batang"/>
                <a:sym typeface="Batang"/>
                <a:hlinkClick r:id="rId4">
                  <a:extLst>
                    <a:ext uri="{A12FA001-AC4F-418D-AE19-62706E023703}">
                      <ahyp:hlinkClr xmlns:ahyp="http://schemas.microsoft.com/office/drawing/2018/hyperlinkcolor" val="tx"/>
                    </a:ext>
                  </a:extLst>
                </a:hlinkClick>
              </a:rPr>
              <a:t>https://hub.docker.com/</a:t>
            </a:r>
            <a:r>
              <a:rPr lang="en-US" sz="1800" b="1" dirty="0">
                <a:latin typeface="D2Coding" panose="020B0609020101020101" pitchFamily="49" charset="-127"/>
                <a:ea typeface="D2Coding" panose="020B0609020101020101" pitchFamily="49" charset="-127"/>
                <a:cs typeface="Batang"/>
                <a:sym typeface="Batang"/>
              </a:rPr>
              <a:t> ) </a:t>
            </a:r>
            <a:r>
              <a:rPr lang="en-US" sz="1800" b="1" dirty="0" err="1">
                <a:latin typeface="D2Coding" panose="020B0609020101020101" pitchFamily="49" charset="-127"/>
                <a:ea typeface="D2Coding" panose="020B0609020101020101" pitchFamily="49" charset="-127"/>
                <a:cs typeface="Batang"/>
                <a:sym typeface="Batang"/>
              </a:rPr>
              <a:t>가입하기</a:t>
            </a:r>
            <a:endParaRPr sz="1800" b="1" dirty="0">
              <a:latin typeface="D2Coding" panose="020B0609020101020101" pitchFamily="49" charset="-127"/>
              <a:ea typeface="D2Coding" panose="020B0609020101020101" pitchFamily="49" charset="-127"/>
              <a:cs typeface="Batang"/>
              <a:sym typeface="Batang"/>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18"/>
          <p:cNvSpPr txBox="1">
            <a:spLocks noGrp="1"/>
          </p:cNvSpPr>
          <p:nvPr>
            <p:ph type="title"/>
          </p:nvPr>
        </p:nvSpPr>
        <p:spPr>
          <a:xfrm>
            <a:off x="913795" y="139083"/>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a:t>Docker Manual</a:t>
            </a:r>
            <a:endParaRPr/>
          </a:p>
        </p:txBody>
      </p:sp>
      <p:sp>
        <p:nvSpPr>
          <p:cNvPr id="330" name="Google Shape;330;p18"/>
          <p:cNvSpPr txBox="1">
            <a:spLocks noGrp="1"/>
          </p:cNvSpPr>
          <p:nvPr>
            <p:ph type="sldNum" idx="12"/>
          </p:nvPr>
        </p:nvSpPr>
        <p:spPr>
          <a:xfrm>
            <a:off x="10514011" y="6036261"/>
            <a:ext cx="753545"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48</a:t>
            </a:fld>
            <a:endParaRPr/>
          </a:p>
        </p:txBody>
      </p:sp>
      <p:sp>
        <p:nvSpPr>
          <p:cNvPr id="331" name="Google Shape;331;p18"/>
          <p:cNvSpPr txBox="1"/>
          <p:nvPr/>
        </p:nvSpPr>
        <p:spPr>
          <a:xfrm>
            <a:off x="572899" y="1312327"/>
            <a:ext cx="11035553" cy="369332"/>
          </a:xfrm>
          <a:prstGeom prst="rect">
            <a:avLst/>
          </a:prstGeom>
          <a:noFill/>
          <a:ln>
            <a:noFill/>
          </a:ln>
        </p:spPr>
        <p:txBody>
          <a:bodyPr spcFirstLastPara="1" wrap="square" lIns="91425" tIns="45700" rIns="91425" bIns="45700" anchor="t" anchorCtr="0">
            <a:spAutoFit/>
          </a:bodyPr>
          <a:lstStyle/>
          <a:p>
            <a:pPr marR="0" lvl="0" algn="l" rtl="0">
              <a:spcBef>
                <a:spcPts val="0"/>
              </a:spcBef>
              <a:spcAft>
                <a:spcPts val="0"/>
              </a:spcAft>
              <a:buClr>
                <a:schemeClr val="lt1"/>
              </a:buClr>
              <a:buSzPts val="1800"/>
            </a:pPr>
            <a:r>
              <a:rPr lang="en-US" sz="1800" b="1" dirty="0" err="1">
                <a:latin typeface="D2Coding" panose="020B0609020101020101" pitchFamily="49" charset="-127"/>
                <a:ea typeface="D2Coding" panose="020B0609020101020101" pitchFamily="49" charset="-127"/>
                <a:cs typeface="Sorts Mill Goudy"/>
                <a:sym typeface="Sorts Mill Goudy"/>
              </a:rPr>
              <a:t>Docker.documents</a:t>
            </a:r>
            <a:r>
              <a:rPr lang="en-US" sz="1800" b="1" dirty="0">
                <a:latin typeface="D2Coding" panose="020B0609020101020101" pitchFamily="49" charset="-127"/>
                <a:ea typeface="D2Coding" panose="020B0609020101020101" pitchFamily="49" charset="-127"/>
                <a:cs typeface="Sorts Mill Goudy"/>
                <a:sym typeface="Sorts Mill Goudy"/>
              </a:rPr>
              <a:t> manual </a:t>
            </a:r>
            <a:r>
              <a:rPr lang="en-US" sz="1800" b="1" u="sng" dirty="0">
                <a:latin typeface="D2Coding" panose="020B0609020101020101" pitchFamily="49" charset="-127"/>
                <a:ea typeface="D2Coding" panose="020B0609020101020101" pitchFamily="49" charset="-127"/>
                <a:cs typeface="Sorts Mill Goudy"/>
                <a:sym typeface="Sorts Mill Goudy"/>
                <a:hlinkClick r:id="rId3">
                  <a:extLst>
                    <a:ext uri="{A12FA001-AC4F-418D-AE19-62706E023703}">
                      <ahyp:hlinkClr xmlns:ahyp="http://schemas.microsoft.com/office/drawing/2018/hyperlinkcolor" val="tx"/>
                    </a:ext>
                  </a:extLst>
                </a:hlinkClick>
              </a:rPr>
              <a:t>https://docs.docker.com/manuals/</a:t>
            </a:r>
            <a:r>
              <a:rPr lang="en-US" sz="1800" b="1" dirty="0">
                <a:latin typeface="D2Coding" panose="020B0609020101020101" pitchFamily="49" charset="-127"/>
                <a:ea typeface="D2Coding" panose="020B0609020101020101" pitchFamily="49" charset="-127"/>
                <a:cs typeface="Sorts Mill Goudy"/>
                <a:sym typeface="Sorts Mill Goudy"/>
              </a:rPr>
              <a:t> </a:t>
            </a:r>
            <a:endParaRPr sz="1800" dirty="0">
              <a:latin typeface="D2Coding" panose="020B0609020101020101" pitchFamily="49" charset="-127"/>
              <a:ea typeface="D2Coding" panose="020B0609020101020101" pitchFamily="49" charset="-127"/>
              <a:cs typeface="Sorts Mill Goudy"/>
              <a:sym typeface="Sorts Mill Goudy"/>
            </a:endParaRPr>
          </a:p>
        </p:txBody>
      </p:sp>
      <p:pic>
        <p:nvPicPr>
          <p:cNvPr id="332" name="Google Shape;332;p18"/>
          <p:cNvPicPr preferRelativeResize="0"/>
          <p:nvPr/>
        </p:nvPicPr>
        <p:blipFill rotWithShape="1">
          <a:blip r:embed="rId4">
            <a:alphaModFix/>
          </a:blip>
          <a:srcRect/>
          <a:stretch/>
        </p:blipFill>
        <p:spPr>
          <a:xfrm>
            <a:off x="1545792" y="2158968"/>
            <a:ext cx="9606117" cy="3202039"/>
          </a:xfrm>
          <a:prstGeom prst="rect">
            <a:avLst/>
          </a:prstGeom>
          <a:noFill/>
          <a:ln>
            <a:noFill/>
          </a:ln>
        </p:spPr>
      </p:pic>
      <p:sp>
        <p:nvSpPr>
          <p:cNvPr id="333" name="Google Shape;333;p18"/>
          <p:cNvSpPr/>
          <p:nvPr/>
        </p:nvSpPr>
        <p:spPr>
          <a:xfrm>
            <a:off x="1310122" y="2633369"/>
            <a:ext cx="1894991" cy="2890738"/>
          </a:xfrm>
          <a:prstGeom prst="rect">
            <a:avLst/>
          </a:prstGeom>
          <a:no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Sorts Mill Goudy"/>
              <a:ea typeface="Sorts Mill Goudy"/>
              <a:cs typeface="Sorts Mill Goudy"/>
              <a:sym typeface="Sorts Mill Goudy"/>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pic>
        <p:nvPicPr>
          <p:cNvPr id="338" name="Google Shape;338;p19"/>
          <p:cNvPicPr preferRelativeResize="0"/>
          <p:nvPr/>
        </p:nvPicPr>
        <p:blipFill rotWithShape="1">
          <a:blip r:embed="rId3">
            <a:alphaModFix/>
          </a:blip>
          <a:srcRect/>
          <a:stretch/>
        </p:blipFill>
        <p:spPr>
          <a:xfrm>
            <a:off x="1807727" y="2248469"/>
            <a:ext cx="6735855" cy="3970354"/>
          </a:xfrm>
          <a:prstGeom prst="rect">
            <a:avLst/>
          </a:prstGeom>
          <a:noFill/>
          <a:ln>
            <a:noFill/>
          </a:ln>
        </p:spPr>
      </p:pic>
      <p:sp>
        <p:nvSpPr>
          <p:cNvPr id="339" name="Google Shape;339;p19"/>
          <p:cNvSpPr txBox="1">
            <a:spLocks noGrp="1"/>
          </p:cNvSpPr>
          <p:nvPr>
            <p:ph type="title"/>
          </p:nvPr>
        </p:nvSpPr>
        <p:spPr>
          <a:xfrm>
            <a:off x="913795" y="139083"/>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a:t>Docker container 구조</a:t>
            </a:r>
            <a:endParaRPr/>
          </a:p>
        </p:txBody>
      </p:sp>
      <p:sp>
        <p:nvSpPr>
          <p:cNvPr id="341" name="Google Shape;341;p19"/>
          <p:cNvSpPr txBox="1"/>
          <p:nvPr/>
        </p:nvSpPr>
        <p:spPr>
          <a:xfrm>
            <a:off x="546846" y="1150229"/>
            <a:ext cx="11415768" cy="646290"/>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lt1"/>
              </a:buClr>
              <a:buSzPts val="1800"/>
              <a:buFont typeface="Noto Sans Symbols"/>
              <a:buChar char="▪"/>
            </a:pPr>
            <a:r>
              <a:rPr lang="en-US" sz="1800" dirty="0">
                <a:latin typeface="Sorts Mill Goudy"/>
                <a:ea typeface="Sorts Mill Goudy"/>
                <a:cs typeface="Sorts Mill Goudy"/>
                <a:sym typeface="Sorts Mill Goudy"/>
              </a:rPr>
              <a:t>It's important to know how Docker builds and stores </a:t>
            </a:r>
            <a:r>
              <a:rPr lang="en-US" sz="1800" b="1" dirty="0">
                <a:latin typeface="Sorts Mill Goudy"/>
                <a:ea typeface="Sorts Mill Goudy"/>
                <a:cs typeface="Sorts Mill Goudy"/>
                <a:sym typeface="Sorts Mill Goudy"/>
              </a:rPr>
              <a:t>images(R/O)</a:t>
            </a:r>
            <a:r>
              <a:rPr lang="en-US" sz="1800" dirty="0">
                <a:latin typeface="Sorts Mill Goudy"/>
                <a:ea typeface="Sorts Mill Goudy"/>
                <a:cs typeface="Sorts Mill Goudy"/>
                <a:sym typeface="Sorts Mill Goudy"/>
              </a:rPr>
              <a:t>, and how these images are used by </a:t>
            </a:r>
            <a:r>
              <a:rPr lang="en-US" sz="1800" b="1" dirty="0">
                <a:latin typeface="Sorts Mill Goudy"/>
                <a:ea typeface="Sorts Mill Goudy"/>
                <a:cs typeface="Sorts Mill Goudy"/>
                <a:sym typeface="Sorts Mill Goudy"/>
              </a:rPr>
              <a:t>containers(R/W)</a:t>
            </a:r>
            <a:r>
              <a:rPr lang="en-US" sz="1800" dirty="0">
                <a:latin typeface="Sorts Mill Goudy"/>
                <a:ea typeface="Sorts Mill Goudy"/>
                <a:cs typeface="Sorts Mill Goudy"/>
                <a:sym typeface="Sorts Mill Goudy"/>
              </a:rPr>
              <a:t>.</a:t>
            </a:r>
            <a:endParaRPr dirty="0"/>
          </a:p>
        </p:txBody>
      </p:sp>
      <p:sp>
        <p:nvSpPr>
          <p:cNvPr id="342" name="Google Shape;342;p19"/>
          <p:cNvSpPr txBox="1"/>
          <p:nvPr/>
        </p:nvSpPr>
        <p:spPr>
          <a:xfrm>
            <a:off x="1807727" y="6367708"/>
            <a:ext cx="6094428"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u="sng" dirty="0">
                <a:latin typeface="Sorts Mill Goudy"/>
                <a:ea typeface="Sorts Mill Goudy"/>
                <a:cs typeface="Sorts Mill Goudy"/>
                <a:sym typeface="Sorts Mill Goudy"/>
                <a:hlinkClick r:id="rId4">
                  <a:extLst>
                    <a:ext uri="{A12FA001-AC4F-418D-AE19-62706E023703}">
                      <ahyp:hlinkClr xmlns:ahyp="http://schemas.microsoft.com/office/drawing/2018/hyperlinkcolor" val="tx"/>
                    </a:ext>
                  </a:extLst>
                </a:hlinkClick>
              </a:rPr>
              <a:t>https://docs.docker.com/storage/storagedriver/</a:t>
            </a:r>
            <a:r>
              <a:rPr lang="en-US" sz="1400" b="1" dirty="0">
                <a:latin typeface="Sorts Mill Goudy"/>
                <a:ea typeface="Sorts Mill Goudy"/>
                <a:cs typeface="Sorts Mill Goudy"/>
                <a:sym typeface="Sorts Mill Goudy"/>
              </a:rPr>
              <a:t> </a:t>
            </a:r>
            <a:endParaRPr sz="1400" dirty="0">
              <a:latin typeface="Sorts Mill Goudy"/>
              <a:ea typeface="Sorts Mill Goudy"/>
              <a:cs typeface="Sorts Mill Goudy"/>
              <a:sym typeface="Sorts Mill Goudy"/>
            </a:endParaRPr>
          </a:p>
        </p:txBody>
      </p:sp>
      <p:sp>
        <p:nvSpPr>
          <p:cNvPr id="343" name="Google Shape;343;p19"/>
          <p:cNvSpPr/>
          <p:nvPr/>
        </p:nvSpPr>
        <p:spPr>
          <a:xfrm>
            <a:off x="7902156" y="2386860"/>
            <a:ext cx="2205318" cy="372922"/>
          </a:xfrm>
          <a:custGeom>
            <a:avLst/>
            <a:gdLst/>
            <a:ahLst/>
            <a:cxnLst/>
            <a:rect l="l" t="t" r="r" b="b"/>
            <a:pathLst>
              <a:path w="120000" h="120000" extrusionOk="0">
                <a:moveTo>
                  <a:pt x="0" y="0"/>
                </a:moveTo>
                <a:lnTo>
                  <a:pt x="120000" y="0"/>
                </a:lnTo>
                <a:lnTo>
                  <a:pt x="120000" y="120000"/>
                </a:lnTo>
                <a:lnTo>
                  <a:pt x="0" y="120000"/>
                </a:lnTo>
                <a:close/>
              </a:path>
              <a:path w="120000" h="120000" fill="none" extrusionOk="0">
                <a:moveTo>
                  <a:pt x="-10000" y="22500"/>
                </a:moveTo>
                <a:lnTo>
                  <a:pt x="-20000" y="22500"/>
                </a:lnTo>
                <a:lnTo>
                  <a:pt x="-60667" y="135406"/>
                </a:lnTo>
              </a:path>
            </a:pathLst>
          </a:custGeom>
          <a:solidFill>
            <a:srgbClr val="A5A5A5"/>
          </a:solidFill>
          <a:ln w="15875" cap="rnd"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dk1"/>
                </a:solidFill>
                <a:latin typeface="Sorts Mill Goudy"/>
                <a:ea typeface="Sorts Mill Goudy"/>
                <a:cs typeface="Sorts Mill Goudy"/>
                <a:sym typeface="Sorts Mill Goudy"/>
              </a:rPr>
              <a:t>Read/Write</a:t>
            </a:r>
            <a:endParaRPr sz="1800" b="1">
              <a:solidFill>
                <a:schemeClr val="dk1"/>
              </a:solidFill>
              <a:latin typeface="Sorts Mill Goudy"/>
              <a:ea typeface="Sorts Mill Goudy"/>
              <a:cs typeface="Sorts Mill Goudy"/>
              <a:sym typeface="Sorts Mill Goudy"/>
            </a:endParaRPr>
          </a:p>
        </p:txBody>
      </p:sp>
      <p:sp>
        <p:nvSpPr>
          <p:cNvPr id="344" name="Google Shape;344;p19"/>
          <p:cNvSpPr/>
          <p:nvPr/>
        </p:nvSpPr>
        <p:spPr>
          <a:xfrm>
            <a:off x="7902156" y="4132720"/>
            <a:ext cx="2205318" cy="372922"/>
          </a:xfrm>
          <a:custGeom>
            <a:avLst/>
            <a:gdLst/>
            <a:ahLst/>
            <a:cxnLst/>
            <a:rect l="l" t="t" r="r" b="b"/>
            <a:pathLst>
              <a:path w="120000" h="120000" extrusionOk="0">
                <a:moveTo>
                  <a:pt x="0" y="0"/>
                </a:moveTo>
                <a:lnTo>
                  <a:pt x="120000" y="0"/>
                </a:lnTo>
                <a:lnTo>
                  <a:pt x="120000" y="120000"/>
                </a:lnTo>
                <a:lnTo>
                  <a:pt x="0" y="120000"/>
                </a:lnTo>
                <a:close/>
              </a:path>
              <a:path w="120000" h="120000" fill="none" extrusionOk="0">
                <a:moveTo>
                  <a:pt x="-10000" y="22500"/>
                </a:moveTo>
                <a:lnTo>
                  <a:pt x="-20000" y="22500"/>
                </a:lnTo>
                <a:lnTo>
                  <a:pt x="-58103" y="126306"/>
                </a:lnTo>
              </a:path>
            </a:pathLst>
          </a:custGeom>
          <a:solidFill>
            <a:srgbClr val="A5A5A5"/>
          </a:solidFill>
          <a:ln w="15875" cap="rnd" cmpd="sng">
            <a:solidFill>
              <a:schemeClr val="dk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b="1">
                <a:solidFill>
                  <a:schemeClr val="dk1"/>
                </a:solidFill>
                <a:latin typeface="Sorts Mill Goudy"/>
                <a:ea typeface="Sorts Mill Goudy"/>
                <a:cs typeface="Sorts Mill Goudy"/>
                <a:sym typeface="Sorts Mill Goudy"/>
              </a:rPr>
              <a:t>Read Only</a:t>
            </a:r>
            <a:endParaRPr sz="1800" b="1">
              <a:solidFill>
                <a:schemeClr val="dk1"/>
              </a:solidFill>
              <a:latin typeface="Sorts Mill Goudy"/>
              <a:ea typeface="Sorts Mill Goudy"/>
              <a:cs typeface="Sorts Mill Goudy"/>
              <a:sym typeface="Sorts Mill Goudy"/>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pic>
        <p:nvPicPr>
          <p:cNvPr id="349" name="Google Shape;349;p20"/>
          <p:cNvPicPr preferRelativeResize="0"/>
          <p:nvPr/>
        </p:nvPicPr>
        <p:blipFill rotWithShape="1">
          <a:blip r:embed="rId3">
            <a:alphaModFix/>
          </a:blip>
          <a:srcRect/>
          <a:stretch/>
        </p:blipFill>
        <p:spPr>
          <a:xfrm>
            <a:off x="1774896" y="2496031"/>
            <a:ext cx="8178483" cy="3722792"/>
          </a:xfrm>
          <a:prstGeom prst="rect">
            <a:avLst/>
          </a:prstGeom>
          <a:noFill/>
          <a:ln>
            <a:noFill/>
          </a:ln>
        </p:spPr>
      </p:pic>
      <p:sp>
        <p:nvSpPr>
          <p:cNvPr id="350" name="Google Shape;350;p20"/>
          <p:cNvSpPr txBox="1">
            <a:spLocks noGrp="1"/>
          </p:cNvSpPr>
          <p:nvPr>
            <p:ph type="title"/>
          </p:nvPr>
        </p:nvSpPr>
        <p:spPr>
          <a:xfrm>
            <a:off x="913795" y="139083"/>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a:t>Docker container 구조</a:t>
            </a:r>
            <a:endParaRPr/>
          </a:p>
        </p:txBody>
      </p:sp>
      <p:sp>
        <p:nvSpPr>
          <p:cNvPr id="352" name="Google Shape;352;p20"/>
          <p:cNvSpPr txBox="1"/>
          <p:nvPr/>
        </p:nvSpPr>
        <p:spPr>
          <a:xfrm>
            <a:off x="546846" y="1150229"/>
            <a:ext cx="11415768" cy="923289"/>
          </a:xfrm>
          <a:prstGeom prst="rect">
            <a:avLst/>
          </a:prstGeom>
          <a:noFill/>
          <a:ln>
            <a:noFill/>
          </a:ln>
        </p:spPr>
        <p:txBody>
          <a:bodyPr spcFirstLastPara="1" wrap="square" lIns="91425" tIns="45700" rIns="91425" bIns="45700" anchor="t" anchorCtr="0">
            <a:spAutoFit/>
          </a:bodyPr>
          <a:lstStyle/>
          <a:p>
            <a:pPr marR="0" lvl="0" algn="l" rtl="0">
              <a:spcBef>
                <a:spcPts val="0"/>
              </a:spcBef>
              <a:spcAft>
                <a:spcPts val="0"/>
              </a:spcAft>
              <a:buClr>
                <a:schemeClr val="lt1"/>
              </a:buClr>
              <a:buSzPts val="1800"/>
            </a:pPr>
            <a:r>
              <a:rPr lang="en-US" sz="1800" dirty="0">
                <a:latin typeface="D2Coding" panose="020B0609020101020101" pitchFamily="49" charset="-127"/>
                <a:ea typeface="D2Coding" panose="020B0609020101020101" pitchFamily="49" charset="-127"/>
                <a:cs typeface="Sorts Mill Goudy"/>
                <a:sym typeface="Sorts Mill Goudy"/>
              </a:rPr>
              <a:t>Because each container has its own writable container layer, and all changes are stored in this container layer, multiple containers can share access to the same underlying image and yet have their own data state.</a:t>
            </a:r>
            <a:endParaRPr dirty="0">
              <a:latin typeface="D2Coding" panose="020B0609020101020101" pitchFamily="49" charset="-127"/>
              <a:ea typeface="D2Coding" panose="020B0609020101020101" pitchFamily="49" charset="-127"/>
            </a:endParaRPr>
          </a:p>
        </p:txBody>
      </p:sp>
      <p:sp>
        <p:nvSpPr>
          <p:cNvPr id="353" name="Google Shape;353;p20"/>
          <p:cNvSpPr txBox="1"/>
          <p:nvPr/>
        </p:nvSpPr>
        <p:spPr>
          <a:xfrm>
            <a:off x="1706128" y="6218823"/>
            <a:ext cx="6094428"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b="1" u="sng">
                <a:latin typeface="Sorts Mill Goudy"/>
                <a:ea typeface="Sorts Mill Goudy"/>
                <a:cs typeface="Sorts Mill Goudy"/>
                <a:sym typeface="Sorts Mill Goudy"/>
                <a:hlinkClick r:id="rId4">
                  <a:extLst>
                    <a:ext uri="{A12FA001-AC4F-418D-AE19-62706E023703}">
                      <ahyp:hlinkClr xmlns:ahyp="http://schemas.microsoft.com/office/drawing/2018/hyperlinkcolor" val="tx"/>
                    </a:ext>
                  </a:extLst>
                </a:hlinkClick>
              </a:rPr>
              <a:t>https://docs.docker.com/storage/storagedriver/</a:t>
            </a:r>
            <a:r>
              <a:rPr lang="en-US" sz="1400" b="1">
                <a:latin typeface="Sorts Mill Goudy"/>
                <a:ea typeface="Sorts Mill Goudy"/>
                <a:cs typeface="Sorts Mill Goudy"/>
                <a:sym typeface="Sorts Mill Goudy"/>
              </a:rPr>
              <a:t> </a:t>
            </a:r>
            <a:endParaRPr sz="1400">
              <a:latin typeface="Sorts Mill Goudy"/>
              <a:ea typeface="Sorts Mill Goudy"/>
              <a:cs typeface="Sorts Mill Goudy"/>
              <a:sym typeface="Sorts Mill Goudy"/>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66"/>
        <p:cNvGrpSpPr/>
        <p:nvPr/>
      </p:nvGrpSpPr>
      <p:grpSpPr>
        <a:xfrm>
          <a:off x="0" y="0"/>
          <a:ext cx="0" cy="0"/>
          <a:chOff x="0" y="0"/>
          <a:chExt cx="0" cy="0"/>
        </a:xfrm>
      </p:grpSpPr>
      <p:sp>
        <p:nvSpPr>
          <p:cNvPr id="367" name="Google Shape;367;p22"/>
          <p:cNvSpPr txBox="1">
            <a:spLocks noGrp="1"/>
          </p:cNvSpPr>
          <p:nvPr>
            <p:ph type="title"/>
          </p:nvPr>
        </p:nvSpPr>
        <p:spPr>
          <a:xfrm>
            <a:off x="919119" y="378863"/>
            <a:ext cx="10353762" cy="766439"/>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lt2"/>
              </a:buClr>
              <a:buSzPts val="3200"/>
              <a:buFont typeface="Batang"/>
              <a:buNone/>
            </a:pPr>
            <a:r>
              <a:rPr lang="en-US" dirty="0" err="1"/>
              <a:t>실습하기</a:t>
            </a:r>
            <a:endParaRPr dirty="0"/>
          </a:p>
        </p:txBody>
      </p:sp>
      <p:pic>
        <p:nvPicPr>
          <p:cNvPr id="369" name="Google Shape;369;p22" descr="나무 배경에 영화 클래퍼입니다. 3d 그림"/>
          <p:cNvPicPr preferRelativeResize="0"/>
          <p:nvPr/>
        </p:nvPicPr>
        <p:blipFill rotWithShape="1">
          <a:blip r:embed="rId3">
            <a:alphaModFix/>
          </a:blip>
          <a:srcRect/>
          <a:stretch/>
        </p:blipFill>
        <p:spPr>
          <a:xfrm>
            <a:off x="1365783" y="1574223"/>
            <a:ext cx="9525000" cy="4762500"/>
          </a:xfrm>
          <a:prstGeom prst="rect">
            <a:avLst/>
          </a:prstGeom>
          <a:noFill/>
          <a:ln>
            <a:noFill/>
          </a:ln>
        </p:spPr>
      </p:pic>
      <p:sp>
        <p:nvSpPr>
          <p:cNvPr id="370" name="Google Shape;370;p22"/>
          <p:cNvSpPr txBox="1"/>
          <p:nvPr/>
        </p:nvSpPr>
        <p:spPr>
          <a:xfrm rot="1558658">
            <a:off x="3140505" y="4832272"/>
            <a:ext cx="3398384"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dirty="0">
                <a:solidFill>
                  <a:srgbClr val="FFFF00"/>
                </a:solidFill>
                <a:latin typeface="Arial"/>
                <a:ea typeface="Arial"/>
                <a:cs typeface="Arial"/>
                <a:sym typeface="Arial"/>
              </a:rPr>
              <a:t>docker run / build</a:t>
            </a:r>
            <a:endParaRPr sz="1800" b="1" dirty="0">
              <a:solidFill>
                <a:srgbClr val="FFFF00"/>
              </a:solidFill>
              <a:latin typeface="Arial"/>
              <a:ea typeface="Arial"/>
              <a:cs typeface="Arial"/>
              <a:sym typeface="Arial"/>
            </a:endParaRPr>
          </a:p>
        </p:txBody>
      </p:sp>
      <p:sp>
        <p:nvSpPr>
          <p:cNvPr id="371" name="Google Shape;371;p22"/>
          <p:cNvSpPr txBox="1"/>
          <p:nvPr/>
        </p:nvSpPr>
        <p:spPr>
          <a:xfrm rot="1416959">
            <a:off x="1219750" y="4406350"/>
            <a:ext cx="7458333" cy="455528"/>
          </a:xfrm>
          <a:prstGeom prst="rect">
            <a:avLst/>
          </a:prstGeom>
          <a:noFill/>
          <a:ln>
            <a:noFill/>
          </a:ln>
          <a:effectLst>
            <a:outerShdw blurRad="25400">
              <a:srgbClr val="000000">
                <a:alpha val="45882"/>
              </a:srgbClr>
            </a:outerShdw>
          </a:effectLst>
        </p:spPr>
        <p:txBody>
          <a:bodyPr spcFirstLastPara="1" wrap="square" lIns="91425" tIns="45700" rIns="91425" bIns="45700" anchor="ctr" anchorCtr="0">
            <a:normAutofit fontScale="97500"/>
          </a:bodyPr>
          <a:lstStyle/>
          <a:p>
            <a:pPr marL="0" marR="0" lvl="0" indent="0" algn="ctr" rtl="0">
              <a:lnSpc>
                <a:spcPct val="90000"/>
              </a:lnSpc>
              <a:spcBef>
                <a:spcPts val="0"/>
              </a:spcBef>
              <a:spcAft>
                <a:spcPts val="0"/>
              </a:spcAft>
              <a:buClr>
                <a:srgbClr val="FFFF00"/>
              </a:buClr>
              <a:buSzPct val="100000"/>
              <a:buFont typeface="Batang"/>
              <a:buNone/>
            </a:pPr>
            <a:r>
              <a:rPr lang="en-US" sz="1600" b="1" u="sng" dirty="0">
                <a:solidFill>
                  <a:srgbClr val="FFFF00"/>
                </a:solidFill>
                <a:latin typeface="Batang"/>
                <a:ea typeface="Batang"/>
                <a:cs typeface="Batang"/>
                <a:sym typeface="Batang"/>
                <a:hlinkClick r:id="rId4">
                  <a:extLst>
                    <a:ext uri="{A12FA001-AC4F-418D-AE19-62706E023703}">
                      <ahyp:hlinkClr xmlns:ahyp="http://schemas.microsoft.com/office/drawing/2018/hyperlinkcolor" val="tx"/>
                    </a:ext>
                  </a:extLst>
                </a:hlinkClick>
              </a:rPr>
              <a:t>Beginner’s guide to use docker (Build, Run, Push and Pull)</a:t>
            </a:r>
            <a:endParaRPr sz="1600" b="1" dirty="0">
              <a:solidFill>
                <a:srgbClr val="FFFF00"/>
              </a:solidFill>
              <a:latin typeface="Batang"/>
              <a:ea typeface="Batang"/>
              <a:cs typeface="Batang"/>
              <a:sym typeface="Batang"/>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E7208-FD41-51A5-10D0-162555D90C5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9FAE5FF-C735-D784-1683-049AAD3021F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docker hub</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45495112-72D8-FE99-8BD9-68DA6A7D836B}"/>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5495CDA8-7D3C-3E63-9A35-7918D2A62E68}"/>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52</a:t>
            </a:fld>
            <a:endParaRPr lang="en-US" b="1" dirty="0">
              <a:latin typeface="Segoe UI Emoji" panose="020B0502040204020203" pitchFamily="34" charset="0"/>
              <a:ea typeface="Segoe UI Emoji" panose="020B0502040204020203" pitchFamily="34" charset="0"/>
            </a:endParaRPr>
          </a:p>
        </p:txBody>
      </p:sp>
      <p:pic>
        <p:nvPicPr>
          <p:cNvPr id="10" name="그래픽 9" descr="수영">
            <a:extLst>
              <a:ext uri="{FF2B5EF4-FFF2-40B4-BE49-F238E27FC236}">
                <a16:creationId xmlns:a16="http://schemas.microsoft.com/office/drawing/2014/main" id="{8C62E094-C837-DF31-CAFF-5547EF2FE6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pic>
        <p:nvPicPr>
          <p:cNvPr id="12" name="그림 11">
            <a:extLst>
              <a:ext uri="{FF2B5EF4-FFF2-40B4-BE49-F238E27FC236}">
                <a16:creationId xmlns:a16="http://schemas.microsoft.com/office/drawing/2014/main" id="{C39196BC-0F86-B1BC-1AC1-973A59B2FB25}"/>
              </a:ext>
            </a:extLst>
          </p:cNvPr>
          <p:cNvPicPr>
            <a:picLocks noChangeAspect="1"/>
          </p:cNvPicPr>
          <p:nvPr/>
        </p:nvPicPr>
        <p:blipFill>
          <a:blip r:embed="rId3"/>
          <a:stretch>
            <a:fillRect/>
          </a:stretch>
        </p:blipFill>
        <p:spPr>
          <a:xfrm>
            <a:off x="1527038" y="1356475"/>
            <a:ext cx="8250976" cy="5068549"/>
          </a:xfrm>
          <a:prstGeom prst="rect">
            <a:avLst/>
          </a:prstGeom>
        </p:spPr>
      </p:pic>
    </p:spTree>
    <p:extLst>
      <p:ext uri="{BB962C8B-B14F-4D97-AF65-F5344CB8AC3E}">
        <p14:creationId xmlns:p14="http://schemas.microsoft.com/office/powerpoint/2010/main" val="31777720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5FDCF-A514-1757-9A1C-523CEC8B94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C103821-8849-6408-57BE-E15F46AA90E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docker run hello-world</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8FF93CA0-8854-EE15-F1F5-D29149C7B62D}"/>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A36BF2F-A6AE-22B4-7A69-1EB160D2DB47}"/>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53</a:t>
            </a:fld>
            <a:endParaRPr lang="en-US" b="1" dirty="0">
              <a:latin typeface="Segoe UI Emoji" panose="020B0502040204020203" pitchFamily="34" charset="0"/>
              <a:ea typeface="Segoe UI Emoji" panose="020B0502040204020203" pitchFamily="34" charset="0"/>
            </a:endParaRPr>
          </a:p>
        </p:txBody>
      </p:sp>
      <p:pic>
        <p:nvPicPr>
          <p:cNvPr id="10" name="그래픽 9" descr="수영">
            <a:extLst>
              <a:ext uri="{FF2B5EF4-FFF2-40B4-BE49-F238E27FC236}">
                <a16:creationId xmlns:a16="http://schemas.microsoft.com/office/drawing/2014/main" id="{E3FF34DC-DBC1-9AB0-4F91-1857C2F5D4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pic>
        <p:nvPicPr>
          <p:cNvPr id="9" name="그림 8">
            <a:extLst>
              <a:ext uri="{FF2B5EF4-FFF2-40B4-BE49-F238E27FC236}">
                <a16:creationId xmlns:a16="http://schemas.microsoft.com/office/drawing/2014/main" id="{EC65908D-1062-EFC7-8AD9-484EF86D379E}"/>
              </a:ext>
            </a:extLst>
          </p:cNvPr>
          <p:cNvPicPr>
            <a:picLocks noChangeAspect="1"/>
          </p:cNvPicPr>
          <p:nvPr/>
        </p:nvPicPr>
        <p:blipFill>
          <a:blip r:embed="rId3"/>
          <a:stretch>
            <a:fillRect/>
          </a:stretch>
        </p:blipFill>
        <p:spPr>
          <a:xfrm>
            <a:off x="579565" y="1369484"/>
            <a:ext cx="7135685" cy="5006533"/>
          </a:xfrm>
          <a:prstGeom prst="rect">
            <a:avLst/>
          </a:prstGeom>
        </p:spPr>
      </p:pic>
      <p:sp>
        <p:nvSpPr>
          <p:cNvPr id="7" name="설명선: 굽은 선 6">
            <a:extLst>
              <a:ext uri="{FF2B5EF4-FFF2-40B4-BE49-F238E27FC236}">
                <a16:creationId xmlns:a16="http://schemas.microsoft.com/office/drawing/2014/main" id="{BBBC5263-FFEF-C04E-AD21-EE8282FE1DE2}"/>
              </a:ext>
            </a:extLst>
          </p:cNvPr>
          <p:cNvSpPr/>
          <p:nvPr/>
        </p:nvSpPr>
        <p:spPr>
          <a:xfrm>
            <a:off x="7879705" y="1398032"/>
            <a:ext cx="3901023" cy="2215634"/>
          </a:xfrm>
          <a:prstGeom prst="borderCallout2">
            <a:avLst/>
          </a:prstGeom>
          <a:ln>
            <a:solidFill>
              <a:srgbClr val="FFFF00"/>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sz="1100" dirty="0">
                <a:solidFill>
                  <a:schemeClr val="bg1"/>
                </a:solidFill>
                <a:latin typeface="D2Coding" panose="020B0609020101020101" pitchFamily="49" charset="-127"/>
                <a:ea typeface="D2Coding" panose="020B0609020101020101" pitchFamily="49" charset="-127"/>
              </a:rPr>
              <a:t>Hello from Docker! This message shows that your installation appears to be working correctly. </a:t>
            </a:r>
          </a:p>
          <a:p>
            <a:r>
              <a:rPr lang="en-US" altLang="ko-KR" sz="1100" dirty="0">
                <a:solidFill>
                  <a:schemeClr val="bg1"/>
                </a:solidFill>
                <a:latin typeface="D2Coding" panose="020B0609020101020101" pitchFamily="49" charset="-127"/>
                <a:ea typeface="D2Coding" panose="020B0609020101020101" pitchFamily="49" charset="-127"/>
              </a:rPr>
              <a:t>To generate this message, Docker took the following steps: </a:t>
            </a:r>
          </a:p>
          <a:p>
            <a:pPr marL="342900" indent="-342900">
              <a:buAutoNum type="arabicPeriod"/>
            </a:pPr>
            <a:r>
              <a:rPr lang="en-US" altLang="ko-KR" sz="1100" dirty="0">
                <a:solidFill>
                  <a:schemeClr val="bg1"/>
                </a:solidFill>
                <a:latin typeface="D2Coding" panose="020B0609020101020101" pitchFamily="49" charset="-127"/>
                <a:ea typeface="D2Coding" panose="020B0609020101020101" pitchFamily="49" charset="-127"/>
              </a:rPr>
              <a:t>The Docker client contacted the Docker daemon. </a:t>
            </a:r>
          </a:p>
          <a:p>
            <a:pPr marL="342900" indent="-342900">
              <a:buAutoNum type="arabicPeriod"/>
            </a:pPr>
            <a:r>
              <a:rPr lang="en-US" altLang="ko-KR" sz="1100" dirty="0">
                <a:solidFill>
                  <a:schemeClr val="bg1"/>
                </a:solidFill>
                <a:latin typeface="D2Coding" panose="020B0609020101020101" pitchFamily="49" charset="-127"/>
                <a:ea typeface="D2Coding" panose="020B0609020101020101" pitchFamily="49" charset="-127"/>
              </a:rPr>
              <a:t>The Docker daemon pulled the "hello-world" image from the Docker Hub. </a:t>
            </a:r>
          </a:p>
          <a:p>
            <a:pPr marL="342900" indent="-342900">
              <a:buAutoNum type="arabicPeriod"/>
            </a:pPr>
            <a:r>
              <a:rPr lang="en-US" altLang="ko-KR" sz="1100" dirty="0">
                <a:solidFill>
                  <a:schemeClr val="bg1"/>
                </a:solidFill>
                <a:latin typeface="D2Coding" panose="020B0609020101020101" pitchFamily="49" charset="-127"/>
                <a:ea typeface="D2Coding" panose="020B0609020101020101" pitchFamily="49" charset="-127"/>
              </a:rPr>
              <a:t>The Docker daemon created a new container from that image... </a:t>
            </a:r>
          </a:p>
          <a:p>
            <a:pPr marL="342900" indent="-342900">
              <a:buAutoNum type="arabicPeriod"/>
            </a:pPr>
            <a:r>
              <a:rPr lang="en-US" altLang="ko-KR" sz="1100" dirty="0">
                <a:solidFill>
                  <a:schemeClr val="bg1"/>
                </a:solidFill>
                <a:latin typeface="D2Coding" panose="020B0609020101020101" pitchFamily="49" charset="-127"/>
                <a:ea typeface="D2Coding" panose="020B0609020101020101" pitchFamily="49" charset="-127"/>
              </a:rPr>
              <a:t>4. The Docker daemon streamed that output to the Docker client...</a:t>
            </a:r>
            <a:endParaRPr lang="ko-KR" altLang="en-US" sz="1100" dirty="0">
              <a:solidFill>
                <a:schemeClr val="bg1"/>
              </a:solidFill>
              <a:latin typeface="D2Coding" panose="020B0609020101020101" pitchFamily="49" charset="-127"/>
              <a:ea typeface="D2Coding" panose="020B0609020101020101" pitchFamily="49" charset="-127"/>
            </a:endParaRPr>
          </a:p>
          <a:p>
            <a:pPr algn="ctr"/>
            <a:endParaRPr lang="ko-KR" altLang="en-US" sz="1100" dirty="0"/>
          </a:p>
        </p:txBody>
      </p:sp>
    </p:spTree>
    <p:extLst>
      <p:ext uri="{BB962C8B-B14F-4D97-AF65-F5344CB8AC3E}">
        <p14:creationId xmlns:p14="http://schemas.microsoft.com/office/powerpoint/2010/main" val="40140836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A1AEC-5624-24F6-8379-98C1F8AD09B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DBA8A3E-5CE9-E8C8-625D-3E19FD81B1D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WSL</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6154D114-5F84-74D5-66B9-0D2969803647}"/>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F1364800-C37B-DC24-7E14-A3C8A5A5DFC9}"/>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54</a:t>
            </a:fld>
            <a:endParaRPr lang="en-US" b="1" dirty="0">
              <a:latin typeface="Segoe UI Emoji" panose="020B0502040204020203" pitchFamily="34" charset="0"/>
              <a:ea typeface="Segoe UI Emoji" panose="020B0502040204020203" pitchFamily="34" charset="0"/>
            </a:endParaRPr>
          </a:p>
        </p:txBody>
      </p:sp>
      <p:pic>
        <p:nvPicPr>
          <p:cNvPr id="10" name="그래픽 9" descr="수영">
            <a:extLst>
              <a:ext uri="{FF2B5EF4-FFF2-40B4-BE49-F238E27FC236}">
                <a16:creationId xmlns:a16="http://schemas.microsoft.com/office/drawing/2014/main" id="{E6599ACA-B608-7B9B-1C99-77761403961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sp>
        <p:nvSpPr>
          <p:cNvPr id="5" name="TextBox 4">
            <a:extLst>
              <a:ext uri="{FF2B5EF4-FFF2-40B4-BE49-F238E27FC236}">
                <a16:creationId xmlns:a16="http://schemas.microsoft.com/office/drawing/2014/main" id="{5435A25B-E1DD-CBD7-9DCB-F3B98CAB6187}"/>
              </a:ext>
            </a:extLst>
          </p:cNvPr>
          <p:cNvSpPr txBox="1"/>
          <p:nvPr/>
        </p:nvSpPr>
        <p:spPr>
          <a:xfrm>
            <a:off x="2551629" y="1801242"/>
            <a:ext cx="6877051" cy="2554545"/>
          </a:xfrm>
          <a:prstGeom prst="rect">
            <a:avLst/>
          </a:prstGeom>
          <a:solidFill>
            <a:schemeClr val="tx1"/>
          </a:solidFill>
        </p:spPr>
        <p:txBody>
          <a:bodyPr wrap="square">
            <a:spAutoFit/>
          </a:bodyPr>
          <a:lstStyle/>
          <a:p>
            <a:r>
              <a:rPr lang="ko-KR" altLang="en-US" sz="1600" dirty="0">
                <a:solidFill>
                  <a:schemeClr val="bg1"/>
                </a:solidFill>
                <a:latin typeface="D2Coding" panose="020B0609020101020101" pitchFamily="49" charset="-127"/>
                <a:ea typeface="D2Coding" panose="020B0609020101020101" pitchFamily="49" charset="-127"/>
              </a:rPr>
              <a:t>C:\Users\조상구&gt;wsl --</a:t>
            </a:r>
            <a:r>
              <a:rPr lang="ko-KR" altLang="en-US" sz="1600" dirty="0" err="1">
                <a:solidFill>
                  <a:schemeClr val="bg1"/>
                </a:solidFill>
                <a:latin typeface="D2Coding" panose="020B0609020101020101" pitchFamily="49" charset="-127"/>
                <a:ea typeface="D2Coding" panose="020B0609020101020101" pitchFamily="49" charset="-127"/>
              </a:rPr>
              <a:t>version</a:t>
            </a:r>
            <a:endParaRPr lang="ko-KR" altLang="en-US" sz="1600" dirty="0">
              <a:solidFill>
                <a:schemeClr val="bg1"/>
              </a:solidFill>
              <a:latin typeface="D2Coding" panose="020B0609020101020101" pitchFamily="49" charset="-127"/>
              <a:ea typeface="D2Coding" panose="020B0609020101020101" pitchFamily="49" charset="-127"/>
            </a:endParaRPr>
          </a:p>
          <a:p>
            <a:r>
              <a:rPr lang="ko-KR" altLang="en-US" sz="1600" dirty="0">
                <a:solidFill>
                  <a:schemeClr val="bg1"/>
                </a:solidFill>
                <a:latin typeface="D2Coding" panose="020B0609020101020101" pitchFamily="49" charset="-127"/>
                <a:ea typeface="D2Coding" panose="020B0609020101020101" pitchFamily="49" charset="-127"/>
              </a:rPr>
              <a:t>WSL 버전: 2.7.11.0</a:t>
            </a:r>
          </a:p>
          <a:p>
            <a:r>
              <a:rPr lang="ko-KR" altLang="en-US" sz="1600" dirty="0">
                <a:solidFill>
                  <a:schemeClr val="bg1"/>
                </a:solidFill>
                <a:latin typeface="D2Coding" panose="020B0609020101020101" pitchFamily="49" charset="-127"/>
                <a:ea typeface="D2Coding" panose="020B0609020101020101" pitchFamily="49" charset="-127"/>
              </a:rPr>
              <a:t>커널 버전: 6.18.33.2-2</a:t>
            </a:r>
          </a:p>
          <a:p>
            <a:r>
              <a:rPr lang="ko-KR" altLang="en-US" sz="1600" dirty="0" err="1">
                <a:solidFill>
                  <a:schemeClr val="bg1"/>
                </a:solidFill>
                <a:latin typeface="D2Coding" panose="020B0609020101020101" pitchFamily="49" charset="-127"/>
                <a:ea typeface="D2Coding" panose="020B0609020101020101" pitchFamily="49" charset="-127"/>
              </a:rPr>
              <a:t>WSLg</a:t>
            </a:r>
            <a:r>
              <a:rPr lang="ko-KR" altLang="en-US" sz="1600" dirty="0">
                <a:solidFill>
                  <a:schemeClr val="bg1"/>
                </a:solidFill>
                <a:latin typeface="D2Coding" panose="020B0609020101020101" pitchFamily="49" charset="-127"/>
                <a:ea typeface="D2Coding" panose="020B0609020101020101" pitchFamily="49" charset="-127"/>
              </a:rPr>
              <a:t> 버전: 1.0.73.2</a:t>
            </a:r>
          </a:p>
          <a:p>
            <a:r>
              <a:rPr lang="ko-KR" altLang="en-US" sz="1600" dirty="0">
                <a:solidFill>
                  <a:schemeClr val="bg1"/>
                </a:solidFill>
                <a:latin typeface="D2Coding" panose="020B0609020101020101" pitchFamily="49" charset="-127"/>
                <a:ea typeface="D2Coding" panose="020B0609020101020101" pitchFamily="49" charset="-127"/>
              </a:rPr>
              <a:t>MSRDC 버전: 1.2.7214</a:t>
            </a:r>
          </a:p>
          <a:p>
            <a:r>
              <a:rPr lang="ko-KR" altLang="en-US" sz="1600" dirty="0">
                <a:solidFill>
                  <a:schemeClr val="bg1"/>
                </a:solidFill>
                <a:latin typeface="D2Coding" panose="020B0609020101020101" pitchFamily="49" charset="-127"/>
                <a:ea typeface="D2Coding" panose="020B0609020101020101" pitchFamily="49" charset="-127"/>
              </a:rPr>
              <a:t>Direct3D 버전: 1.611.1-81528511</a:t>
            </a:r>
          </a:p>
          <a:p>
            <a:r>
              <a:rPr lang="ko-KR" altLang="en-US" sz="1600" dirty="0" err="1">
                <a:solidFill>
                  <a:schemeClr val="bg1"/>
                </a:solidFill>
                <a:latin typeface="D2Coding" panose="020B0609020101020101" pitchFamily="49" charset="-127"/>
                <a:ea typeface="D2Coding" panose="020B0609020101020101" pitchFamily="49" charset="-127"/>
              </a:rPr>
              <a:t>DXCore</a:t>
            </a:r>
            <a:r>
              <a:rPr lang="ko-KR" altLang="en-US" sz="1600" dirty="0">
                <a:solidFill>
                  <a:schemeClr val="bg1"/>
                </a:solidFill>
                <a:latin typeface="D2Coding" panose="020B0609020101020101" pitchFamily="49" charset="-127"/>
                <a:ea typeface="D2Coding" panose="020B0609020101020101" pitchFamily="49" charset="-127"/>
              </a:rPr>
              <a:t> 버전: 10.0.26100.1-240331-1435.ge-release</a:t>
            </a:r>
          </a:p>
          <a:p>
            <a:r>
              <a:rPr lang="ko-KR" altLang="en-US" sz="1600" dirty="0">
                <a:solidFill>
                  <a:schemeClr val="bg1"/>
                </a:solidFill>
                <a:latin typeface="D2Coding" panose="020B0609020101020101" pitchFamily="49" charset="-127"/>
                <a:ea typeface="D2Coding" panose="020B0609020101020101" pitchFamily="49" charset="-127"/>
              </a:rPr>
              <a:t>Windows 버전: 10.0.26200.9168</a:t>
            </a:r>
          </a:p>
          <a:p>
            <a:endParaRPr lang="ko-KR" altLang="en-US" sz="1600" dirty="0">
              <a:solidFill>
                <a:schemeClr val="bg1"/>
              </a:solidFill>
              <a:latin typeface="D2Coding" panose="020B0609020101020101" pitchFamily="49" charset="-127"/>
              <a:ea typeface="D2Coding" panose="020B0609020101020101" pitchFamily="49" charset="-127"/>
            </a:endParaRPr>
          </a:p>
          <a:p>
            <a:r>
              <a:rPr lang="ko-KR" altLang="en-US" sz="1600" dirty="0">
                <a:solidFill>
                  <a:schemeClr val="bg1"/>
                </a:solidFill>
                <a:latin typeface="D2Coding" panose="020B0609020101020101" pitchFamily="49" charset="-127"/>
                <a:ea typeface="D2Coding" panose="020B0609020101020101" pitchFamily="49" charset="-127"/>
              </a:rPr>
              <a:t>C:\Users\조상구&gt;</a:t>
            </a:r>
          </a:p>
        </p:txBody>
      </p:sp>
      <p:sp>
        <p:nvSpPr>
          <p:cNvPr id="6" name="Rectangle 1">
            <a:extLst>
              <a:ext uri="{FF2B5EF4-FFF2-40B4-BE49-F238E27FC236}">
                <a16:creationId xmlns:a16="http://schemas.microsoft.com/office/drawing/2014/main" id="{8EF6CBDF-3A34-69BE-7A02-A4BDA8C4535B}"/>
              </a:ext>
            </a:extLst>
          </p:cNvPr>
          <p:cNvSpPr>
            <a:spLocks noChangeArrowheads="1"/>
          </p:cNvSpPr>
          <p:nvPr/>
        </p:nvSpPr>
        <p:spPr bwMode="auto">
          <a:xfrm>
            <a:off x="475645" y="1217365"/>
            <a:ext cx="11353281" cy="465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lvl="0" indent="-285750" eaLnBrk="0" fontAlgn="base" hangingPunct="0">
              <a:lnSpc>
                <a:spcPct val="150000"/>
              </a:lnSpc>
              <a:spcBef>
                <a:spcPct val="0"/>
              </a:spcBef>
              <a:spcAft>
                <a:spcPct val="0"/>
              </a:spcAft>
              <a:buFont typeface="Wingdings" panose="05000000000000000000" pitchFamily="2" charset="2"/>
              <a:buChar char="v"/>
            </a:pPr>
            <a:r>
              <a:rPr lang="en-US" altLang="ko-KR" dirty="0">
                <a:latin typeface="D2Coding" panose="020B0609020101020101" pitchFamily="49" charset="-127"/>
                <a:ea typeface="D2Coding" panose="020B0609020101020101" pitchFamily="49" charset="-127"/>
              </a:rPr>
              <a:t>WSL(Windows Subsystem for Linux) </a:t>
            </a:r>
            <a:r>
              <a:rPr lang="ko-KR" altLang="en-US" dirty="0">
                <a:latin typeface="D2Coding" panose="020B0609020101020101" pitchFamily="49" charset="-127"/>
                <a:ea typeface="D2Coding" panose="020B0609020101020101" pitchFamily="49" charset="-127"/>
              </a:rPr>
              <a:t>설치</a:t>
            </a:r>
            <a:endParaRPr lang="en-US" altLang="ko-KR" dirty="0">
              <a:latin typeface="D2Coding" panose="020B0609020101020101" pitchFamily="49" charset="-127"/>
              <a:ea typeface="D2Coding" panose="020B0609020101020101" pitchFamily="49" charset="-127"/>
            </a:endParaRPr>
          </a:p>
        </p:txBody>
      </p:sp>
      <p:sp>
        <p:nvSpPr>
          <p:cNvPr id="11" name="Rectangle 1">
            <a:extLst>
              <a:ext uri="{FF2B5EF4-FFF2-40B4-BE49-F238E27FC236}">
                <a16:creationId xmlns:a16="http://schemas.microsoft.com/office/drawing/2014/main" id="{33188051-64FB-BF0F-AFBB-814E0FCB094E}"/>
              </a:ext>
            </a:extLst>
          </p:cNvPr>
          <p:cNvSpPr>
            <a:spLocks noChangeArrowheads="1"/>
          </p:cNvSpPr>
          <p:nvPr/>
        </p:nvSpPr>
        <p:spPr bwMode="auto">
          <a:xfrm>
            <a:off x="581025" y="4610284"/>
            <a:ext cx="11353281" cy="880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lvl="0" indent="-285750" eaLnBrk="0" fontAlgn="base" hangingPunct="0">
              <a:lnSpc>
                <a:spcPct val="150000"/>
              </a:lnSpc>
              <a:spcBef>
                <a:spcPct val="0"/>
              </a:spcBef>
              <a:spcAft>
                <a:spcPct val="0"/>
              </a:spcAft>
              <a:buFont typeface="Wingdings" panose="05000000000000000000" pitchFamily="2" charset="2"/>
              <a:buChar char="v"/>
            </a:pPr>
            <a:r>
              <a:rPr lang="en-US" altLang="ko-KR" dirty="0">
                <a:latin typeface="D2Coding" panose="020B0609020101020101" pitchFamily="49" charset="-127"/>
                <a:ea typeface="D2Coding" panose="020B0609020101020101" pitchFamily="49" charset="-127"/>
              </a:rPr>
              <a:t>Docker </a:t>
            </a:r>
            <a:r>
              <a:rPr lang="ko-KR" altLang="en-US" dirty="0">
                <a:latin typeface="D2Coding" panose="020B0609020101020101" pitchFamily="49" charset="-127"/>
                <a:ea typeface="D2Coding" panose="020B0609020101020101" pitchFamily="49" charset="-127"/>
              </a:rPr>
              <a:t>설치</a:t>
            </a:r>
            <a:endParaRPr lang="en-US" altLang="ko-KR" dirty="0">
              <a:latin typeface="D2Coding" panose="020B0609020101020101" pitchFamily="49" charset="-127"/>
              <a:ea typeface="D2Coding" panose="020B0609020101020101" pitchFamily="49" charset="-127"/>
            </a:endParaRPr>
          </a:p>
          <a:p>
            <a:pPr marL="742950" lvl="1" indent="-285750" eaLnBrk="0" fontAlgn="base" hangingPunct="0">
              <a:lnSpc>
                <a:spcPct val="150000"/>
              </a:lnSpc>
              <a:spcBef>
                <a:spcPct val="0"/>
              </a:spcBef>
              <a:spcAft>
                <a:spcPct val="0"/>
              </a:spcAft>
              <a:buFont typeface="Wingdings" panose="05000000000000000000" pitchFamily="2" charset="2"/>
              <a:buChar char="v"/>
            </a:pPr>
            <a:r>
              <a:rPr lang="en-US" altLang="ko-KR" dirty="0">
                <a:latin typeface="D2Coding" panose="020B0609020101020101" pitchFamily="49" charset="-127"/>
                <a:ea typeface="D2Coding" panose="020B0609020101020101" pitchFamily="49" charset="-127"/>
              </a:rPr>
              <a:t>WSL 2</a:t>
            </a:r>
            <a:r>
              <a:rPr lang="ko-KR" altLang="en-US" dirty="0">
                <a:latin typeface="D2Coding" panose="020B0609020101020101" pitchFamily="49" charset="-127"/>
                <a:ea typeface="D2Coding" panose="020B0609020101020101" pitchFamily="49" charset="-127"/>
              </a:rPr>
              <a:t>를 먼저 설치하고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그 위에 </a:t>
            </a:r>
            <a:r>
              <a:rPr lang="en-US" altLang="ko-KR" dirty="0">
                <a:latin typeface="D2Coding" panose="020B0609020101020101" pitchFamily="49" charset="-127"/>
                <a:ea typeface="D2Coding" panose="020B0609020101020101" pitchFamily="49" charset="-127"/>
              </a:rPr>
              <a:t>Docker Desktop</a:t>
            </a:r>
            <a:r>
              <a:rPr lang="ko-KR" altLang="en-US" dirty="0">
                <a:latin typeface="D2Coding" panose="020B0609020101020101" pitchFamily="49" charset="-127"/>
                <a:ea typeface="D2Coding" panose="020B0609020101020101" pitchFamily="49" charset="-127"/>
              </a:rPr>
              <a:t>을 얹어서 연동</a:t>
            </a:r>
            <a:endParaRPr lang="ko-KR" altLang="ko-KR" dirty="0">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8253748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E6001-3FEC-77DB-8683-7FD5DBF9A6F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8E00CBC-B28C-2C6A-126F-3004A7725CC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docker</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desktop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설치</a:t>
            </a:r>
          </a:p>
        </p:txBody>
      </p:sp>
      <p:sp>
        <p:nvSpPr>
          <p:cNvPr id="8" name="TextBox 7">
            <a:extLst>
              <a:ext uri="{FF2B5EF4-FFF2-40B4-BE49-F238E27FC236}">
                <a16:creationId xmlns:a16="http://schemas.microsoft.com/office/drawing/2014/main" id="{9AA1FDCF-EFFF-AD30-2847-C6A182B18169}"/>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EFFEE19D-4E72-8DEE-AD86-EFC39E64A8C1}"/>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55</a:t>
            </a:fld>
            <a:endParaRPr lang="en-US" b="1" dirty="0">
              <a:latin typeface="Segoe UI Emoji" panose="020B0502040204020203" pitchFamily="34" charset="0"/>
              <a:ea typeface="Segoe UI Emoji" panose="020B0502040204020203" pitchFamily="34" charset="0"/>
            </a:endParaRPr>
          </a:p>
        </p:txBody>
      </p:sp>
      <p:pic>
        <p:nvPicPr>
          <p:cNvPr id="10" name="그래픽 9" descr="수영">
            <a:extLst>
              <a:ext uri="{FF2B5EF4-FFF2-40B4-BE49-F238E27FC236}">
                <a16:creationId xmlns:a16="http://schemas.microsoft.com/office/drawing/2014/main" id="{A8BDD442-F296-7A5A-E1FE-F8268414B2E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pic>
        <p:nvPicPr>
          <p:cNvPr id="13" name="그림 12">
            <a:extLst>
              <a:ext uri="{FF2B5EF4-FFF2-40B4-BE49-F238E27FC236}">
                <a16:creationId xmlns:a16="http://schemas.microsoft.com/office/drawing/2014/main" id="{382B21F8-E3B2-3124-A7A1-C89690B27CD4}"/>
              </a:ext>
            </a:extLst>
          </p:cNvPr>
          <p:cNvPicPr>
            <a:picLocks noChangeAspect="1"/>
          </p:cNvPicPr>
          <p:nvPr/>
        </p:nvPicPr>
        <p:blipFill>
          <a:blip r:embed="rId3"/>
          <a:stretch>
            <a:fillRect/>
          </a:stretch>
        </p:blipFill>
        <p:spPr>
          <a:xfrm>
            <a:off x="1176491" y="1356475"/>
            <a:ext cx="7668814" cy="5071656"/>
          </a:xfrm>
          <a:prstGeom prst="rect">
            <a:avLst/>
          </a:prstGeom>
        </p:spPr>
      </p:pic>
      <p:sp>
        <p:nvSpPr>
          <p:cNvPr id="4" name="설명선: 굽은 선 3">
            <a:extLst>
              <a:ext uri="{FF2B5EF4-FFF2-40B4-BE49-F238E27FC236}">
                <a16:creationId xmlns:a16="http://schemas.microsoft.com/office/drawing/2014/main" id="{A00BA074-3502-A522-021F-D1C1E6C7374A}"/>
              </a:ext>
            </a:extLst>
          </p:cNvPr>
          <p:cNvSpPr/>
          <p:nvPr/>
        </p:nvSpPr>
        <p:spPr>
          <a:xfrm>
            <a:off x="7946380" y="3112532"/>
            <a:ext cx="3901023" cy="766439"/>
          </a:xfrm>
          <a:prstGeom prst="borderCallout2">
            <a:avLst>
              <a:gd name="adj1" fmla="val 18750"/>
              <a:gd name="adj2" fmla="val -8333"/>
              <a:gd name="adj3" fmla="val 18750"/>
              <a:gd name="adj4" fmla="val -16667"/>
              <a:gd name="adj5" fmla="val -42942"/>
              <a:gd name="adj6" fmla="val -33726"/>
            </a:avLst>
          </a:prstGeom>
          <a:solidFill>
            <a:schemeClr val="bg1">
              <a:lumMod val="65000"/>
            </a:schemeClr>
          </a:solidFill>
          <a:ln>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ko-KR" dirty="0">
                <a:solidFill>
                  <a:schemeClr val="tx1"/>
                </a:solidFill>
                <a:latin typeface="D2Coding" panose="020B0609020101020101" pitchFamily="49" charset="-127"/>
                <a:ea typeface="D2Coding" panose="020B0609020101020101" pitchFamily="49" charset="-127"/>
              </a:rPr>
              <a:t>n8n</a:t>
            </a:r>
            <a:r>
              <a:rPr lang="ko-KR" altLang="en-US" dirty="0">
                <a:solidFill>
                  <a:schemeClr val="tx1"/>
                </a:solidFill>
                <a:latin typeface="D2Coding" panose="020B0609020101020101" pitchFamily="49" charset="-127"/>
                <a:ea typeface="D2Coding" panose="020B0609020101020101" pitchFamily="49" charset="-127"/>
              </a:rPr>
              <a:t> 이미지 다운받고 </a:t>
            </a:r>
            <a:r>
              <a:rPr lang="en-US" altLang="ko-KR" dirty="0">
                <a:solidFill>
                  <a:schemeClr val="tx1"/>
                </a:solidFill>
                <a:latin typeface="D2Coding" panose="020B0609020101020101" pitchFamily="49" charset="-127"/>
                <a:ea typeface="D2Coding" panose="020B0609020101020101" pitchFamily="49" charset="-127"/>
              </a:rPr>
              <a:t>container </a:t>
            </a:r>
            <a:r>
              <a:rPr lang="ko-KR" altLang="en-US" dirty="0">
                <a:solidFill>
                  <a:schemeClr val="tx1"/>
                </a:solidFill>
                <a:latin typeface="D2Coding" panose="020B0609020101020101" pitchFamily="49" charset="-127"/>
                <a:ea typeface="D2Coding" panose="020B0609020101020101" pitchFamily="49" charset="-127"/>
              </a:rPr>
              <a:t>실행</a:t>
            </a:r>
            <a:r>
              <a:rPr lang="en-US" altLang="ko-KR" dirty="0">
                <a:solidFill>
                  <a:schemeClr val="tx1"/>
                </a:solidFill>
                <a:latin typeface="D2Coding" panose="020B0609020101020101" pitchFamily="49" charset="-127"/>
                <a:ea typeface="D2Coding" panose="020B0609020101020101" pitchFamily="49" charset="-127"/>
              </a:rPr>
              <a:t>/</a:t>
            </a:r>
            <a:r>
              <a:rPr lang="ko-KR" altLang="en-US" dirty="0">
                <a:solidFill>
                  <a:schemeClr val="tx1"/>
                </a:solidFill>
                <a:latin typeface="D2Coding" panose="020B0609020101020101" pitchFamily="49" charset="-127"/>
                <a:ea typeface="D2Coding" panose="020B0609020101020101" pitchFamily="49" charset="-127"/>
              </a:rPr>
              <a:t>중단</a:t>
            </a:r>
          </a:p>
        </p:txBody>
      </p:sp>
    </p:spTree>
    <p:extLst>
      <p:ext uri="{BB962C8B-B14F-4D97-AF65-F5344CB8AC3E}">
        <p14:creationId xmlns:p14="http://schemas.microsoft.com/office/powerpoint/2010/main" val="30842300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CAAB9-ACA9-AEBC-886C-4678B68569D2}"/>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C575E9E7-1BC6-5A3D-FC8C-6F2131DC11CE}"/>
              </a:ext>
            </a:extLst>
          </p:cNvPr>
          <p:cNvSpPr>
            <a:spLocks noGrp="1"/>
          </p:cNvSpPr>
          <p:nvPr>
            <p:ph type="ctrTitle"/>
          </p:nvPr>
        </p:nvSpPr>
        <p:spPr>
          <a:xfrm>
            <a:off x="838199" y="1164324"/>
            <a:ext cx="10934701" cy="2387600"/>
          </a:xfrm>
        </p:spPr>
        <p:txBody>
          <a:bodyPr rtlCol="0" anchor="ctr" anchorCtr="0">
            <a:normAutofit/>
          </a:bodyPr>
          <a:lstStyle/>
          <a:p>
            <a:r>
              <a:rPr lang="en-US" altLang="ko-KR" sz="5400" dirty="0" err="1">
                <a:solidFill>
                  <a:schemeClr val="bg1"/>
                </a:solidFill>
                <a:latin typeface="D2Coding" panose="020B0609020101020101" pitchFamily="49" charset="-127"/>
                <a:ea typeface="D2Coding" panose="020B0609020101020101" pitchFamily="49" charset="-127"/>
              </a:rPr>
              <a:t>Github</a:t>
            </a:r>
            <a:r>
              <a:rPr lang="en-US" altLang="ko-KR" sz="5400" dirty="0">
                <a:solidFill>
                  <a:schemeClr val="bg1"/>
                </a:solidFill>
                <a:latin typeface="D2Coding" panose="020B0609020101020101" pitchFamily="49" charset="-127"/>
                <a:ea typeface="D2Coding" panose="020B0609020101020101" pitchFamily="49" charset="-127"/>
              </a:rPr>
              <a:t> </a:t>
            </a:r>
            <a:r>
              <a:rPr lang="en-US" altLang="ko-KR" sz="5400" dirty="0" err="1">
                <a:solidFill>
                  <a:schemeClr val="bg1"/>
                </a:solidFill>
                <a:latin typeface="D2Coding" panose="020B0609020101020101" pitchFamily="49" charset="-127"/>
                <a:ea typeface="D2Coding" panose="020B0609020101020101" pitchFamily="49" charset="-127"/>
              </a:rPr>
              <a:t>Codespaces</a:t>
            </a:r>
            <a:r>
              <a:rPr lang="en-US" altLang="ko-KR" sz="5400" dirty="0">
                <a:solidFill>
                  <a:schemeClr val="bg1"/>
                </a:solidFill>
                <a:latin typeface="D2Coding" panose="020B0609020101020101" pitchFamily="49" charset="-127"/>
                <a:ea typeface="D2Coding" panose="020B0609020101020101" pitchFamily="49" charset="-127"/>
              </a:rPr>
              <a:t> </a:t>
            </a:r>
            <a:endParaRPr lang="ko-KR" altLang="en-US" sz="5400" dirty="0">
              <a:solidFill>
                <a:schemeClr val="bg1"/>
              </a:solidFill>
              <a:latin typeface="D2Coding" panose="020B0609020101020101" pitchFamily="49" charset="-127"/>
              <a:ea typeface="D2Coding" panose="020B0609020101020101" pitchFamily="49" charset="-127"/>
            </a:endParaRPr>
          </a:p>
        </p:txBody>
      </p:sp>
      <p:sp>
        <p:nvSpPr>
          <p:cNvPr id="5" name="부제목 2">
            <a:extLst>
              <a:ext uri="{FF2B5EF4-FFF2-40B4-BE49-F238E27FC236}">
                <a16:creationId xmlns:a16="http://schemas.microsoft.com/office/drawing/2014/main" id="{7E3231D0-C6EE-2D2D-206A-E9E51806B7D4}"/>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latin typeface="D2Coding" panose="020B0609020101020101" pitchFamily="49" charset="-127"/>
                <a:ea typeface="D2Coding" panose="020B0609020101020101" pitchFamily="49" charset="-127"/>
              </a:rPr>
              <a:t>2026 Fall</a:t>
            </a:r>
          </a:p>
          <a:p>
            <a:r>
              <a:rPr lang="ko-KR" altLang="en-US" sz="2400" dirty="0" err="1">
                <a:solidFill>
                  <a:schemeClr val="bg1"/>
                </a:solidFill>
                <a:latin typeface="D2Coding" panose="020B0609020101020101" pitchFamily="49" charset="-127"/>
                <a:ea typeface="D2Coding" panose="020B0609020101020101" pitchFamily="49" charset="-127"/>
              </a:rPr>
              <a:t>조상구교수</a:t>
            </a:r>
            <a:endParaRPr lang="en-US" altLang="ko-KR" sz="2400" dirty="0">
              <a:solidFill>
                <a:schemeClr val="bg1"/>
              </a:solidFill>
              <a:latin typeface="D2Coding" panose="020B0609020101020101" pitchFamily="49" charset="-127"/>
              <a:ea typeface="D2Coding" panose="020B0609020101020101" pitchFamily="49" charset="-127"/>
            </a:endParaRPr>
          </a:p>
        </p:txBody>
      </p:sp>
      <p:sp>
        <p:nvSpPr>
          <p:cNvPr id="3" name="TextBox 2">
            <a:extLst>
              <a:ext uri="{FF2B5EF4-FFF2-40B4-BE49-F238E27FC236}">
                <a16:creationId xmlns:a16="http://schemas.microsoft.com/office/drawing/2014/main" id="{5CC1B9FD-E9D4-3878-D360-358CDCC97F39}"/>
              </a:ext>
            </a:extLst>
          </p:cNvPr>
          <p:cNvSpPr txBox="1"/>
          <p:nvPr/>
        </p:nvSpPr>
        <p:spPr>
          <a:xfrm>
            <a:off x="855620" y="2752872"/>
            <a:ext cx="9374230" cy="465320"/>
          </a:xfrm>
          <a:prstGeom prst="rect">
            <a:avLst/>
          </a:prstGeom>
          <a:noFill/>
        </p:spPr>
        <p:txBody>
          <a:bodyPr wrap="square">
            <a:spAutoFit/>
          </a:bodyPr>
          <a:lstStyle/>
          <a:p>
            <a:pPr marL="285750" indent="-285750">
              <a:lnSpc>
                <a:spcPct val="150000"/>
              </a:lnSpc>
              <a:buFont typeface="Wingdings" panose="05000000000000000000" pitchFamily="2" charset="2"/>
              <a:buChar char="ü"/>
            </a:pPr>
            <a:r>
              <a:rPr lang="en-US" altLang="ko-KR" dirty="0">
                <a:solidFill>
                  <a:schemeClr val="bg1"/>
                </a:solidFill>
                <a:latin typeface="D2Coding" panose="020B0609020101020101" pitchFamily="49" charset="-127"/>
                <a:ea typeface="D2Coding" panose="020B0609020101020101" pitchFamily="49" charset="-127"/>
              </a:rPr>
              <a:t>Linux</a:t>
            </a:r>
          </a:p>
        </p:txBody>
      </p:sp>
    </p:spTree>
    <p:extLst>
      <p:ext uri="{BB962C8B-B14F-4D97-AF65-F5344CB8AC3E}">
        <p14:creationId xmlns:p14="http://schemas.microsoft.com/office/powerpoint/2010/main" val="290146871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BC5853-55A3-21A1-6500-18AADD4A12F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12E6410-D7D9-0CBC-5C8D-28B178C4F80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Github</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codespaces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2971A9EF-4531-27E6-C4EF-FB1306627CCF}"/>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43D6EB26-833B-3896-5929-885651239E3F}"/>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57</a:t>
            </a:fld>
            <a:endParaRPr lang="en-US" b="1" dirty="0">
              <a:latin typeface="Segoe UI Emoji" panose="020B0502040204020203" pitchFamily="34" charset="0"/>
              <a:ea typeface="Segoe UI Emoji" panose="020B0502040204020203" pitchFamily="34" charset="0"/>
            </a:endParaRPr>
          </a:p>
        </p:txBody>
      </p:sp>
      <p:pic>
        <p:nvPicPr>
          <p:cNvPr id="10" name="그래픽 9" descr="수영">
            <a:extLst>
              <a:ext uri="{FF2B5EF4-FFF2-40B4-BE49-F238E27FC236}">
                <a16:creationId xmlns:a16="http://schemas.microsoft.com/office/drawing/2014/main" id="{DFCC15D7-E24D-A137-FEA2-BA51A2D946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pic>
        <p:nvPicPr>
          <p:cNvPr id="6" name="그림 5">
            <a:extLst>
              <a:ext uri="{FF2B5EF4-FFF2-40B4-BE49-F238E27FC236}">
                <a16:creationId xmlns:a16="http://schemas.microsoft.com/office/drawing/2014/main" id="{63DA2F47-8A5F-BFDC-FC08-8CDE00E07584}"/>
              </a:ext>
            </a:extLst>
          </p:cNvPr>
          <p:cNvPicPr>
            <a:picLocks noChangeAspect="1"/>
          </p:cNvPicPr>
          <p:nvPr/>
        </p:nvPicPr>
        <p:blipFill>
          <a:blip r:embed="rId3"/>
          <a:stretch>
            <a:fillRect/>
          </a:stretch>
        </p:blipFill>
        <p:spPr>
          <a:xfrm>
            <a:off x="3190364" y="2960717"/>
            <a:ext cx="7372862" cy="3415300"/>
          </a:xfrm>
          <a:prstGeom prst="rect">
            <a:avLst/>
          </a:prstGeom>
        </p:spPr>
      </p:pic>
      <p:sp>
        <p:nvSpPr>
          <p:cNvPr id="7" name="Rectangle 1">
            <a:extLst>
              <a:ext uri="{FF2B5EF4-FFF2-40B4-BE49-F238E27FC236}">
                <a16:creationId xmlns:a16="http://schemas.microsoft.com/office/drawing/2014/main" id="{5C3380A7-E7F0-646C-F442-EB15EA65C514}"/>
              </a:ext>
            </a:extLst>
          </p:cNvPr>
          <p:cNvSpPr>
            <a:spLocks noChangeArrowheads="1"/>
          </p:cNvSpPr>
          <p:nvPr/>
        </p:nvSpPr>
        <p:spPr bwMode="auto">
          <a:xfrm>
            <a:off x="591620" y="1171129"/>
            <a:ext cx="11353281" cy="1531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v"/>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웹 브라우저 안에서 VS </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Code</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에디터와 리눅스 터미널을 함께 쓰는 클라우드 IDE</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v"/>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에디터 화면에서 </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Dockerfile이나</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docker-compose.yml을</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직접 작성하고 터미널에서 빌드/실행(월 60시간 무료)</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v"/>
              <a:tabLst/>
            </a:pP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rPr>
              <a:t>Dockerfile</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 작성, 소스코드 패키징, 다중 컨테이너(DB 연동) 실습</a:t>
            </a:r>
          </a:p>
          <a:p>
            <a:pPr marL="285750" marR="0" lvl="0" indent="-285750" algn="l" defTabSz="914400" rtl="0" eaLnBrk="0" fontAlgn="base" latinLnBrk="0" hangingPunct="0">
              <a:lnSpc>
                <a:spcPct val="150000"/>
              </a:lnSpc>
              <a:spcBef>
                <a:spcPct val="0"/>
              </a:spcBef>
              <a:spcAft>
                <a:spcPct val="0"/>
              </a:spcAft>
              <a:buClrTx/>
              <a:buSzTx/>
              <a:buFont typeface="Wingdings" panose="05000000000000000000" pitchFamily="2" charset="2"/>
              <a:buChar char="v"/>
              <a:tabLst/>
            </a:pP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rPr>
              <a:t>사이트: </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hlinkClick r:id="rId4"/>
              </a:rPr>
              <a:t>github.com</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hlinkClick r:id="rId4"/>
              </a:rPr>
              <a:t>/</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hlinkClick r:id="rId4"/>
              </a:rPr>
              <a:t>features</a:t>
            </a:r>
            <a:r>
              <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hlinkClick r:id="rId4"/>
              </a:rPr>
              <a:t>/</a:t>
            </a:r>
            <a:r>
              <a:rPr kumimoji="0" lang="ko-KR" altLang="ko-KR" sz="1600" i="0" u="none" strike="noStrike" cap="none" normalizeH="0" baseline="0" dirty="0" err="1">
                <a:ln>
                  <a:noFill/>
                </a:ln>
                <a:solidFill>
                  <a:schemeClr val="tx1"/>
                </a:solidFill>
                <a:effectLst/>
                <a:latin typeface="D2Coding" panose="020B0609020101020101" pitchFamily="49" charset="-127"/>
                <a:ea typeface="D2Coding" panose="020B0609020101020101" pitchFamily="49" charset="-127"/>
                <a:hlinkClick r:id="rId4"/>
              </a:rPr>
              <a:t>codespaces</a:t>
            </a:r>
            <a:endParaRPr kumimoji="0" lang="ko-KR" altLang="ko-KR" sz="1600" i="0" u="none" strike="noStrike" cap="none" normalizeH="0" baseline="0" dirty="0">
              <a:ln>
                <a:noFill/>
              </a:ln>
              <a:solidFill>
                <a:schemeClr val="tx1"/>
              </a:solidFill>
              <a:effectLst/>
              <a:latin typeface="D2Coding" panose="020B0609020101020101" pitchFamily="49" charset="-127"/>
              <a:ea typeface="D2Coding" panose="020B0609020101020101" pitchFamily="49" charset="-127"/>
            </a:endParaRPr>
          </a:p>
        </p:txBody>
      </p:sp>
      <p:sp>
        <p:nvSpPr>
          <p:cNvPr id="4" name="AutoShape 2" descr="codespaces-diagr...">
            <a:extLst>
              <a:ext uri="{FF2B5EF4-FFF2-40B4-BE49-F238E27FC236}">
                <a16:creationId xmlns:a16="http://schemas.microsoft.com/office/drawing/2014/main" id="{22D80AF1-1BA7-25AE-13B6-263E11B5E080}"/>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Tree>
    <p:extLst>
      <p:ext uri="{BB962C8B-B14F-4D97-AF65-F5344CB8AC3E}">
        <p14:creationId xmlns:p14="http://schemas.microsoft.com/office/powerpoint/2010/main" val="360291322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937A0-DE77-F3AC-2CB0-4D90EAE22FA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A548B2E-94A5-B89C-754B-778BDB59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Github</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codespaces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8EDD36D7-FC47-DDC0-856E-F11AB6AB1F37}"/>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23460571-FE90-E8BB-9C24-392165477483}"/>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58</a:t>
            </a:fld>
            <a:endParaRPr lang="en-US" b="1" dirty="0">
              <a:latin typeface="Segoe UI Emoji" panose="020B0502040204020203" pitchFamily="34" charset="0"/>
              <a:ea typeface="Segoe UI Emoji" panose="020B0502040204020203" pitchFamily="34" charset="0"/>
            </a:endParaRPr>
          </a:p>
        </p:txBody>
      </p:sp>
      <p:sp>
        <p:nvSpPr>
          <p:cNvPr id="7" name="Rectangle 1">
            <a:extLst>
              <a:ext uri="{FF2B5EF4-FFF2-40B4-BE49-F238E27FC236}">
                <a16:creationId xmlns:a16="http://schemas.microsoft.com/office/drawing/2014/main" id="{E7C64428-29F6-5EA8-CC81-0343F2EBB941}"/>
              </a:ext>
            </a:extLst>
          </p:cNvPr>
          <p:cNvSpPr>
            <a:spLocks noChangeArrowheads="1"/>
          </p:cNvSpPr>
          <p:nvPr/>
        </p:nvSpPr>
        <p:spPr bwMode="auto">
          <a:xfrm>
            <a:off x="581025" y="1228241"/>
            <a:ext cx="11353281" cy="793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lvl="0" indent="-285750" eaLnBrk="0" fontAlgn="base" hangingPunct="0">
              <a:lnSpc>
                <a:spcPct val="150000"/>
              </a:lnSpc>
              <a:spcBef>
                <a:spcPct val="0"/>
              </a:spcBef>
              <a:spcAft>
                <a:spcPct val="0"/>
              </a:spcAft>
              <a:buFont typeface="Wingdings" panose="05000000000000000000" pitchFamily="2" charset="2"/>
              <a:buChar char="v"/>
            </a:pPr>
            <a:r>
              <a:rPr lang="en-US" altLang="ko-KR" sz="1600" dirty="0">
                <a:latin typeface="D2Coding" panose="020B0609020101020101" pitchFamily="49" charset="-127"/>
                <a:ea typeface="D2Coding" panose="020B0609020101020101" pitchFamily="49" charset="-127"/>
                <a:hlinkClick r:id="rId2" tooltip="GitHub">
                  <a:extLst>
                    <a:ext uri="{A12FA001-AC4F-418D-AE19-62706E023703}">
                      <ahyp:hlinkClr xmlns:ahyp="http://schemas.microsoft.com/office/drawing/2018/hyperlinkcolor" val="tx"/>
                    </a:ext>
                  </a:extLst>
                </a:hlinkClick>
              </a:rPr>
              <a:t>GitHub</a:t>
            </a:r>
            <a:r>
              <a:rPr lang="ko-KR" altLang="en-US" sz="1600" dirty="0">
                <a:latin typeface="D2Coding" panose="020B0609020101020101" pitchFamily="49" charset="-127"/>
                <a:ea typeface="D2Coding" panose="020B0609020101020101" pitchFamily="49" charset="-127"/>
              </a:rPr>
              <a:t>이 제공하는 </a:t>
            </a:r>
            <a:r>
              <a:rPr lang="en-US" altLang="ko-KR" sz="1600" dirty="0">
                <a:latin typeface="D2Coding" panose="020B0609020101020101" pitchFamily="49" charset="-127"/>
                <a:ea typeface="D2Coding" panose="020B0609020101020101" pitchFamily="49" charset="-127"/>
                <a:hlinkClick r:id="rId3" tooltip="Visual Studio Code">
                  <a:extLst>
                    <a:ext uri="{A12FA001-AC4F-418D-AE19-62706E023703}">
                      <ahyp:hlinkClr xmlns:ahyp="http://schemas.microsoft.com/office/drawing/2018/hyperlinkcolor" val="tx"/>
                    </a:ext>
                  </a:extLst>
                </a:hlinkClick>
              </a:rPr>
              <a:t>Visual Studio Code</a:t>
            </a:r>
            <a:r>
              <a:rPr lang="ko-KR" altLang="en-US" sz="1600" dirty="0">
                <a:latin typeface="D2Coding" panose="020B0609020101020101" pitchFamily="49" charset="-127"/>
                <a:ea typeface="D2Coding" panose="020B0609020101020101" pitchFamily="49" charset="-127"/>
              </a:rPr>
              <a:t> 기반 클라우드 서비스로</a:t>
            </a:r>
            <a:r>
              <a:rPr lang="en-US" altLang="ko-KR"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hlinkClick r:id="rId4" tooltip="GitHub/저장소">
                  <a:extLst>
                    <a:ext uri="{A12FA001-AC4F-418D-AE19-62706E023703}">
                      <ahyp:hlinkClr xmlns:ahyp="http://schemas.microsoft.com/office/drawing/2018/hyperlinkcolor" val="tx"/>
                    </a:ext>
                  </a:extLst>
                </a:hlinkClick>
              </a:rPr>
              <a:t>GitHub </a:t>
            </a:r>
            <a:r>
              <a:rPr lang="ko-KR" altLang="en-US" sz="1600" dirty="0">
                <a:latin typeface="D2Coding" panose="020B0609020101020101" pitchFamily="49" charset="-127"/>
                <a:ea typeface="D2Coding" panose="020B0609020101020101" pitchFamily="49" charset="-127"/>
                <a:hlinkClick r:id="rId4" tooltip="GitHub/저장소">
                  <a:extLst>
                    <a:ext uri="{A12FA001-AC4F-418D-AE19-62706E023703}">
                      <ahyp:hlinkClr xmlns:ahyp="http://schemas.microsoft.com/office/drawing/2018/hyperlinkcolor" val="tx"/>
                    </a:ext>
                  </a:extLst>
                </a:hlinkClick>
              </a:rPr>
              <a:t>저장소</a:t>
            </a:r>
            <a:r>
              <a:rPr lang="ko-KR" altLang="en-US" sz="1600" dirty="0">
                <a:latin typeface="D2Coding" panose="020B0609020101020101" pitchFamily="49" charset="-127"/>
                <a:ea typeface="D2Coding" panose="020B0609020101020101" pitchFamily="49" charset="-127"/>
              </a:rPr>
              <a:t> 내의 코드를 편집할 수 있는 </a:t>
            </a:r>
            <a:r>
              <a:rPr lang="ko-KR" altLang="en-US" sz="1600" dirty="0">
                <a:latin typeface="D2Coding" panose="020B0609020101020101" pitchFamily="49" charset="-127"/>
                <a:ea typeface="D2Coding" panose="020B0609020101020101" pitchFamily="49" charset="-127"/>
                <a:hlinkClick r:id="rId5" tooltip="개발환경">
                  <a:extLst>
                    <a:ext uri="{A12FA001-AC4F-418D-AE19-62706E023703}">
                      <ahyp:hlinkClr xmlns:ahyp="http://schemas.microsoft.com/office/drawing/2018/hyperlinkcolor" val="tx"/>
                    </a:ext>
                  </a:extLst>
                </a:hlinkClick>
              </a:rPr>
              <a:t>개발환경</a:t>
            </a:r>
            <a:r>
              <a:rPr lang="ko-KR" altLang="en-US" sz="1600" dirty="0">
                <a:latin typeface="D2Coding" panose="020B0609020101020101" pitchFamily="49" charset="-127"/>
                <a:ea typeface="D2Coding" panose="020B0609020101020101" pitchFamily="49" charset="-127"/>
              </a:rPr>
              <a:t>을 </a:t>
            </a:r>
            <a:r>
              <a:rPr lang="ko-KR" altLang="en-US" sz="1600" dirty="0">
                <a:latin typeface="D2Coding" panose="020B0609020101020101" pitchFamily="49" charset="-127"/>
                <a:ea typeface="D2Coding" panose="020B0609020101020101" pitchFamily="49" charset="-127"/>
                <a:hlinkClick r:id="rId6" tooltip="클라우드 컴퓨팅">
                  <a:extLst>
                    <a:ext uri="{A12FA001-AC4F-418D-AE19-62706E023703}">
                      <ahyp:hlinkClr xmlns:ahyp="http://schemas.microsoft.com/office/drawing/2018/hyperlinkcolor" val="tx"/>
                    </a:ext>
                  </a:extLst>
                </a:hlinkClick>
              </a:rPr>
              <a:t>클라우드</a:t>
            </a:r>
            <a:r>
              <a:rPr lang="ko-KR" altLang="en-US" sz="1600" dirty="0">
                <a:latin typeface="D2Coding" panose="020B0609020101020101" pitchFamily="49" charset="-127"/>
                <a:ea typeface="D2Coding" panose="020B0609020101020101" pitchFamily="49" charset="-127"/>
              </a:rPr>
              <a:t>에 구성해 원격으로 접속할 수 있는 가상 </a:t>
            </a:r>
            <a:r>
              <a:rPr lang="ko-KR" altLang="en-US" sz="1600" dirty="0">
                <a:latin typeface="D2Coding" panose="020B0609020101020101" pitchFamily="49" charset="-127"/>
                <a:ea typeface="D2Coding" panose="020B0609020101020101" pitchFamily="49" charset="-127"/>
                <a:hlinkClick r:id="rId7" tooltip="통합 개발 환경">
                  <a:extLst>
                    <a:ext uri="{A12FA001-AC4F-418D-AE19-62706E023703}">
                      <ahyp:hlinkClr xmlns:ahyp="http://schemas.microsoft.com/office/drawing/2018/hyperlinkcolor" val="tx"/>
                    </a:ext>
                  </a:extLst>
                </a:hlinkClick>
              </a:rPr>
              <a:t>통합 개발 환경</a:t>
            </a:r>
            <a:endParaRPr lang="ko-KR" altLang="ko-KR" sz="1600" dirty="0">
              <a:latin typeface="D2Coding" panose="020B0609020101020101" pitchFamily="49" charset="-127"/>
              <a:ea typeface="D2Coding" panose="020B0609020101020101" pitchFamily="49" charset="-127"/>
            </a:endParaRPr>
          </a:p>
        </p:txBody>
      </p:sp>
      <p:sp>
        <p:nvSpPr>
          <p:cNvPr id="4" name="AutoShape 2" descr="codespaces-diagr...">
            <a:extLst>
              <a:ext uri="{FF2B5EF4-FFF2-40B4-BE49-F238E27FC236}">
                <a16:creationId xmlns:a16="http://schemas.microsoft.com/office/drawing/2014/main" id="{8BA51481-8FCF-1F90-6F29-2A12E77296A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9" name="그림 8">
            <a:extLst>
              <a:ext uri="{FF2B5EF4-FFF2-40B4-BE49-F238E27FC236}">
                <a16:creationId xmlns:a16="http://schemas.microsoft.com/office/drawing/2014/main" id="{87A7C590-F4C2-6337-351B-A49F55F4D383}"/>
              </a:ext>
            </a:extLst>
          </p:cNvPr>
          <p:cNvPicPr>
            <a:picLocks noChangeAspect="1"/>
          </p:cNvPicPr>
          <p:nvPr/>
        </p:nvPicPr>
        <p:blipFill>
          <a:blip r:embed="rId8"/>
          <a:stretch>
            <a:fillRect/>
          </a:stretch>
        </p:blipFill>
        <p:spPr>
          <a:xfrm>
            <a:off x="2777334" y="2184725"/>
            <a:ext cx="6332531" cy="4322524"/>
          </a:xfrm>
          <a:prstGeom prst="rect">
            <a:avLst/>
          </a:prstGeom>
        </p:spPr>
      </p:pic>
    </p:spTree>
    <p:extLst>
      <p:ext uri="{BB962C8B-B14F-4D97-AF65-F5344CB8AC3E}">
        <p14:creationId xmlns:p14="http://schemas.microsoft.com/office/powerpoint/2010/main" val="224902881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01277-9A88-504F-5FAA-39319118359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73F94AF-1626-69A4-4C1D-8C37A04FE2D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Linux</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58F14F2A-AFC4-ED2F-58BA-29DD27630EDC}"/>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543B6768-0300-4858-09FE-DAAE8BD7A798}"/>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59</a:t>
            </a:fld>
            <a:endParaRPr lang="en-US" b="1" dirty="0">
              <a:latin typeface="Segoe UI Emoji" panose="020B0502040204020203" pitchFamily="34" charset="0"/>
              <a:ea typeface="Segoe UI Emoji" panose="020B0502040204020203" pitchFamily="34" charset="0"/>
            </a:endParaRPr>
          </a:p>
        </p:txBody>
      </p:sp>
      <p:pic>
        <p:nvPicPr>
          <p:cNvPr id="9" name="그림 8">
            <a:extLst>
              <a:ext uri="{FF2B5EF4-FFF2-40B4-BE49-F238E27FC236}">
                <a16:creationId xmlns:a16="http://schemas.microsoft.com/office/drawing/2014/main" id="{5356D100-5BEC-9993-1A67-E434265B0A20}"/>
              </a:ext>
            </a:extLst>
          </p:cNvPr>
          <p:cNvPicPr>
            <a:picLocks noChangeAspect="1"/>
          </p:cNvPicPr>
          <p:nvPr/>
        </p:nvPicPr>
        <p:blipFill>
          <a:blip r:embed="rId2"/>
          <a:stretch>
            <a:fillRect/>
          </a:stretch>
        </p:blipFill>
        <p:spPr>
          <a:xfrm>
            <a:off x="1118710" y="1867783"/>
            <a:ext cx="10438823" cy="4157397"/>
          </a:xfrm>
          <a:prstGeom prst="rect">
            <a:avLst/>
          </a:prstGeom>
        </p:spPr>
      </p:pic>
      <p:sp>
        <p:nvSpPr>
          <p:cNvPr id="5" name="TextBox 4">
            <a:extLst>
              <a:ext uri="{FF2B5EF4-FFF2-40B4-BE49-F238E27FC236}">
                <a16:creationId xmlns:a16="http://schemas.microsoft.com/office/drawing/2014/main" id="{272AA199-28E0-B14F-DEED-0EE84441D7EC}"/>
              </a:ext>
            </a:extLst>
          </p:cNvPr>
          <p:cNvSpPr txBox="1"/>
          <p:nvPr/>
        </p:nvSpPr>
        <p:spPr>
          <a:xfrm>
            <a:off x="561975" y="1320931"/>
            <a:ext cx="6096000" cy="369332"/>
          </a:xfrm>
          <a:prstGeom prst="rect">
            <a:avLst/>
          </a:prstGeom>
          <a:solidFill>
            <a:srgbClr val="FF0000"/>
          </a:solidFill>
        </p:spPr>
        <p:txBody>
          <a:bodyPr wrap="square">
            <a:spAutoFit/>
          </a:bodyPr>
          <a:lstStyle/>
          <a:p>
            <a:r>
              <a:rPr lang="ko-KR" altLang="en-US" dirty="0" err="1">
                <a:solidFill>
                  <a:schemeClr val="bg1"/>
                </a:solidFill>
              </a:rPr>
              <a:t>Linux</a:t>
            </a:r>
            <a:r>
              <a:rPr lang="ko-KR" altLang="en-US" dirty="0">
                <a:solidFill>
                  <a:schemeClr val="bg1"/>
                </a:solidFill>
              </a:rPr>
              <a:t> System.pptx</a:t>
            </a:r>
          </a:p>
        </p:txBody>
      </p:sp>
    </p:spTree>
    <p:extLst>
      <p:ext uri="{BB962C8B-B14F-4D97-AF65-F5344CB8AC3E}">
        <p14:creationId xmlns:p14="http://schemas.microsoft.com/office/powerpoint/2010/main" val="162217742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434CE3-2724-28A6-9699-5C4F247AA5DD}"/>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D6941EB2-FD8B-3629-F2DB-1ADCA17A11B1}"/>
              </a:ext>
            </a:extLst>
          </p:cNvPr>
          <p:cNvSpPr>
            <a:spLocks noGrp="1"/>
          </p:cNvSpPr>
          <p:nvPr>
            <p:ph type="ctrTitle"/>
          </p:nvPr>
        </p:nvSpPr>
        <p:spPr>
          <a:xfrm>
            <a:off x="838199" y="1164324"/>
            <a:ext cx="10934701" cy="2387600"/>
          </a:xfrm>
        </p:spPr>
        <p:txBody>
          <a:bodyPr rtlCol="0" anchor="ctr" anchorCtr="0">
            <a:normAutofit/>
          </a:bodyPr>
          <a:lstStyle/>
          <a:p>
            <a:r>
              <a:rPr lang="en-US" altLang="ko-KR" sz="5400" dirty="0">
                <a:solidFill>
                  <a:schemeClr val="bg1"/>
                </a:solidFill>
                <a:latin typeface="D2Coding" panose="020B0609020101020101" pitchFamily="49" charset="-127"/>
                <a:ea typeface="D2Coding" panose="020B0609020101020101" pitchFamily="49" charset="-127"/>
              </a:rPr>
              <a:t>Apache Airflow</a:t>
            </a:r>
            <a:endParaRPr lang="ko-KR" altLang="en-US" sz="5400" dirty="0">
              <a:solidFill>
                <a:schemeClr val="bg1"/>
              </a:solidFill>
              <a:latin typeface="D2Coding" panose="020B0609020101020101" pitchFamily="49" charset="-127"/>
              <a:ea typeface="D2Coding" panose="020B0609020101020101" pitchFamily="49" charset="-127"/>
            </a:endParaRPr>
          </a:p>
        </p:txBody>
      </p:sp>
      <p:sp>
        <p:nvSpPr>
          <p:cNvPr id="5" name="부제목 2">
            <a:extLst>
              <a:ext uri="{FF2B5EF4-FFF2-40B4-BE49-F238E27FC236}">
                <a16:creationId xmlns:a16="http://schemas.microsoft.com/office/drawing/2014/main" id="{96C0A9A7-5201-41CE-B556-6C2A634ED8AA}"/>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latin typeface="D2Coding" panose="020B0609020101020101" pitchFamily="49" charset="-127"/>
                <a:ea typeface="D2Coding" panose="020B0609020101020101" pitchFamily="49" charset="-127"/>
              </a:rPr>
              <a:t>2026 Fall</a:t>
            </a:r>
          </a:p>
          <a:p>
            <a:r>
              <a:rPr lang="ko-KR" altLang="en-US" sz="2400" dirty="0" err="1">
                <a:solidFill>
                  <a:schemeClr val="bg1"/>
                </a:solidFill>
                <a:latin typeface="D2Coding" panose="020B0609020101020101" pitchFamily="49" charset="-127"/>
                <a:ea typeface="D2Coding" panose="020B0609020101020101" pitchFamily="49" charset="-127"/>
              </a:rPr>
              <a:t>조상구교수</a:t>
            </a:r>
            <a:endParaRPr lang="en-US" altLang="ko-KR" sz="2400" dirty="0">
              <a:solidFill>
                <a:schemeClr val="bg1"/>
              </a:solidFill>
              <a:latin typeface="D2Coding" panose="020B0609020101020101" pitchFamily="49" charset="-127"/>
              <a:ea typeface="D2Coding" panose="020B0609020101020101" pitchFamily="49" charset="-127"/>
            </a:endParaRPr>
          </a:p>
        </p:txBody>
      </p:sp>
      <p:sp>
        <p:nvSpPr>
          <p:cNvPr id="3" name="TextBox 2">
            <a:extLst>
              <a:ext uri="{FF2B5EF4-FFF2-40B4-BE49-F238E27FC236}">
                <a16:creationId xmlns:a16="http://schemas.microsoft.com/office/drawing/2014/main" id="{D7A63A90-C263-64E6-28E4-C072CF6E8D7D}"/>
              </a:ext>
            </a:extLst>
          </p:cNvPr>
          <p:cNvSpPr txBox="1"/>
          <p:nvPr/>
        </p:nvSpPr>
        <p:spPr>
          <a:xfrm>
            <a:off x="855620" y="2752872"/>
            <a:ext cx="9374230" cy="465320"/>
          </a:xfrm>
          <a:prstGeom prst="rect">
            <a:avLst/>
          </a:prstGeom>
          <a:noFill/>
        </p:spPr>
        <p:txBody>
          <a:bodyPr wrap="square">
            <a:spAutoFit/>
          </a:bodyPr>
          <a:lstStyle/>
          <a:p>
            <a:pPr marL="285750" indent="-285750">
              <a:lnSpc>
                <a:spcPct val="150000"/>
              </a:lnSpc>
              <a:buFont typeface="Wingdings" panose="05000000000000000000" pitchFamily="2" charset="2"/>
              <a:buChar char="ü"/>
            </a:pPr>
            <a:r>
              <a:rPr lang="en-US" altLang="ko-KR" dirty="0">
                <a:solidFill>
                  <a:schemeClr val="bg1"/>
                </a:solidFill>
                <a:latin typeface="D2Coding" panose="020B0609020101020101" pitchFamily="49" charset="-127"/>
                <a:ea typeface="D2Coding" panose="020B0609020101020101" pitchFamily="49" charset="-127"/>
              </a:rPr>
              <a:t>Workflow Automation</a:t>
            </a:r>
          </a:p>
        </p:txBody>
      </p:sp>
    </p:spTree>
    <p:extLst>
      <p:ext uri="{BB962C8B-B14F-4D97-AF65-F5344CB8AC3E}">
        <p14:creationId xmlns:p14="http://schemas.microsoft.com/office/powerpoint/2010/main" val="36359761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8AA46-FDE1-7FFE-7FA9-DF236D68A4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7A62FEF-35EE-36C6-7706-FB2E3546710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Apache Airflow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51273801-4693-3C9E-328C-56B7463C64A9}"/>
              </a:ext>
            </a:extLst>
          </p:cNvPr>
          <p:cNvSpPr txBox="1"/>
          <p:nvPr/>
        </p:nvSpPr>
        <p:spPr>
          <a:xfrm>
            <a:off x="744020" y="3244334"/>
            <a:ext cx="184731" cy="369332"/>
          </a:xfrm>
          <a:prstGeom prst="rect">
            <a:avLst/>
          </a:prstGeom>
          <a:noFill/>
        </p:spPr>
        <p:txBody>
          <a:bodyPr wrap="none" rtlCol="0">
            <a:spAutoFit/>
          </a:bodyPr>
          <a:lstStyle/>
          <a:p>
            <a:endParaRPr lang="ko-KR" altLang="en-US" dirty="0">
              <a:solidFill>
                <a:schemeClr val="accent5"/>
              </a:solidFill>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F4898D9-988A-2F9B-9C63-0357DA2B64AD}"/>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61</a:t>
            </a:fld>
            <a:endParaRPr lang="en-US" b="1" dirty="0">
              <a:latin typeface="Segoe UI Emoji" panose="020B0502040204020203" pitchFamily="34" charset="0"/>
              <a:ea typeface="Segoe UI Emoji" panose="020B0502040204020203" pitchFamily="34" charset="0"/>
            </a:endParaRPr>
          </a:p>
        </p:txBody>
      </p:sp>
      <p:pic>
        <p:nvPicPr>
          <p:cNvPr id="10" name="그래픽 9" descr="수영">
            <a:extLst>
              <a:ext uri="{FF2B5EF4-FFF2-40B4-BE49-F238E27FC236}">
                <a16:creationId xmlns:a16="http://schemas.microsoft.com/office/drawing/2014/main" id="{62A705E5-F0F2-1BA0-A48C-1629D01549D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85980" y="373930"/>
            <a:ext cx="914400" cy="914400"/>
          </a:xfrm>
          <a:prstGeom prst="rect">
            <a:avLst/>
          </a:prstGeom>
        </p:spPr>
      </p:pic>
      <p:pic>
        <p:nvPicPr>
          <p:cNvPr id="6" name="그림 5">
            <a:extLst>
              <a:ext uri="{FF2B5EF4-FFF2-40B4-BE49-F238E27FC236}">
                <a16:creationId xmlns:a16="http://schemas.microsoft.com/office/drawing/2014/main" id="{876C1C24-AFB2-E59D-AD58-0E106CBD0C9A}"/>
              </a:ext>
            </a:extLst>
          </p:cNvPr>
          <p:cNvPicPr>
            <a:picLocks noChangeAspect="1"/>
          </p:cNvPicPr>
          <p:nvPr/>
        </p:nvPicPr>
        <p:blipFill>
          <a:blip r:embed="rId3"/>
          <a:stretch>
            <a:fillRect/>
          </a:stretch>
        </p:blipFill>
        <p:spPr>
          <a:xfrm>
            <a:off x="1089558" y="2007555"/>
            <a:ext cx="10467975" cy="4169008"/>
          </a:xfrm>
          <a:prstGeom prst="rect">
            <a:avLst/>
          </a:prstGeom>
        </p:spPr>
      </p:pic>
      <p:sp>
        <p:nvSpPr>
          <p:cNvPr id="7" name="TextBox 6">
            <a:extLst>
              <a:ext uri="{FF2B5EF4-FFF2-40B4-BE49-F238E27FC236}">
                <a16:creationId xmlns:a16="http://schemas.microsoft.com/office/drawing/2014/main" id="{238630BA-9DB0-92E3-F5F8-F7556B141E78}"/>
              </a:ext>
            </a:extLst>
          </p:cNvPr>
          <p:cNvSpPr txBox="1"/>
          <p:nvPr/>
        </p:nvSpPr>
        <p:spPr>
          <a:xfrm>
            <a:off x="591620" y="1288330"/>
            <a:ext cx="3094555" cy="369332"/>
          </a:xfrm>
          <a:prstGeom prst="rect">
            <a:avLst/>
          </a:prstGeom>
          <a:solidFill>
            <a:srgbClr val="FF0000"/>
          </a:solidFill>
        </p:spPr>
        <p:txBody>
          <a:bodyPr wrap="square">
            <a:spAutoFit/>
          </a:bodyPr>
          <a:lstStyle/>
          <a:p>
            <a:r>
              <a:rPr lang="ko-KR" altLang="en-US" dirty="0">
                <a:solidFill>
                  <a:schemeClr val="bg1"/>
                </a:solidFill>
                <a:latin typeface="D2Coding" panose="020B0609020101020101" pitchFamily="49" charset="-127"/>
                <a:ea typeface="D2Coding" panose="020B0609020101020101" pitchFamily="49" charset="-127"/>
              </a:rPr>
              <a:t>WSL2-docker_airflow.pptx</a:t>
            </a:r>
          </a:p>
        </p:txBody>
      </p:sp>
    </p:spTree>
    <p:extLst>
      <p:ext uri="{BB962C8B-B14F-4D97-AF65-F5344CB8AC3E}">
        <p14:creationId xmlns:p14="http://schemas.microsoft.com/office/powerpoint/2010/main" val="11276573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pic>
        <p:nvPicPr>
          <p:cNvPr id="453" name="Google Shape;453;p30"/>
          <p:cNvPicPr preferRelativeResize="0"/>
          <p:nvPr/>
        </p:nvPicPr>
        <p:blipFill rotWithShape="1">
          <a:blip r:embed="rId3">
            <a:alphaModFix/>
          </a:blip>
          <a:srcRect/>
          <a:stretch/>
        </p:blipFill>
        <p:spPr>
          <a:xfrm>
            <a:off x="645459" y="1357808"/>
            <a:ext cx="5217459" cy="2121969"/>
          </a:xfrm>
          <a:prstGeom prst="rect">
            <a:avLst/>
          </a:prstGeom>
          <a:noFill/>
          <a:ln>
            <a:noFill/>
          </a:ln>
        </p:spPr>
      </p:pic>
      <p:pic>
        <p:nvPicPr>
          <p:cNvPr id="455" name="Google Shape;455;p30"/>
          <p:cNvPicPr preferRelativeResize="0"/>
          <p:nvPr/>
        </p:nvPicPr>
        <p:blipFill rotWithShape="1">
          <a:blip r:embed="rId4">
            <a:alphaModFix/>
          </a:blip>
          <a:srcRect/>
          <a:stretch/>
        </p:blipFill>
        <p:spPr>
          <a:xfrm>
            <a:off x="2056558" y="3636788"/>
            <a:ext cx="7948054" cy="2968550"/>
          </a:xfrm>
          <a:prstGeom prst="rect">
            <a:avLst/>
          </a:prstGeom>
          <a:noFill/>
          <a:ln>
            <a:noFill/>
          </a:ln>
        </p:spPr>
      </p:pic>
      <p:pic>
        <p:nvPicPr>
          <p:cNvPr id="454" name="Google Shape;454;p30"/>
          <p:cNvPicPr preferRelativeResize="0"/>
          <p:nvPr/>
        </p:nvPicPr>
        <p:blipFill rotWithShape="1">
          <a:blip r:embed="rId5">
            <a:alphaModFix/>
          </a:blip>
          <a:srcRect/>
          <a:stretch/>
        </p:blipFill>
        <p:spPr>
          <a:xfrm>
            <a:off x="6167718" y="1357808"/>
            <a:ext cx="4231564" cy="2366467"/>
          </a:xfrm>
          <a:prstGeom prst="rect">
            <a:avLst/>
          </a:prstGeom>
          <a:noFill/>
          <a:ln>
            <a:noFill/>
          </a:ln>
        </p:spPr>
      </p:pic>
      <p:sp>
        <p:nvSpPr>
          <p:cNvPr id="4" name="제목 1">
            <a:extLst>
              <a:ext uri="{FF2B5EF4-FFF2-40B4-BE49-F238E27FC236}">
                <a16:creationId xmlns:a16="http://schemas.microsoft.com/office/drawing/2014/main" id="{E4A340BF-22FB-7DBB-F75C-9AF673DF8F2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Apache Airflow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슬라이드 번호 개체 틀 3">
            <a:extLst>
              <a:ext uri="{FF2B5EF4-FFF2-40B4-BE49-F238E27FC236}">
                <a16:creationId xmlns:a16="http://schemas.microsoft.com/office/drawing/2014/main" id="{96D44355-1EC3-F684-98BB-1F306B8FE2CC}"/>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62</a:t>
            </a:fld>
            <a:endParaRPr lang="en-US" b="1" dirty="0">
              <a:latin typeface="Segoe UI Emoji" panose="020B0502040204020203" pitchFamily="34" charset="0"/>
              <a:ea typeface="Segoe UI Emoji" panose="020B0502040204020203" pitchFamily="34" charset="0"/>
            </a:endParaRPr>
          </a:p>
        </p:txBody>
      </p:sp>
      <p:pic>
        <p:nvPicPr>
          <p:cNvPr id="6" name="그래픽 5" descr="수영">
            <a:extLst>
              <a:ext uri="{FF2B5EF4-FFF2-40B4-BE49-F238E27FC236}">
                <a16:creationId xmlns:a16="http://schemas.microsoft.com/office/drawing/2014/main" id="{B7DFFE2F-DC25-3914-A692-9A10F94598E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85980" y="373930"/>
            <a:ext cx="914400" cy="914400"/>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pic>
        <p:nvPicPr>
          <p:cNvPr id="462" name="Google Shape;462;p31"/>
          <p:cNvPicPr preferRelativeResize="0"/>
          <p:nvPr/>
        </p:nvPicPr>
        <p:blipFill rotWithShape="1">
          <a:blip r:embed="rId3">
            <a:alphaModFix/>
          </a:blip>
          <a:srcRect/>
          <a:stretch/>
        </p:blipFill>
        <p:spPr>
          <a:xfrm>
            <a:off x="840462" y="3533724"/>
            <a:ext cx="5143500" cy="2085975"/>
          </a:xfrm>
          <a:prstGeom prst="rect">
            <a:avLst/>
          </a:prstGeom>
          <a:noFill/>
          <a:ln>
            <a:noFill/>
          </a:ln>
        </p:spPr>
      </p:pic>
      <p:pic>
        <p:nvPicPr>
          <p:cNvPr id="463" name="Google Shape;463;p31"/>
          <p:cNvPicPr preferRelativeResize="0"/>
          <p:nvPr/>
        </p:nvPicPr>
        <p:blipFill rotWithShape="1">
          <a:blip r:embed="rId4">
            <a:alphaModFix/>
          </a:blip>
          <a:srcRect/>
          <a:stretch/>
        </p:blipFill>
        <p:spPr>
          <a:xfrm>
            <a:off x="7538476" y="3533724"/>
            <a:ext cx="3228975" cy="2162175"/>
          </a:xfrm>
          <a:prstGeom prst="rect">
            <a:avLst/>
          </a:prstGeom>
          <a:noFill/>
          <a:ln>
            <a:noFill/>
          </a:ln>
        </p:spPr>
      </p:pic>
      <p:sp>
        <p:nvSpPr>
          <p:cNvPr id="464" name="Google Shape;464;p31"/>
          <p:cNvSpPr txBox="1"/>
          <p:nvPr/>
        </p:nvSpPr>
        <p:spPr>
          <a:xfrm>
            <a:off x="7538476" y="3021458"/>
            <a:ext cx="3594847"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a:latin typeface="D2Coding" panose="020B0609020101020101" pitchFamily="49" charset="-127"/>
                <a:ea typeface="D2Coding" panose="020B0609020101020101" pitchFamily="49" charset="-127"/>
                <a:cs typeface="Arial"/>
                <a:sym typeface="Arial"/>
              </a:rPr>
              <a:t>DAG(Directed Acyclic Graph)</a:t>
            </a:r>
            <a:endParaRPr sz="1800">
              <a:latin typeface="D2Coding" panose="020B0609020101020101" pitchFamily="49" charset="-127"/>
              <a:ea typeface="D2Coding" panose="020B0609020101020101" pitchFamily="49" charset="-127"/>
              <a:cs typeface="Sorts Mill Goudy"/>
              <a:sym typeface="Sorts Mill Goudy"/>
            </a:endParaRPr>
          </a:p>
        </p:txBody>
      </p:sp>
      <p:sp>
        <p:nvSpPr>
          <p:cNvPr id="465" name="Google Shape;465;p31"/>
          <p:cNvSpPr txBox="1"/>
          <p:nvPr/>
        </p:nvSpPr>
        <p:spPr>
          <a:xfrm>
            <a:off x="2313974" y="3021458"/>
            <a:ext cx="2912449" cy="3693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a:latin typeface="D2Coding" panose="020B0609020101020101" pitchFamily="49" charset="-127"/>
                <a:ea typeface="D2Coding" panose="020B0609020101020101" pitchFamily="49" charset="-127"/>
                <a:cs typeface="Arial"/>
                <a:sym typeface="Arial"/>
              </a:rPr>
              <a:t>Negative Graph</a:t>
            </a:r>
            <a:endParaRPr sz="1800">
              <a:latin typeface="D2Coding" panose="020B0609020101020101" pitchFamily="49" charset="-127"/>
              <a:ea typeface="D2Coding" panose="020B0609020101020101" pitchFamily="49" charset="-127"/>
              <a:cs typeface="Sorts Mill Goudy"/>
              <a:sym typeface="Sorts Mill Goudy"/>
            </a:endParaRPr>
          </a:p>
        </p:txBody>
      </p:sp>
      <p:sp>
        <p:nvSpPr>
          <p:cNvPr id="466" name="Google Shape;466;p31"/>
          <p:cNvSpPr txBox="1"/>
          <p:nvPr/>
        </p:nvSpPr>
        <p:spPr>
          <a:xfrm>
            <a:off x="840462" y="5564924"/>
            <a:ext cx="6096000" cy="30777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400" u="sng">
                <a:solidFill>
                  <a:schemeClr val="lt1"/>
                </a:solidFill>
                <a:latin typeface="Sorts Mill Goudy"/>
                <a:ea typeface="Sorts Mill Goudy"/>
                <a:cs typeface="Sorts Mill Goudy"/>
                <a:sym typeface="Sorts Mill Goudy"/>
                <a:hlinkClick r:id="rId5">
                  <a:extLst>
                    <a:ext uri="{A12FA001-AC4F-418D-AE19-62706E023703}">
                      <ahyp:hlinkClr xmlns:ahyp="http://schemas.microsoft.com/office/drawing/2018/hyperlinkcolor" val="tx"/>
                    </a:ext>
                  </a:extLst>
                </a:hlinkClick>
              </a:rPr>
              <a:t>https://steemit.com/dag/@cryptodreamers/dag-dag-directed-acyclic-graph</a:t>
            </a:r>
            <a:r>
              <a:rPr lang="en-US" sz="1400">
                <a:solidFill>
                  <a:schemeClr val="lt1"/>
                </a:solidFill>
                <a:latin typeface="Sorts Mill Goudy"/>
                <a:ea typeface="Sorts Mill Goudy"/>
                <a:cs typeface="Sorts Mill Goudy"/>
                <a:sym typeface="Sorts Mill Goudy"/>
              </a:rPr>
              <a:t> </a:t>
            </a:r>
            <a:endParaRPr/>
          </a:p>
        </p:txBody>
      </p:sp>
      <p:sp>
        <p:nvSpPr>
          <p:cNvPr id="467" name="Google Shape;467;p31"/>
          <p:cNvSpPr txBox="1"/>
          <p:nvPr/>
        </p:nvSpPr>
        <p:spPr>
          <a:xfrm>
            <a:off x="490817" y="1296293"/>
            <a:ext cx="10967757" cy="92333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latin typeface="D2Coding" panose="020B0609020101020101" pitchFamily="49" charset="-127"/>
                <a:ea typeface="D2Coding" panose="020B0609020101020101" pitchFamily="49" charset="-127"/>
                <a:cs typeface="Sorts Mill Goudy"/>
                <a:sym typeface="Sorts Mill Goudy"/>
              </a:rPr>
              <a:t>The Directed Acyclic Graph (DAG) </a:t>
            </a:r>
            <a:r>
              <a:rPr lang="en-US" sz="1800">
                <a:latin typeface="D2Coding" panose="020B0609020101020101" pitchFamily="49" charset="-127"/>
                <a:ea typeface="D2Coding" panose="020B0609020101020101" pitchFamily="49" charset="-127"/>
                <a:cs typeface="Sorts Mill Goudy"/>
                <a:sym typeface="Sorts Mill Goudy"/>
              </a:rPr>
              <a:t>is a </a:t>
            </a:r>
            <a:r>
              <a:rPr lang="en-US" sz="1800" u="sng">
                <a:latin typeface="D2Coding" panose="020B0609020101020101" pitchFamily="49" charset="-127"/>
                <a:ea typeface="D2Coding" panose="020B0609020101020101" pitchFamily="49" charset="-127"/>
                <a:cs typeface="Sorts Mill Goudy"/>
                <a:sym typeface="Sorts Mill Goudy"/>
                <a:hlinkClick r:id="rId6">
                  <a:extLst>
                    <a:ext uri="{A12FA001-AC4F-418D-AE19-62706E023703}">
                      <ahyp:hlinkClr xmlns:ahyp="http://schemas.microsoft.com/office/drawing/2018/hyperlinkcolor" val="tx"/>
                    </a:ext>
                  </a:extLst>
                </a:hlinkClick>
              </a:rPr>
              <a:t>directed graph</a:t>
            </a:r>
            <a:r>
              <a:rPr lang="en-US" sz="1800">
                <a:latin typeface="D2Coding" panose="020B0609020101020101" pitchFamily="49" charset="-127"/>
                <a:ea typeface="D2Coding" panose="020B0609020101020101" pitchFamily="49" charset="-127"/>
                <a:cs typeface="Sorts Mill Goudy"/>
                <a:sym typeface="Sorts Mill Goudy"/>
              </a:rPr>
              <a:t> with no </a:t>
            </a:r>
            <a:r>
              <a:rPr lang="en-US" sz="1800" u="sng">
                <a:latin typeface="D2Coding" panose="020B0609020101020101" pitchFamily="49" charset="-127"/>
                <a:ea typeface="D2Coding" panose="020B0609020101020101" pitchFamily="49" charset="-127"/>
                <a:cs typeface="Sorts Mill Goudy"/>
                <a:sym typeface="Sorts Mill Goudy"/>
                <a:hlinkClick r:id="rId7">
                  <a:extLst>
                    <a:ext uri="{A12FA001-AC4F-418D-AE19-62706E023703}">
                      <ahyp:hlinkClr xmlns:ahyp="http://schemas.microsoft.com/office/drawing/2018/hyperlinkcolor" val="tx"/>
                    </a:ext>
                  </a:extLst>
                </a:hlinkClick>
              </a:rPr>
              <a:t>directed cycles</a:t>
            </a:r>
            <a:r>
              <a:rPr lang="en-US" sz="1800">
                <a:latin typeface="D2Coding" panose="020B0609020101020101" pitchFamily="49" charset="-127"/>
                <a:ea typeface="D2Coding" panose="020B0609020101020101" pitchFamily="49" charset="-127"/>
                <a:cs typeface="Sorts Mill Goudy"/>
                <a:sym typeface="Sorts Mill Goudy"/>
              </a:rPr>
              <a:t>. That is, it consists of </a:t>
            </a:r>
            <a:r>
              <a:rPr lang="en-US" sz="1800" u="sng">
                <a:latin typeface="D2Coding" panose="020B0609020101020101" pitchFamily="49" charset="-127"/>
                <a:ea typeface="D2Coding" panose="020B0609020101020101" pitchFamily="49" charset="-127"/>
                <a:cs typeface="Sorts Mill Goudy"/>
                <a:sym typeface="Sorts Mill Goudy"/>
                <a:hlinkClick r:id="rId8">
                  <a:extLst>
                    <a:ext uri="{A12FA001-AC4F-418D-AE19-62706E023703}">
                      <ahyp:hlinkClr xmlns:ahyp="http://schemas.microsoft.com/office/drawing/2018/hyperlinkcolor" val="tx"/>
                    </a:ext>
                  </a:extLst>
                </a:hlinkClick>
              </a:rPr>
              <a:t>vertices</a:t>
            </a:r>
            <a:r>
              <a:rPr lang="en-US" sz="1800">
                <a:latin typeface="D2Coding" panose="020B0609020101020101" pitchFamily="49" charset="-127"/>
                <a:ea typeface="D2Coding" panose="020B0609020101020101" pitchFamily="49" charset="-127"/>
                <a:cs typeface="Sorts Mill Goudy"/>
                <a:sym typeface="Sorts Mill Goudy"/>
              </a:rPr>
              <a:t> and </a:t>
            </a:r>
            <a:r>
              <a:rPr lang="en-US" sz="1800" u="sng">
                <a:latin typeface="D2Coding" panose="020B0609020101020101" pitchFamily="49" charset="-127"/>
                <a:ea typeface="D2Coding" panose="020B0609020101020101" pitchFamily="49" charset="-127"/>
                <a:cs typeface="Sorts Mill Goudy"/>
                <a:sym typeface="Sorts Mill Goudy"/>
                <a:hlinkClick r:id="rId9">
                  <a:extLst>
                    <a:ext uri="{A12FA001-AC4F-418D-AE19-62706E023703}">
                      <ahyp:hlinkClr xmlns:ahyp="http://schemas.microsoft.com/office/drawing/2018/hyperlinkcolor" val="tx"/>
                    </a:ext>
                  </a:extLst>
                </a:hlinkClick>
              </a:rPr>
              <a:t>edges</a:t>
            </a:r>
            <a:r>
              <a:rPr lang="en-US" sz="1800">
                <a:latin typeface="D2Coding" panose="020B0609020101020101" pitchFamily="49" charset="-127"/>
                <a:ea typeface="D2Coding" panose="020B0609020101020101" pitchFamily="49" charset="-127"/>
                <a:cs typeface="Sorts Mill Goudy"/>
                <a:sym typeface="Sorts Mill Goudy"/>
              </a:rPr>
              <a:t> (also called arcs), with each edge directed from one vertex to another, such that following those directions will never form a closed loop.</a:t>
            </a:r>
            <a:endParaRPr sz="1800">
              <a:latin typeface="D2Coding" panose="020B0609020101020101" pitchFamily="49" charset="-127"/>
              <a:ea typeface="D2Coding" panose="020B0609020101020101" pitchFamily="49" charset="-127"/>
              <a:cs typeface="Sorts Mill Goudy"/>
              <a:sym typeface="Sorts Mill Goudy"/>
            </a:endParaRPr>
          </a:p>
        </p:txBody>
      </p:sp>
      <p:sp>
        <p:nvSpPr>
          <p:cNvPr id="4" name="제목 1">
            <a:extLst>
              <a:ext uri="{FF2B5EF4-FFF2-40B4-BE49-F238E27FC236}">
                <a16:creationId xmlns:a16="http://schemas.microsoft.com/office/drawing/2014/main" id="{070DC4F7-EA1D-D76D-9CD8-033374E5117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Apache Airflow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슬라이드 번호 개체 틀 3">
            <a:extLst>
              <a:ext uri="{FF2B5EF4-FFF2-40B4-BE49-F238E27FC236}">
                <a16:creationId xmlns:a16="http://schemas.microsoft.com/office/drawing/2014/main" id="{FC63DA0E-969C-C3BC-8268-0BA9060D8913}"/>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63</a:t>
            </a:fld>
            <a:endParaRPr lang="en-US" b="1" dirty="0">
              <a:latin typeface="Segoe UI Emoji" panose="020B0502040204020203" pitchFamily="34" charset="0"/>
              <a:ea typeface="Segoe UI Emoji" panose="020B0502040204020203" pitchFamily="34" charset="0"/>
            </a:endParaRPr>
          </a:p>
        </p:txBody>
      </p:sp>
      <p:pic>
        <p:nvPicPr>
          <p:cNvPr id="6" name="그래픽 5" descr="수영">
            <a:extLst>
              <a:ext uri="{FF2B5EF4-FFF2-40B4-BE49-F238E27FC236}">
                <a16:creationId xmlns:a16="http://schemas.microsoft.com/office/drawing/2014/main" id="{167A975D-EE24-9C89-6AD2-7654534A7AD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5980" y="373930"/>
            <a:ext cx="914400" cy="914400"/>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71"/>
        <p:cNvGrpSpPr/>
        <p:nvPr/>
      </p:nvGrpSpPr>
      <p:grpSpPr>
        <a:xfrm>
          <a:off x="0" y="0"/>
          <a:ext cx="0" cy="0"/>
          <a:chOff x="0" y="0"/>
          <a:chExt cx="0" cy="0"/>
        </a:xfrm>
      </p:grpSpPr>
      <p:pic>
        <p:nvPicPr>
          <p:cNvPr id="474" name="Google Shape;474;p32"/>
          <p:cNvPicPr preferRelativeResize="0"/>
          <p:nvPr/>
        </p:nvPicPr>
        <p:blipFill rotWithShape="1">
          <a:blip r:embed="rId3">
            <a:alphaModFix/>
          </a:blip>
          <a:srcRect/>
          <a:stretch/>
        </p:blipFill>
        <p:spPr>
          <a:xfrm>
            <a:off x="1333460" y="2388864"/>
            <a:ext cx="9983400" cy="3777786"/>
          </a:xfrm>
          <a:prstGeom prst="rect">
            <a:avLst/>
          </a:prstGeom>
          <a:noFill/>
          <a:ln>
            <a:noFill/>
          </a:ln>
        </p:spPr>
      </p:pic>
      <p:sp>
        <p:nvSpPr>
          <p:cNvPr id="475" name="Google Shape;475;p32"/>
          <p:cNvSpPr/>
          <p:nvPr/>
        </p:nvSpPr>
        <p:spPr>
          <a:xfrm>
            <a:off x="1035984" y="1577143"/>
            <a:ext cx="2232212" cy="625372"/>
          </a:xfrm>
          <a:prstGeom prst="rect">
            <a:avLst/>
          </a:prstGeom>
          <a:solidFill>
            <a:schemeClr val="tx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dirty="0">
                <a:solidFill>
                  <a:schemeClr val="bg1"/>
                </a:solidFill>
                <a:latin typeface="Sorts Mill Goudy"/>
                <a:ea typeface="Sorts Mill Goudy"/>
                <a:cs typeface="Sorts Mill Goudy"/>
                <a:sym typeface="Sorts Mill Goudy"/>
              </a:rPr>
              <a:t>Names of registered workflows</a:t>
            </a:r>
            <a:endParaRPr sz="1600" dirty="0">
              <a:solidFill>
                <a:schemeClr val="bg1"/>
              </a:solidFill>
              <a:latin typeface="Sorts Mill Goudy"/>
              <a:ea typeface="Sorts Mill Goudy"/>
              <a:cs typeface="Sorts Mill Goudy"/>
              <a:sym typeface="Sorts Mill Goudy"/>
            </a:endParaRPr>
          </a:p>
        </p:txBody>
      </p:sp>
      <p:cxnSp>
        <p:nvCxnSpPr>
          <p:cNvPr id="476" name="Google Shape;476;p32"/>
          <p:cNvCxnSpPr>
            <a:cxnSpLocks/>
            <a:stCxn id="477" idx="0"/>
            <a:endCxn id="475" idx="2"/>
          </p:cNvCxnSpPr>
          <p:nvPr/>
        </p:nvCxnSpPr>
        <p:spPr>
          <a:xfrm rot="5400000" flipH="1" flipV="1">
            <a:off x="354515" y="3999788"/>
            <a:ext cx="3594848" cy="302"/>
          </a:xfrm>
          <a:prstGeom prst="curvedConnector3">
            <a:avLst>
              <a:gd name="adj1" fmla="val 50000"/>
            </a:avLst>
          </a:prstGeom>
          <a:noFill/>
          <a:ln w="9525" cap="rnd" cmpd="sng">
            <a:solidFill>
              <a:srgbClr val="C27C0D"/>
            </a:solidFill>
            <a:prstDash val="solid"/>
            <a:round/>
            <a:headEnd type="none" w="sm" len="sm"/>
            <a:tailEnd type="triangle" w="med" len="med"/>
          </a:ln>
        </p:spPr>
      </p:cxnSp>
      <p:sp>
        <p:nvSpPr>
          <p:cNvPr id="478" name="Google Shape;478;p32"/>
          <p:cNvSpPr/>
          <p:nvPr/>
        </p:nvSpPr>
        <p:spPr>
          <a:xfrm>
            <a:off x="3761126" y="1520285"/>
            <a:ext cx="1610009" cy="582706"/>
          </a:xfrm>
          <a:prstGeom prst="rect">
            <a:avLst/>
          </a:prstGeom>
          <a:solidFill>
            <a:schemeClr val="tx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bg1"/>
                </a:solidFill>
                <a:latin typeface="Sorts Mill Goudy"/>
                <a:ea typeface="Sorts Mill Goudy"/>
                <a:cs typeface="Sorts Mill Goudy"/>
                <a:sym typeface="Sorts Mill Goudy"/>
              </a:rPr>
              <a:t>Workflow Schedules</a:t>
            </a:r>
            <a:endParaRPr sz="1600">
              <a:solidFill>
                <a:schemeClr val="bg1"/>
              </a:solidFill>
              <a:latin typeface="Sorts Mill Goudy"/>
              <a:ea typeface="Sorts Mill Goudy"/>
              <a:cs typeface="Sorts Mill Goudy"/>
              <a:sym typeface="Sorts Mill Goudy"/>
            </a:endParaRPr>
          </a:p>
        </p:txBody>
      </p:sp>
      <p:cxnSp>
        <p:nvCxnSpPr>
          <p:cNvPr id="479" name="Google Shape;479;p32"/>
          <p:cNvCxnSpPr>
            <a:stCxn id="480" idx="0"/>
            <a:endCxn id="478" idx="2"/>
          </p:cNvCxnSpPr>
          <p:nvPr/>
        </p:nvCxnSpPr>
        <p:spPr>
          <a:xfrm rot="5400000" flipH="1">
            <a:off x="3259506" y="3409638"/>
            <a:ext cx="3681300" cy="1068300"/>
          </a:xfrm>
          <a:prstGeom prst="curvedConnector3">
            <a:avLst>
              <a:gd name="adj1" fmla="val 50000"/>
            </a:avLst>
          </a:prstGeom>
          <a:noFill/>
          <a:ln w="9525" cap="rnd" cmpd="sng">
            <a:solidFill>
              <a:srgbClr val="C27C0D"/>
            </a:solidFill>
            <a:prstDash val="solid"/>
            <a:round/>
            <a:headEnd type="none" w="sm" len="sm"/>
            <a:tailEnd type="triangle" w="med" len="med"/>
          </a:ln>
        </p:spPr>
      </p:cxnSp>
      <p:sp>
        <p:nvSpPr>
          <p:cNvPr id="481" name="Google Shape;481;p32"/>
          <p:cNvSpPr/>
          <p:nvPr/>
        </p:nvSpPr>
        <p:spPr>
          <a:xfrm>
            <a:off x="6486525" y="1577143"/>
            <a:ext cx="2497615" cy="582706"/>
          </a:xfrm>
          <a:prstGeom prst="rect">
            <a:avLst/>
          </a:prstGeom>
          <a:solidFill>
            <a:schemeClr val="tx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600">
                <a:solidFill>
                  <a:schemeClr val="bg1"/>
                </a:solidFill>
                <a:latin typeface="Sorts Mill Goudy"/>
                <a:ea typeface="Sorts Mill Goudy"/>
                <a:cs typeface="Sorts Mill Goudy"/>
                <a:sym typeface="Sorts Mill Goudy"/>
              </a:rPr>
              <a:t>State of workflow tasks from recent runs</a:t>
            </a:r>
            <a:endParaRPr sz="1600">
              <a:solidFill>
                <a:schemeClr val="bg1"/>
              </a:solidFill>
              <a:latin typeface="Sorts Mill Goudy"/>
              <a:ea typeface="Sorts Mill Goudy"/>
              <a:cs typeface="Sorts Mill Goudy"/>
              <a:sym typeface="Sorts Mill Goudy"/>
            </a:endParaRPr>
          </a:p>
        </p:txBody>
      </p:sp>
      <p:cxnSp>
        <p:nvCxnSpPr>
          <p:cNvPr id="482" name="Google Shape;482;p32"/>
          <p:cNvCxnSpPr>
            <a:stCxn id="483" idx="0"/>
            <a:endCxn id="481" idx="2"/>
          </p:cNvCxnSpPr>
          <p:nvPr/>
        </p:nvCxnSpPr>
        <p:spPr>
          <a:xfrm rot="5400000" flipH="1">
            <a:off x="6641904" y="3253269"/>
            <a:ext cx="3626400" cy="1439400"/>
          </a:xfrm>
          <a:prstGeom prst="curvedConnector3">
            <a:avLst>
              <a:gd name="adj1" fmla="val 50000"/>
            </a:avLst>
          </a:prstGeom>
          <a:noFill/>
          <a:ln w="9525" cap="rnd" cmpd="sng">
            <a:solidFill>
              <a:srgbClr val="C27C0D"/>
            </a:solidFill>
            <a:prstDash val="solid"/>
            <a:round/>
            <a:headEnd type="none" w="sm" len="sm"/>
            <a:tailEnd type="triangle" w="med" len="med"/>
          </a:ln>
        </p:spPr>
      </p:cxnSp>
      <p:sp>
        <p:nvSpPr>
          <p:cNvPr id="477" name="Google Shape;477;p32"/>
          <p:cNvSpPr/>
          <p:nvPr/>
        </p:nvSpPr>
        <p:spPr>
          <a:xfrm>
            <a:off x="1035379" y="5797363"/>
            <a:ext cx="2232817" cy="496073"/>
          </a:xfrm>
          <a:prstGeom prst="rect">
            <a:avLst/>
          </a:prstGeom>
          <a:noFill/>
          <a:ln w="15875" cap="rnd"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Sorts Mill Goudy"/>
              <a:ea typeface="Sorts Mill Goudy"/>
              <a:cs typeface="Sorts Mill Goudy"/>
              <a:sym typeface="Sorts Mill Goudy"/>
            </a:endParaRPr>
          </a:p>
        </p:txBody>
      </p:sp>
      <p:sp>
        <p:nvSpPr>
          <p:cNvPr id="480" name="Google Shape;480;p32"/>
          <p:cNvSpPr/>
          <p:nvPr/>
        </p:nvSpPr>
        <p:spPr>
          <a:xfrm>
            <a:off x="5208752" y="5784438"/>
            <a:ext cx="851108" cy="508998"/>
          </a:xfrm>
          <a:prstGeom prst="rect">
            <a:avLst/>
          </a:prstGeom>
          <a:noFill/>
          <a:ln w="15875" cap="rnd"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Sorts Mill Goudy"/>
              <a:ea typeface="Sorts Mill Goudy"/>
              <a:cs typeface="Sorts Mill Goudy"/>
              <a:sym typeface="Sorts Mill Goudy"/>
            </a:endParaRPr>
          </a:p>
        </p:txBody>
      </p:sp>
      <p:sp>
        <p:nvSpPr>
          <p:cNvPr id="483" name="Google Shape;483;p32"/>
          <p:cNvSpPr/>
          <p:nvPr/>
        </p:nvSpPr>
        <p:spPr>
          <a:xfrm>
            <a:off x="7981365" y="5786169"/>
            <a:ext cx="2386877" cy="496073"/>
          </a:xfrm>
          <a:prstGeom prst="rect">
            <a:avLst/>
          </a:prstGeom>
          <a:noFill/>
          <a:ln w="15875" cap="rnd"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Sorts Mill Goudy"/>
              <a:ea typeface="Sorts Mill Goudy"/>
              <a:cs typeface="Sorts Mill Goudy"/>
              <a:sym typeface="Sorts Mill Goudy"/>
            </a:endParaRPr>
          </a:p>
        </p:txBody>
      </p:sp>
      <p:sp>
        <p:nvSpPr>
          <p:cNvPr id="4" name="제목 1">
            <a:extLst>
              <a:ext uri="{FF2B5EF4-FFF2-40B4-BE49-F238E27FC236}">
                <a16:creationId xmlns:a16="http://schemas.microsoft.com/office/drawing/2014/main" id="{397D237E-F690-C51E-315B-E8D8EA3F6B3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Apache Airflow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슬라이드 번호 개체 틀 3">
            <a:extLst>
              <a:ext uri="{FF2B5EF4-FFF2-40B4-BE49-F238E27FC236}">
                <a16:creationId xmlns:a16="http://schemas.microsoft.com/office/drawing/2014/main" id="{93962647-0DDC-DB8C-B470-D5A31F9A9C77}"/>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64</a:t>
            </a:fld>
            <a:endParaRPr lang="en-US" b="1" dirty="0">
              <a:latin typeface="Segoe UI Emoji" panose="020B0502040204020203" pitchFamily="34" charset="0"/>
              <a:ea typeface="Segoe UI Emoji" panose="020B0502040204020203" pitchFamily="34" charset="0"/>
            </a:endParaRPr>
          </a:p>
        </p:txBody>
      </p:sp>
      <p:pic>
        <p:nvPicPr>
          <p:cNvPr id="6" name="그래픽 5" descr="수영">
            <a:extLst>
              <a:ext uri="{FF2B5EF4-FFF2-40B4-BE49-F238E27FC236}">
                <a16:creationId xmlns:a16="http://schemas.microsoft.com/office/drawing/2014/main" id="{255D95AF-62B1-EB72-9748-CBE3F94F478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5980" y="373930"/>
            <a:ext cx="914400" cy="91440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pic>
        <p:nvPicPr>
          <p:cNvPr id="488" name="Google Shape;488;p33"/>
          <p:cNvPicPr preferRelativeResize="0"/>
          <p:nvPr/>
        </p:nvPicPr>
        <p:blipFill rotWithShape="1">
          <a:blip r:embed="rId3">
            <a:alphaModFix/>
          </a:blip>
          <a:srcRect/>
          <a:stretch/>
        </p:blipFill>
        <p:spPr>
          <a:xfrm>
            <a:off x="3614626" y="1922317"/>
            <a:ext cx="8154446" cy="3374700"/>
          </a:xfrm>
          <a:prstGeom prst="rect">
            <a:avLst/>
          </a:prstGeom>
          <a:noFill/>
          <a:ln>
            <a:noFill/>
          </a:ln>
        </p:spPr>
      </p:pic>
      <p:pic>
        <p:nvPicPr>
          <p:cNvPr id="489" name="Google Shape;489;p33"/>
          <p:cNvPicPr preferRelativeResize="0"/>
          <p:nvPr/>
        </p:nvPicPr>
        <p:blipFill rotWithShape="1">
          <a:blip r:embed="rId4">
            <a:alphaModFix/>
          </a:blip>
          <a:srcRect/>
          <a:stretch/>
        </p:blipFill>
        <p:spPr>
          <a:xfrm>
            <a:off x="1681183" y="1928926"/>
            <a:ext cx="3583929" cy="3362569"/>
          </a:xfrm>
          <a:prstGeom prst="rect">
            <a:avLst/>
          </a:prstGeom>
          <a:noFill/>
          <a:ln>
            <a:noFill/>
          </a:ln>
        </p:spPr>
      </p:pic>
      <p:sp>
        <p:nvSpPr>
          <p:cNvPr id="492" name="Google Shape;492;p33"/>
          <p:cNvSpPr/>
          <p:nvPr/>
        </p:nvSpPr>
        <p:spPr>
          <a:xfrm>
            <a:off x="785833" y="1911670"/>
            <a:ext cx="1407459" cy="569909"/>
          </a:xfrm>
          <a:prstGeom prst="rect">
            <a:avLst/>
          </a:prstGeom>
          <a:solidFill>
            <a:schemeClr val="tx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dirty="0">
                <a:solidFill>
                  <a:schemeClr val="bg1"/>
                </a:solidFill>
                <a:latin typeface="Sorts Mill Goudy"/>
                <a:ea typeface="Sorts Mill Goudy"/>
                <a:cs typeface="Sorts Mill Goudy"/>
                <a:sym typeface="Sorts Mill Goudy"/>
              </a:rPr>
              <a:t>All runs of one task</a:t>
            </a:r>
            <a:endParaRPr sz="1800" dirty="0">
              <a:solidFill>
                <a:schemeClr val="bg1"/>
              </a:solidFill>
              <a:latin typeface="Sorts Mill Goudy"/>
              <a:ea typeface="Sorts Mill Goudy"/>
              <a:cs typeface="Sorts Mill Goudy"/>
              <a:sym typeface="Sorts Mill Goudy"/>
            </a:endParaRPr>
          </a:p>
        </p:txBody>
      </p:sp>
      <p:cxnSp>
        <p:nvCxnSpPr>
          <p:cNvPr id="493" name="Google Shape;493;p33"/>
          <p:cNvCxnSpPr>
            <a:cxnSpLocks/>
            <a:stCxn id="494" idx="1"/>
            <a:endCxn id="492" idx="3"/>
          </p:cNvCxnSpPr>
          <p:nvPr/>
        </p:nvCxnSpPr>
        <p:spPr>
          <a:xfrm rot="10800000">
            <a:off x="2193292" y="2196625"/>
            <a:ext cx="2271132" cy="1546140"/>
          </a:xfrm>
          <a:prstGeom prst="curvedConnector3">
            <a:avLst>
              <a:gd name="adj1" fmla="val 50000"/>
            </a:avLst>
          </a:prstGeom>
          <a:noFill/>
          <a:ln w="9525" cap="rnd" cmpd="sng">
            <a:solidFill>
              <a:srgbClr val="C27C0D"/>
            </a:solidFill>
            <a:prstDash val="solid"/>
            <a:round/>
            <a:headEnd type="none" w="sm" len="sm"/>
            <a:tailEnd type="triangle" w="med" len="med"/>
          </a:ln>
        </p:spPr>
      </p:cxnSp>
      <p:sp>
        <p:nvSpPr>
          <p:cNvPr id="494" name="Google Shape;494;p33"/>
          <p:cNvSpPr/>
          <p:nvPr/>
        </p:nvSpPr>
        <p:spPr>
          <a:xfrm>
            <a:off x="4464424" y="3621742"/>
            <a:ext cx="770964" cy="242046"/>
          </a:xfrm>
          <a:prstGeom prst="rect">
            <a:avLst/>
          </a:prstGeom>
          <a:no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Sorts Mill Goudy"/>
              <a:ea typeface="Sorts Mill Goudy"/>
              <a:cs typeface="Sorts Mill Goudy"/>
              <a:sym typeface="Sorts Mill Goudy"/>
            </a:endParaRPr>
          </a:p>
        </p:txBody>
      </p:sp>
      <p:sp>
        <p:nvSpPr>
          <p:cNvPr id="495" name="Google Shape;495;p33"/>
          <p:cNvSpPr/>
          <p:nvPr/>
        </p:nvSpPr>
        <p:spPr>
          <a:xfrm>
            <a:off x="4939253" y="3636733"/>
            <a:ext cx="287170" cy="1766044"/>
          </a:xfrm>
          <a:prstGeom prst="rect">
            <a:avLst/>
          </a:prstGeom>
          <a:no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Sorts Mill Goudy"/>
              <a:ea typeface="Sorts Mill Goudy"/>
              <a:cs typeface="Sorts Mill Goudy"/>
              <a:sym typeface="Sorts Mill Goudy"/>
            </a:endParaRPr>
          </a:p>
        </p:txBody>
      </p:sp>
      <p:sp>
        <p:nvSpPr>
          <p:cNvPr id="496" name="Google Shape;496;p33"/>
          <p:cNvSpPr/>
          <p:nvPr/>
        </p:nvSpPr>
        <p:spPr>
          <a:xfrm>
            <a:off x="4479021" y="4280704"/>
            <a:ext cx="268948" cy="242045"/>
          </a:xfrm>
          <a:prstGeom prst="rect">
            <a:avLst/>
          </a:prstGeom>
          <a:noFill/>
          <a:ln w="28575" cap="flat" cmpd="sng">
            <a:solidFill>
              <a:srgbClr val="FF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Sorts Mill Goudy"/>
              <a:ea typeface="Sorts Mill Goudy"/>
              <a:cs typeface="Sorts Mill Goudy"/>
              <a:sym typeface="Sorts Mill Goudy"/>
            </a:endParaRPr>
          </a:p>
        </p:txBody>
      </p:sp>
      <p:sp>
        <p:nvSpPr>
          <p:cNvPr id="497" name="Google Shape;497;p33"/>
          <p:cNvSpPr/>
          <p:nvPr/>
        </p:nvSpPr>
        <p:spPr>
          <a:xfrm>
            <a:off x="6786284" y="5402778"/>
            <a:ext cx="2405341" cy="633484"/>
          </a:xfrm>
          <a:prstGeom prst="rect">
            <a:avLst/>
          </a:prstGeom>
          <a:solidFill>
            <a:schemeClr val="tx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bg1"/>
                </a:solidFill>
                <a:latin typeface="Sorts Mill Goudy"/>
                <a:ea typeface="Sorts Mill Goudy"/>
                <a:cs typeface="Sorts Mill Goudy"/>
                <a:sym typeface="Sorts Mill Goudy"/>
              </a:rPr>
              <a:t>One run of a workflow</a:t>
            </a:r>
            <a:endParaRPr sz="1800">
              <a:solidFill>
                <a:schemeClr val="bg1"/>
              </a:solidFill>
              <a:latin typeface="Sorts Mill Goudy"/>
              <a:ea typeface="Sorts Mill Goudy"/>
              <a:cs typeface="Sorts Mill Goudy"/>
              <a:sym typeface="Sorts Mill Goudy"/>
            </a:endParaRPr>
          </a:p>
        </p:txBody>
      </p:sp>
      <p:cxnSp>
        <p:nvCxnSpPr>
          <p:cNvPr id="498" name="Google Shape;498;p33"/>
          <p:cNvCxnSpPr>
            <a:cxnSpLocks/>
            <a:stCxn id="495" idx="2"/>
            <a:endCxn id="497" idx="1"/>
          </p:cNvCxnSpPr>
          <p:nvPr/>
        </p:nvCxnSpPr>
        <p:spPr>
          <a:xfrm rot="16200000" flipH="1">
            <a:off x="5776190" y="4709425"/>
            <a:ext cx="316743" cy="1703446"/>
          </a:xfrm>
          <a:prstGeom prst="curvedConnector2">
            <a:avLst/>
          </a:prstGeom>
          <a:noFill/>
          <a:ln w="9525" cap="rnd" cmpd="sng">
            <a:solidFill>
              <a:srgbClr val="C27C0D"/>
            </a:solidFill>
            <a:prstDash val="solid"/>
            <a:round/>
            <a:headEnd type="none" w="sm" len="sm"/>
            <a:tailEnd type="triangle" w="med" len="med"/>
          </a:ln>
        </p:spPr>
      </p:cxnSp>
      <p:sp>
        <p:nvSpPr>
          <p:cNvPr id="499" name="Google Shape;499;p33"/>
          <p:cNvSpPr/>
          <p:nvPr/>
        </p:nvSpPr>
        <p:spPr>
          <a:xfrm>
            <a:off x="829483" y="5769746"/>
            <a:ext cx="1703400" cy="663248"/>
          </a:xfrm>
          <a:prstGeom prst="rect">
            <a:avLst/>
          </a:prstGeom>
          <a:solidFill>
            <a:schemeClr val="tx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en-US" sz="1800">
                <a:solidFill>
                  <a:schemeClr val="bg1"/>
                </a:solidFill>
                <a:latin typeface="Sorts Mill Goudy"/>
                <a:ea typeface="Sorts Mill Goudy"/>
                <a:cs typeface="Sorts Mill Goudy"/>
                <a:sym typeface="Sorts Mill Goudy"/>
              </a:rPr>
              <a:t>State of a single task</a:t>
            </a:r>
            <a:endParaRPr sz="1800">
              <a:solidFill>
                <a:schemeClr val="bg1"/>
              </a:solidFill>
              <a:latin typeface="Sorts Mill Goudy"/>
              <a:ea typeface="Sorts Mill Goudy"/>
              <a:cs typeface="Sorts Mill Goudy"/>
              <a:sym typeface="Sorts Mill Goudy"/>
            </a:endParaRPr>
          </a:p>
        </p:txBody>
      </p:sp>
      <p:cxnSp>
        <p:nvCxnSpPr>
          <p:cNvPr id="500" name="Google Shape;500;p33"/>
          <p:cNvCxnSpPr>
            <a:cxnSpLocks/>
            <a:stCxn id="499" idx="3"/>
            <a:endCxn id="496" idx="1"/>
          </p:cNvCxnSpPr>
          <p:nvPr/>
        </p:nvCxnSpPr>
        <p:spPr>
          <a:xfrm flipV="1">
            <a:off x="2532883" y="4401727"/>
            <a:ext cx="1946138" cy="1699643"/>
          </a:xfrm>
          <a:prstGeom prst="curvedConnector3">
            <a:avLst>
              <a:gd name="adj1" fmla="val 50000"/>
            </a:avLst>
          </a:prstGeom>
          <a:noFill/>
          <a:ln w="9525" cap="rnd" cmpd="sng">
            <a:solidFill>
              <a:srgbClr val="C27C0D"/>
            </a:solidFill>
            <a:prstDash val="solid"/>
            <a:round/>
            <a:headEnd type="none" w="sm" len="sm"/>
            <a:tailEnd type="triangle" w="med" len="med"/>
          </a:ln>
        </p:spPr>
      </p:cxnSp>
      <p:sp>
        <p:nvSpPr>
          <p:cNvPr id="4" name="제목 1">
            <a:extLst>
              <a:ext uri="{FF2B5EF4-FFF2-40B4-BE49-F238E27FC236}">
                <a16:creationId xmlns:a16="http://schemas.microsoft.com/office/drawing/2014/main" id="{548A5392-A46D-CCAC-66AE-206054A575E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Apache Airflow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슬라이드 번호 개체 틀 3">
            <a:extLst>
              <a:ext uri="{FF2B5EF4-FFF2-40B4-BE49-F238E27FC236}">
                <a16:creationId xmlns:a16="http://schemas.microsoft.com/office/drawing/2014/main" id="{BB119AD6-555D-3BFD-57B9-7490756D644A}"/>
              </a:ext>
            </a:extLst>
          </p:cNvPr>
          <p:cNvSpPr txBox="1">
            <a:spLocks/>
          </p:cNvSpPr>
          <p:nvPr/>
        </p:nvSpPr>
        <p:spPr>
          <a:xfrm>
            <a:off x="11180761"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b="1" smtClean="0">
                <a:latin typeface="Segoe UI Emoji" panose="020B0502040204020203" pitchFamily="34" charset="0"/>
                <a:ea typeface="Segoe UI Emoji" panose="020B0502040204020203" pitchFamily="34" charset="0"/>
              </a:rPr>
              <a:pPr/>
              <a:t>65</a:t>
            </a:fld>
            <a:endParaRPr lang="en-US" b="1" dirty="0">
              <a:latin typeface="Segoe UI Emoji" panose="020B0502040204020203" pitchFamily="34" charset="0"/>
              <a:ea typeface="Segoe UI Emoji" panose="020B0502040204020203" pitchFamily="34" charset="0"/>
            </a:endParaRPr>
          </a:p>
        </p:txBody>
      </p:sp>
      <p:pic>
        <p:nvPicPr>
          <p:cNvPr id="6" name="그래픽 5" descr="수영">
            <a:extLst>
              <a:ext uri="{FF2B5EF4-FFF2-40B4-BE49-F238E27FC236}">
                <a16:creationId xmlns:a16="http://schemas.microsoft.com/office/drawing/2014/main" id="{C24F9766-CA3B-E8B6-4104-DE031F764C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5980" y="373930"/>
            <a:ext cx="914400" cy="914400"/>
          </a:xfrm>
          <a:prstGeom prst="rect">
            <a:avLst/>
          </a:prstGeom>
        </p:spPr>
      </p:pic>
    </p:spTree>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18386</TotalTime>
  <Words>3375</Words>
  <Application>Microsoft Office PowerPoint</Application>
  <PresentationFormat>와이드스크린</PresentationFormat>
  <Paragraphs>632</Paragraphs>
  <Slides>65</Slides>
  <Notes>33</Notes>
  <HiddenSlides>0</HiddenSlides>
  <MMClips>0</MMClips>
  <ScaleCrop>false</ScaleCrop>
  <HeadingPairs>
    <vt:vector size="6" baseType="variant">
      <vt:variant>
        <vt:lpstr>사용한 글꼴</vt:lpstr>
      </vt:variant>
      <vt:variant>
        <vt:i4>8</vt:i4>
      </vt:variant>
      <vt:variant>
        <vt:lpstr>테마</vt:lpstr>
      </vt:variant>
      <vt:variant>
        <vt:i4>1</vt:i4>
      </vt:variant>
      <vt:variant>
        <vt:lpstr>슬라이드 제목</vt:lpstr>
      </vt:variant>
      <vt:variant>
        <vt:i4>65</vt:i4>
      </vt:variant>
    </vt:vector>
  </HeadingPairs>
  <TitlesOfParts>
    <vt:vector size="74" baseType="lpstr">
      <vt:lpstr>D2Coding</vt:lpstr>
      <vt:lpstr>Noto Sans Symbols</vt:lpstr>
      <vt:lpstr>Sorts Mill Goudy</vt:lpstr>
      <vt:lpstr>맑은 고딕</vt:lpstr>
      <vt:lpstr>Batang</vt:lpstr>
      <vt:lpstr>Arial</vt:lpstr>
      <vt:lpstr>Segoe UI Emoji</vt:lpstr>
      <vt:lpstr>Wingdings</vt:lpstr>
      <vt:lpstr>WelcomeDoc</vt:lpstr>
      <vt:lpstr>Application Deployment  코드 작성 → 컴파일/빌드 → 형상관리 → CI → 테스트 → CD → 배포</vt:lpstr>
      <vt:lpstr>PowerPoint 프레젠테이션</vt:lpstr>
      <vt:lpstr>PowerPoint 프레젠테이션</vt:lpstr>
      <vt:lpstr>PowerPoint 프레젠테이션</vt:lpstr>
      <vt:lpstr>PowerPoint 프레젠테이션</vt:lpstr>
      <vt:lpstr>Source Code Build</vt:lpstr>
      <vt:lpstr>PowerPoint 프레젠테이션</vt:lpstr>
      <vt:lpstr>PowerPoint 프레젠테이션</vt:lpstr>
      <vt:lpstr>PowerPoint 프레젠테이션</vt:lpstr>
      <vt:lpstr>Install Visual Studio Code</vt:lpstr>
      <vt:lpstr>Client/Server Architecture</vt:lpstr>
      <vt:lpstr>PowerPoint 프레젠테이션</vt:lpstr>
      <vt:lpstr>PowerPoint 프레젠테이션</vt:lpstr>
      <vt:lpstr>PowerPoint 프레젠테이션</vt:lpstr>
      <vt:lpstr>PowerPoint 프레젠테이션</vt:lpstr>
      <vt:lpstr>Create your own github Create your own GitHub(Install git GitHub Desktop)</vt:lpstr>
      <vt:lpstr>PowerPoint 프레젠테이션</vt:lpstr>
      <vt:lpstr>PowerPoint 프레젠테이션</vt:lpstr>
      <vt:lpstr>Install git &amp; Install GitHub Desktop</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Docker</vt:lpstr>
      <vt:lpstr>PowerPoint 프레젠테이션</vt:lpstr>
      <vt:lpstr>PowerPoint 프레젠테이션</vt:lpstr>
      <vt:lpstr>Why SW Virtualization ?</vt:lpstr>
      <vt:lpstr>사진기로 사진찍고 인화하기 </vt:lpstr>
      <vt:lpstr>가상화(Virtualizaion)</vt:lpstr>
      <vt:lpstr>가상화(Virtualizaion) 종류</vt:lpstr>
      <vt:lpstr>Traditional Installation before docker</vt:lpstr>
      <vt:lpstr>1. Virtual Machine (Linux)</vt:lpstr>
      <vt:lpstr>2. Docker</vt:lpstr>
      <vt:lpstr>Docker 설치(WSL)</vt:lpstr>
      <vt:lpstr>Windows PowerShell</vt:lpstr>
      <vt:lpstr>Docker</vt:lpstr>
      <vt:lpstr>Container</vt:lpstr>
      <vt:lpstr>WSL2 Installation</vt:lpstr>
      <vt:lpstr>Docker Desktop on Ubuntu</vt:lpstr>
      <vt:lpstr>Docker hub 가입하기</vt:lpstr>
      <vt:lpstr>Docker Manual</vt:lpstr>
      <vt:lpstr>Docker container 구조</vt:lpstr>
      <vt:lpstr>Docker container 구조</vt:lpstr>
      <vt:lpstr>실습하기</vt:lpstr>
      <vt:lpstr>PowerPoint 프레젠테이션</vt:lpstr>
      <vt:lpstr>PowerPoint 프레젠테이션</vt:lpstr>
      <vt:lpstr>PowerPoint 프레젠테이션</vt:lpstr>
      <vt:lpstr>PowerPoint 프레젠테이션</vt:lpstr>
      <vt:lpstr>Github Codespaces </vt:lpstr>
      <vt:lpstr>PowerPoint 프레젠테이션</vt:lpstr>
      <vt:lpstr>PowerPoint 프레젠테이션</vt:lpstr>
      <vt:lpstr>PowerPoint 프레젠테이션</vt:lpstr>
      <vt:lpstr>Apache Airflow</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조상구</cp:lastModifiedBy>
  <cp:revision>246</cp:revision>
  <dcterms:created xsi:type="dcterms:W3CDTF">2026-04-06T01:00:39Z</dcterms:created>
  <dcterms:modified xsi:type="dcterms:W3CDTF">2026-08-25T03:30:32Z</dcterms:modified>
  <cp:version/>
</cp:coreProperties>
</file>