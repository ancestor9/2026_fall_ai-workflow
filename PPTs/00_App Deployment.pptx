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2"/>
  </p:notesMasterIdLst>
  <p:handoutMasterIdLst>
    <p:handoutMasterId r:id="rId83"/>
  </p:handoutMasterIdLst>
  <p:sldIdLst>
    <p:sldId id="256" r:id="rId2"/>
    <p:sldId id="1280" r:id="rId3"/>
    <p:sldId id="1334" r:id="rId4"/>
    <p:sldId id="1333" r:id="rId5"/>
    <p:sldId id="1136" r:id="rId6"/>
    <p:sldId id="1288" r:id="rId7"/>
    <p:sldId id="1264" r:id="rId8"/>
    <p:sldId id="1281" r:id="rId9"/>
    <p:sldId id="1286" r:id="rId10"/>
    <p:sldId id="1294" r:id="rId11"/>
    <p:sldId id="1296" r:id="rId12"/>
    <p:sldId id="1295" r:id="rId13"/>
    <p:sldId id="1282" r:id="rId14"/>
    <p:sldId id="1297" r:id="rId15"/>
    <p:sldId id="1298" r:id="rId16"/>
    <p:sldId id="1299" r:id="rId17"/>
    <p:sldId id="1300" r:id="rId18"/>
    <p:sldId id="1284" r:id="rId19"/>
    <p:sldId id="1289" r:id="rId20"/>
    <p:sldId id="1287" r:id="rId21"/>
    <p:sldId id="1301" r:id="rId22"/>
    <p:sldId id="1302" r:id="rId23"/>
    <p:sldId id="1278" r:id="rId24"/>
    <p:sldId id="1290" r:id="rId25"/>
    <p:sldId id="1303" r:id="rId26"/>
    <p:sldId id="1263" r:id="rId27"/>
    <p:sldId id="1306" r:id="rId28"/>
    <p:sldId id="1307" r:id="rId29"/>
    <p:sldId id="1305" r:id="rId30"/>
    <p:sldId id="1265" r:id="rId31"/>
    <p:sldId id="1266" r:id="rId32"/>
    <p:sldId id="1268" r:id="rId33"/>
    <p:sldId id="1267" r:id="rId34"/>
    <p:sldId id="1269" r:id="rId35"/>
    <p:sldId id="1337" r:id="rId36"/>
    <p:sldId id="1277" r:id="rId37"/>
    <p:sldId id="259" r:id="rId38"/>
    <p:sldId id="260" r:id="rId39"/>
    <p:sldId id="354" r:id="rId40"/>
    <p:sldId id="262" r:id="rId41"/>
    <p:sldId id="1317" r:id="rId42"/>
    <p:sldId id="263" r:id="rId43"/>
    <p:sldId id="1318" r:id="rId44"/>
    <p:sldId id="1319" r:id="rId45"/>
    <p:sldId id="264" r:id="rId46"/>
    <p:sldId id="267" r:id="rId47"/>
    <p:sldId id="268" r:id="rId48"/>
    <p:sldId id="1271" r:id="rId49"/>
    <p:sldId id="1324" r:id="rId50"/>
    <p:sldId id="1325" r:id="rId51"/>
    <p:sldId id="1326" r:id="rId52"/>
    <p:sldId id="1327" r:id="rId53"/>
    <p:sldId id="1328" r:id="rId54"/>
    <p:sldId id="1329" r:id="rId55"/>
    <p:sldId id="1330" r:id="rId56"/>
    <p:sldId id="1323" r:id="rId57"/>
    <p:sldId id="277" r:id="rId58"/>
    <p:sldId id="1276" r:id="rId59"/>
    <p:sldId id="1332" r:id="rId60"/>
    <p:sldId id="1331" r:id="rId61"/>
    <p:sldId id="1273" r:id="rId62"/>
    <p:sldId id="1274" r:id="rId63"/>
    <p:sldId id="1304" r:id="rId64"/>
    <p:sldId id="1272" r:id="rId65"/>
    <p:sldId id="1279" r:id="rId66"/>
    <p:sldId id="1292" r:id="rId67"/>
    <p:sldId id="1340" r:id="rId68"/>
    <p:sldId id="1321" r:id="rId69"/>
    <p:sldId id="1322" r:id="rId70"/>
    <p:sldId id="1320" r:id="rId71"/>
    <p:sldId id="1341" r:id="rId72"/>
    <p:sldId id="265" r:id="rId73"/>
    <p:sldId id="1347" r:id="rId74"/>
    <p:sldId id="1275" r:id="rId75"/>
    <p:sldId id="266" r:id="rId76"/>
    <p:sldId id="269" r:id="rId77"/>
    <p:sldId id="1342" r:id="rId78"/>
    <p:sldId id="1344" r:id="rId79"/>
    <p:sldId id="1346" r:id="rId80"/>
    <p:sldId id="1345" r:id="rId81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280"/>
            <p14:sldId id="1334"/>
            <p14:sldId id="1333"/>
            <p14:sldId id="1136"/>
            <p14:sldId id="1288"/>
            <p14:sldId id="1264"/>
            <p14:sldId id="1281"/>
            <p14:sldId id="1286"/>
            <p14:sldId id="1294"/>
            <p14:sldId id="1296"/>
            <p14:sldId id="1295"/>
            <p14:sldId id="1282"/>
            <p14:sldId id="1297"/>
            <p14:sldId id="1298"/>
            <p14:sldId id="1299"/>
            <p14:sldId id="1300"/>
            <p14:sldId id="1284"/>
            <p14:sldId id="1289"/>
            <p14:sldId id="1287"/>
            <p14:sldId id="1301"/>
            <p14:sldId id="1302"/>
            <p14:sldId id="1278"/>
            <p14:sldId id="1290"/>
            <p14:sldId id="1303"/>
            <p14:sldId id="1263"/>
            <p14:sldId id="1306"/>
            <p14:sldId id="1307"/>
            <p14:sldId id="1305"/>
            <p14:sldId id="1265"/>
            <p14:sldId id="1266"/>
            <p14:sldId id="1268"/>
            <p14:sldId id="1267"/>
            <p14:sldId id="1269"/>
            <p14:sldId id="1337"/>
            <p14:sldId id="1277"/>
            <p14:sldId id="259"/>
            <p14:sldId id="260"/>
            <p14:sldId id="354"/>
            <p14:sldId id="262"/>
            <p14:sldId id="1317"/>
            <p14:sldId id="263"/>
            <p14:sldId id="1318"/>
            <p14:sldId id="1319"/>
            <p14:sldId id="264"/>
            <p14:sldId id="267"/>
            <p14:sldId id="268"/>
            <p14:sldId id="1271"/>
            <p14:sldId id="1324"/>
            <p14:sldId id="1325"/>
            <p14:sldId id="1326"/>
            <p14:sldId id="1327"/>
            <p14:sldId id="1328"/>
            <p14:sldId id="1329"/>
            <p14:sldId id="1330"/>
            <p14:sldId id="1323"/>
            <p14:sldId id="277"/>
            <p14:sldId id="1276"/>
            <p14:sldId id="1332"/>
            <p14:sldId id="1331"/>
            <p14:sldId id="1273"/>
            <p14:sldId id="1274"/>
            <p14:sldId id="1304"/>
            <p14:sldId id="1272"/>
            <p14:sldId id="1279"/>
            <p14:sldId id="1292"/>
            <p14:sldId id="1340"/>
            <p14:sldId id="1321"/>
            <p14:sldId id="1322"/>
            <p14:sldId id="1320"/>
            <p14:sldId id="1341"/>
            <p14:sldId id="265"/>
            <p14:sldId id="1347"/>
            <p14:sldId id="1275"/>
            <p14:sldId id="266"/>
            <p14:sldId id="269"/>
            <p14:sldId id="1342"/>
            <p14:sldId id="1344"/>
            <p14:sldId id="1346"/>
            <p14:sldId id="1345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404040"/>
    <a:srgbClr val="FF9B45"/>
    <a:srgbClr val="DD462F"/>
    <a:srgbClr val="D24726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297" autoAdjust="0"/>
  </p:normalViewPr>
  <p:slideViewPr>
    <p:cSldViewPr snapToGrid="0">
      <p:cViewPr varScale="1">
        <p:scale>
          <a:sx n="104" d="100"/>
          <a:sy n="104" d="100"/>
        </p:scale>
        <p:origin x="870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-6" y="-18"/>
    </p:cViewPr>
  </p:notesTextViewPr>
  <p:sorterViewPr>
    <p:cViewPr varScale="1">
      <p:scale>
        <a:sx n="1" d="1"/>
        <a:sy n="1" d="1"/>
      </p:scale>
      <p:origin x="0" y="-19266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commentAuthors" Target="commentAuthor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2026-09-14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2026-09-14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C508-26D1-3E92-13C3-E96A75040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F9DC50-AD30-C94A-AEFA-61C7E0525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A590D0-32EF-A76C-0021-0B9595786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8E9D49-A962-5E84-BD85-F48ACB59E4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2954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2F5FD-E249-651D-FA63-D503EF331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5A6820-CA3D-9343-F847-57584F668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A4F69-C33C-9549-F10F-431C92CA0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42A695-9D1E-1779-734F-42D3BC89BD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0075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2FA74-B788-104D-4090-0F61104FE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560D38-73E1-F2C1-DE70-9F62083D1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87FD08-475F-C6A6-B769-1FBB4E1B0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8E687C-74C6-337C-2DB0-FE75618D55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8050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2C74C-64B2-619F-33A0-B808C5428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67A537-ED0F-424A-04D9-E0EFBBD88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1AF416-39F5-996B-8750-E2D2B2105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F4E1C4-7519-4D6E-4285-D6DA6C0A9D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5403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F4A73-0DF4-6018-8EC1-E24C2C445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A6BCE8-90AA-D178-6A22-9999B9230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33456C-38C3-CF65-F3B2-46F4EC8C5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18726D-52B0-5BA3-FE58-E58B4A5D12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6726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61B78-5575-88F8-0A7E-E53379AF5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50F36F-171E-36E5-3DAF-9968D8C25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FFA43C-EDDB-96A5-0C73-7E04FD414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DFA5DC-B20D-0A3E-0B35-F0C9FEE2A6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9122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82727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64732613-8232-A184-B6CD-61A8809FB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>
            <a:extLst>
              <a:ext uri="{FF2B5EF4-FFF2-40B4-BE49-F238E27FC236}">
                <a16:creationId xmlns:a16="http://schemas.microsoft.com/office/drawing/2014/main" id="{A2329ECB-AA06-37FF-0E8D-9CD9A9C4D3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6" name="Google Shape;226;p8:notes">
            <a:extLst>
              <a:ext uri="{FF2B5EF4-FFF2-40B4-BE49-F238E27FC236}">
                <a16:creationId xmlns:a16="http://schemas.microsoft.com/office/drawing/2014/main" id="{4441BFC8-C973-6AEE-F03F-6318155BF6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22660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47C2583A-F312-B26D-AF1A-7ABEA7CC2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>
            <a:extLst>
              <a:ext uri="{FF2B5EF4-FFF2-40B4-BE49-F238E27FC236}">
                <a16:creationId xmlns:a16="http://schemas.microsoft.com/office/drawing/2014/main" id="{6E70B85A-70B0-8BBE-348E-22FDFA4446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6" name="Google Shape;226;p8:notes">
            <a:extLst>
              <a:ext uri="{FF2B5EF4-FFF2-40B4-BE49-F238E27FC236}">
                <a16:creationId xmlns:a16="http://schemas.microsoft.com/office/drawing/2014/main" id="{B85A06F8-D8C6-B17A-EE49-3D350E71A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225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CB03F302-71AF-4583-8710-92C756EBF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>
            <a:extLst>
              <a:ext uri="{FF2B5EF4-FFF2-40B4-BE49-F238E27FC236}">
                <a16:creationId xmlns:a16="http://schemas.microsoft.com/office/drawing/2014/main" id="{A0259422-88BC-BD21-89F9-74116CF022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6" name="Google Shape;226;p8:notes">
            <a:extLst>
              <a:ext uri="{FF2B5EF4-FFF2-40B4-BE49-F238E27FC236}">
                <a16:creationId xmlns:a16="http://schemas.microsoft.com/office/drawing/2014/main" id="{63AB5FA1-0D31-7F9E-ADBA-701D30AD81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9402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2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2024-03-07</a:t>
            </a:r>
            <a:endParaRPr/>
          </a:p>
        </p:txBody>
      </p:sp>
      <p:sp>
        <p:nvSpPr>
          <p:cNvPr id="265" name="Google Shape;26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47554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2024-03-07</a:t>
            </a:r>
            <a:endParaRPr/>
          </a:p>
        </p:txBody>
      </p:sp>
      <p:sp>
        <p:nvSpPr>
          <p:cNvPr id="278" name="Google Shape;27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12022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F5B27-CED0-D4A6-08E9-ACA0C0C32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CDCBD7-78A5-8C83-E811-860DD0EC0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E36E51-BEBD-1B87-D54E-A317AADB1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AFF8CB-B739-548C-21DA-1FEEB73037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687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614FC-DBA9-3792-4CDB-1D13A7D31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916CD6-8827-44F7-4FB3-4F357E95D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C0DE58-F8B5-3137-693E-22A727967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B1820B-5682-C218-0773-BAF62776D3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72663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38192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>
          <a:extLst>
            <a:ext uri="{FF2B5EF4-FFF2-40B4-BE49-F238E27FC236}">
              <a16:creationId xmlns:a16="http://schemas.microsoft.com/office/drawing/2014/main" id="{A6920DFC-5393-3943-5700-A4CF1402F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>
            <a:extLst>
              <a:ext uri="{FF2B5EF4-FFF2-40B4-BE49-F238E27FC236}">
                <a16:creationId xmlns:a16="http://schemas.microsoft.com/office/drawing/2014/main" id="{BDC6E477-AC2B-EC5B-F17D-8E5456E878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0:notes">
            <a:extLst>
              <a:ext uri="{FF2B5EF4-FFF2-40B4-BE49-F238E27FC236}">
                <a16:creationId xmlns:a16="http://schemas.microsoft.com/office/drawing/2014/main" id="{F5C43721-2C33-3EC5-4C28-F6B9833030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34209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2024-03-07</a:t>
            </a:r>
            <a:endParaRPr/>
          </a:p>
        </p:txBody>
      </p:sp>
      <p:sp>
        <p:nvSpPr>
          <p:cNvPr id="255" name="Google Shape;25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26633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4091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2026-09-14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2026-09-14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oddy.tech/playground/ko/cpp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" TargetMode="External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y-gradio-app" TargetMode="External"/><Relationship Id="rId2" Type="http://schemas.openxmlformats.org/officeDocument/2006/relationships/hyperlink" Target="https://hackjsp.tistory.com/72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svg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2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sv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s8HDIAyPD0&amp;list=PLuHgQVnccGMDeMJsGq2O-55Ymtx0IdKWf&amp;index=1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s8HDIAyPD0&amp;list=PLuHgQVnccGMDeMJsGq2O-55Ymtx0IdKWf&amp;index=1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s8HDIAyPD0&amp;list=PLuHgQVnccGMDeMJsGq2O-55Ymtx0IdKWf&amp;index=1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s8HDIAyPD0&amp;list=PLuHgQVnccGMDeMJsGq2O-55Ymtx0IdKWf&amp;index=1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s8HDIAyPD0&amp;list=PLuHgQVnccGMDeMJsGq2O-55Ymtx0IdKWf&amp;index=1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jpg"/><Relationship Id="rId4" Type="http://schemas.openxmlformats.org/officeDocument/2006/relationships/hyperlink" Target="https://www.asustor.com/ko/solution/what_is_docker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ker.com/resources/what-container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jpg"/><Relationship Id="rId4" Type="http://schemas.openxmlformats.org/officeDocument/2006/relationships/image" Target="../media/image30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get-started/docker-concepts/building-images/understanding-image-layers/?utm_source=chatgpt.com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cs.docker.com/storage/storagedriver/" TargetMode="Externa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medium.com/@deepakshakya/beginners-guide-to-use-docker-build-run-push-and-pull-4a132c094d75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features/codespaces" TargetMode="Externa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hyperlink" Target="https://namu.wiki/w/Visual%20Studio%20Code" TargetMode="External"/><Relationship Id="rId7" Type="http://schemas.openxmlformats.org/officeDocument/2006/relationships/hyperlink" Target="https://namu.wiki/w/%ED%86%B5%ED%95%A9%20%EA%B0%9C%EB%B0%9C%20%ED%99%98%EA%B2%BD" TargetMode="External"/><Relationship Id="rId2" Type="http://schemas.openxmlformats.org/officeDocument/2006/relationships/hyperlink" Target="https://namu.wiki/w/GitHub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namu.wiki/w/%ED%81%B4%EB%9D%BC%EC%9A%B0%EB%93%9C%20%EC%BB%B4%ED%93%A8%ED%8C%85" TargetMode="External"/><Relationship Id="rId5" Type="http://schemas.openxmlformats.org/officeDocument/2006/relationships/hyperlink" Target="https://namu.wiki/w/%EA%B0%9C%EB%B0%9C%ED%99%98%EA%B2%BD" TargetMode="External"/><Relationship Id="rId4" Type="http://schemas.openxmlformats.org/officeDocument/2006/relationships/hyperlink" Target="https://namu.wiki/w/GitHub/%EC%A0%80%EC%9E%A5%EC%86%8C" TargetMode="Externa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sv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localhost:8080/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3.sv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3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4.png"/><Relationship Id="rId4" Type="http://schemas.openxmlformats.org/officeDocument/2006/relationships/image" Target="../media/image53.jpe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Application Deployment</a:t>
            </a:r>
            <a:b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3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코드 작성 → 컴파일</a:t>
            </a:r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빌드 → 형상관리 → </a:t>
            </a:r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CI → </a:t>
            </a:r>
            <a:r>
              <a:rPr lang="ko-KR" altLang="en-US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테스트 → </a:t>
            </a:r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CD </a:t>
            </a:r>
            <a:r>
              <a:rPr lang="ko-KR" altLang="en-US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→ 배포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93DE-47F3-9FEF-BB31-C8C1C7B6F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926D462-2365-3FDB-6CBD-C685819B012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Vision 1 </a:t>
            </a:r>
            <a:r>
              <a:rPr lang="en-US" altLang="ko-KR" sz="24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: CI/CD </a:t>
            </a:r>
            <a:r>
              <a:rPr lang="en-US" altLang="ko-KR" sz="24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</a:t>
            </a:r>
            <a:r>
              <a:rPr lang="en-US" altLang="ko-KR" sz="24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Actions &amp; </a:t>
            </a:r>
            <a:r>
              <a:rPr lang="en-US" altLang="ko-KR" sz="24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Huggingface</a:t>
            </a:r>
            <a:r>
              <a:rPr lang="en-US" altLang="ko-KR" sz="24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Spaces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DB3CEFF-E494-23D8-DF1E-5A6259EBBC0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2435626-EA06-880D-532E-BE2C94B07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088" y="2236963"/>
            <a:ext cx="8754697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33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25541-0F6B-CF69-7245-24564D300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62C7B8E-E30B-D6A1-39C1-FF7EC72C718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Vision 1 </a:t>
            </a:r>
            <a:r>
              <a:rPr lang="en-US" altLang="ko-KR" sz="24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: CI/CD </a:t>
            </a:r>
            <a:r>
              <a:rPr lang="en-US" altLang="ko-KR" sz="24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</a:t>
            </a:r>
            <a:r>
              <a:rPr lang="en-US" altLang="ko-KR" sz="24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Actions &amp; </a:t>
            </a:r>
            <a:r>
              <a:rPr lang="en-US" altLang="ko-KR" sz="24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Huggingface</a:t>
            </a:r>
            <a:r>
              <a:rPr lang="en-US" altLang="ko-KR" sz="24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Spaces</a:t>
            </a:r>
            <a:endParaRPr lang="ko-KR" altLang="en-US" sz="24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2D74262-B22E-3A82-67F0-C389A8A88C7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7579A8C-7547-78EC-8EB1-70103E122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152" y="2233291"/>
            <a:ext cx="8422012" cy="43137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26A29C-7E3F-8BC6-1A41-D87EAE040214}"/>
              </a:ext>
            </a:extLst>
          </p:cNvPr>
          <p:cNvSpPr txBox="1"/>
          <p:nvPr/>
        </p:nvSpPr>
        <p:spPr>
          <a:xfrm>
            <a:off x="554181" y="1193006"/>
            <a:ext cx="11162173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전체 흐름 요약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Push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→ GitHub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Actions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실행 → 테스트 통과 →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이미지 빌드 → 레지스트리에 푸시 →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Hugging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Face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Spaces에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자동 배포 → 웹에서 서비스 제공</a:t>
            </a:r>
          </a:p>
        </p:txBody>
      </p:sp>
    </p:spTree>
    <p:extLst>
      <p:ext uri="{BB962C8B-B14F-4D97-AF65-F5344CB8AC3E}">
        <p14:creationId xmlns:p14="http://schemas.microsoft.com/office/powerpoint/2010/main" val="642890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B3B25-8368-2329-3AAD-9CA108462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218B68B-B7B7-2FD3-FE0C-F13C1804F7A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Motivation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87584C1-355E-EE07-C576-8F5D14D36F52}"/>
              </a:ext>
            </a:extLst>
          </p:cNvPr>
          <p:cNvGraphicFramePr>
            <a:graphicFrameLocks noGrp="1"/>
          </p:cNvGraphicFramePr>
          <p:nvPr/>
        </p:nvGraphicFramePr>
        <p:xfrm>
          <a:off x="1066238" y="2009457"/>
          <a:ext cx="10059523" cy="3848420"/>
        </p:xfrm>
        <a:graphic>
          <a:graphicData uri="http://schemas.openxmlformats.org/drawingml/2006/table">
            <a:tbl>
              <a:tblPr/>
              <a:tblGrid>
                <a:gridCol w="3473824">
                  <a:extLst>
                    <a:ext uri="{9D8B030D-6E8A-4147-A177-3AD203B41FA5}">
                      <a16:colId xmlns:a16="http://schemas.microsoft.com/office/drawing/2014/main" val="2926649995"/>
                    </a:ext>
                  </a:extLst>
                </a:gridCol>
                <a:gridCol w="2206052">
                  <a:extLst>
                    <a:ext uri="{9D8B030D-6E8A-4147-A177-3AD203B41FA5}">
                      <a16:colId xmlns:a16="http://schemas.microsoft.com/office/drawing/2014/main" val="661151394"/>
                    </a:ext>
                  </a:extLst>
                </a:gridCol>
                <a:gridCol w="4379647">
                  <a:extLst>
                    <a:ext uri="{9D8B030D-6E8A-4147-A177-3AD203B41FA5}">
                      <a16:colId xmlns:a16="http://schemas.microsoft.com/office/drawing/2014/main" val="302321871"/>
                    </a:ext>
                  </a:extLst>
                </a:gridCol>
              </a:tblGrid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Problems</a:t>
                      </a:r>
                      <a:endParaRPr lang="ko-KR" alt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Tools</a:t>
                      </a:r>
                      <a:endParaRPr lang="ko-KR" alt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Solving</a:t>
                      </a:r>
                      <a:endParaRPr lang="ko-KR" alt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075640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코드 버전 관리가 어려움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Git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변경 이력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버전 관리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113181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협업이 어려움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GitHub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공동 개발 및 코드 공유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040444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코드 변경 후 오류 발견이 늦음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CI / GitHub Actions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자동 테스트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542966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개발환경이 달라 실행 오류 발생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Docker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실행환경 표준화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091785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배포 과정이 복잡함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Docker + CI/CD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빌드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배포 자동화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347952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개발환경 구축에 시간 소요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Codespaces</a:t>
                      </a:r>
                      <a:endParaRPr 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일관된 개발환경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522320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작업을 수동 실행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Airflow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작업 스케줄링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841929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작업 순서 관리 어려움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Airflow DAG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작업 의존성 관리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397863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개별 기술만 알고 전체 구조를 모름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통합 </a:t>
                      </a: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Pipeline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개발→ 테스트→ 빌드→ 실행→ 파이프라인 연결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217185"/>
                  </a:ext>
                </a:extLst>
              </a:tr>
            </a:tbl>
          </a:graphicData>
        </a:graphic>
      </p:graphicFrame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114C9424-E323-734C-A9CF-49A1A00CBEA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144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25CA11-BB27-9F61-9705-232FBA299991}"/>
              </a:ext>
            </a:extLst>
          </p:cNvPr>
          <p:cNvSpPr txBox="1"/>
          <p:nvPr/>
        </p:nvSpPr>
        <p:spPr>
          <a:xfrm>
            <a:off x="600074" y="1337265"/>
            <a:ext cx="10906126" cy="485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Python/JAVA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코드 개발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컴파일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링크 및 빌드와 테스트과정을 이해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Visual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Studio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Code(</a:t>
            </a:r>
            <a:r>
              <a:rPr lang="it-IT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open source AI code editor)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설치</a:t>
            </a:r>
            <a:r>
              <a:rPr lang="it-IT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및 실습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Module, Library, Package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개념 및 실습</a:t>
            </a:r>
            <a:endParaRPr lang="en-US" altLang="ko-KR" sz="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소프트웨어 형상관리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(Configuration Management)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이해하고 실습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GitHub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Desktop를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설치하여 코드 버전 관리와 CI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(Continuous Integration)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실습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Actions를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실습하고 코드 변경이 자동으로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테스트·배포되는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파이프라인을 구축하여 CD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Continuos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Deploymnet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구현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Hugging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Face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Spaces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로 구성된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CI/CD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실습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가상환경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endParaRPr lang="en-US" altLang="ko-KR" sz="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개념 이해와 실습을 위해 애플리케이션을 이미지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(Image)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컨테이너화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(Container)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하여 개발부터 배포하는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전체 프로세스 이해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git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Codespaces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linux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시스템 실습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Docker, Image &amp; Container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구성 및 배포 실습</a:t>
            </a:r>
            <a:endParaRPr lang="en-US" altLang="ko-KR" sz="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Airflow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Docker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설치하여 실습하고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 Automation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실습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76B93F-1952-6C9D-B7E2-8641854988E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99E74-649D-1033-C865-12E324BF7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4576D94-1332-4F5A-4828-9807992BDF5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개발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프로세스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전체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흐름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0E3C64A-6FE7-686E-BD26-25E57D565BA6}"/>
              </a:ext>
            </a:extLst>
          </p:cNvPr>
          <p:cNvSpPr/>
          <p:nvPr/>
        </p:nvSpPr>
        <p:spPr>
          <a:xfrm>
            <a:off x="640080" y="138558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개발부터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배포까지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하나의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연속된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파이프라인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C305331-13EB-288B-C6F9-10812EE2A0A9}"/>
              </a:ext>
            </a:extLst>
          </p:cNvPr>
          <p:cNvSpPr/>
          <p:nvPr/>
        </p:nvSpPr>
        <p:spPr>
          <a:xfrm>
            <a:off x="640080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>
            <a:solidFill>
              <a:schemeClr val="accent5"/>
            </a:solidFill>
          </a:ln>
          <a:effectLst>
            <a:outerShdw blurRad="76200" dist="25400" dir="5400000" algn="bl" rotWithShape="0">
              <a:srgbClr val="8A9A9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84BE496-68E7-6419-0080-041D9CC17D8E}"/>
              </a:ext>
            </a:extLst>
          </p:cNvPr>
          <p:cNvSpPr/>
          <p:nvPr/>
        </p:nvSpPr>
        <p:spPr>
          <a:xfrm>
            <a:off x="1257300" y="25603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F6C4504-EB44-FC05-4E63-2F797CF45E32}"/>
              </a:ext>
            </a:extLst>
          </p:cNvPr>
          <p:cNvSpPr/>
          <p:nvPr/>
        </p:nvSpPr>
        <p:spPr>
          <a:xfrm>
            <a:off x="125730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1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8854973-17D9-B6DA-DC15-0DC71FA88BC2}"/>
              </a:ext>
            </a:extLst>
          </p:cNvPr>
          <p:cNvSpPr/>
          <p:nvPr/>
        </p:nvSpPr>
        <p:spPr>
          <a:xfrm>
            <a:off x="640080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개발</a:t>
            </a:r>
            <a:endParaRPr 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EF99A43-2519-FF46-326F-5A3F2D271825}"/>
              </a:ext>
            </a:extLst>
          </p:cNvPr>
          <p:cNvSpPr/>
          <p:nvPr/>
        </p:nvSpPr>
        <p:spPr>
          <a:xfrm>
            <a:off x="731520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코드 작성 및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기능 구현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1B46DB9-EF39-95C2-F92E-AECD34C1A575}"/>
              </a:ext>
            </a:extLst>
          </p:cNvPr>
          <p:cNvSpPr/>
          <p:nvPr/>
        </p:nvSpPr>
        <p:spPr>
          <a:xfrm>
            <a:off x="2514600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→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35144EE1-AF85-AEB9-019F-8D608F2ED83E}"/>
              </a:ext>
            </a:extLst>
          </p:cNvPr>
          <p:cNvSpPr/>
          <p:nvPr/>
        </p:nvSpPr>
        <p:spPr>
          <a:xfrm>
            <a:off x="2770632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>
            <a:solidFill>
              <a:schemeClr val="accent5"/>
            </a:solidFill>
          </a:ln>
          <a:effectLst>
            <a:outerShdw blurRad="76200" dist="25400" dir="5400000" algn="bl" rotWithShape="0">
              <a:srgbClr val="8A9A9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F12D7A2E-B26F-99D5-6C92-508979AE6CF0}"/>
              </a:ext>
            </a:extLst>
          </p:cNvPr>
          <p:cNvSpPr/>
          <p:nvPr/>
        </p:nvSpPr>
        <p:spPr>
          <a:xfrm>
            <a:off x="3387852" y="25603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15A45659-9C97-A8F4-D245-7CE853C32571}"/>
              </a:ext>
            </a:extLst>
          </p:cNvPr>
          <p:cNvSpPr/>
          <p:nvPr/>
        </p:nvSpPr>
        <p:spPr>
          <a:xfrm>
            <a:off x="3387852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2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1F249C4F-24F9-9BCB-7E6E-227F64D8D4C4}"/>
              </a:ext>
            </a:extLst>
          </p:cNvPr>
          <p:cNvSpPr/>
          <p:nvPr/>
        </p:nvSpPr>
        <p:spPr>
          <a:xfrm>
            <a:off x="2770632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형상관리</a:t>
            </a:r>
            <a:endParaRPr 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B5BB2BC2-B952-845B-D724-471C9B0A4BFA}"/>
              </a:ext>
            </a:extLst>
          </p:cNvPr>
          <p:cNvSpPr/>
          <p:nvPr/>
        </p:nvSpPr>
        <p:spPr>
          <a:xfrm>
            <a:off x="2862072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변경 이력 관리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(Git)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74E5A613-E784-7FEC-6977-28D25713C296}"/>
              </a:ext>
            </a:extLst>
          </p:cNvPr>
          <p:cNvSpPr/>
          <p:nvPr/>
        </p:nvSpPr>
        <p:spPr>
          <a:xfrm>
            <a:off x="4645152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→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8C2FDEBE-47BC-400E-5E6D-6246A86BA683}"/>
              </a:ext>
            </a:extLst>
          </p:cNvPr>
          <p:cNvSpPr/>
          <p:nvPr/>
        </p:nvSpPr>
        <p:spPr>
          <a:xfrm>
            <a:off x="4901184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>
            <a:solidFill>
              <a:schemeClr val="accent5"/>
            </a:solidFill>
          </a:ln>
          <a:effectLst>
            <a:outerShdw blurRad="76200" dist="25400" dir="5400000" algn="bl" rotWithShape="0">
              <a:srgbClr val="8A9A9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E67074C6-5A5D-9F8D-D88E-50767DA61D15}"/>
              </a:ext>
            </a:extLst>
          </p:cNvPr>
          <p:cNvSpPr/>
          <p:nvPr/>
        </p:nvSpPr>
        <p:spPr>
          <a:xfrm>
            <a:off x="5518404" y="25603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04D9A17E-44E1-A468-0343-533D6300AAAE}"/>
              </a:ext>
            </a:extLst>
          </p:cNvPr>
          <p:cNvSpPr/>
          <p:nvPr/>
        </p:nvSpPr>
        <p:spPr>
          <a:xfrm>
            <a:off x="5518404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3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6E9DBF84-7A06-0477-77F8-10B63BEFF532}"/>
              </a:ext>
            </a:extLst>
          </p:cNvPr>
          <p:cNvSpPr/>
          <p:nvPr/>
        </p:nvSpPr>
        <p:spPr>
          <a:xfrm>
            <a:off x="4901184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빌드</a:t>
            </a:r>
            <a:endParaRPr 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FF9C5D6A-19F0-0811-3B62-638D83783A1B}"/>
              </a:ext>
            </a:extLst>
          </p:cNvPr>
          <p:cNvSpPr/>
          <p:nvPr/>
        </p:nvSpPr>
        <p:spPr>
          <a:xfrm>
            <a:off x="4992624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소스코드를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실행 가능한 형태로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69D38C6D-512F-8D81-EAD7-69BE2541E879}"/>
              </a:ext>
            </a:extLst>
          </p:cNvPr>
          <p:cNvSpPr/>
          <p:nvPr/>
        </p:nvSpPr>
        <p:spPr>
          <a:xfrm>
            <a:off x="6775704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→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3F1D8406-9F97-0CE1-A6E6-BA7AF7BBAF7E}"/>
              </a:ext>
            </a:extLst>
          </p:cNvPr>
          <p:cNvSpPr/>
          <p:nvPr/>
        </p:nvSpPr>
        <p:spPr>
          <a:xfrm>
            <a:off x="7031736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>
            <a:solidFill>
              <a:schemeClr val="accent5"/>
            </a:solidFill>
          </a:ln>
          <a:effectLst>
            <a:outerShdw blurRad="76200" dist="25400" dir="5400000" algn="bl" rotWithShape="0">
              <a:srgbClr val="8A9A9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B1BC1EEA-8C75-EED6-719D-DCA3623C6C15}"/>
              </a:ext>
            </a:extLst>
          </p:cNvPr>
          <p:cNvSpPr/>
          <p:nvPr/>
        </p:nvSpPr>
        <p:spPr>
          <a:xfrm>
            <a:off x="7648956" y="25603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A1D26FF5-CA7F-5837-3A81-AD9E7A0E7AD1}"/>
              </a:ext>
            </a:extLst>
          </p:cNvPr>
          <p:cNvSpPr/>
          <p:nvPr/>
        </p:nvSpPr>
        <p:spPr>
          <a:xfrm>
            <a:off x="7648956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4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CEEB059D-7F70-5BFF-4535-F84FABCCD776}"/>
              </a:ext>
            </a:extLst>
          </p:cNvPr>
          <p:cNvSpPr/>
          <p:nvPr/>
        </p:nvSpPr>
        <p:spPr>
          <a:xfrm>
            <a:off x="7031736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테스트</a:t>
            </a:r>
            <a:endParaRPr 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D82F9AF8-50C6-2C52-1443-A1EAFDDFD0B2}"/>
              </a:ext>
            </a:extLst>
          </p:cNvPr>
          <p:cNvSpPr/>
          <p:nvPr/>
        </p:nvSpPr>
        <p:spPr>
          <a:xfrm>
            <a:off x="7123176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품질 검증 및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오류 확인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586495AA-4A97-4C47-7D6F-BB50989EFDFC}"/>
              </a:ext>
            </a:extLst>
          </p:cNvPr>
          <p:cNvSpPr/>
          <p:nvPr/>
        </p:nvSpPr>
        <p:spPr>
          <a:xfrm>
            <a:off x="8906256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→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8A3DE605-BEE7-5315-9848-CFF62C126EDE}"/>
              </a:ext>
            </a:extLst>
          </p:cNvPr>
          <p:cNvSpPr/>
          <p:nvPr/>
        </p:nvSpPr>
        <p:spPr>
          <a:xfrm>
            <a:off x="9162288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>
            <a:solidFill>
              <a:schemeClr val="accent5"/>
            </a:solidFill>
          </a:ln>
          <a:effectLst>
            <a:outerShdw blurRad="76200" dist="25400" dir="5400000" algn="bl" rotWithShape="0">
              <a:srgbClr val="8A9A9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9F84F631-2B90-2D75-8CD2-9CC45BE70758}"/>
              </a:ext>
            </a:extLst>
          </p:cNvPr>
          <p:cNvSpPr/>
          <p:nvPr/>
        </p:nvSpPr>
        <p:spPr>
          <a:xfrm>
            <a:off x="9779508" y="25603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E1D0458F-DE0A-75D7-C09C-A11018C5AAC6}"/>
              </a:ext>
            </a:extLst>
          </p:cNvPr>
          <p:cNvSpPr/>
          <p:nvPr/>
        </p:nvSpPr>
        <p:spPr>
          <a:xfrm>
            <a:off x="9779508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5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6409975A-9706-EBAD-B1F5-996FA211D66B}"/>
              </a:ext>
            </a:extLst>
          </p:cNvPr>
          <p:cNvSpPr/>
          <p:nvPr/>
        </p:nvSpPr>
        <p:spPr>
          <a:xfrm>
            <a:off x="9162288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배포</a:t>
            </a:r>
            <a:endParaRPr 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42078234-7D49-FA9D-53B0-7C1FC2F372A9}"/>
              </a:ext>
            </a:extLst>
          </p:cNvPr>
          <p:cNvSpPr/>
          <p:nvPr/>
        </p:nvSpPr>
        <p:spPr>
          <a:xfrm>
            <a:off x="9253728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운영 환경에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적용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672685E4-5E37-06BD-5BC6-F3AA68A4A88C}"/>
              </a:ext>
            </a:extLst>
          </p:cNvPr>
          <p:cNvSpPr/>
          <p:nvPr/>
        </p:nvSpPr>
        <p:spPr>
          <a:xfrm>
            <a:off x="640080" y="489204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036258D9-B2DF-4B4D-C161-F2EF0F30B6B7}"/>
              </a:ext>
            </a:extLst>
          </p:cNvPr>
          <p:cNvSpPr/>
          <p:nvPr/>
        </p:nvSpPr>
        <p:spPr>
          <a:xfrm>
            <a:off x="914400" y="5074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Point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E5413F4A-2EBE-FE1F-DC34-FB4DECE1862A}"/>
              </a:ext>
            </a:extLst>
          </p:cNvPr>
          <p:cNvSpPr/>
          <p:nvPr/>
        </p:nvSpPr>
        <p:spPr>
          <a:xfrm>
            <a:off x="914400" y="53949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각 단계는 독립적이지 않으며, 형상관리 시스템(Git)을 중심으로 자동화된 파이프라인(CI/CD)</a:t>
            </a:r>
            <a:r>
              <a:rPr lang="en-US" sz="1600" dirty="0" err="1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으로</a:t>
            </a:r>
            <a:r>
              <a:rPr lang="en-US" sz="1600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연결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CD7AED09-9346-FDBC-DD88-D70E85F453E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668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85264-DAF7-E028-936A-3E39FB0AE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C317C8E-BF00-9996-5D78-F73C973977E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0AAD77-2BE3-B651-D9E7-0AADA229A2B1}"/>
              </a:ext>
            </a:extLst>
          </p:cNvPr>
          <p:cNvSpPr txBox="1"/>
          <p:nvPr/>
        </p:nvSpPr>
        <p:spPr>
          <a:xfrm>
            <a:off x="1910049" y="1672717"/>
            <a:ext cx="6861610" cy="3738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Source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Build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Install Visual Studio Code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Client-Server Architecture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Create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your own GitHub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CI/CD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GitHub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Codespaces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7212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4D586-1125-2FB2-3E03-F236924C8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1D956-0C5C-2A4E-CE17-D0F9A47AE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1293126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Source Code Build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2A6D0A2A-7001-4D52-5517-C1F6A6A29A2F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F23075-9748-2C05-9336-6A9CA4F36952}"/>
              </a:ext>
            </a:extLst>
          </p:cNvPr>
          <p:cNvSpPr txBox="1"/>
          <p:nvPr/>
        </p:nvSpPr>
        <p:spPr>
          <a:xfrm>
            <a:off x="855620" y="2752872"/>
            <a:ext cx="937423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코드 개발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컴파일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링크 및 빌드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9618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5C927-A56A-F51B-6518-140E5922C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3A52980-41D7-E59A-63AB-724FDA7C36A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프로그래밍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언어별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실행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D1158F-61CA-0E27-4436-967E6F880982}"/>
              </a:ext>
            </a:extLst>
          </p:cNvPr>
          <p:cNvSpPr txBox="1"/>
          <p:nvPr/>
        </p:nvSpPr>
        <p:spPr>
          <a:xfrm>
            <a:off x="8954499" y="2057257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Coddy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DBA1E414-6D70-B76F-A007-94029896F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80" y="2073659"/>
            <a:ext cx="5492639" cy="29487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1EBF04E-A22A-4913-C6C1-24BEEE236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207" y="2395811"/>
            <a:ext cx="5492638" cy="28272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6CDA9A11-2F59-07C8-3F35-337C5C96B1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161" y="3567791"/>
            <a:ext cx="5506134" cy="17881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61288D1-F30B-83F7-1A05-85CAADC92AA2}"/>
              </a:ext>
            </a:extLst>
          </p:cNvPr>
          <p:cNvSpPr txBox="1"/>
          <p:nvPr/>
        </p:nvSpPr>
        <p:spPr>
          <a:xfrm>
            <a:off x="1176979" y="5040138"/>
            <a:ext cx="1353156" cy="133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main.cpp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↓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main.o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↓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program.exe</a:t>
            </a:r>
            <a:endParaRPr lang="ko-KR" altLang="en-US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C7AA87-4D45-6B4E-6A59-2BD1F29BD0C8}"/>
              </a:ext>
            </a:extLst>
          </p:cNvPr>
          <p:cNvSpPr txBox="1"/>
          <p:nvPr/>
        </p:nvSpPr>
        <p:spPr>
          <a:xfrm>
            <a:off x="1975148" y="5223102"/>
            <a:ext cx="5665391" cy="133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Main.java (소스 코드)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↓ (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javac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컴파일)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Main.class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(바이트코드)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↓ (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JVM 실행 - JIT 컴파일러 / 인터프리터)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기계어 실행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6482B5-B138-CF1B-FE7C-1C266E45A82C}"/>
              </a:ext>
            </a:extLst>
          </p:cNvPr>
          <p:cNvSpPr txBox="1"/>
          <p:nvPr/>
        </p:nvSpPr>
        <p:spPr>
          <a:xfrm>
            <a:off x="7155859" y="5355935"/>
            <a:ext cx="4294909" cy="133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main.py (소스 코드)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↓ (인터프리터 내부 컴파일)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main.pyc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(바이트코드/__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pycache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__)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↓ (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**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PVM -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Virtual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기계어 실행</a:t>
            </a:r>
            <a:endParaRPr lang="ko-KR" altLang="en-US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32CE6B-36ED-C06E-321F-AAE1BAB179FD}"/>
              </a:ext>
            </a:extLst>
          </p:cNvPr>
          <p:cNvSpPr txBox="1"/>
          <p:nvPr/>
        </p:nvSpPr>
        <p:spPr>
          <a:xfrm>
            <a:off x="586480" y="1199745"/>
            <a:ext cx="11019039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PVM(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Virtual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)은 파이썬 컴파일러가 생성한 바이트코드(.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pyc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읽어 실제 컴퓨터(OS/CPU)가 이해할 수 있는 기계어로 해석 및 실행하는 가상 엔진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87C1567E-DBDB-E8CB-99FE-1A85DDD10F7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035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0ECF2-312A-DEF6-0EFA-8EFA7D38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441BE8-11B6-BF6B-EFBB-6760E81AAC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빌드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(Build)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0B4F16F-4859-063F-9F23-E744C52C54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2513" y="1291476"/>
            <a:ext cx="11036070" cy="66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빌드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(Build)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란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스코드를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실행·배포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가능한 형태의 결과물(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Artifact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)로 만드는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과정으로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단순히 "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컴파일＂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만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하는 것이 아니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컴파일 + 의존성 처리 + 테스트 + 패키징 등을 포함하는 전체 과정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05243-991A-F485-E7FA-84CDE5AAD5D2}"/>
              </a:ext>
            </a:extLst>
          </p:cNvPr>
          <p:cNvSpPr txBox="1"/>
          <p:nvPr/>
        </p:nvSpPr>
        <p:spPr>
          <a:xfrm>
            <a:off x="2392218" y="2471156"/>
            <a:ext cx="3629891" cy="2585323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Source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</a:p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Compile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</a:p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</a:p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Package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</a:p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Executable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Artifact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F19711-2259-1CAA-7183-F1B07A1FB54C}"/>
              </a:ext>
            </a:extLst>
          </p:cNvPr>
          <p:cNvSpPr txBox="1"/>
          <p:nvPr/>
        </p:nvSpPr>
        <p:spPr>
          <a:xfrm>
            <a:off x="6419273" y="2471156"/>
            <a:ext cx="3352800" cy="253332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소스코드 컴파일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라이브러리 의존성 확인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테스트 실행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오류 검사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패키징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실행 파일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C43F18-53C4-F096-DE56-DD30AA85AA32}"/>
              </a:ext>
            </a:extLst>
          </p:cNvPr>
          <p:cNvSpPr txBox="1"/>
          <p:nvPr/>
        </p:nvSpPr>
        <p:spPr>
          <a:xfrm>
            <a:off x="2392218" y="5347209"/>
            <a:ext cx="6096000" cy="10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C/C++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소스 → 기계어 → 실행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Java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소스 →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Bytecode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→ JVM → 실행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소스 →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Bytecode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→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Runtime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→ 실행</a:t>
            </a:r>
          </a:p>
        </p:txBody>
      </p:sp>
      <p:sp>
        <p:nvSpPr>
          <p:cNvPr id="38" name="슬라이드 번호 개체 틀 3">
            <a:extLst>
              <a:ext uri="{FF2B5EF4-FFF2-40B4-BE49-F238E27FC236}">
                <a16:creationId xmlns:a16="http://schemas.microsoft.com/office/drawing/2014/main" id="{55CFFBAC-1729-8DE4-79D5-028CE0E4FE9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660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721CB-E754-43F3-D256-5B60EFCBC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60A807A-A8B0-216C-9C3C-331C3ED8BF4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프로그래밍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언어별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실행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및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빌드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방식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비교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D00312D-B33B-3684-097A-7BBB93E71102}"/>
              </a:ext>
            </a:extLst>
          </p:cNvPr>
          <p:cNvSpPr/>
          <p:nvPr/>
        </p:nvSpPr>
        <p:spPr>
          <a:xfrm>
            <a:off x="640080" y="1392555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컴파일 언어, 중간 코드 언어, 인터프리터 </a:t>
            </a:r>
            <a:r>
              <a:rPr lang="en-US" dirty="0" err="1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언어의</a:t>
            </a:r>
            <a:r>
              <a:rPr 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dirty="0" err="1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차이</a:t>
            </a:r>
            <a:r>
              <a:rPr 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(</a:t>
            </a:r>
            <a:r>
              <a:rPr lang="ko-KR" alt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컴파일</a:t>
            </a:r>
            <a:r>
              <a:rPr lang="en-US" altLang="ko-KR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, </a:t>
            </a:r>
            <a:r>
              <a:rPr lang="ko-KR" alt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링크</a:t>
            </a:r>
            <a:r>
              <a:rPr lang="en-US" altLang="ko-KR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, </a:t>
            </a:r>
            <a:r>
              <a:rPr lang="ko-KR" alt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빌드</a:t>
            </a:r>
            <a:r>
              <a:rPr lang="en-US" altLang="ko-KR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)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93D5724-49D8-01B6-A4F0-02C485941B8F}"/>
              </a:ext>
            </a:extLst>
          </p:cNvPr>
          <p:cNvSpPr/>
          <p:nvPr/>
        </p:nvSpPr>
        <p:spPr>
          <a:xfrm>
            <a:off x="640080" y="2032635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7FAFA"/>
          </a:solidFill>
          <a:ln/>
          <a:effectLst>
            <a:outerShdw blurRad="63500" dist="25400" dir="5400000" algn="bl" rotWithShape="0">
              <a:srgbClr val="8A9A9A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6F36E42-F0EF-0858-ED7F-F4C1C7CBA6EE}"/>
              </a:ext>
            </a:extLst>
          </p:cNvPr>
          <p:cNvSpPr/>
          <p:nvPr/>
        </p:nvSpPr>
        <p:spPr>
          <a:xfrm>
            <a:off x="640080" y="2032635"/>
            <a:ext cx="3520440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87D0A4E-F87F-72C7-B10C-2288D6BB9DEE}"/>
              </a:ext>
            </a:extLst>
          </p:cNvPr>
          <p:cNvSpPr/>
          <p:nvPr/>
        </p:nvSpPr>
        <p:spPr>
          <a:xfrm>
            <a:off x="822960" y="2032635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C / C++</a:t>
            </a:r>
            <a:endParaRPr lang="en-US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AC9A893-8A38-BDDD-EBA8-1CC6AA4486FA}"/>
              </a:ext>
            </a:extLst>
          </p:cNvPr>
          <p:cNvSpPr/>
          <p:nvPr/>
        </p:nvSpPr>
        <p:spPr>
          <a:xfrm>
            <a:off x="822960" y="2764155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컴파일 언어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B1D0AFF-8608-361E-A562-A62370C0F108}"/>
              </a:ext>
            </a:extLst>
          </p:cNvPr>
          <p:cNvSpPr/>
          <p:nvPr/>
        </p:nvSpPr>
        <p:spPr>
          <a:xfrm>
            <a:off x="822960" y="3175635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실행 흐름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9D13E08-D79A-A0A6-50F9-16317CE5FEF1}"/>
              </a:ext>
            </a:extLst>
          </p:cNvPr>
          <p:cNvSpPr/>
          <p:nvPr/>
        </p:nvSpPr>
        <p:spPr>
          <a:xfrm>
            <a:off x="822960" y="3449955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소스코드 → 컴파일 → 오브젝트 파일 → 링커 → 실행파일(기계어)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D5E114E-B11A-4D52-4D2D-6C36D0A328A6}"/>
              </a:ext>
            </a:extLst>
          </p:cNvPr>
          <p:cNvSpPr/>
          <p:nvPr/>
        </p:nvSpPr>
        <p:spPr>
          <a:xfrm>
            <a:off x="822960" y="4547235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gcc</a:t>
            </a:r>
            <a:r>
              <a:rPr lang="en-US" sz="1400" i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, g++, clang, MSVC</a:t>
            </a:r>
            <a:endParaRPr lang="en-US" sz="14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1FC41471-8E56-929E-C14E-8F45CC7656CF}"/>
              </a:ext>
            </a:extLst>
          </p:cNvPr>
          <p:cNvSpPr/>
          <p:nvPr/>
        </p:nvSpPr>
        <p:spPr>
          <a:xfrm>
            <a:off x="822960" y="5095875"/>
            <a:ext cx="3154680" cy="0"/>
          </a:xfrm>
          <a:prstGeom prst="line">
            <a:avLst/>
          </a:prstGeom>
          <a:noFill/>
          <a:ln w="12700">
            <a:solidFill>
              <a:srgbClr val="D6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D8E2E736-7729-DD54-E8AC-36C8A1C8A88F}"/>
              </a:ext>
            </a:extLst>
          </p:cNvPr>
          <p:cNvSpPr/>
          <p:nvPr/>
        </p:nvSpPr>
        <p:spPr>
          <a:xfrm>
            <a:off x="822960" y="5233035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실행 전 전체를 기계어로 완전히 변환. 실행 속도가 빠르지만 플랫폼별 재컴파일 필요.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AA3B2AB3-DDB0-A7D1-2797-9D684EC64536}"/>
              </a:ext>
            </a:extLst>
          </p:cNvPr>
          <p:cNvSpPr/>
          <p:nvPr/>
        </p:nvSpPr>
        <p:spPr>
          <a:xfrm>
            <a:off x="4343400" y="2032635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7FAFA"/>
          </a:solidFill>
          <a:ln/>
          <a:effectLst>
            <a:outerShdw blurRad="63500" dist="25400" dir="5400000" algn="bl" rotWithShape="0">
              <a:srgbClr val="8A9A9A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84655D36-C339-3E31-F268-27FC2599F689}"/>
              </a:ext>
            </a:extLst>
          </p:cNvPr>
          <p:cNvSpPr/>
          <p:nvPr/>
        </p:nvSpPr>
        <p:spPr>
          <a:xfrm>
            <a:off x="4343400" y="2032635"/>
            <a:ext cx="3520440" cy="5943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F23078E-3A1D-8BC7-C48D-8EC55C672354}"/>
              </a:ext>
            </a:extLst>
          </p:cNvPr>
          <p:cNvSpPr/>
          <p:nvPr/>
        </p:nvSpPr>
        <p:spPr>
          <a:xfrm>
            <a:off x="4526280" y="2032635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Java / C#</a:t>
            </a:r>
            <a:endParaRPr lang="en-US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A4FE8484-DC05-7D49-22CE-EB96E4246B61}"/>
              </a:ext>
            </a:extLst>
          </p:cNvPr>
          <p:cNvSpPr/>
          <p:nvPr/>
        </p:nvSpPr>
        <p:spPr>
          <a:xfrm>
            <a:off x="4526280" y="2764155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중간 코드 언어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D45CAF67-058A-30F7-A6DD-4874BEEF7869}"/>
              </a:ext>
            </a:extLst>
          </p:cNvPr>
          <p:cNvSpPr/>
          <p:nvPr/>
        </p:nvSpPr>
        <p:spPr>
          <a:xfrm>
            <a:off x="4526280" y="3175635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실행 흐름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00A1D6E5-6873-7F17-633C-3EF683ACED1C}"/>
              </a:ext>
            </a:extLst>
          </p:cNvPr>
          <p:cNvSpPr/>
          <p:nvPr/>
        </p:nvSpPr>
        <p:spPr>
          <a:xfrm>
            <a:off x="4526280" y="3449955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소스코드 → 컴파일 → 바이트코드/IL → 가상머신(JVM/CLR) → 실행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6592B4D3-CF6F-FD88-303A-3C498DF3AA5A}"/>
              </a:ext>
            </a:extLst>
          </p:cNvPr>
          <p:cNvSpPr/>
          <p:nvPr/>
        </p:nvSpPr>
        <p:spPr>
          <a:xfrm>
            <a:off x="4526280" y="4547235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javac</a:t>
            </a:r>
            <a:r>
              <a:rPr lang="en-US" sz="1400" i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+ JVM, csc + .NET CLR</a:t>
            </a:r>
            <a:endParaRPr lang="en-US" sz="14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7030AC77-3EA7-0C6C-D5BF-B3E9994C9D44}"/>
              </a:ext>
            </a:extLst>
          </p:cNvPr>
          <p:cNvSpPr/>
          <p:nvPr/>
        </p:nvSpPr>
        <p:spPr>
          <a:xfrm>
            <a:off x="4526280" y="5095875"/>
            <a:ext cx="3154680" cy="0"/>
          </a:xfrm>
          <a:prstGeom prst="line">
            <a:avLst/>
          </a:prstGeom>
          <a:noFill/>
          <a:ln w="12700">
            <a:solidFill>
              <a:srgbClr val="D6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2B552949-11A5-0C5E-8A1E-1E0D8974BA32}"/>
              </a:ext>
            </a:extLst>
          </p:cNvPr>
          <p:cNvSpPr/>
          <p:nvPr/>
        </p:nvSpPr>
        <p:spPr>
          <a:xfrm>
            <a:off x="4526280" y="5233035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가상머신이 중간 코드를 해석·실행. 플랫폼 독립적이며 이식성이 높음.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65942169-D6D7-182B-B6A6-7D8A364E7771}"/>
              </a:ext>
            </a:extLst>
          </p:cNvPr>
          <p:cNvSpPr/>
          <p:nvPr/>
        </p:nvSpPr>
        <p:spPr>
          <a:xfrm>
            <a:off x="8046720" y="2032635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7FAFA"/>
          </a:solidFill>
          <a:ln/>
          <a:effectLst>
            <a:outerShdw blurRad="63500" dist="25400" dir="5400000" algn="bl" rotWithShape="0">
              <a:srgbClr val="8A9A9A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F172F242-D1F8-74EF-DE2B-E6405C8F661D}"/>
              </a:ext>
            </a:extLst>
          </p:cNvPr>
          <p:cNvSpPr/>
          <p:nvPr/>
        </p:nvSpPr>
        <p:spPr>
          <a:xfrm>
            <a:off x="8046720" y="2032635"/>
            <a:ext cx="3520440" cy="5943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DD76F462-C47C-9EA4-618B-340C01668591}"/>
              </a:ext>
            </a:extLst>
          </p:cNvPr>
          <p:cNvSpPr/>
          <p:nvPr/>
        </p:nvSpPr>
        <p:spPr>
          <a:xfrm>
            <a:off x="8229600" y="2032635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Python / JavaScript</a:t>
            </a:r>
            <a:endParaRPr lang="en-US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A5D83736-2BEC-8DA7-6851-C37EDC68B75E}"/>
              </a:ext>
            </a:extLst>
          </p:cNvPr>
          <p:cNvSpPr/>
          <p:nvPr/>
        </p:nvSpPr>
        <p:spPr>
          <a:xfrm>
            <a:off x="8229600" y="2764155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인터프리터 언어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90E2BB63-23E3-91AF-24FF-018959B1050F}"/>
              </a:ext>
            </a:extLst>
          </p:cNvPr>
          <p:cNvSpPr/>
          <p:nvPr/>
        </p:nvSpPr>
        <p:spPr>
          <a:xfrm>
            <a:off x="8229600" y="3175635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실행 흐름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B046100C-6812-AE44-B724-A515EE7FE8CA}"/>
              </a:ext>
            </a:extLst>
          </p:cNvPr>
          <p:cNvSpPr/>
          <p:nvPr/>
        </p:nvSpPr>
        <p:spPr>
          <a:xfrm>
            <a:off x="8229600" y="3449955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소스코드 → 인터프리터가 한 줄씩 즉시 해석·실행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B102FF60-E527-2CA5-BF27-1E4BBB33481A}"/>
              </a:ext>
            </a:extLst>
          </p:cNvPr>
          <p:cNvSpPr/>
          <p:nvPr/>
        </p:nvSpPr>
        <p:spPr>
          <a:xfrm>
            <a:off x="8229600" y="4547235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CPython</a:t>
            </a:r>
            <a:r>
              <a:rPr lang="en-US" sz="1400" i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, Node.js(V8, JIT 포함)</a:t>
            </a:r>
            <a:endParaRPr lang="en-US" sz="14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C2EE2FA1-0475-71CF-3A2F-BF3DCA4D5BE8}"/>
              </a:ext>
            </a:extLst>
          </p:cNvPr>
          <p:cNvSpPr/>
          <p:nvPr/>
        </p:nvSpPr>
        <p:spPr>
          <a:xfrm>
            <a:off x="8229600" y="5095875"/>
            <a:ext cx="3154680" cy="0"/>
          </a:xfrm>
          <a:prstGeom prst="line">
            <a:avLst/>
          </a:prstGeom>
          <a:noFill/>
          <a:ln w="12700">
            <a:solidFill>
              <a:srgbClr val="D6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3D74BA10-9FD0-D2D3-9914-1FD03024A2CB}"/>
              </a:ext>
            </a:extLst>
          </p:cNvPr>
          <p:cNvSpPr/>
          <p:nvPr/>
        </p:nvSpPr>
        <p:spPr>
          <a:xfrm>
            <a:off x="8229600" y="5233035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별도의 빌드 단계 없이 바로 실행 가능. 개발 속도는 빠르나 실행 속도는 상대적으로 느림.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AABF1341-AB92-5734-F0D9-F7F2226BF5E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295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D7E1C-4C26-BB62-BCA7-4EB890C08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08BA0-AAF1-9EAE-D2DE-130940C22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1293126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 Visual Studio Code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B5A799B-7FED-BF1E-A600-271950EB13B6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74BBCA-BF0E-7323-23C3-07E0099325BC}"/>
              </a:ext>
            </a:extLst>
          </p:cNvPr>
          <p:cNvSpPr txBox="1"/>
          <p:nvPr/>
        </p:nvSpPr>
        <p:spPr>
          <a:xfrm>
            <a:off x="855620" y="2752872"/>
            <a:ext cx="937423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8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Colab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VS Code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Module 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구성 실습 및 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Library, Package 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4798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64C60-E77A-1612-0417-6AC1D9FD0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3FB64-E2D7-2B44-CF30-870DAE311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1293126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Client/Server</a:t>
            </a:r>
            <a:r>
              <a:rPr lang="ko-KR" altLang="en-US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Architecture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26638B62-45D9-3E3F-2720-11ECEC2DB006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C5B72C-B96F-4ECB-E721-16083297E251}"/>
              </a:ext>
            </a:extLst>
          </p:cNvPr>
          <p:cNvSpPr txBox="1"/>
          <p:nvPr/>
        </p:nvSpPr>
        <p:spPr>
          <a:xfrm>
            <a:off x="855620" y="2752872"/>
            <a:ext cx="9374230" cy="1296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Requests: HTTP for Humans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실습</a:t>
            </a: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Module vs. SW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Build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PyPI</a:t>
            </a: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8295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FB110-BF6A-BB90-497C-0D763A661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F8CBCDB-B8E3-4471-3171-3A5D4B698B7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Client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Server Communication Flow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D9CFB56E-1CED-32EB-C150-3B70120A96E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EC1546-FC94-84F1-E7CE-AAE69AA70394}"/>
              </a:ext>
            </a:extLst>
          </p:cNvPr>
          <p:cNvSpPr txBox="1"/>
          <p:nvPr/>
        </p:nvSpPr>
        <p:spPr>
          <a:xfrm>
            <a:off x="7861708" y="4126362"/>
            <a:ext cx="4072598" cy="224965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socket</a:t>
            </a:r>
            <a:endParaRPr lang="ko-KR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b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ko-KR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socket.socket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         # 소켓 생성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s.bind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(("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localhost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 9999))  # 주소에 연결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s.listen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                  # 연결 대기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ko-KR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conn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addr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s.accept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     # 클라이언트 연결 수락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conn.recv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(1024)       # 데이터 받기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("받음:",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data.decode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conn.send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b"hello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client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   # 데이터 보내기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2BDD22-B68B-8597-B3EE-2CF167B8A8BC}"/>
              </a:ext>
            </a:extLst>
          </p:cNvPr>
          <p:cNvSpPr txBox="1"/>
          <p:nvPr/>
        </p:nvSpPr>
        <p:spPr>
          <a:xfrm>
            <a:off x="800540" y="4126362"/>
            <a:ext cx="3771460" cy="151727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socket</a:t>
            </a:r>
            <a:endParaRPr lang="ko-KR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b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ko-KR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socket.socket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            # 소켓 생성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s.connect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(("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localhost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 9999))  # 서버에 연결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s.send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b"hello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server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         # 데이터 보내기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s.recv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(1024)             # 데이터 받기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("Server 로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부터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받음:",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data.decode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93F7C5-3FCD-805D-3871-A14C1DBD40DA}"/>
              </a:ext>
            </a:extLst>
          </p:cNvPr>
          <p:cNvSpPr txBox="1"/>
          <p:nvPr/>
        </p:nvSpPr>
        <p:spPr>
          <a:xfrm>
            <a:off x="7775809" y="3719472"/>
            <a:ext cx="1690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server.py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D28EF7-7417-EB35-3DCC-906F890EC11B}"/>
              </a:ext>
            </a:extLst>
          </p:cNvPr>
          <p:cNvSpPr txBox="1"/>
          <p:nvPr/>
        </p:nvSpPr>
        <p:spPr>
          <a:xfrm>
            <a:off x="680468" y="375703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client.py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1CC6D910-760C-D773-7CFC-017A88C0B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688" y="4126581"/>
            <a:ext cx="2906331" cy="1517275"/>
          </a:xfrm>
          <a:prstGeom prst="rect">
            <a:avLst/>
          </a:prstGeom>
        </p:spPr>
      </p:pic>
      <p:pic>
        <p:nvPicPr>
          <p:cNvPr id="43" name="그림 42" descr="Client-server Application - OOSE">
            <a:extLst>
              <a:ext uri="{FF2B5EF4-FFF2-40B4-BE49-F238E27FC236}">
                <a16:creationId xmlns:a16="http://schemas.microsoft.com/office/drawing/2014/main" id="{BF9B3110-2B04-F783-2184-DA4D91434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848" y="1558708"/>
            <a:ext cx="4570009" cy="1850478"/>
          </a:xfrm>
          <a:prstGeom prst="rect">
            <a:avLst/>
          </a:prstGeom>
        </p:spPr>
      </p:pic>
      <p:pic>
        <p:nvPicPr>
          <p:cNvPr id="45" name="그래픽 44" descr="수영">
            <a:extLst>
              <a:ext uri="{FF2B5EF4-FFF2-40B4-BE49-F238E27FC236}">
                <a16:creationId xmlns:a16="http://schemas.microsoft.com/office/drawing/2014/main" id="{FCD7A834-4F17-BDAF-E3AC-B9F03FA39C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316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04B2E-D737-5EF4-8727-93E8A1ED8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0C5A46B-CB98-9BEC-73D7-C964824900E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Module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CAB116F5-6F1D-6E9D-6F92-9B75156111D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8175BE-7248-F824-53E3-DC0D5E7AD211}"/>
              </a:ext>
            </a:extLst>
          </p:cNvPr>
          <p:cNvSpPr txBox="1"/>
          <p:nvPr/>
        </p:nvSpPr>
        <p:spPr>
          <a:xfrm>
            <a:off x="6940769" y="4789254"/>
            <a:ext cx="3888638" cy="107721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mymodule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mymodule.greet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철수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mymodule.pi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49BD8-6097-0080-0050-418A5F98B413}"/>
              </a:ext>
            </a:extLst>
          </p:cNvPr>
          <p:cNvSpPr txBox="1"/>
          <p:nvPr/>
        </p:nvSpPr>
        <p:spPr>
          <a:xfrm>
            <a:off x="1003922" y="4789254"/>
            <a:ext cx="3888638" cy="107721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greet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f"안녕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}!"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3.14159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4B1B09E-3422-09F3-D310-C8B7B2404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839272"/>
              </p:ext>
            </p:extLst>
          </p:nvPr>
        </p:nvGraphicFramePr>
        <p:xfrm>
          <a:off x="1877387" y="1625155"/>
          <a:ext cx="9513890" cy="1509432"/>
        </p:xfrm>
        <a:graphic>
          <a:graphicData uri="http://schemas.openxmlformats.org/drawingml/2006/table">
            <a:tbl>
              <a:tblPr/>
              <a:tblGrid>
                <a:gridCol w="2169151">
                  <a:extLst>
                    <a:ext uri="{9D8B030D-6E8A-4147-A177-3AD203B41FA5}">
                      <a16:colId xmlns:a16="http://schemas.microsoft.com/office/drawing/2014/main" val="3045375998"/>
                    </a:ext>
                  </a:extLst>
                </a:gridCol>
                <a:gridCol w="7344739">
                  <a:extLst>
                    <a:ext uri="{9D8B030D-6E8A-4147-A177-3AD203B41FA5}">
                      <a16:colId xmlns:a16="http://schemas.microsoft.com/office/drawing/2014/main" val="1916184777"/>
                    </a:ext>
                  </a:extLst>
                </a:gridCol>
              </a:tblGrid>
              <a:tr h="503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b="1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Module</a:t>
                      </a:r>
                      <a:r>
                        <a:rPr lang="ko-KR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(모듈)</a:t>
                      </a:r>
                      <a:endParaRPr 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파이썬 코드가 담긴 파일 하나 (예: </a:t>
                      </a:r>
                      <a:r>
                        <a:rPr lang="ko-KR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math.py</a:t>
                      </a: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375530"/>
                  </a:ext>
                </a:extLst>
              </a:tr>
              <a:tr h="503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b="1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Package</a:t>
                      </a:r>
                      <a:r>
                        <a:rPr lang="ko-KR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(패키지)</a:t>
                      </a:r>
                      <a:endParaRPr 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모듈들을 모아놓은 폴더 (내부에 __init__.py 포함)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644220"/>
                  </a:ext>
                </a:extLst>
              </a:tr>
              <a:tr h="503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b="1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Library</a:t>
                      </a:r>
                      <a:r>
                        <a:rPr lang="ko-KR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(라이브러리)</a:t>
                      </a:r>
                      <a:endParaRPr 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여러 모듈/패키지를 모아 배포하는 더 큰 단위 (예: </a:t>
                      </a:r>
                      <a:r>
                        <a:rPr lang="ko-KR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numpy</a:t>
                      </a: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requests</a:t>
                      </a: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6306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2B6FA15-F1AF-DC65-60F4-D387DF975EA5}"/>
              </a:ext>
            </a:extLst>
          </p:cNvPr>
          <p:cNvSpPr txBox="1"/>
          <p:nvPr/>
        </p:nvSpPr>
        <p:spPr>
          <a:xfrm>
            <a:off x="6890199" y="4468941"/>
            <a:ext cx="4501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main.py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(모듈을 사용하는 파일)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2ADBB-6F4F-A6A1-FF52-BD87FFE37D14}"/>
              </a:ext>
            </a:extLst>
          </p:cNvPr>
          <p:cNvSpPr txBox="1"/>
          <p:nvPr/>
        </p:nvSpPr>
        <p:spPr>
          <a:xfrm>
            <a:off x="960583" y="4468941"/>
            <a:ext cx="3112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mymodule.py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(모듈 파일)</a:t>
            </a:r>
          </a:p>
        </p:txBody>
      </p:sp>
      <p:pic>
        <p:nvPicPr>
          <p:cNvPr id="15" name="그래픽 14" descr="수영">
            <a:extLst>
              <a:ext uri="{FF2B5EF4-FFF2-40B4-BE49-F238E27FC236}">
                <a16:creationId xmlns:a16="http://schemas.microsoft.com/office/drawing/2014/main" id="{E0785C36-9639-6970-F0D0-6B3484BDC2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27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B1EF4-E19F-E283-8CDC-304711A8A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E8BED82-1E4B-12B7-AEF8-195F1583202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PyPI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3B2F3D60-11BF-AD99-92FF-40FD7A29F02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40FC1-3967-66B4-D36D-20C6AADE0BB5}"/>
              </a:ext>
            </a:extLst>
          </p:cNvPr>
          <p:cNvSpPr txBox="1"/>
          <p:nvPr/>
        </p:nvSpPr>
        <p:spPr>
          <a:xfrm>
            <a:off x="563418" y="1248422"/>
            <a:ext cx="11231417" cy="42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600" i="0" dirty="0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파이썬 패키지 인덱스(</a:t>
            </a:r>
            <a:r>
              <a:rPr lang="ko-KR" altLang="ko-KR" sz="1600" i="0" dirty="0" err="1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PyPI</a:t>
            </a:r>
            <a:r>
              <a:rPr lang="ko-KR" altLang="ko-KR" sz="1600" i="0" dirty="0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)는 파이썬 프로그래밍 언어를 위한 소프트웨어</a:t>
            </a:r>
            <a:r>
              <a:rPr lang="en-US" altLang="ko-KR" sz="1600" dirty="0">
                <a:solidFill>
                  <a:srgbClr val="60606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solidFill>
                  <a:srgbClr val="60606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파이썬 </a:t>
            </a:r>
            <a:r>
              <a:rPr lang="en-US" altLang="ko-KR" sz="1600" dirty="0">
                <a:solidFill>
                  <a:srgbClr val="60606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package)</a:t>
            </a:r>
            <a:r>
              <a:rPr lang="ko-KR" altLang="ko-KR" sz="1600" i="0" dirty="0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i="0" dirty="0" err="1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리포지터리</a:t>
            </a:r>
            <a:r>
              <a:rPr lang="en-US" altLang="ko-KR" sz="1600" i="0" dirty="0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(Repository</a:t>
            </a:r>
            <a:r>
              <a:rPr lang="en-US" altLang="ko-KR" sz="1600" dirty="0">
                <a:solidFill>
                  <a:srgbClr val="60606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63CD154-F8E4-640F-40BC-D2B928A5D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250" y="1959435"/>
            <a:ext cx="6891538" cy="41642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A4A94F-E666-BCEA-ED64-633A3B67894C}"/>
              </a:ext>
            </a:extLst>
          </p:cNvPr>
          <p:cNvSpPr txBox="1"/>
          <p:nvPr/>
        </p:nvSpPr>
        <p:spPr>
          <a:xfrm>
            <a:off x="708357" y="1959435"/>
            <a:ext cx="3613979" cy="3009157"/>
          </a:xfrm>
          <a:prstGeom prst="rect">
            <a:avLst/>
          </a:prstGeom>
          <a:solidFill>
            <a:srgbClr val="76E3FF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PyPI에서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패키지 설치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pip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install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설치한 패키지를 코드에서 사용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([1,2,3]))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requests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9988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EDADB-5520-0FE2-6A7D-7F345E1A4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3E3EE0E-C76C-1BBF-74F4-C2EF9D54199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pip vs.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npm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212B8839-56A0-F5FF-2DAB-FFD5E69C546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C0CBA43E-2CEF-646A-8B01-A29043AE5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569650"/>
              </p:ext>
            </p:extLst>
          </p:nvPr>
        </p:nvGraphicFramePr>
        <p:xfrm>
          <a:off x="1789256" y="2418397"/>
          <a:ext cx="9174308" cy="2717022"/>
        </p:xfrm>
        <a:graphic>
          <a:graphicData uri="http://schemas.openxmlformats.org/drawingml/2006/table">
            <a:tbl>
              <a:tblPr/>
              <a:tblGrid>
                <a:gridCol w="4587154">
                  <a:extLst>
                    <a:ext uri="{9D8B030D-6E8A-4147-A177-3AD203B41FA5}">
                      <a16:colId xmlns:a16="http://schemas.microsoft.com/office/drawing/2014/main" val="677213452"/>
                    </a:ext>
                  </a:extLst>
                </a:gridCol>
                <a:gridCol w="4587154">
                  <a:extLst>
                    <a:ext uri="{9D8B030D-6E8A-4147-A177-3AD203B41FA5}">
                      <a16:colId xmlns:a16="http://schemas.microsoft.com/office/drawing/2014/main" val="3497374252"/>
                    </a:ext>
                  </a:extLst>
                </a:gridCol>
              </a:tblGrid>
              <a:tr h="494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파이썬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JavaScript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Node.js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82001"/>
                  </a:ext>
                </a:extLst>
              </a:tr>
              <a:tr h="864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PyPI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(저장소)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npm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registry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(저장소)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367122"/>
                  </a:ext>
                </a:extLst>
              </a:tr>
              <a:tr h="494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pip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(설치 도구)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npm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(설치 도구)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7576864"/>
                  </a:ext>
                </a:extLst>
              </a:tr>
              <a:tr h="864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pip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install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requests</a:t>
                      </a:r>
                      <a:endParaRPr lang="ko-KR" sz="18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npm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install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express</a:t>
                      </a:r>
                      <a:endParaRPr lang="ko-KR" sz="18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102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8024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4C53C-6099-26F1-4ACA-BFB60E4FE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01CDFC-6760-3F0C-7C97-0418F6CD8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1588548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Create</a:t>
            </a:r>
            <a:r>
              <a:rPr lang="ko-KR" altLang="en-US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your own </a:t>
            </a:r>
            <a:r>
              <a:rPr lang="en-US" altLang="ko-KR" sz="5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b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Create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your own GitHub(Install git GitHub Desktop)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CC85391-272C-61E0-450E-2C98538E0B0A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E03DF-FCB5-19F3-8626-DE1E2DBE2E3C}"/>
              </a:ext>
            </a:extLst>
          </p:cNvPr>
          <p:cNvSpPr txBox="1"/>
          <p:nvPr/>
        </p:nvSpPr>
        <p:spPr>
          <a:xfrm>
            <a:off x="838199" y="2963680"/>
            <a:ext cx="937423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소프트웨어 형상관리 실습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7632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24842-69AF-773F-D38B-E9D52BEF7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FBAB160-354F-BDB0-FEF8-2771F2F3E39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형상관리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개념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7B1CE0C-AB55-CA69-3BDC-7380347BDA6B}"/>
              </a:ext>
            </a:extLst>
          </p:cNvPr>
          <p:cNvSpPr/>
          <p:nvPr/>
        </p:nvSpPr>
        <p:spPr>
          <a:xfrm>
            <a:off x="640080" y="1365885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형상관리(Configuration Management)란 변경의 맥락을 기록하고 </a:t>
            </a: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추적하는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것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A7CADBF-89B3-59BF-2105-56C417AAB64C}"/>
              </a:ext>
            </a:extLst>
          </p:cNvPr>
          <p:cNvSpPr/>
          <p:nvPr/>
        </p:nvSpPr>
        <p:spPr>
          <a:xfrm>
            <a:off x="1463040" y="2005965"/>
            <a:ext cx="9235440" cy="1005840"/>
          </a:xfrm>
          <a:prstGeom prst="roundRect">
            <a:avLst>
              <a:gd name="adj" fmla="val 10909"/>
            </a:avLst>
          </a:prstGeom>
          <a:solidFill>
            <a:srgbClr val="2439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1EC6B50-C0E8-C081-59D1-2162EBEBA7C8}"/>
              </a:ext>
            </a:extLst>
          </p:cNvPr>
          <p:cNvSpPr/>
          <p:nvPr/>
        </p:nvSpPr>
        <p:spPr>
          <a:xfrm>
            <a:off x="1645920" y="2005965"/>
            <a:ext cx="8869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“ 무엇이, 언제, 누가, 왜 변경되었는가? ”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46B57970-56B6-39BF-38FE-82FBCB2DE2DB}"/>
              </a:ext>
            </a:extLst>
          </p:cNvPr>
          <p:cNvSpPr/>
          <p:nvPr/>
        </p:nvSpPr>
        <p:spPr>
          <a:xfrm>
            <a:off x="1005840" y="3377565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24393D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DCE5B930-B2EC-58CC-393E-436B140AE94F}"/>
              </a:ext>
            </a:extLst>
          </p:cNvPr>
          <p:cNvSpPr/>
          <p:nvPr/>
        </p:nvSpPr>
        <p:spPr>
          <a:xfrm>
            <a:off x="1828800" y="3697605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347CAE4-BA92-EB2A-8D3C-61F01CE59B99}"/>
              </a:ext>
            </a:extLst>
          </p:cNvPr>
          <p:cNvSpPr/>
          <p:nvPr/>
        </p:nvSpPr>
        <p:spPr>
          <a:xfrm>
            <a:off x="1828800" y="3697605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무엇이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BC546CF0-C372-DFE7-B3DB-7ED75373B423}"/>
              </a:ext>
            </a:extLst>
          </p:cNvPr>
          <p:cNvSpPr/>
          <p:nvPr/>
        </p:nvSpPr>
        <p:spPr>
          <a:xfrm>
            <a:off x="1143000" y="4749165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변경된 파일과 내용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(diff)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3B12AE36-E702-D1C1-8025-F29D7D9BB8B7}"/>
              </a:ext>
            </a:extLst>
          </p:cNvPr>
          <p:cNvSpPr/>
          <p:nvPr/>
        </p:nvSpPr>
        <p:spPr>
          <a:xfrm>
            <a:off x="3611880" y="3377565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24393D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C805067E-7E6A-BE19-1EA0-9DF667B6B3C9}"/>
              </a:ext>
            </a:extLst>
          </p:cNvPr>
          <p:cNvSpPr/>
          <p:nvPr/>
        </p:nvSpPr>
        <p:spPr>
          <a:xfrm>
            <a:off x="4434840" y="3697605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DAEBAE22-84C2-B418-FB11-E79EA42AC2B2}"/>
              </a:ext>
            </a:extLst>
          </p:cNvPr>
          <p:cNvSpPr/>
          <p:nvPr/>
        </p:nvSpPr>
        <p:spPr>
          <a:xfrm>
            <a:off x="4434840" y="3697605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언제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9CED88CD-7A71-D74A-D7A2-D468CCB1EF5F}"/>
              </a:ext>
            </a:extLst>
          </p:cNvPr>
          <p:cNvSpPr/>
          <p:nvPr/>
        </p:nvSpPr>
        <p:spPr>
          <a:xfrm>
            <a:off x="3749040" y="4749165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변경이 발생한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시점 (timestamp)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C73CBFC5-4BA9-7495-65C7-B582418D45DA}"/>
              </a:ext>
            </a:extLst>
          </p:cNvPr>
          <p:cNvSpPr/>
          <p:nvPr/>
        </p:nvSpPr>
        <p:spPr>
          <a:xfrm>
            <a:off x="6217920" y="3377565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24393D"/>
          </a:solidFill>
          <a:ln w="158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42F4A58B-9E89-AAF9-871A-E48E88B36C75}"/>
              </a:ext>
            </a:extLst>
          </p:cNvPr>
          <p:cNvSpPr/>
          <p:nvPr/>
        </p:nvSpPr>
        <p:spPr>
          <a:xfrm>
            <a:off x="7040880" y="3697605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C634A831-C3E7-20C1-7598-EF638D051FC3}"/>
              </a:ext>
            </a:extLst>
          </p:cNvPr>
          <p:cNvSpPr/>
          <p:nvPr/>
        </p:nvSpPr>
        <p:spPr>
          <a:xfrm>
            <a:off x="7040880" y="3697605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누가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60F7F895-71B1-A5C0-8D17-FCA2BB599483}"/>
              </a:ext>
            </a:extLst>
          </p:cNvPr>
          <p:cNvSpPr/>
          <p:nvPr/>
        </p:nvSpPr>
        <p:spPr>
          <a:xfrm>
            <a:off x="6355080" y="4749165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변경을 수행한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작성자 (author)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0E6F9929-6080-9A0D-DC23-F9FCF9AE3311}"/>
              </a:ext>
            </a:extLst>
          </p:cNvPr>
          <p:cNvSpPr/>
          <p:nvPr/>
        </p:nvSpPr>
        <p:spPr>
          <a:xfrm>
            <a:off x="8823960" y="3377565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24393D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C6D89BD9-477A-3427-A498-0C6AE5B2DD58}"/>
              </a:ext>
            </a:extLst>
          </p:cNvPr>
          <p:cNvSpPr/>
          <p:nvPr/>
        </p:nvSpPr>
        <p:spPr>
          <a:xfrm>
            <a:off x="9646920" y="3697605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C0CFE320-1BF1-F045-AEC7-28D22C32C809}"/>
              </a:ext>
            </a:extLst>
          </p:cNvPr>
          <p:cNvSpPr/>
          <p:nvPr/>
        </p:nvSpPr>
        <p:spPr>
          <a:xfrm>
            <a:off x="9646920" y="3697605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왜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9448AEC1-1D1D-CD38-B4DA-9C3EB1C7FB5E}"/>
              </a:ext>
            </a:extLst>
          </p:cNvPr>
          <p:cNvSpPr/>
          <p:nvPr/>
        </p:nvSpPr>
        <p:spPr>
          <a:xfrm>
            <a:off x="8961120" y="4749165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변경의 이유와 목적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(commit message)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7E7BB2-F3DC-926F-F649-2A98ACA7CEB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108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98A1D-C108-7CBD-99EF-C5D3099CE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CEED010-748D-4435-5E81-F12574F8196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전통적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형상관리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개념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vs Git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개념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56A1088C-055F-D008-275C-AC66BB5A9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026385"/>
              </p:ext>
            </p:extLst>
          </p:nvPr>
        </p:nvGraphicFramePr>
        <p:xfrm>
          <a:off x="1463040" y="1506855"/>
          <a:ext cx="9235440" cy="42062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전통적 개념</a:t>
                      </a:r>
                      <a:endParaRPr lang="en-US" sz="18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Git에서의 주요 개념</a:t>
                      </a:r>
                      <a:endParaRPr lang="en-US" sz="18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Repository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Repository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Check-out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Clone / Pull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Check-in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Commit + Push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Version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Commit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Branch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Branch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Baseline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Tag / Release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Lock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일반적으로 Lock 없이 Branch/Merge 방식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2">
            <a:extLst>
              <a:ext uri="{FF2B5EF4-FFF2-40B4-BE49-F238E27FC236}">
                <a16:creationId xmlns:a16="http://schemas.microsoft.com/office/drawing/2014/main" id="{78D1C5B0-2845-DDA0-57C2-246510E4D049}"/>
              </a:ext>
            </a:extLst>
          </p:cNvPr>
          <p:cNvSpPr/>
          <p:nvPr/>
        </p:nvSpPr>
        <p:spPr>
          <a:xfrm>
            <a:off x="1463040" y="5850255"/>
            <a:ext cx="9235440" cy="548640"/>
          </a:xfrm>
          <a:prstGeom prst="roundRect">
            <a:avLst>
              <a:gd name="adj" fmla="val 10000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3730D5BE-80E5-0DE4-8B58-DF075D03A688}"/>
              </a:ext>
            </a:extLst>
          </p:cNvPr>
          <p:cNvSpPr/>
          <p:nvPr/>
        </p:nvSpPr>
        <p:spPr>
          <a:xfrm>
            <a:off x="1691640" y="5850255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809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Git은 파일을 잠그는 대신, Branch에서 독립적으로 작업 후 Merge하는 방식으로 동시 작업 </a:t>
            </a:r>
            <a:r>
              <a:rPr lang="en-US" sz="1400" i="1" dirty="0" err="1">
                <a:solidFill>
                  <a:srgbClr val="02809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충돌을</a:t>
            </a:r>
            <a:r>
              <a:rPr lang="en-US" sz="1400" i="1" dirty="0">
                <a:solidFill>
                  <a:srgbClr val="02809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sz="1400" i="1" dirty="0" err="1">
                <a:solidFill>
                  <a:srgbClr val="02809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관리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29BD4DE-1847-AD44-96E5-7722216B84A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1731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F710A-9B4B-B99A-5697-76D644AD7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B0487A8-431F-141A-E5AA-E86C41A1639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Install git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887E94-4CA7-4086-8B31-031B3C67191A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BB4A0C2-1E75-443C-7349-EAFC6D529D3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8279C13D-97BA-1614-817B-F8BE4787AE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BFEA084-9B97-420F-90A9-FD7462D0B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82" y="1517072"/>
            <a:ext cx="5032720" cy="38238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056742-6B0D-265F-1310-460BAEE3257F}"/>
              </a:ext>
            </a:extLst>
          </p:cNvPr>
          <p:cNvSpPr txBox="1"/>
          <p:nvPr/>
        </p:nvSpPr>
        <p:spPr>
          <a:xfrm>
            <a:off x="5430981" y="3575250"/>
            <a:ext cx="6400801" cy="280076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D:\ai_agent&gt;git</a:t>
            </a:r>
          </a:p>
          <a:p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usage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[-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 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version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 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help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[-C 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 [-c 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value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exec-path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html-path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man-path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info-path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[-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 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paginate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 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 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no-pager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no-replace-objects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no-lazy-fetch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no-optional-locks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no-advice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git-dir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work-tree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namespace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config-env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envvar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command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[&lt;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args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</a:t>
            </a:r>
          </a:p>
          <a:p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These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common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commands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used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various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situations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start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working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area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also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help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tutorial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clone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Clone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repository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into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new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directory</a:t>
            </a:r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Create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empty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repository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reinitialize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existing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one</a:t>
            </a:r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current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change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also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help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everyday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85415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1AE5A-56AD-3D56-14A3-D8F3CCACE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270E751-FE5B-CF60-8255-7C707469D01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Download GitHub Desktop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D776EA-F86D-8C17-2A5F-846CABC37B3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7F007F5-62B9-09FD-3DEB-3E227994ABC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537AC996-3581-51B4-F957-9B49F5757C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9F769FF-1AAC-0461-4847-E3C99F672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45" y="1288330"/>
            <a:ext cx="6073207" cy="490912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8BC2297-FC37-1195-D69E-F35F52C94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601" y="2702793"/>
            <a:ext cx="5478754" cy="378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967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4D940-69A6-74AE-2745-A19228225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2">
            <a:extLst>
              <a:ext uri="{FF2B5EF4-FFF2-40B4-BE49-F238E27FC236}">
                <a16:creationId xmlns:a16="http://schemas.microsoft.com/office/drawing/2014/main" id="{59DA375E-6466-65EA-0528-D944F2783957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EAACF42A-DACC-D4EC-622E-71A8768699CB}"/>
              </a:ext>
            </a:extLst>
          </p:cNvPr>
          <p:cNvSpPr txBox="1">
            <a:spLocks/>
          </p:cNvSpPr>
          <p:nvPr/>
        </p:nvSpPr>
        <p:spPr>
          <a:xfrm>
            <a:off x="838199" y="1164324"/>
            <a:ext cx="10934701" cy="129312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CI/CD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7D54A8-C6BB-E04C-4A65-AEFB677DEFE3}"/>
              </a:ext>
            </a:extLst>
          </p:cNvPr>
          <p:cNvSpPr txBox="1"/>
          <p:nvPr/>
        </p:nvSpPr>
        <p:spPr>
          <a:xfrm>
            <a:off x="838199" y="2419350"/>
            <a:ext cx="9374230" cy="170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Virtual Environment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 + 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Huggingface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space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구성</a:t>
            </a: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GitHub Actions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실습</a:t>
            </a: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CI(Continuous Integration)/CD(Continuous Deployment)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7243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8C0FA-21B6-18F8-F59C-C6BA0242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63D7929-0F0B-9C2B-9B20-E8E6B04018E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Virtual Environment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A53A5EC-CA0C-FE54-F5D7-08AF9885651E}"/>
              </a:ext>
            </a:extLst>
          </p:cNvPr>
          <p:cNvSpPr/>
          <p:nvPr/>
        </p:nvSpPr>
        <p:spPr>
          <a:xfrm>
            <a:off x="641998" y="1128349"/>
            <a:ext cx="11292308" cy="1011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프로젝트마다 독립된 파이썬 실행 공간을 만들어주는 기능</a:t>
            </a:r>
            <a:r>
              <a:rPr lang="ko-KR" alt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lang="en-US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한 컴퓨터에서 여러 프로젝트를 진행할 때,</a:t>
            </a:r>
            <a:r>
              <a:rPr lang="en-US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프</a:t>
            </a:r>
            <a:r>
              <a:rPr lang="ko-KR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로젝트마다 필요한 패키지 버전이 다를 수 있는데, 가상환경 없이 전역(</a:t>
            </a:r>
            <a:r>
              <a:rPr lang="ko-KR" altLang="ko-KR" sz="1600" dirty="0" err="1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global</a:t>
            </a:r>
            <a:r>
              <a:rPr lang="ko-KR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)에 설치하면 충돌이 </a:t>
            </a:r>
            <a:r>
              <a:rPr lang="ko-KR" alt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발생</a:t>
            </a:r>
            <a:endParaRPr lang="en-US" sz="1600" dirty="0">
              <a:solidFill>
                <a:srgbClr val="5B6B6E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945096-FA34-F2C6-6E24-6219C7BAA5B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F94951F-ECDA-1254-8E5F-D6F50F95B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98" y="2238278"/>
            <a:ext cx="5287747" cy="421609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A1DCDBB-7CAD-79B4-AF55-A79F6491A827}"/>
              </a:ext>
            </a:extLst>
          </p:cNvPr>
          <p:cNvSpPr txBox="1"/>
          <p:nvPr/>
        </p:nvSpPr>
        <p:spPr>
          <a:xfrm>
            <a:off x="4775199" y="3056622"/>
            <a:ext cx="6908800" cy="33239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1. 가상환경 생성 (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myenv라는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이름의 폴더 생성)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2. 가상환경 활성화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macOS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Linux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source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activate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Windows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\Scripts\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activate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3. 활성화되면 프롬프트 앞에 (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표시됨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$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pip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requests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# 이 가상환경 안에만 설치됨</a:t>
            </a:r>
          </a:p>
          <a:p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4. 가상환경 비활성화 (원래 상태로 복귀)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deactivate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9302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4A59B-335B-1F6A-B1F3-88A62DF37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8956231-EA1F-E9D7-5EDA-A9312DD0E34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CI (Continuous Integration)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D1F729E-CAAF-5237-9DCB-ECBD698DE849}"/>
              </a:ext>
            </a:extLst>
          </p:cNvPr>
          <p:cNvSpPr/>
          <p:nvPr/>
        </p:nvSpPr>
        <p:spPr>
          <a:xfrm>
            <a:off x="640080" y="126111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지속적 통합 — 변경사항을 자주, 자동으로 검증하는 개발 방식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01601CAA-779B-321F-A2F5-255AE86C50AB}"/>
              </a:ext>
            </a:extLst>
          </p:cNvPr>
          <p:cNvSpPr/>
          <p:nvPr/>
        </p:nvSpPr>
        <p:spPr>
          <a:xfrm>
            <a:off x="640080" y="190119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F73631A-8529-E553-0597-86F90A5EEA0E}"/>
              </a:ext>
            </a:extLst>
          </p:cNvPr>
          <p:cNvSpPr/>
          <p:nvPr/>
        </p:nvSpPr>
        <p:spPr>
          <a:xfrm>
            <a:off x="914400" y="190119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개발자들이 작성한 코드를 자주(하루에도 여러 번) 공유 저장소(Repository)에 병합(merge)하고,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그때마다 자동으로 빌드·테스트하여 문제를 조기에 발견하는 개발 방식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DC2B1DF6-D5BA-4FDE-2946-060060F4FFDD}"/>
              </a:ext>
            </a:extLst>
          </p:cNvPr>
          <p:cNvSpPr/>
          <p:nvPr/>
        </p:nvSpPr>
        <p:spPr>
          <a:xfrm>
            <a:off x="685800" y="3199638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B5091CD-6A0B-0B8A-B381-013DC1B763B6}"/>
              </a:ext>
            </a:extLst>
          </p:cNvPr>
          <p:cNvSpPr/>
          <p:nvPr/>
        </p:nvSpPr>
        <p:spPr>
          <a:xfrm>
            <a:off x="685800" y="319963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1</a:t>
            </a:r>
            <a:endParaRPr 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B24FB9B6-CCA8-427D-B4F3-478776F866A9}"/>
              </a:ext>
            </a:extLst>
          </p:cNvPr>
          <p:cNvSpPr/>
          <p:nvPr/>
        </p:nvSpPr>
        <p:spPr>
          <a:xfrm>
            <a:off x="1508760" y="3089910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F7FAFA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ECA97B1B-FA43-02DC-753C-98EBA82B85BE}"/>
              </a:ext>
            </a:extLst>
          </p:cNvPr>
          <p:cNvSpPr/>
          <p:nvPr/>
        </p:nvSpPr>
        <p:spPr>
          <a:xfrm>
            <a:off x="1737360" y="308991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잦은 통합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3753F3C-B20B-B8EF-B9C6-8772F2A851F1}"/>
              </a:ext>
            </a:extLst>
          </p:cNvPr>
          <p:cNvSpPr/>
          <p:nvPr/>
        </p:nvSpPr>
        <p:spPr>
          <a:xfrm>
            <a:off x="4160520" y="308991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개발자가 작은 단위의 변경사항을 짧은 주기로 공유 저장소에 지속적으로 병합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459BDD8-EDA9-C485-4BEB-4A459DF53578}"/>
              </a:ext>
            </a:extLst>
          </p:cNvPr>
          <p:cNvSpPr/>
          <p:nvPr/>
        </p:nvSpPr>
        <p:spPr>
          <a:xfrm>
            <a:off x="685800" y="4251198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1EB93E2-8A08-00F0-E6D9-EC9D6A41E065}"/>
              </a:ext>
            </a:extLst>
          </p:cNvPr>
          <p:cNvSpPr/>
          <p:nvPr/>
        </p:nvSpPr>
        <p:spPr>
          <a:xfrm>
            <a:off x="685800" y="425119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2</a:t>
            </a:r>
            <a:endParaRPr 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300F5D6B-4054-F4CF-8AFC-9470FCFC8802}"/>
              </a:ext>
            </a:extLst>
          </p:cNvPr>
          <p:cNvSpPr/>
          <p:nvPr/>
        </p:nvSpPr>
        <p:spPr>
          <a:xfrm>
            <a:off x="1508760" y="4141470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F7FAFA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1BC0CB0D-37A0-9C14-4CAC-F4FD9ABBA3E8}"/>
              </a:ext>
            </a:extLst>
          </p:cNvPr>
          <p:cNvSpPr/>
          <p:nvPr/>
        </p:nvSpPr>
        <p:spPr>
          <a:xfrm>
            <a:off x="1737360" y="414147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자동 빌드 &amp; 테스트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6BC9F2A9-4D8A-5735-9B56-B15C19A0972A}"/>
              </a:ext>
            </a:extLst>
          </p:cNvPr>
          <p:cNvSpPr/>
          <p:nvPr/>
        </p:nvSpPr>
        <p:spPr>
          <a:xfrm>
            <a:off x="4160520" y="414147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코드가 통합될 때마다 빌드와 테스트가 자동으로 실행되어 사람의 개입을 최소화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500A20C2-5F54-15E5-EC48-C5D883E06655}"/>
              </a:ext>
            </a:extLst>
          </p:cNvPr>
          <p:cNvSpPr/>
          <p:nvPr/>
        </p:nvSpPr>
        <p:spPr>
          <a:xfrm>
            <a:off x="685800" y="530275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DFE1D1AE-D80A-A60F-B4D1-0A3F906146EC}"/>
              </a:ext>
            </a:extLst>
          </p:cNvPr>
          <p:cNvSpPr/>
          <p:nvPr/>
        </p:nvSpPr>
        <p:spPr>
          <a:xfrm>
            <a:off x="685800" y="530275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3</a:t>
            </a:r>
            <a:endParaRPr 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9438C446-4AF6-4808-4127-A632D60187B7}"/>
              </a:ext>
            </a:extLst>
          </p:cNvPr>
          <p:cNvSpPr/>
          <p:nvPr/>
        </p:nvSpPr>
        <p:spPr>
          <a:xfrm>
            <a:off x="1508760" y="5193030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F7FAFA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7E9163C2-E0B6-0B25-EF0E-59497C9A3693}"/>
              </a:ext>
            </a:extLst>
          </p:cNvPr>
          <p:cNvSpPr/>
          <p:nvPr/>
        </p:nvSpPr>
        <p:spPr>
          <a:xfrm>
            <a:off x="1737360" y="519303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빠른 피드백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8741F488-C62B-C29A-2507-3A6871FD2B4A}"/>
              </a:ext>
            </a:extLst>
          </p:cNvPr>
          <p:cNvSpPr/>
          <p:nvPr/>
        </p:nvSpPr>
        <p:spPr>
          <a:xfrm>
            <a:off x="4160520" y="519303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오류 발생 시 즉시 알림을 받아, 문제가 커지기 전에 조기 발견 및 수정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0E9A0A-EF64-D05A-3A76-463D89E5574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3899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D688-81BD-A730-FB4D-15578BA58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E8FE2DB-C78A-59C3-AE94-56541135D3E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 Actions Exercise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59C719-70DA-E335-6E30-7EA20CACB266}"/>
              </a:ext>
            </a:extLst>
          </p:cNvPr>
          <p:cNvSpPr txBox="1"/>
          <p:nvPr/>
        </p:nvSpPr>
        <p:spPr>
          <a:xfrm>
            <a:off x="744020" y="45492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FBACB0A-609D-1358-139D-925052A0D9B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C1D71D42-D86C-CD8D-0A44-CBB293213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A5DA0E-A218-DA19-F7C3-A2BBF4DABA76}"/>
              </a:ext>
            </a:extLst>
          </p:cNvPr>
          <p:cNvSpPr txBox="1"/>
          <p:nvPr/>
        </p:nvSpPr>
        <p:spPr>
          <a:xfrm>
            <a:off x="613307" y="1277085"/>
            <a:ext cx="10944226" cy="880819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웹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App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으로 구현하고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Hugging Face Spaces(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무료 호스팅 서비스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GitHub Actions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자동 빌드 및 배포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(CI/CD)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구현하는 실습과제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AE2F31-0B20-DC4B-0331-EE48D0848999}"/>
              </a:ext>
            </a:extLst>
          </p:cNvPr>
          <p:cNvSpPr txBox="1"/>
          <p:nvPr/>
        </p:nvSpPr>
        <p:spPr>
          <a:xfrm>
            <a:off x="1246185" y="4086614"/>
            <a:ext cx="9934576" cy="227049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my-gradio-app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.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└──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workflows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└──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deploy.yml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# GitHub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Actions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CI/CD 파이프라인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app.py                #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Pandas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데이터 처리 및 시각화 코드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└── requirements.txt      # 의존성 패키지 목록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A21E49-BE2A-8B88-6220-415B652D68E1}"/>
              </a:ext>
            </a:extLst>
          </p:cNvPr>
          <p:cNvSpPr txBox="1"/>
          <p:nvPr/>
        </p:nvSpPr>
        <p:spPr>
          <a:xfrm>
            <a:off x="1257300" y="374319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📂 프로젝트 파일 구조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16B0BF-D0E0-8339-0674-6F779CED6710}"/>
              </a:ext>
            </a:extLst>
          </p:cNvPr>
          <p:cNvSpPr txBox="1"/>
          <p:nvPr/>
        </p:nvSpPr>
        <p:spPr>
          <a:xfrm>
            <a:off x="5109712" y="347139"/>
            <a:ext cx="6606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화살표: 줄무늬가 있는 오른쪽 14">
            <a:extLst>
              <a:ext uri="{FF2B5EF4-FFF2-40B4-BE49-F238E27FC236}">
                <a16:creationId xmlns:a16="http://schemas.microsoft.com/office/drawing/2014/main" id="{2F7D7142-3213-4FC1-3586-350396205FF1}"/>
              </a:ext>
            </a:extLst>
          </p:cNvPr>
          <p:cNvSpPr/>
          <p:nvPr/>
        </p:nvSpPr>
        <p:spPr>
          <a:xfrm>
            <a:off x="613307" y="2364855"/>
            <a:ext cx="5595874" cy="676145"/>
          </a:xfrm>
          <a:prstGeom prst="stripedRightArrow">
            <a:avLst>
              <a:gd name="adj1" fmla="val 58452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prompting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하면서 과제 진행하기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94837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6C7C2-02A0-06DD-4ECF-9F6B20A88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60CE6CAC-BE31-8457-A813-9A56904613AB}"/>
              </a:ext>
            </a:extLst>
          </p:cNvPr>
          <p:cNvSpPr/>
          <p:nvPr/>
        </p:nvSpPr>
        <p:spPr>
          <a:xfrm>
            <a:off x="639245" y="1834107"/>
            <a:ext cx="7496175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59D3560-B1C6-8FCB-B5C0-64CDDE41678A}"/>
              </a:ext>
            </a:extLst>
          </p:cNvPr>
          <p:cNvSpPr/>
          <p:nvPr/>
        </p:nvSpPr>
        <p:spPr>
          <a:xfrm>
            <a:off x="639245" y="2345029"/>
            <a:ext cx="7496175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0874F86-025C-A2DC-E8B3-B79F06BF73F0}"/>
              </a:ext>
            </a:extLst>
          </p:cNvPr>
          <p:cNvSpPr/>
          <p:nvPr/>
        </p:nvSpPr>
        <p:spPr>
          <a:xfrm>
            <a:off x="628649" y="3651766"/>
            <a:ext cx="7496175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96BC5A-D53E-92F7-6A38-10C8ED6D40B4}"/>
              </a:ext>
            </a:extLst>
          </p:cNvPr>
          <p:cNvSpPr txBox="1"/>
          <p:nvPr/>
        </p:nvSpPr>
        <p:spPr>
          <a:xfrm>
            <a:off x="744020" y="32824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2F8563B-BF22-4732-3506-5E5D54395D3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 Actions Exercise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8E93B15-8AA8-B99D-DE25-A275F90106F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8CCF1A43-60B7-7E89-5EE8-11B3795F0B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EC760439-C38F-4AB7-5572-DFDD66AFF94E}"/>
              </a:ext>
            </a:extLst>
          </p:cNvPr>
          <p:cNvSpPr/>
          <p:nvPr/>
        </p:nvSpPr>
        <p:spPr>
          <a:xfrm>
            <a:off x="628650" y="1296047"/>
            <a:ext cx="7496175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640B3F-A2F7-0F11-CB7F-E19D06AAB53D}"/>
              </a:ext>
            </a:extLst>
          </p:cNvPr>
          <p:cNvSpPr txBox="1"/>
          <p:nvPr/>
        </p:nvSpPr>
        <p:spPr>
          <a:xfrm>
            <a:off x="628650" y="1288330"/>
            <a:ext cx="10971730" cy="5109091"/>
          </a:xfrm>
          <a:prstGeom prst="rect">
            <a:avLst/>
          </a:prstGeom>
          <a:noFill/>
          <a:ln>
            <a:solidFill>
              <a:srgbClr val="40404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&amp; Pandas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앱 구현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(app.py)</a:t>
            </a:r>
          </a:p>
          <a:p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의존성 라이브러리 지정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(requirements.txt)</a:t>
            </a:r>
          </a:p>
          <a:p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GitHub Actions CI/CD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구축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/workflows/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deploy.yml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코드가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push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될 때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Python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환경 구축 및 문법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패키지 검사 실행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검증 통과 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Hugging Face Spaces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자동 동기화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배포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배포 연동 단계별 가이드</a:t>
            </a: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Hugging Face Space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Hugging Face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접속 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New Space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생성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(Space Name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my-first-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-app)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SDK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종류는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선택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(SDK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항목에서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선택 후 하단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Create Space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버튼 클릭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Hugging Face Access Token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발급</a:t>
            </a:r>
          </a:p>
          <a:p>
            <a:pPr marL="1200150" lvl="2" indent="-285750"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토큰 발급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Hugging Face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프로필 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Settings ➔ Access Tokens ➔ Create new token (Role: Write)</a:t>
            </a:r>
          </a:p>
          <a:p>
            <a:pPr marL="1200150" lvl="2" indent="-285750"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생성된 토큰 값 복사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GitHub Repository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Secret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등록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Secret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본인의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GitHub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저장소 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Settings ➔ Secrets and variables ➔ Actions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New repository secret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클릭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Name: HF_TOKEN / Value: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복사한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Hugging Face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토큰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Paste</a:t>
            </a:r>
          </a:p>
        </p:txBody>
      </p:sp>
    </p:spTree>
    <p:extLst>
      <p:ext uri="{BB962C8B-B14F-4D97-AF65-F5344CB8AC3E}">
        <p14:creationId xmlns:p14="http://schemas.microsoft.com/office/powerpoint/2010/main" val="29357854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46505-51A5-8641-3B3A-B0CCC7336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6FA4E5E-2259-2CFC-5635-BCA752A2EA6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 Actions Exercise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56FE9-FE0B-9E11-AEFD-6CE48CB3A461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ED5973A-9B6F-CACA-2AEE-1B97F72841F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28FAF306-E841-FA37-3DF0-EA9B18A0A4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2E5FA2-DF4B-A67D-1FE0-0A5FA5F3DB87}"/>
              </a:ext>
            </a:extLst>
          </p:cNvPr>
          <p:cNvSpPr txBox="1"/>
          <p:nvPr/>
        </p:nvSpPr>
        <p:spPr>
          <a:xfrm>
            <a:off x="614379" y="1726488"/>
            <a:ext cx="9634522" cy="483209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name: Deploy to Hugging Face Spaces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on: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push: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branches: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main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jobs: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deploy: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runs-on: ubuntu-latest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steps: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name: Checkout repository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uses: actions/checkout@v4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with: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fetch-depth: 0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lfs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true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name: Push to Hugging Face Space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env: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HF_TOKEN: ${{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secrets.HF_TOKEN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}}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run: |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git config --global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user.email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"actions@github.com"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git config --global user.name "GitHub Actions"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git remote add space https://user:$HF_TOKEN@huggingface.co/spaces/ancestor9/my-first-gradio-app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git push --force space 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64F57F-6865-DA0C-D8B2-32765224233B}"/>
              </a:ext>
            </a:extLst>
          </p:cNvPr>
          <p:cNvSpPr txBox="1"/>
          <p:nvPr/>
        </p:nvSpPr>
        <p:spPr>
          <a:xfrm>
            <a:off x="615416" y="1347631"/>
            <a:ext cx="9633485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 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8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deploy.yml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deploy.yml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파일 배포 실행 구문 수정</a:t>
            </a:r>
          </a:p>
        </p:txBody>
      </p:sp>
      <p:sp>
        <p:nvSpPr>
          <p:cNvPr id="14" name="설명선: 굽은 선 13">
            <a:extLst>
              <a:ext uri="{FF2B5EF4-FFF2-40B4-BE49-F238E27FC236}">
                <a16:creationId xmlns:a16="http://schemas.microsoft.com/office/drawing/2014/main" id="{4D69CC3C-17CE-C96C-DC2F-1702D1BEAA51}"/>
              </a:ext>
            </a:extLst>
          </p:cNvPr>
          <p:cNvSpPr/>
          <p:nvPr/>
        </p:nvSpPr>
        <p:spPr>
          <a:xfrm>
            <a:off x="9710220" y="5322328"/>
            <a:ext cx="2166662" cy="23566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98421"/>
              <a:gd name="adj6" fmla="val -81561"/>
            </a:avLst>
          </a:prstGeom>
          <a:solidFill>
            <a:schemeClr val="tx1"/>
          </a:solidFill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HuggingFace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아이디</a:t>
            </a:r>
          </a:p>
        </p:txBody>
      </p:sp>
      <p:sp>
        <p:nvSpPr>
          <p:cNvPr id="15" name="설명선: 굽은 선 14">
            <a:extLst>
              <a:ext uri="{FF2B5EF4-FFF2-40B4-BE49-F238E27FC236}">
                <a16:creationId xmlns:a16="http://schemas.microsoft.com/office/drawing/2014/main" id="{16D6258C-27E6-BC1E-7C8B-E8F8AAD8CB74}"/>
              </a:ext>
            </a:extLst>
          </p:cNvPr>
          <p:cNvSpPr/>
          <p:nvPr/>
        </p:nvSpPr>
        <p:spPr>
          <a:xfrm>
            <a:off x="10320614" y="5699115"/>
            <a:ext cx="1556267" cy="23566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2709"/>
              <a:gd name="adj6" fmla="val -50269"/>
            </a:avLst>
          </a:prstGeom>
          <a:solidFill>
            <a:schemeClr val="tx1"/>
          </a:solidFill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Space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58F20E-EEAC-1826-18FE-393FA30EAD63}"/>
              </a:ext>
            </a:extLst>
          </p:cNvPr>
          <p:cNvSpPr txBox="1"/>
          <p:nvPr/>
        </p:nvSpPr>
        <p:spPr>
          <a:xfrm>
            <a:off x="6362700" y="4180382"/>
            <a:ext cx="5514181" cy="73866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Hugging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Face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로그인 후 우측 상단 프로필 아이콘 클릭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메뉴에서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Spaces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클릭 (또는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Profile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➔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Spaces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탭 클릭)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생성해 둔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Space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목록 중 원하는 프로젝트 선택</a:t>
            </a:r>
          </a:p>
        </p:txBody>
      </p:sp>
    </p:spTree>
    <p:extLst>
      <p:ext uri="{BB962C8B-B14F-4D97-AF65-F5344CB8AC3E}">
        <p14:creationId xmlns:p14="http://schemas.microsoft.com/office/powerpoint/2010/main" val="19368206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E33C0-3F5E-0746-7922-EB04747D4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01B1FA7-24D3-7EA0-A53B-0D013A152C8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 Actions Exercise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709CA-28F5-8B89-FE95-7D4096DF28DB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EC8209C-2CAC-CE32-7B1E-49CACD9A81D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3A1396-494B-F69D-704E-72F53AFFFF65}"/>
              </a:ext>
            </a:extLst>
          </p:cNvPr>
          <p:cNvSpPr txBox="1"/>
          <p:nvPr/>
        </p:nvSpPr>
        <p:spPr>
          <a:xfrm>
            <a:off x="591620" y="1248422"/>
            <a:ext cx="11047930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Github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 Actions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기본 사용 방법 및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CI/CD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워크플로우 구성하기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https://github.com/ancestor9/my-gradio-app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실습 파일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8210C7B-32AE-F1C2-89ED-9F045D12A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870" y="2639855"/>
            <a:ext cx="4056430" cy="3265645"/>
          </a:xfrm>
          <a:prstGeom prst="rect">
            <a:avLst/>
          </a:prstGeom>
        </p:spPr>
      </p:pic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7B0A0425-21A0-7CB5-DAA7-98BEF1730C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0186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D8B7A-DB89-FE54-0CAC-B383B9C9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17C9541-25DE-D61B-075D-D5726EE80C9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deploy.yml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0FAF6E-9718-5E48-D104-52F4CB05D21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EF58C93-CFF4-FCA6-E9D0-DF153293F01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4DB55D-0615-F477-52F2-18CE5A65581B}"/>
              </a:ext>
            </a:extLst>
          </p:cNvPr>
          <p:cNvSpPr txBox="1"/>
          <p:nvPr/>
        </p:nvSpPr>
        <p:spPr>
          <a:xfrm>
            <a:off x="571500" y="1248422"/>
            <a:ext cx="100203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Deploy to Hugging Face Spaces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push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branches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main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jobs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deploy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runs-on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ubuntu-latest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steps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Checkout repository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actions/checkout@v4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fetch-depth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lfs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Push to Hugging Face Space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env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HF_TOKEN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${{ 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secrets.HF_TOKEN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}}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|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git config --global 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user.email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"actions@github.com"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git config --global user.name "GitHub Actions"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git remote add space https://user:$HF_TOKEN@huggingface.co/spaces/ancestor9/my-first-gradio-app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git push --force space main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1FCC6A42-2846-6649-9444-F493371813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4224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40BBE-3BED-8702-F3E1-32B1EF4B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58B3D03-9960-6D7D-8CE3-BAC50D3E217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Readme.md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5D2030-8F27-04B4-FDF0-BCBAF56618A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D283702-3058-8EAB-4AA6-37099308AF6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B97C6-46E6-C890-7A8F-812E312570AA}"/>
              </a:ext>
            </a:extLst>
          </p:cNvPr>
          <p:cNvSpPr txBox="1"/>
          <p:nvPr/>
        </p:nvSpPr>
        <p:spPr>
          <a:xfrm>
            <a:off x="1386423" y="1514207"/>
            <a:ext cx="6462178" cy="462030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My First 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App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emoji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🚀</a:t>
            </a:r>
            <a:endParaRPr lang="ko-KR" altLang="en-US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colorFrom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blue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colorTo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green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sdk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sdk_version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6.21.0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app_file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app.py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pinned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false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간단한 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인터페이스 예제입니다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3F0788F6-5895-75ED-17B6-3C8A2C2F03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7470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3DC86-0CC8-A417-F58C-22184A0B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9EA4143-A38E-0CD8-6467-5120CDAC984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requirements.txt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BD02E-46E6-2C5A-1B01-B09188AFCCA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522C5B0-A438-DC35-9FFE-74C8EABCDBB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C320F-5ABD-04AC-F949-ED05A186ABF8}"/>
              </a:ext>
            </a:extLst>
          </p:cNvPr>
          <p:cNvSpPr txBox="1"/>
          <p:nvPr/>
        </p:nvSpPr>
        <p:spPr>
          <a:xfrm>
            <a:off x="619990" y="1434334"/>
            <a:ext cx="3000665" cy="2863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6.21.0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래픽 6" descr="수영">
            <a:extLst>
              <a:ext uri="{FF2B5EF4-FFF2-40B4-BE49-F238E27FC236}">
                <a16:creationId xmlns:a16="http://schemas.microsoft.com/office/drawing/2014/main" id="{32BE3742-7138-BA32-BC09-60BCA80E69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B8D1BFE-2EB6-9044-65B2-6B7383870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001" y="1434334"/>
            <a:ext cx="6217652" cy="507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213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844CB-6DCE-F00B-D70A-845D2EEF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CEE76A4-13E6-CE66-4BA6-0D232D13D31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app.py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7E555-8DEE-B4CC-ABE8-9B64A1FBF39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5B52623-F24E-2E31-29C1-DE65F09A7A9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8ECEDC-1BC8-6143-B155-63D4DB892953}"/>
              </a:ext>
            </a:extLst>
          </p:cNvPr>
          <p:cNvSpPr txBox="1"/>
          <p:nvPr/>
        </p:nvSpPr>
        <p:spPr>
          <a:xfrm>
            <a:off x="744020" y="1334482"/>
            <a:ext cx="8668355" cy="526297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gr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spaces</a:t>
            </a: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@spaces.GPU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predict(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input_text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GPU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 추론 코드</a:t>
            </a:r>
            <a:endParaRPr lang="ko-KR" altLang="en-US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output</a:t>
            </a: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greet(name):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"Hello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{name}!"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demo =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gr.Interface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=greet,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inputs=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gr.Textbox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(label=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"Type your name ...."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outputs=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gr.Textbox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(label=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"greeting !!!"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title=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Demo app"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description=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"A simple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interface example."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__name__ ==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"__main__"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demo.launch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server_name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"0.0.0.0"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server_port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7860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1C32DA7A-F553-08FD-2A13-4CB17DA42D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38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B3221-BCC2-E73E-5ECE-FC0D08A2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E98970-B8B2-8158-00D9-5C45631744D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Deployment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UI(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gradio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3A0A8B-DCEE-4734-094C-DBA1FD8F4C84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3848BC8-1ABE-0BD9-D867-BEF02A368B6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77C49C9-1C30-EB3E-F23D-FDA9073C7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929" y="1529510"/>
            <a:ext cx="7521592" cy="4732430"/>
          </a:xfrm>
          <a:prstGeom prst="rect">
            <a:avLst/>
          </a:prstGeom>
        </p:spPr>
      </p:pic>
      <p:pic>
        <p:nvPicPr>
          <p:cNvPr id="4" name="그래픽 3" descr="수영">
            <a:extLst>
              <a:ext uri="{FF2B5EF4-FFF2-40B4-BE49-F238E27FC236}">
                <a16:creationId xmlns:a16="http://schemas.microsoft.com/office/drawing/2014/main" id="{453B4CE4-3E16-22A3-4EC3-2511DC714D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831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586F4-6DF0-0DDE-DCB6-39705CABE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C3AFF80-A126-7904-010A-436F3CB5E1F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Vision 1 </a:t>
            </a:r>
            <a:r>
              <a:rPr lang="en-US" altLang="ko-KR" sz="24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: CI/CD </a:t>
            </a:r>
            <a:r>
              <a:rPr lang="en-US" altLang="ko-KR" sz="24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</a:t>
            </a:r>
            <a:r>
              <a:rPr lang="en-US" altLang="ko-KR" sz="24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Actions &amp; </a:t>
            </a:r>
            <a:r>
              <a:rPr lang="en-US" altLang="ko-KR" sz="24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Huggingface</a:t>
            </a:r>
            <a:r>
              <a:rPr lang="en-US" altLang="ko-KR" sz="24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Spaces</a:t>
            </a:r>
            <a:endParaRPr lang="ko-KR" altLang="en-US" sz="24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F440688-2D89-4184-AC00-AD37CB0E7E8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DD182DA-3383-99B8-D341-ED337319E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152" y="2233291"/>
            <a:ext cx="8422012" cy="43137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321EC7-8FC7-0F50-7D26-3D08B06E73A6}"/>
              </a:ext>
            </a:extLst>
          </p:cNvPr>
          <p:cNvSpPr txBox="1"/>
          <p:nvPr/>
        </p:nvSpPr>
        <p:spPr>
          <a:xfrm>
            <a:off x="554181" y="1193006"/>
            <a:ext cx="11162173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전체 흐름 요약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Push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→ GitHub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Actions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실행 → 테스트 통과 →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이미지 빌드 → 레지스트리에 푸시 →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Hugging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Face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Spaces에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자동 배포 → 웹에서 서비스 제공</a:t>
            </a:r>
          </a:p>
        </p:txBody>
      </p:sp>
    </p:spTree>
    <p:extLst>
      <p:ext uri="{BB962C8B-B14F-4D97-AF65-F5344CB8AC3E}">
        <p14:creationId xmlns:p14="http://schemas.microsoft.com/office/powerpoint/2010/main" val="12316265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F85D5-E24E-B833-4C4D-B3B056D31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CD545A-7E04-ABAD-5A16-156673493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endParaRPr lang="ko-KR" altLang="en-US" sz="5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4B690CFB-61F9-C8A8-B334-48F3880A6791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724A80-94EF-A01B-BD87-0B53360B4349}"/>
              </a:ext>
            </a:extLst>
          </p:cNvPr>
          <p:cNvSpPr txBox="1"/>
          <p:nvPr/>
        </p:nvSpPr>
        <p:spPr>
          <a:xfrm>
            <a:off x="855620" y="2752872"/>
            <a:ext cx="9374230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Docker Hub / Docker Desktop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Image, Container</a:t>
            </a:r>
          </a:p>
        </p:txBody>
      </p:sp>
    </p:spTree>
    <p:extLst>
      <p:ext uri="{BB962C8B-B14F-4D97-AF65-F5344CB8AC3E}">
        <p14:creationId xmlns:p14="http://schemas.microsoft.com/office/powerpoint/2010/main" val="21175422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"/>
          <p:cNvSpPr txBox="1">
            <a:spLocks noGrp="1"/>
          </p:cNvSpPr>
          <p:nvPr>
            <p:ph type="title"/>
          </p:nvPr>
        </p:nvSpPr>
        <p:spPr>
          <a:xfrm>
            <a:off x="627467" y="440880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Why SW Virtualization ?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773721" y="1559599"/>
            <a:ext cx="10559297" cy="13388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❖"/>
            </a:pP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Different Programming Language versions : java, python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❖"/>
            </a:pP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Different Data Base versions : MySQL, Postgres, Maria DB, Mongo DB</a:t>
            </a:r>
            <a:endParaRPr sz="1800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❖"/>
            </a:pP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Different Operating Systems (OS application Interface, OS Kernel) : Win, Mac, Linux</a:t>
            </a:r>
            <a:endParaRPr sz="1800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773721" y="4017146"/>
            <a:ext cx="10559297" cy="175432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❖"/>
            </a:pP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의존성(Dependency)를 줄이고 독립(격리)시키는 것이 어떨까?</a:t>
            </a:r>
            <a:endParaRPr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❖"/>
            </a:pP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물리적 독립이 아니라 논리적 가상적(Virtualization) 독립?</a:t>
            </a:r>
            <a:endParaRPr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❖"/>
            </a:pP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가상화가 가능하다면 누구에게나 배포가 가능</a:t>
            </a:r>
            <a:endParaRPr sz="180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❖"/>
            </a:pP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Binary File(bin), Library(lib)만 Image로 만들어 Containing하면 어떨까?</a:t>
            </a:r>
            <a:endParaRPr sz="180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</p:txBody>
      </p:sp>
      <p:cxnSp>
        <p:nvCxnSpPr>
          <p:cNvPr id="182" name="Google Shape;182;p4"/>
          <p:cNvCxnSpPr/>
          <p:nvPr/>
        </p:nvCxnSpPr>
        <p:spPr>
          <a:xfrm>
            <a:off x="4985238" y="3182815"/>
            <a:ext cx="0" cy="624254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D36F06EB-5B43-235E-9529-3E169DC953E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>
            <a:spLocks noGrp="1"/>
          </p:cNvSpPr>
          <p:nvPr>
            <p:ph type="title"/>
          </p:nvPr>
        </p:nvSpPr>
        <p:spPr>
          <a:xfrm>
            <a:off x="853098" y="436686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 err="1"/>
              <a:t>사진기로</a:t>
            </a:r>
            <a:r>
              <a:rPr lang="en-US" dirty="0"/>
              <a:t> </a:t>
            </a:r>
            <a:r>
              <a:rPr lang="en-US" dirty="0" err="1"/>
              <a:t>사진찍고</a:t>
            </a:r>
            <a:r>
              <a:rPr lang="en-US" dirty="0"/>
              <a:t> </a:t>
            </a:r>
            <a:r>
              <a:rPr lang="en-US" dirty="0" err="1"/>
              <a:t>인화하기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189" name="Google Shape;189;p5" descr="사람의 손에 검은 니콘 DSLR 카메라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098" y="1872760"/>
            <a:ext cx="2508739" cy="3763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5" descr="해질녘 나하가르 요새에서 바라본 자이푸르의 조감도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73551" y="2368559"/>
            <a:ext cx="2161829" cy="1441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5" descr="해질녘 나하가르 요새에서 바라본 자이푸르의 조감도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25951" y="2520959"/>
            <a:ext cx="2161829" cy="1441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5" descr="해질녘 나하가르 요새에서 바라본 자이푸르의 조감도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78351" y="2673359"/>
            <a:ext cx="2161829" cy="1441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5" descr="해질녘 나하가르 요새에서 바라본 자이푸르의 조감도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30751" y="2825759"/>
            <a:ext cx="2161829" cy="1441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5" descr="낮에는 해변에 있는 갈색 나무 계단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99474" y="3628109"/>
            <a:ext cx="1557337" cy="233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5" descr="낮에는 해변에 있는 갈색 나무 계단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51874" y="3780509"/>
            <a:ext cx="1557337" cy="233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5" descr="낮에는 해변에 있는 갈색 나무 계단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04274" y="3932909"/>
            <a:ext cx="1557337" cy="233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5" descr="낮에는 해변에 있는 갈색 나무 계단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56674" y="4085309"/>
            <a:ext cx="1557337" cy="23360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5"/>
          <p:cNvCxnSpPr/>
          <p:nvPr/>
        </p:nvCxnSpPr>
        <p:spPr>
          <a:xfrm rot="10800000" flipH="1">
            <a:off x="7546973" y="3408485"/>
            <a:ext cx="386862" cy="8611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C6038D53-5F7A-1203-03D4-1E4E781004C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EB070-3097-7345-3A7F-ED03FC84DF40}"/>
              </a:ext>
            </a:extLst>
          </p:cNvPr>
          <p:cNvSpPr txBox="1"/>
          <p:nvPr/>
        </p:nvSpPr>
        <p:spPr>
          <a:xfrm>
            <a:off x="1657568" y="1473792"/>
            <a:ext cx="899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2F8501-8873-9D33-3105-CF15644AA24F}"/>
              </a:ext>
            </a:extLst>
          </p:cNvPr>
          <p:cNvSpPr txBox="1"/>
          <p:nvPr/>
        </p:nvSpPr>
        <p:spPr>
          <a:xfrm>
            <a:off x="5367896" y="147379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9069E9-01A8-D957-1100-34908410F015}"/>
              </a:ext>
            </a:extLst>
          </p:cNvPr>
          <p:cNvSpPr txBox="1"/>
          <p:nvPr/>
        </p:nvSpPr>
        <p:spPr>
          <a:xfrm>
            <a:off x="9674318" y="1473792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Container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래픽 9" descr="오른쪽 화살표 단색으로 채워진">
            <a:extLst>
              <a:ext uri="{FF2B5EF4-FFF2-40B4-BE49-F238E27FC236}">
                <a16:creationId xmlns:a16="http://schemas.microsoft.com/office/drawing/2014/main" id="{199C9306-745C-BB7E-4536-EAFB6A9F4F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CB7824A-C33B-9579-481E-DD73B10E7DFA}"/>
              </a:ext>
            </a:extLst>
          </p:cNvPr>
          <p:cNvCxnSpPr>
            <a:cxnSpLocks/>
          </p:cNvCxnSpPr>
          <p:nvPr/>
        </p:nvCxnSpPr>
        <p:spPr>
          <a:xfrm>
            <a:off x="3731491" y="3158836"/>
            <a:ext cx="44611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0" name="Google Shape;190;p5" descr="창문 앞 빨랫줄에 걸려 있는 옷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15331" y="2452146"/>
            <a:ext cx="2493483" cy="1663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822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>
            <a:spLocks noGrp="1"/>
          </p:cNvSpPr>
          <p:nvPr>
            <p:ph type="title"/>
          </p:nvPr>
        </p:nvSpPr>
        <p:spPr>
          <a:xfrm>
            <a:off x="537021" y="456614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ko-KR" altLang="en-US" dirty="0"/>
              <a:t>가상화</a:t>
            </a:r>
            <a:r>
              <a:rPr lang="en-US" altLang="ko-KR" dirty="0"/>
              <a:t>(</a:t>
            </a:r>
            <a:r>
              <a:rPr lang="en-US" altLang="ko-KR" dirty="0" err="1"/>
              <a:t>Virtualizaion</a:t>
            </a:r>
            <a:r>
              <a:rPr lang="en-US" altLang="ko-KR" dirty="0"/>
              <a:t>) </a:t>
            </a:r>
            <a:r>
              <a:rPr lang="ko-KR" altLang="en-US" dirty="0"/>
              <a:t>종류</a:t>
            </a:r>
            <a:endParaRPr dirty="0"/>
          </a:p>
        </p:txBody>
      </p:sp>
      <p:sp>
        <p:nvSpPr>
          <p:cNvPr id="2" name="Google Shape;960;p66">
            <a:extLst>
              <a:ext uri="{FF2B5EF4-FFF2-40B4-BE49-F238E27FC236}">
                <a16:creationId xmlns:a16="http://schemas.microsoft.com/office/drawing/2014/main" id="{9A5E0F03-033D-5F9B-F9D6-8922F594B74B}"/>
              </a:ext>
            </a:extLst>
          </p:cNvPr>
          <p:cNvSpPr txBox="1"/>
          <p:nvPr/>
        </p:nvSpPr>
        <p:spPr>
          <a:xfrm>
            <a:off x="785998" y="1396493"/>
            <a:ext cx="1095159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1. </a:t>
            </a:r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머신 가상화 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– (virtual</a:t>
            </a:r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machine,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virtualbox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, WSL)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다수의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를 동시에 실행하는 플랫폼으로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하이퍼바이저에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를 설치하여 운영하는 구조이며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여러 가지 종류의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하이퍼바이저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(Hypervisor)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가 존재하게 되며 대표적으로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virtualbox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wsl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등이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있음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lvl="0">
              <a:lnSpc>
                <a:spcPct val="150000"/>
              </a:lnSpc>
              <a:buClr>
                <a:schemeClr val="tx1"/>
              </a:buClr>
              <a:buSzPts val="1800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2. OS </a:t>
            </a:r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수준 가상화 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- (docker)</a:t>
            </a:r>
          </a:p>
          <a:p>
            <a:pPr marL="285750" lvl="8" indent="-285750">
              <a:lnSpc>
                <a:spcPct val="150000"/>
              </a:lnSpc>
              <a:buClr>
                <a:schemeClr val="tx1"/>
              </a:buClr>
              <a:buSzPts val="1800"/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하나의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OS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커널을 여러 개의 공간으로 격리하여 각각의 컨테이너가 마치 독립된 것처럼 사용하여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를 새로 설치하지 않고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host OS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의 커널을 공유하게 되어 실행 속도가 빠르고 성능 상의 손실이 적다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사용자에게는 가상머신처럼 보임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v"/>
            </a:pPr>
            <a:endParaRPr lang="en-US" altLang="ko-KR" sz="1800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3. </a:t>
            </a:r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개발 환경 가상화 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등 특정 폴더를 가상환경으로 만들어서 라이브러리나 소스코드를 관리하는 가상화 방식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494A71-942F-03D5-B107-D1137729C03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9140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>
            <a:spLocks noGrp="1"/>
          </p:cNvSpPr>
          <p:nvPr>
            <p:ph type="title"/>
          </p:nvPr>
        </p:nvSpPr>
        <p:spPr>
          <a:xfrm>
            <a:off x="913795" y="456614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b="1" dirty="0"/>
              <a:t>Traditional Installation before docker</a:t>
            </a:r>
            <a:endParaRPr dirty="0"/>
          </a:p>
        </p:txBody>
      </p:sp>
      <p:sp>
        <p:nvSpPr>
          <p:cNvPr id="220" name="Google Shape;220;p7"/>
          <p:cNvSpPr txBox="1"/>
          <p:nvPr/>
        </p:nvSpPr>
        <p:spPr>
          <a:xfrm>
            <a:off x="2363578" y="5004354"/>
            <a:ext cx="1944262" cy="314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생활코딩_Docker</a:t>
            </a:r>
            <a:endParaRPr sz="14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21" name="Google Shape;221;p7" descr="Deployment evolution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222" name="Google Shape;22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3871" y="1993204"/>
            <a:ext cx="7153610" cy="287159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/>
        </p:nvSpPr>
        <p:spPr>
          <a:xfrm>
            <a:off x="3688080" y="202692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Network:port</a:t>
            </a:r>
            <a:endParaRPr sz="1800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876A7A97-CD42-2F39-FDE8-7AB301AF41E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1C790C1B-0980-DE3B-3CF1-4537319D9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761;p47">
            <a:extLst>
              <a:ext uri="{FF2B5EF4-FFF2-40B4-BE49-F238E27FC236}">
                <a16:creationId xmlns:a16="http://schemas.microsoft.com/office/drawing/2014/main" id="{7BA76E42-547B-7D5F-EB23-CE877DC6E6A0}"/>
              </a:ext>
            </a:extLst>
          </p:cNvPr>
          <p:cNvCxnSpPr>
            <a:cxnSpLocks/>
          </p:cNvCxnSpPr>
          <p:nvPr/>
        </p:nvCxnSpPr>
        <p:spPr>
          <a:xfrm flipV="1">
            <a:off x="1022458" y="3484492"/>
            <a:ext cx="10610780" cy="58858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ysDash"/>
            <a:round/>
            <a:headEnd type="none" w="sm" len="sm"/>
            <a:tailEnd type="none" w="sm" len="sm"/>
          </a:ln>
        </p:spPr>
      </p:cxnSp>
      <p:sp>
        <p:nvSpPr>
          <p:cNvPr id="228" name="Google Shape;228;p8">
            <a:extLst>
              <a:ext uri="{FF2B5EF4-FFF2-40B4-BE49-F238E27FC236}">
                <a16:creationId xmlns:a16="http://schemas.microsoft.com/office/drawing/2014/main" id="{F2D2BD2D-CCF8-6546-4872-8221EE31A8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9119" y="445126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1. Virtual Machine (Linux)</a:t>
            </a:r>
            <a:endParaRPr dirty="0"/>
          </a:p>
        </p:txBody>
      </p:sp>
      <p:sp>
        <p:nvSpPr>
          <p:cNvPr id="230" name="Google Shape;230;p8">
            <a:extLst>
              <a:ext uri="{FF2B5EF4-FFF2-40B4-BE49-F238E27FC236}">
                <a16:creationId xmlns:a16="http://schemas.microsoft.com/office/drawing/2014/main" id="{A1A59530-D3E6-7BF8-01A1-6B0216079CC4}"/>
              </a:ext>
            </a:extLst>
          </p:cNvPr>
          <p:cNvSpPr txBox="1"/>
          <p:nvPr/>
        </p:nvSpPr>
        <p:spPr>
          <a:xfrm>
            <a:off x="1022458" y="6124240"/>
            <a:ext cx="1944262" cy="314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sng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생활코딩_Docker</a:t>
            </a:r>
            <a:endParaRPr sz="1400" b="1" dirty="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A8B20A42-BC08-DA7D-E871-B1CA11C96BE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EB93BA-266D-998B-0B04-0BB5FF133A15}"/>
              </a:ext>
            </a:extLst>
          </p:cNvPr>
          <p:cNvSpPr txBox="1"/>
          <p:nvPr/>
        </p:nvSpPr>
        <p:spPr>
          <a:xfrm>
            <a:off x="7065818" y="1920806"/>
            <a:ext cx="1774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가상 컴퓨터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1</a:t>
            </a:r>
          </a:p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(Linux # 1)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6" name="Google Shape;761;p47">
            <a:extLst>
              <a:ext uri="{FF2B5EF4-FFF2-40B4-BE49-F238E27FC236}">
                <a16:creationId xmlns:a16="http://schemas.microsoft.com/office/drawing/2014/main" id="{1A938AF3-C738-FF3D-85E2-4EA2F0B4BFC1}"/>
              </a:ext>
            </a:extLst>
          </p:cNvPr>
          <p:cNvCxnSpPr/>
          <p:nvPr/>
        </p:nvCxnSpPr>
        <p:spPr>
          <a:xfrm>
            <a:off x="506243" y="5797687"/>
            <a:ext cx="11126995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766;p47">
            <a:extLst>
              <a:ext uri="{FF2B5EF4-FFF2-40B4-BE49-F238E27FC236}">
                <a16:creationId xmlns:a16="http://schemas.microsoft.com/office/drawing/2014/main" id="{F3218B0F-62B3-7597-534E-4FCA09F591DE}"/>
              </a:ext>
            </a:extLst>
          </p:cNvPr>
          <p:cNvSpPr txBox="1"/>
          <p:nvPr/>
        </p:nvSpPr>
        <p:spPr>
          <a:xfrm>
            <a:off x="894215" y="5797687"/>
            <a:ext cx="887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H/W</a:t>
            </a:r>
            <a:endParaRPr sz="1800" b="1" dirty="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11" name="Google Shape;767;p47">
            <a:extLst>
              <a:ext uri="{FF2B5EF4-FFF2-40B4-BE49-F238E27FC236}">
                <a16:creationId xmlns:a16="http://schemas.microsoft.com/office/drawing/2014/main" id="{B069368A-C2FA-9EEB-AFAE-A5954BFDC879}"/>
              </a:ext>
            </a:extLst>
          </p:cNvPr>
          <p:cNvSpPr txBox="1"/>
          <p:nvPr/>
        </p:nvSpPr>
        <p:spPr>
          <a:xfrm>
            <a:off x="894215" y="5261755"/>
            <a:ext cx="887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S/W</a:t>
            </a:r>
            <a:endParaRPr sz="1800" b="1" dirty="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17" name="Google Shape;773;p47">
            <a:extLst>
              <a:ext uri="{FF2B5EF4-FFF2-40B4-BE49-F238E27FC236}">
                <a16:creationId xmlns:a16="http://schemas.microsoft.com/office/drawing/2014/main" id="{3CF69F1B-8590-8EC6-48B8-AC227448BC26}"/>
              </a:ext>
            </a:extLst>
          </p:cNvPr>
          <p:cNvSpPr/>
          <p:nvPr/>
        </p:nvSpPr>
        <p:spPr>
          <a:xfrm>
            <a:off x="1995977" y="5913069"/>
            <a:ext cx="2768471" cy="602603"/>
          </a:xfrm>
          <a:prstGeom prst="rect">
            <a:avLst/>
          </a:prstGeom>
          <a:solidFill>
            <a:srgbClr val="76E3FF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NIC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(Network Interface Card)</a:t>
            </a:r>
            <a:endParaRPr sz="1600" b="1" dirty="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18" name="Google Shape;774;p47">
            <a:extLst>
              <a:ext uri="{FF2B5EF4-FFF2-40B4-BE49-F238E27FC236}">
                <a16:creationId xmlns:a16="http://schemas.microsoft.com/office/drawing/2014/main" id="{CA98B2B2-23CD-9527-3E42-2A907C6E7028}"/>
              </a:ext>
            </a:extLst>
          </p:cNvPr>
          <p:cNvSpPr/>
          <p:nvPr/>
        </p:nvSpPr>
        <p:spPr>
          <a:xfrm>
            <a:off x="2376186" y="4991758"/>
            <a:ext cx="2097745" cy="602603"/>
          </a:xfrm>
          <a:prstGeom prst="rect">
            <a:avLst/>
          </a:prstGeom>
          <a:solidFill>
            <a:srgbClr val="A5A5A5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Driver</a:t>
            </a:r>
            <a:endParaRPr sz="1800" b="1" dirty="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19" name="Google Shape;775;p47">
            <a:extLst>
              <a:ext uri="{FF2B5EF4-FFF2-40B4-BE49-F238E27FC236}">
                <a16:creationId xmlns:a16="http://schemas.microsoft.com/office/drawing/2014/main" id="{0FE0CAA7-68D1-178D-B7BC-1F3C205BC288}"/>
              </a:ext>
            </a:extLst>
          </p:cNvPr>
          <p:cNvSpPr/>
          <p:nvPr/>
        </p:nvSpPr>
        <p:spPr>
          <a:xfrm>
            <a:off x="2376186" y="3521978"/>
            <a:ext cx="2097745" cy="602603"/>
          </a:xfrm>
          <a:prstGeom prst="rect">
            <a:avLst/>
          </a:prstGeom>
          <a:solidFill>
            <a:srgbClr val="A5A5A5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TCP</a:t>
            </a:r>
            <a:endParaRPr sz="1800" b="1" dirty="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20" name="Google Shape;776;p47">
            <a:extLst>
              <a:ext uri="{FF2B5EF4-FFF2-40B4-BE49-F238E27FC236}">
                <a16:creationId xmlns:a16="http://schemas.microsoft.com/office/drawing/2014/main" id="{45B260BF-F773-BD2C-FC25-40B20649F7A0}"/>
              </a:ext>
            </a:extLst>
          </p:cNvPr>
          <p:cNvSpPr/>
          <p:nvPr/>
        </p:nvSpPr>
        <p:spPr>
          <a:xfrm>
            <a:off x="2376186" y="4256868"/>
            <a:ext cx="2097745" cy="602603"/>
          </a:xfrm>
          <a:prstGeom prst="rect">
            <a:avLst/>
          </a:prstGeom>
          <a:solidFill>
            <a:srgbClr val="A5A5A5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IP</a:t>
            </a:r>
            <a:endParaRPr sz="1800" b="1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6243C35-B8BD-ADF2-9F00-3A9DC2D3694A}"/>
              </a:ext>
            </a:extLst>
          </p:cNvPr>
          <p:cNvSpPr/>
          <p:nvPr/>
        </p:nvSpPr>
        <p:spPr>
          <a:xfrm>
            <a:off x="2760039" y="2741978"/>
            <a:ext cx="1330036" cy="758514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File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(Socket)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Google Shape;767;p47">
            <a:extLst>
              <a:ext uri="{FF2B5EF4-FFF2-40B4-BE49-F238E27FC236}">
                <a16:creationId xmlns:a16="http://schemas.microsoft.com/office/drawing/2014/main" id="{F5C015F7-931A-EBD2-B18F-824551D14307}"/>
              </a:ext>
            </a:extLst>
          </p:cNvPr>
          <p:cNvSpPr txBox="1"/>
          <p:nvPr/>
        </p:nvSpPr>
        <p:spPr>
          <a:xfrm>
            <a:off x="894215" y="3563640"/>
            <a:ext cx="16215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Kernel mode</a:t>
            </a:r>
            <a:endParaRPr sz="1800" b="1" dirty="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29" name="Google Shape;767;p47">
            <a:extLst>
              <a:ext uri="{FF2B5EF4-FFF2-40B4-BE49-F238E27FC236}">
                <a16:creationId xmlns:a16="http://schemas.microsoft.com/office/drawing/2014/main" id="{C2CA44C2-48CB-290C-52E6-984F8D4C4A2B}"/>
              </a:ext>
            </a:extLst>
          </p:cNvPr>
          <p:cNvSpPr txBox="1"/>
          <p:nvPr/>
        </p:nvSpPr>
        <p:spPr>
          <a:xfrm>
            <a:off x="894215" y="3115200"/>
            <a:ext cx="16215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User mode</a:t>
            </a:r>
            <a:endParaRPr sz="1800" b="1" dirty="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30" name="순서도: 종속 처리 29">
            <a:extLst>
              <a:ext uri="{FF2B5EF4-FFF2-40B4-BE49-F238E27FC236}">
                <a16:creationId xmlns:a16="http://schemas.microsoft.com/office/drawing/2014/main" id="{295902D9-C2DB-DF98-6ACA-FBC9F96422AB}"/>
              </a:ext>
            </a:extLst>
          </p:cNvPr>
          <p:cNvSpPr/>
          <p:nvPr/>
        </p:nvSpPr>
        <p:spPr>
          <a:xfrm>
            <a:off x="2604656" y="2076570"/>
            <a:ext cx="1736437" cy="65869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Process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B0C91E-974E-9E46-8F75-2EEA7FD4875B}"/>
              </a:ext>
            </a:extLst>
          </p:cNvPr>
          <p:cNvSpPr txBox="1"/>
          <p:nvPr/>
        </p:nvSpPr>
        <p:spPr>
          <a:xfrm>
            <a:off x="9859074" y="1920805"/>
            <a:ext cx="1774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가상 컴퓨터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1</a:t>
            </a:r>
          </a:p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(Linux # 2)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F0E077BE-41A1-9598-614F-CE2B542C6EF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26493" y="2493014"/>
            <a:ext cx="2678245" cy="2953407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82F6FFA6-DC93-A102-C103-BE5C4173ADA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256061" y="2454515"/>
            <a:ext cx="2678245" cy="2953407"/>
          </a:xfrm>
          <a:prstGeom prst="rect">
            <a:avLst/>
          </a:prstGeom>
        </p:spPr>
      </p:pic>
      <p:sp>
        <p:nvSpPr>
          <p:cNvPr id="48" name="직사각형 47">
            <a:extLst>
              <a:ext uri="{FF2B5EF4-FFF2-40B4-BE49-F238E27FC236}">
                <a16:creationId xmlns:a16="http://schemas.microsoft.com/office/drawing/2014/main" id="{0004EB0D-6A18-71D9-90B7-7B17D9CF382A}"/>
              </a:ext>
            </a:extLst>
          </p:cNvPr>
          <p:cNvSpPr/>
          <p:nvPr/>
        </p:nvSpPr>
        <p:spPr>
          <a:xfrm>
            <a:off x="4969164" y="5423694"/>
            <a:ext cx="1306006" cy="310465"/>
          </a:xfrm>
          <a:prstGeom prst="rect">
            <a:avLst/>
          </a:prstGeom>
          <a:solidFill>
            <a:srgbClr val="76E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VMnet</a:t>
            </a:r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0</a:t>
            </a:r>
            <a:endParaRPr lang="ko-KR" altLang="en-US" sz="14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D499F6B-4E42-CC1E-85AB-2A6034E445B4}"/>
              </a:ext>
            </a:extLst>
          </p:cNvPr>
          <p:cNvSpPr/>
          <p:nvPr/>
        </p:nvSpPr>
        <p:spPr>
          <a:xfrm>
            <a:off x="7533976" y="5423694"/>
            <a:ext cx="1306006" cy="31046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VMnet</a:t>
            </a:r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1</a:t>
            </a:r>
            <a:endParaRPr lang="ko-KR" altLang="en-US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883BDE2-038D-959A-9942-9463871070B9}"/>
              </a:ext>
            </a:extLst>
          </p:cNvPr>
          <p:cNvSpPr/>
          <p:nvPr/>
        </p:nvSpPr>
        <p:spPr>
          <a:xfrm>
            <a:off x="10327232" y="5423694"/>
            <a:ext cx="1306006" cy="31046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VMnet</a:t>
            </a:r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1</a:t>
            </a:r>
            <a:endParaRPr lang="ko-KR" altLang="en-US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29161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"/>
          <p:cNvSpPr txBox="1">
            <a:spLocks noGrp="1"/>
          </p:cNvSpPr>
          <p:nvPr>
            <p:ph type="title"/>
          </p:nvPr>
        </p:nvSpPr>
        <p:spPr>
          <a:xfrm>
            <a:off x="919119" y="445126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1. Virtual Machine (Linux)</a:t>
            </a:r>
            <a:endParaRPr dirty="0"/>
          </a:p>
        </p:txBody>
      </p:sp>
      <p:sp>
        <p:nvSpPr>
          <p:cNvPr id="230" name="Google Shape;230;p8"/>
          <p:cNvSpPr txBox="1"/>
          <p:nvPr/>
        </p:nvSpPr>
        <p:spPr>
          <a:xfrm>
            <a:off x="1022458" y="5773261"/>
            <a:ext cx="1944262" cy="314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생활코딩_Docker</a:t>
            </a:r>
            <a:endParaRPr sz="14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31" name="Google Shape;231;p8" descr="Deployment evolution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232" name="Google Shape;23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35490" y="2287035"/>
            <a:ext cx="8025819" cy="364356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B5E3E6E2-0D72-A3AF-4B20-D7F28EBD27D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AC48C0-1DE2-1145-9C51-0B9CDE01B442}"/>
              </a:ext>
            </a:extLst>
          </p:cNvPr>
          <p:cNvSpPr txBox="1"/>
          <p:nvPr/>
        </p:nvSpPr>
        <p:spPr>
          <a:xfrm>
            <a:off x="581891" y="12599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가상 컴퓨터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285937E0-9534-3046-5727-792B25C4B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761;p47">
            <a:extLst>
              <a:ext uri="{FF2B5EF4-FFF2-40B4-BE49-F238E27FC236}">
                <a16:creationId xmlns:a16="http://schemas.microsoft.com/office/drawing/2014/main" id="{CF7AE3EC-51B4-5F90-DC1F-6BAE05821D1E}"/>
              </a:ext>
            </a:extLst>
          </p:cNvPr>
          <p:cNvCxnSpPr>
            <a:cxnSpLocks/>
          </p:cNvCxnSpPr>
          <p:nvPr/>
        </p:nvCxnSpPr>
        <p:spPr>
          <a:xfrm flipV="1">
            <a:off x="1022458" y="3484492"/>
            <a:ext cx="10610780" cy="58858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ysDash"/>
            <a:round/>
            <a:headEnd type="none" w="sm" len="sm"/>
            <a:tailEnd type="none" w="sm" len="sm"/>
          </a:ln>
        </p:spPr>
      </p:cxnSp>
      <p:sp>
        <p:nvSpPr>
          <p:cNvPr id="228" name="Google Shape;228;p8">
            <a:extLst>
              <a:ext uri="{FF2B5EF4-FFF2-40B4-BE49-F238E27FC236}">
                <a16:creationId xmlns:a16="http://schemas.microsoft.com/office/drawing/2014/main" id="{FCD4F018-D2A9-095E-3C99-DBE07D6141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9119" y="445126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lnSpc>
                <a:spcPct val="90000"/>
              </a:lnSpc>
              <a:spcBef>
                <a:spcPts val="0"/>
              </a:spcBef>
              <a:buClr>
                <a:schemeClr val="lt2"/>
              </a:buClr>
              <a:buSzPts val="3200"/>
            </a:pPr>
            <a:r>
              <a:rPr lang="en-US" altLang="ko-KR" dirty="0"/>
              <a:t>2. Docker</a:t>
            </a:r>
            <a:endParaRPr dirty="0"/>
          </a:p>
        </p:txBody>
      </p:sp>
      <p:sp>
        <p:nvSpPr>
          <p:cNvPr id="230" name="Google Shape;230;p8">
            <a:extLst>
              <a:ext uri="{FF2B5EF4-FFF2-40B4-BE49-F238E27FC236}">
                <a16:creationId xmlns:a16="http://schemas.microsoft.com/office/drawing/2014/main" id="{D822EBB8-A2B0-E3FF-C514-0F029F7D3C16}"/>
              </a:ext>
            </a:extLst>
          </p:cNvPr>
          <p:cNvSpPr txBox="1"/>
          <p:nvPr/>
        </p:nvSpPr>
        <p:spPr>
          <a:xfrm>
            <a:off x="1022458" y="6124240"/>
            <a:ext cx="1944262" cy="314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sng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생활코딩_Docker</a:t>
            </a:r>
            <a:endParaRPr sz="1400" b="1" dirty="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65D656AE-3EA5-132C-5144-06448B60612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cxnSp>
        <p:nvCxnSpPr>
          <p:cNvPr id="6" name="Google Shape;761;p47">
            <a:extLst>
              <a:ext uri="{FF2B5EF4-FFF2-40B4-BE49-F238E27FC236}">
                <a16:creationId xmlns:a16="http://schemas.microsoft.com/office/drawing/2014/main" id="{F9B262C9-E482-4BF3-6D75-86F74179710D}"/>
              </a:ext>
            </a:extLst>
          </p:cNvPr>
          <p:cNvCxnSpPr/>
          <p:nvPr/>
        </p:nvCxnSpPr>
        <p:spPr>
          <a:xfrm>
            <a:off x="506243" y="5797687"/>
            <a:ext cx="11126995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766;p47">
            <a:extLst>
              <a:ext uri="{FF2B5EF4-FFF2-40B4-BE49-F238E27FC236}">
                <a16:creationId xmlns:a16="http://schemas.microsoft.com/office/drawing/2014/main" id="{C5EFCF77-1031-9B12-C955-68C98EF33CB7}"/>
              </a:ext>
            </a:extLst>
          </p:cNvPr>
          <p:cNvSpPr txBox="1"/>
          <p:nvPr/>
        </p:nvSpPr>
        <p:spPr>
          <a:xfrm>
            <a:off x="894215" y="5797687"/>
            <a:ext cx="887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H/W</a:t>
            </a:r>
            <a:endParaRPr sz="1800" b="1" dirty="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11" name="Google Shape;767;p47">
            <a:extLst>
              <a:ext uri="{FF2B5EF4-FFF2-40B4-BE49-F238E27FC236}">
                <a16:creationId xmlns:a16="http://schemas.microsoft.com/office/drawing/2014/main" id="{78C38088-8A9C-7679-F517-3F1489FFCD31}"/>
              </a:ext>
            </a:extLst>
          </p:cNvPr>
          <p:cNvSpPr txBox="1"/>
          <p:nvPr/>
        </p:nvSpPr>
        <p:spPr>
          <a:xfrm>
            <a:off x="894215" y="5261755"/>
            <a:ext cx="887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S/W</a:t>
            </a:r>
            <a:endParaRPr sz="1800" b="1" dirty="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17" name="Google Shape;773;p47">
            <a:extLst>
              <a:ext uri="{FF2B5EF4-FFF2-40B4-BE49-F238E27FC236}">
                <a16:creationId xmlns:a16="http://schemas.microsoft.com/office/drawing/2014/main" id="{ADC638A7-A5E6-B493-9E57-A09C2D5DD7E2}"/>
              </a:ext>
            </a:extLst>
          </p:cNvPr>
          <p:cNvSpPr/>
          <p:nvPr/>
        </p:nvSpPr>
        <p:spPr>
          <a:xfrm>
            <a:off x="5323244" y="5995204"/>
            <a:ext cx="2768471" cy="602603"/>
          </a:xfrm>
          <a:prstGeom prst="rect">
            <a:avLst/>
          </a:prstGeom>
          <a:solidFill>
            <a:srgbClr val="76E3FF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NIC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(Network Interface Card)</a:t>
            </a:r>
            <a:endParaRPr sz="1600" b="1" dirty="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18" name="Google Shape;774;p47">
            <a:extLst>
              <a:ext uri="{FF2B5EF4-FFF2-40B4-BE49-F238E27FC236}">
                <a16:creationId xmlns:a16="http://schemas.microsoft.com/office/drawing/2014/main" id="{E3F6E70C-FFE6-A454-8D29-0159594A5742}"/>
              </a:ext>
            </a:extLst>
          </p:cNvPr>
          <p:cNvSpPr/>
          <p:nvPr/>
        </p:nvSpPr>
        <p:spPr>
          <a:xfrm>
            <a:off x="5703453" y="5073893"/>
            <a:ext cx="2097745" cy="602603"/>
          </a:xfrm>
          <a:prstGeom prst="rect">
            <a:avLst/>
          </a:prstGeom>
          <a:solidFill>
            <a:srgbClr val="A5A5A5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Driver</a:t>
            </a:r>
            <a:endParaRPr sz="1800" b="1" dirty="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19" name="Google Shape;775;p47">
            <a:extLst>
              <a:ext uri="{FF2B5EF4-FFF2-40B4-BE49-F238E27FC236}">
                <a16:creationId xmlns:a16="http://schemas.microsoft.com/office/drawing/2014/main" id="{4C3CA193-EC85-A92C-832A-BD4FB8269B89}"/>
              </a:ext>
            </a:extLst>
          </p:cNvPr>
          <p:cNvSpPr/>
          <p:nvPr/>
        </p:nvSpPr>
        <p:spPr>
          <a:xfrm>
            <a:off x="5703453" y="3604113"/>
            <a:ext cx="2097745" cy="602603"/>
          </a:xfrm>
          <a:prstGeom prst="rect">
            <a:avLst/>
          </a:prstGeom>
          <a:solidFill>
            <a:srgbClr val="A5A5A5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TCP</a:t>
            </a:r>
            <a:endParaRPr sz="1800" b="1" dirty="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20" name="Google Shape;776;p47">
            <a:extLst>
              <a:ext uri="{FF2B5EF4-FFF2-40B4-BE49-F238E27FC236}">
                <a16:creationId xmlns:a16="http://schemas.microsoft.com/office/drawing/2014/main" id="{0AE02803-D600-6A37-BC39-C3F9E3F57856}"/>
              </a:ext>
            </a:extLst>
          </p:cNvPr>
          <p:cNvSpPr/>
          <p:nvPr/>
        </p:nvSpPr>
        <p:spPr>
          <a:xfrm>
            <a:off x="5703453" y="4339003"/>
            <a:ext cx="2097745" cy="602603"/>
          </a:xfrm>
          <a:prstGeom prst="rect">
            <a:avLst/>
          </a:prstGeom>
          <a:solidFill>
            <a:srgbClr val="A5A5A5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IP</a:t>
            </a:r>
            <a:endParaRPr sz="1800" b="1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D1396F48-FE04-8214-5CBF-288B23F67B14}"/>
              </a:ext>
            </a:extLst>
          </p:cNvPr>
          <p:cNvSpPr/>
          <p:nvPr/>
        </p:nvSpPr>
        <p:spPr>
          <a:xfrm>
            <a:off x="2760039" y="2688839"/>
            <a:ext cx="1330036" cy="758514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File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(Socket)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Google Shape;767;p47">
            <a:extLst>
              <a:ext uri="{FF2B5EF4-FFF2-40B4-BE49-F238E27FC236}">
                <a16:creationId xmlns:a16="http://schemas.microsoft.com/office/drawing/2014/main" id="{F9A7A9F1-31D8-50BA-A713-46D5675A22B6}"/>
              </a:ext>
            </a:extLst>
          </p:cNvPr>
          <p:cNvSpPr txBox="1"/>
          <p:nvPr/>
        </p:nvSpPr>
        <p:spPr>
          <a:xfrm>
            <a:off x="894215" y="3563640"/>
            <a:ext cx="16215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Kernel mode</a:t>
            </a:r>
            <a:endParaRPr sz="1800" b="1" dirty="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29" name="Google Shape;767;p47">
            <a:extLst>
              <a:ext uri="{FF2B5EF4-FFF2-40B4-BE49-F238E27FC236}">
                <a16:creationId xmlns:a16="http://schemas.microsoft.com/office/drawing/2014/main" id="{1FBC9C75-FBD3-F1BE-458A-3B92D32178D3}"/>
              </a:ext>
            </a:extLst>
          </p:cNvPr>
          <p:cNvSpPr txBox="1"/>
          <p:nvPr/>
        </p:nvSpPr>
        <p:spPr>
          <a:xfrm>
            <a:off x="894215" y="3115200"/>
            <a:ext cx="16215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User mode</a:t>
            </a:r>
            <a:endParaRPr sz="1800" b="1" dirty="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30" name="순서도: 종속 처리 29">
            <a:extLst>
              <a:ext uri="{FF2B5EF4-FFF2-40B4-BE49-F238E27FC236}">
                <a16:creationId xmlns:a16="http://schemas.microsoft.com/office/drawing/2014/main" id="{B765836A-B4E8-29F8-E64E-05699A760F9F}"/>
              </a:ext>
            </a:extLst>
          </p:cNvPr>
          <p:cNvSpPr/>
          <p:nvPr/>
        </p:nvSpPr>
        <p:spPr>
          <a:xfrm>
            <a:off x="2604656" y="2023431"/>
            <a:ext cx="1736437" cy="65869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Process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F6622D9-0D7C-DC59-FA4A-D493EC2D388D}"/>
              </a:ext>
            </a:extLst>
          </p:cNvPr>
          <p:cNvSpPr/>
          <p:nvPr/>
        </p:nvSpPr>
        <p:spPr>
          <a:xfrm>
            <a:off x="6579438" y="2688839"/>
            <a:ext cx="1330036" cy="758514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File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(Socket)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순서도: 종속 처리 14">
            <a:extLst>
              <a:ext uri="{FF2B5EF4-FFF2-40B4-BE49-F238E27FC236}">
                <a16:creationId xmlns:a16="http://schemas.microsoft.com/office/drawing/2014/main" id="{07DA1A94-AB27-530B-6B6B-676D3F4B7F61}"/>
              </a:ext>
            </a:extLst>
          </p:cNvPr>
          <p:cNvSpPr/>
          <p:nvPr/>
        </p:nvSpPr>
        <p:spPr>
          <a:xfrm>
            <a:off x="6424055" y="2023431"/>
            <a:ext cx="1736437" cy="65869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Process</a:t>
            </a:r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3B1D25E-7282-960F-3F0F-C7FA26061B7C}"/>
              </a:ext>
            </a:extLst>
          </p:cNvPr>
          <p:cNvSpPr/>
          <p:nvPr/>
        </p:nvSpPr>
        <p:spPr>
          <a:xfrm>
            <a:off x="9771097" y="2688839"/>
            <a:ext cx="1330036" cy="758514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File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(Socket)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순서도: 종속 처리 24">
            <a:extLst>
              <a:ext uri="{FF2B5EF4-FFF2-40B4-BE49-F238E27FC236}">
                <a16:creationId xmlns:a16="http://schemas.microsoft.com/office/drawing/2014/main" id="{8BE38BD5-8963-FDC2-5BEF-7F532BF4401F}"/>
              </a:ext>
            </a:extLst>
          </p:cNvPr>
          <p:cNvSpPr/>
          <p:nvPr/>
        </p:nvSpPr>
        <p:spPr>
          <a:xfrm>
            <a:off x="9615714" y="2023431"/>
            <a:ext cx="1736437" cy="65869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Process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44330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6A294BB5-18BF-13ED-3F59-48A17F004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">
            <a:extLst>
              <a:ext uri="{FF2B5EF4-FFF2-40B4-BE49-F238E27FC236}">
                <a16:creationId xmlns:a16="http://schemas.microsoft.com/office/drawing/2014/main" id="{9D1CE9FF-5611-11AE-F8ED-CD52433761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9119" y="445126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lnSpc>
                <a:spcPct val="90000"/>
              </a:lnSpc>
              <a:spcBef>
                <a:spcPts val="0"/>
              </a:spcBef>
              <a:buClr>
                <a:schemeClr val="lt2"/>
              </a:buClr>
              <a:buSzPts val="3200"/>
            </a:pPr>
            <a:r>
              <a:rPr lang="en-US" altLang="ko-KR" dirty="0"/>
              <a:t>2. Docker</a:t>
            </a:r>
            <a:endParaRPr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AE98362A-0C09-3D5B-F523-C620440C538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A75F7FA-7C13-167F-7856-E0C3775B7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04" y="1795897"/>
            <a:ext cx="10221404" cy="37340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0BE1E9F-8C31-590B-7170-6DE50C28B2F5}"/>
              </a:ext>
            </a:extLst>
          </p:cNvPr>
          <p:cNvSpPr txBox="1"/>
          <p:nvPr/>
        </p:nvSpPr>
        <p:spPr>
          <a:xfrm>
            <a:off x="919119" y="5883363"/>
            <a:ext cx="2789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rtl="0" fontAlgn="base">
              <a:buNone/>
            </a:pPr>
            <a:r>
              <a:rPr lang="ko-KR" altLang="ko-KR" sz="1800" b="1" i="0" dirty="0" err="1">
                <a:effectLst/>
                <a:latin typeface="+mn-lt"/>
                <a:ea typeface="Malgun Gothic" panose="020B0503020000020004" pitchFamily="50" charset="-127"/>
              </a:rPr>
              <a:t>Traditional</a:t>
            </a:r>
            <a:r>
              <a:rPr lang="ko-KR" altLang="ko-KR" sz="1800" b="1" i="0" dirty="0">
                <a:effectLst/>
                <a:latin typeface="+mn-lt"/>
                <a:ea typeface="Malgun Gothic" panose="020B0503020000020004" pitchFamily="50" charset="-127"/>
              </a:rPr>
              <a:t> </a:t>
            </a:r>
            <a:r>
              <a:rPr lang="ko-KR" altLang="ko-KR" sz="1800" b="1" i="0" dirty="0" err="1">
                <a:effectLst/>
                <a:latin typeface="+mn-lt"/>
                <a:ea typeface="Malgun Gothic" panose="020B0503020000020004" pitchFamily="50" charset="-127"/>
              </a:rPr>
              <a:t>Deployment</a:t>
            </a:r>
            <a:endParaRPr lang="ko-KR" altLang="ko-KR" sz="2400" b="1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7CEF70-D1C3-3440-F4F8-CA232829CB36}"/>
              </a:ext>
            </a:extLst>
          </p:cNvPr>
          <p:cNvSpPr txBox="1"/>
          <p:nvPr/>
        </p:nvSpPr>
        <p:spPr>
          <a:xfrm>
            <a:off x="4899892" y="5883363"/>
            <a:ext cx="166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rtl="0" fontAlgn="base">
              <a:buNone/>
            </a:pPr>
            <a:r>
              <a:rPr lang="ko-KR" altLang="ko-KR" sz="1800" b="1" i="0" dirty="0" err="1">
                <a:effectLst/>
                <a:latin typeface="+mn-lt"/>
                <a:ea typeface="Malgun Gothic" panose="020B0503020000020004" pitchFamily="50" charset="-127"/>
              </a:rPr>
              <a:t>Virtualization</a:t>
            </a:r>
            <a:endParaRPr lang="ko-KR" altLang="ko-KR" sz="2400" b="1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DA6F34-62E9-0153-972F-AF14D1BE7641}"/>
              </a:ext>
            </a:extLst>
          </p:cNvPr>
          <p:cNvSpPr txBox="1"/>
          <p:nvPr/>
        </p:nvSpPr>
        <p:spPr>
          <a:xfrm>
            <a:off x="8986982" y="5883363"/>
            <a:ext cx="166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rtl="0" fontAlgn="base">
              <a:buNone/>
            </a:pPr>
            <a:r>
              <a:rPr lang="ko-KR" altLang="ko-KR" sz="1800" b="1" i="0" dirty="0">
                <a:effectLst/>
                <a:latin typeface="+mn-lt"/>
                <a:ea typeface="Malgun Gothic" panose="020B0503020000020004" pitchFamily="50" charset="-127"/>
              </a:rPr>
              <a:t>Container</a:t>
            </a:r>
            <a:endParaRPr lang="ko-KR" altLang="ko-KR" sz="2400" b="1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32080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 txBox="1">
            <a:spLocks noGrp="1"/>
          </p:cNvSpPr>
          <p:nvPr>
            <p:ph type="title"/>
          </p:nvPr>
        </p:nvSpPr>
        <p:spPr>
          <a:xfrm>
            <a:off x="913795" y="417887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2. Docker</a:t>
            </a:r>
            <a:endParaRPr dirty="0"/>
          </a:p>
        </p:txBody>
      </p:sp>
      <p:sp>
        <p:nvSpPr>
          <p:cNvPr id="239" name="Google Shape;239;p9"/>
          <p:cNvSpPr txBox="1"/>
          <p:nvPr/>
        </p:nvSpPr>
        <p:spPr>
          <a:xfrm>
            <a:off x="1022458" y="5773261"/>
            <a:ext cx="1944262" cy="314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생활코딩_Docker</a:t>
            </a:r>
            <a:endParaRPr sz="14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40" name="Google Shape;240;p9" descr="Deployment evolution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241" name="Google Shape;24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76245" y="2643537"/>
            <a:ext cx="8028862" cy="308493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069A351E-01EE-167F-794F-B8CF36A3DF4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"/>
          <p:cNvSpPr txBox="1">
            <a:spLocks noGrp="1"/>
          </p:cNvSpPr>
          <p:nvPr>
            <p:ph type="title"/>
          </p:nvPr>
        </p:nvSpPr>
        <p:spPr>
          <a:xfrm>
            <a:off x="919119" y="395474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Docker</a:t>
            </a:r>
            <a:endParaRPr dirty="0"/>
          </a:p>
        </p:txBody>
      </p:sp>
      <p:sp>
        <p:nvSpPr>
          <p:cNvPr id="269" name="Google Shape;269;p12"/>
          <p:cNvSpPr txBox="1"/>
          <p:nvPr/>
        </p:nvSpPr>
        <p:spPr>
          <a:xfrm>
            <a:off x="685067" y="1342037"/>
            <a:ext cx="10508739" cy="118056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260"/>
              <a:buFont typeface="Noto Sans Symbols"/>
              <a:buChar char="❖"/>
            </a:pP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도커(Docker)는 </a:t>
            </a:r>
            <a:r>
              <a:rPr lang="en-US" sz="1800" b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컨테이너(Container)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기반의 오픈소스 </a:t>
            </a:r>
            <a:r>
              <a:rPr lang="en-US" sz="1800" b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가상화 플랫폼</a:t>
            </a:r>
            <a:endParaRPr sz="1800" b="1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342900" marR="0" lvl="0" indent="-3060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tx1"/>
              </a:buClr>
              <a:buSzPts val="1260"/>
              <a:buFont typeface="Noto Sans Symbols"/>
              <a:buChar char="❖"/>
            </a:pP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어떤 프로그램을 외부 환경과 격리시켜 구동할 수 있게 해주는 </a:t>
            </a:r>
            <a:r>
              <a:rPr lang="en-US" sz="1800" b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소프트웨어</a:t>
            </a:r>
            <a:endParaRPr sz="1800" b="1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</p:txBody>
      </p:sp>
      <p:grpSp>
        <p:nvGrpSpPr>
          <p:cNvPr id="270" name="Google Shape;270;p12"/>
          <p:cNvGrpSpPr/>
          <p:nvPr/>
        </p:nvGrpSpPr>
        <p:grpSpPr>
          <a:xfrm>
            <a:off x="1096276" y="2522602"/>
            <a:ext cx="4843160" cy="4119214"/>
            <a:chOff x="3878443" y="2702727"/>
            <a:chExt cx="4200328" cy="3637104"/>
          </a:xfrm>
        </p:grpSpPr>
        <p:pic>
          <p:nvPicPr>
            <p:cNvPr id="271" name="Google Shape;271;p12" descr="docker asustor NA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78443" y="2702727"/>
              <a:ext cx="3738415" cy="32254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p12"/>
            <p:cNvSpPr txBox="1"/>
            <p:nvPr/>
          </p:nvSpPr>
          <p:spPr>
            <a:xfrm>
              <a:off x="3878443" y="6032054"/>
              <a:ext cx="42003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u="sng">
                  <a:solidFill>
                    <a:schemeClr val="lt1"/>
                  </a:solidFill>
                  <a:latin typeface="Sorts Mill Goudy"/>
                  <a:ea typeface="Sorts Mill Goudy"/>
                  <a:cs typeface="Sorts Mill Goudy"/>
                  <a:sym typeface="Sorts Mill Goudy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https://www.asustor.com/ko/solution/what_is_docker</a:t>
              </a:r>
              <a:r>
                <a:rPr lang="en-US" sz="1400">
                  <a:solidFill>
                    <a:schemeClr val="lt1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 </a:t>
              </a:r>
              <a:endParaRPr/>
            </a:p>
          </p:txBody>
        </p:sp>
      </p:grpSp>
      <p:pic>
        <p:nvPicPr>
          <p:cNvPr id="273" name="Google Shape;273;p12" descr="물 속의 큰 배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95062" y="2522602"/>
            <a:ext cx="3952865" cy="258970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080FDA94-7A96-BD84-66B8-2EAED8618FE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58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"/>
          <p:cNvSpPr txBox="1">
            <a:spLocks noGrp="1"/>
          </p:cNvSpPr>
          <p:nvPr>
            <p:ph type="title"/>
          </p:nvPr>
        </p:nvSpPr>
        <p:spPr>
          <a:xfrm>
            <a:off x="901030" y="446858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Container</a:t>
            </a:r>
            <a:endParaRPr dirty="0"/>
          </a:p>
        </p:txBody>
      </p:sp>
      <p:sp>
        <p:nvSpPr>
          <p:cNvPr id="282" name="Google Shape;282;p13"/>
          <p:cNvSpPr txBox="1"/>
          <p:nvPr/>
        </p:nvSpPr>
        <p:spPr>
          <a:xfrm>
            <a:off x="888267" y="1213842"/>
            <a:ext cx="10888097" cy="118056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0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260"/>
              <a:buFont typeface="Noto Sans Symbols"/>
              <a:buChar char="❖"/>
            </a:pPr>
            <a:r>
              <a:rPr lang="en-US" sz="1800" b="1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컨테이너</a:t>
            </a:r>
            <a:r>
              <a:rPr lang="en-US" sz="18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(Container)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란 OS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사에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논리적인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영역을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구축하여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애플리케이션이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작동하는데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필요한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요소만을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모아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(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오버헤드가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없음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)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별도의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서버처럼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격리되어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동작하는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것</a:t>
            </a:r>
            <a:endParaRPr sz="1800" b="1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</p:txBody>
      </p:sp>
      <p:grpSp>
        <p:nvGrpSpPr>
          <p:cNvPr id="283" name="Google Shape;283;p13"/>
          <p:cNvGrpSpPr/>
          <p:nvPr/>
        </p:nvGrpSpPr>
        <p:grpSpPr>
          <a:xfrm>
            <a:off x="1955374" y="2702726"/>
            <a:ext cx="5055025" cy="4002873"/>
            <a:chOff x="1955375" y="2702727"/>
            <a:chExt cx="4371680" cy="3533792"/>
          </a:xfrm>
        </p:grpSpPr>
        <p:sp>
          <p:nvSpPr>
            <p:cNvPr id="284" name="Google Shape;284;p13"/>
            <p:cNvSpPr txBox="1"/>
            <p:nvPr/>
          </p:nvSpPr>
          <p:spPr>
            <a:xfrm>
              <a:off x="1955375" y="5928742"/>
              <a:ext cx="437168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u="sng">
                  <a:solidFill>
                    <a:schemeClr val="lt1"/>
                  </a:solidFill>
                  <a:latin typeface="Sorts Mill Goudy"/>
                  <a:ea typeface="Sorts Mill Goudy"/>
                  <a:cs typeface="Sorts Mill Goudy"/>
                  <a:sym typeface="Sorts Mill Goudy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https://www.docker.com/resources/what-container/</a:t>
              </a:r>
              <a:r>
                <a:rPr lang="en-US" sz="1400">
                  <a:solidFill>
                    <a:schemeClr val="lt1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 </a:t>
              </a:r>
              <a:endParaRPr/>
            </a:p>
          </p:txBody>
        </p:sp>
        <p:pic>
          <p:nvPicPr>
            <p:cNvPr id="285" name="Google Shape;285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58569" y="2702727"/>
              <a:ext cx="3839845" cy="322547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6" name="Google Shape;286;p13" descr="assorted-color filed 복합 운송 컨테이너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10399" y="2702726"/>
            <a:ext cx="3455378" cy="22529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DAD3C7BA-B471-FC07-C1D8-304176DB9A8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4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D32C9-8831-7BD4-9DD2-7AACBD37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8B4136D-BB87-5441-BE89-2E19A00EAA1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명령어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041BF8-57BD-FF6A-26BC-9BF604EA4BCD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2919CB0-5F55-77BF-0798-AB95E32044F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A8F678-8F2F-F380-B14A-81F5D22E24F6}"/>
              </a:ext>
            </a:extLst>
          </p:cNvPr>
          <p:cNvSpPr txBox="1"/>
          <p:nvPr/>
        </p:nvSpPr>
        <p:spPr>
          <a:xfrm>
            <a:off x="628650" y="1289134"/>
            <a:ext cx="6096000" cy="10772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fastapi-project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app.py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requirements.txt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└──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Dockerfile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541E0A-D811-1534-AB18-8A7E486F0C3C}"/>
              </a:ext>
            </a:extLst>
          </p:cNvPr>
          <p:cNvSpPr txBox="1"/>
          <p:nvPr/>
        </p:nvSpPr>
        <p:spPr>
          <a:xfrm>
            <a:off x="628650" y="3082808"/>
            <a:ext cx="7068620" cy="329320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FROM python:3.12-slim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WORKDIR 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app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COPY requirements.txt .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RUN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install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--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no-cache-dir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requirements.txt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COPY app.py .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EXPOSE 8000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CMD ["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uvicorn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app:app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"--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host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"0.0.0.0", "--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port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"8000"]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02BD89-F2AF-C218-F3D2-C5D960658A02}"/>
              </a:ext>
            </a:extLst>
          </p:cNvPr>
          <p:cNvSpPr txBox="1"/>
          <p:nvPr/>
        </p:nvSpPr>
        <p:spPr>
          <a:xfrm>
            <a:off x="542925" y="27171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Dockerfile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7AA57C-671C-B3A6-A740-B9AA2689BE4B}"/>
              </a:ext>
            </a:extLst>
          </p:cNvPr>
          <p:cNvSpPr txBox="1"/>
          <p:nvPr/>
        </p:nvSpPr>
        <p:spPr>
          <a:xfrm>
            <a:off x="4560886" y="2662735"/>
            <a:ext cx="6619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dirty="0">
                <a:latin typeface="Courier New" panose="02070309020205020404" pitchFamily="49" charset="0"/>
              </a:rPr>
              <a:t>docker build -t </a:t>
            </a:r>
            <a:r>
              <a:rPr lang="en-US" altLang="ko-KR" dirty="0" err="1">
                <a:latin typeface="Courier New" panose="02070309020205020404" pitchFamily="49" charset="0"/>
              </a:rPr>
              <a:t>myfastapi</a:t>
            </a:r>
            <a:r>
              <a:rPr lang="en-US" altLang="ko-KR" dirty="0">
                <a:latin typeface="Courier New" panose="02070309020205020404" pitchFamily="49" charset="0"/>
              </a:rPr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20014770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30533-8363-FB7B-91BF-5BAD40BE2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C3C5E627-1331-58AC-FF1E-4B994CE3CDF4}"/>
              </a:ext>
            </a:extLst>
          </p:cNvPr>
          <p:cNvCxnSpPr>
            <a:cxnSpLocks/>
            <a:stCxn id="14" idx="2"/>
            <a:endCxn id="13" idx="1"/>
          </p:cNvCxnSpPr>
          <p:nvPr/>
        </p:nvCxnSpPr>
        <p:spPr>
          <a:xfrm rot="16200000" flipH="1">
            <a:off x="5477275" y="354435"/>
            <a:ext cx="557659" cy="62963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C3BD2180-D92D-9F5E-841C-6E622249EAA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 build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C0E32F-B17E-54E8-3093-A3361CB598F9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DEA9019-2BBB-E70B-01B6-AD55E1F5154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655C2E-803C-5A65-81AE-93053F1E31DC}"/>
              </a:ext>
            </a:extLst>
          </p:cNvPr>
          <p:cNvSpPr txBox="1"/>
          <p:nvPr/>
        </p:nvSpPr>
        <p:spPr>
          <a:xfrm>
            <a:off x="586694" y="2854456"/>
            <a:ext cx="4042456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&gt;&gt; docker build -t 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myfastapi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F54603-1303-3213-1D17-2A2F90123C74}"/>
              </a:ext>
            </a:extLst>
          </p:cNvPr>
          <p:cNvSpPr txBox="1"/>
          <p:nvPr/>
        </p:nvSpPr>
        <p:spPr>
          <a:xfrm>
            <a:off x="8904286" y="2873506"/>
            <a:ext cx="2276475" cy="18158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myfastapi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│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Python 3.12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FastAPI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Uvicorn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app.py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└──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실행 설정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60F0A5-20E9-F824-3E65-26A8A8A8B952}"/>
              </a:ext>
            </a:extLst>
          </p:cNvPr>
          <p:cNvSpPr txBox="1"/>
          <p:nvPr/>
        </p:nvSpPr>
        <p:spPr>
          <a:xfrm>
            <a:off x="8248650" y="2463438"/>
            <a:ext cx="3181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myfastapi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image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CDCF08-6FFD-1671-C297-CF038A22E8FC}"/>
              </a:ext>
            </a:extLst>
          </p:cNvPr>
          <p:cNvSpPr txBox="1"/>
          <p:nvPr/>
        </p:nvSpPr>
        <p:spPr>
          <a:xfrm>
            <a:off x="4839305" y="1267472"/>
            <a:ext cx="2649358" cy="52629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Dockerfile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↓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FROM python:3.12-slim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↓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실행환경 확보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↓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COPY requirements.txt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↓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RUN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install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...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↓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라이브러리 설치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↓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COPY app.py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↓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FastAPI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코드 포함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↓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CMD ...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↓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실행 방법 지정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↓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생성</a:t>
            </a:r>
          </a:p>
        </p:txBody>
      </p:sp>
    </p:spTree>
    <p:extLst>
      <p:ext uri="{BB962C8B-B14F-4D97-AF65-F5344CB8AC3E}">
        <p14:creationId xmlns:p14="http://schemas.microsoft.com/office/powerpoint/2010/main" val="19549418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A9F12-07C8-4DF7-B09F-C62410B02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7EA46590-F4A3-D8B8-C2B5-F0D07E4C24A8}"/>
              </a:ext>
            </a:extLst>
          </p:cNvPr>
          <p:cNvCxnSpPr>
            <a:cxnSpLocks/>
            <a:stCxn id="14" idx="2"/>
            <a:endCxn id="19" idx="1"/>
          </p:cNvCxnSpPr>
          <p:nvPr/>
        </p:nvCxnSpPr>
        <p:spPr>
          <a:xfrm rot="16200000" flipH="1">
            <a:off x="4693739" y="814121"/>
            <a:ext cx="1367262" cy="50816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391FAAD6-CCC9-0F06-4DE9-280BD4E66EE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 run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BFD8BD-9DF2-9A65-4471-FAD9B7F1DA56}"/>
              </a:ext>
            </a:extLst>
          </p:cNvPr>
          <p:cNvSpPr txBox="1"/>
          <p:nvPr/>
        </p:nvSpPr>
        <p:spPr>
          <a:xfrm>
            <a:off x="744020" y="26918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235325C-AF0F-21F0-36FA-9E3329754E8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C60109-6211-C238-D1E3-C99AFAC6D4CF}"/>
              </a:ext>
            </a:extLst>
          </p:cNvPr>
          <p:cNvSpPr txBox="1"/>
          <p:nvPr/>
        </p:nvSpPr>
        <p:spPr>
          <a:xfrm>
            <a:off x="586694" y="2302006"/>
            <a:ext cx="4499656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&gt;&gt; </a:t>
            </a:r>
            <a:r>
              <a:rPr lang="sv-SE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docker run -p 8000:8000 myfastapi</a:t>
            </a: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DD83A9-FA4D-4D55-D04F-B1E647022C76}"/>
              </a:ext>
            </a:extLst>
          </p:cNvPr>
          <p:cNvSpPr txBox="1"/>
          <p:nvPr/>
        </p:nvSpPr>
        <p:spPr>
          <a:xfrm>
            <a:off x="4333080" y="3130659"/>
            <a:ext cx="1792289" cy="18158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myfastapi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│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Python 3.12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FastAPI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Uvicorn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app.py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└──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실행 설정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B593B1-C8FB-BDD5-442F-7D01B4097799}"/>
              </a:ext>
            </a:extLst>
          </p:cNvPr>
          <p:cNvSpPr txBox="1"/>
          <p:nvPr/>
        </p:nvSpPr>
        <p:spPr>
          <a:xfrm>
            <a:off x="7839075" y="1979458"/>
            <a:ext cx="2990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myfastapi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Container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D744F-3909-EA2C-33DF-8EE28B0324AE}"/>
              </a:ext>
            </a:extLst>
          </p:cNvPr>
          <p:cNvSpPr txBox="1"/>
          <p:nvPr/>
        </p:nvSpPr>
        <p:spPr>
          <a:xfrm>
            <a:off x="475645" y="1910988"/>
            <a:ext cx="43338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Container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만들어지고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FastAPI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실행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A9AC4F6-E71C-CE2E-8A50-9A2911BD9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218" y="2400158"/>
            <a:ext cx="4016088" cy="327688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FC23E00-9592-4757-9C8A-8D43707CDA64}"/>
              </a:ext>
            </a:extLst>
          </p:cNvPr>
          <p:cNvSpPr txBox="1"/>
          <p:nvPr/>
        </p:nvSpPr>
        <p:spPr>
          <a:xfrm>
            <a:off x="666750" y="606824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docker-concepts/building-images/understanding-image-layers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6" name="Google Shape;342;p19">
            <a:extLst>
              <a:ext uri="{FF2B5EF4-FFF2-40B4-BE49-F238E27FC236}">
                <a16:creationId xmlns:a16="http://schemas.microsoft.com/office/drawing/2014/main" id="{034B6501-0163-63B5-2F46-57F31AE3BA61}"/>
              </a:ext>
            </a:extLst>
          </p:cNvPr>
          <p:cNvSpPr txBox="1"/>
          <p:nvPr/>
        </p:nvSpPr>
        <p:spPr>
          <a:xfrm>
            <a:off x="7839075" y="5722590"/>
            <a:ext cx="392430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https://docs.docker.com/storage/storagedriver/</a:t>
            </a:r>
            <a:r>
              <a:rPr lang="en-US" sz="12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</a:t>
            </a:r>
            <a:endParaRPr sz="12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</p:spTree>
    <p:extLst>
      <p:ext uri="{BB962C8B-B14F-4D97-AF65-F5344CB8AC3E}">
        <p14:creationId xmlns:p14="http://schemas.microsoft.com/office/powerpoint/2010/main" val="5043858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60862-AB7B-4076-93AF-68B42E863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6287C6A-C19C-5FD5-830C-788602E31CD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 File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DA0D7D9-6599-2504-224C-070C3E0B35C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608286D-1A9B-F64A-3460-9E3CBA324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628" y="3813770"/>
            <a:ext cx="6986247" cy="2229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3D15BC-0C13-1880-AFD9-429C72889356}"/>
              </a:ext>
            </a:extLst>
          </p:cNvPr>
          <p:cNvSpPr txBox="1"/>
          <p:nvPr/>
        </p:nvSpPr>
        <p:spPr>
          <a:xfrm>
            <a:off x="619125" y="1248422"/>
            <a:ext cx="6096000" cy="1296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Dockerfile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설계도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Image =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설계도로 만들어 놓은 실행 패키지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Container = Image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실제 실행한 것</a:t>
            </a:r>
          </a:p>
        </p:txBody>
      </p:sp>
      <p:sp>
        <p:nvSpPr>
          <p:cNvPr id="17" name="설명선: 굽은 선 16">
            <a:extLst>
              <a:ext uri="{FF2B5EF4-FFF2-40B4-BE49-F238E27FC236}">
                <a16:creationId xmlns:a16="http://schemas.microsoft.com/office/drawing/2014/main" id="{B73D02EB-5B48-439F-3A3A-A29FC4FA973B}"/>
              </a:ext>
            </a:extLst>
          </p:cNvPr>
          <p:cNvSpPr/>
          <p:nvPr/>
        </p:nvSpPr>
        <p:spPr>
          <a:xfrm>
            <a:off x="6534150" y="1933576"/>
            <a:ext cx="5153026" cy="857250"/>
          </a:xfrm>
          <a:prstGeom prst="borderCallout2">
            <a:avLst>
              <a:gd name="adj1" fmla="val 98115"/>
              <a:gd name="adj2" fmla="val 594"/>
              <a:gd name="adj3" fmla="val 179372"/>
              <a:gd name="adj4" fmla="val 11598"/>
              <a:gd name="adj5" fmla="val 245337"/>
              <a:gd name="adj6" fmla="val 20672"/>
            </a:avLst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Docker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└── Container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└──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필요한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user-space + Runtime + Library + Application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4375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293F5-0D46-7F99-F8F5-4AA8E073B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6CCA453-E1B6-F9A4-DB48-BCF800D1DC7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python build vs. docker build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5DB76D5-758D-D5F0-CA6C-291E1F1167C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A2C7BF-96F3-89FA-82C9-3941D8C29F80}"/>
              </a:ext>
            </a:extLst>
          </p:cNvPr>
          <p:cNvSpPr txBox="1"/>
          <p:nvPr/>
        </p:nvSpPr>
        <p:spPr>
          <a:xfrm>
            <a:off x="7492392" y="2259449"/>
            <a:ext cx="3543905" cy="39703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app.py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▼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┌────────────────────┐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│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Interpreter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│     (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CPython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    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└────────┬───────────┘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소스코드 해석/컴파일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▼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Bytecode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▼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Virtual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▼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CPU 실행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C79731-7A2D-23DF-5F1C-03DEE57420DA}"/>
              </a:ext>
            </a:extLst>
          </p:cNvPr>
          <p:cNvSpPr txBox="1"/>
          <p:nvPr/>
        </p:nvSpPr>
        <p:spPr>
          <a:xfrm>
            <a:off x="685195" y="1318116"/>
            <a:ext cx="1088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CPython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= Python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언어를 실제 컴퓨터에서 실행해 주는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Python Runtime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핵심 구현체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6E964F-5BF5-65B4-65A7-B3362EA8BC01}"/>
              </a:ext>
            </a:extLst>
          </p:cNvPr>
          <p:cNvSpPr txBox="1"/>
          <p:nvPr/>
        </p:nvSpPr>
        <p:spPr>
          <a:xfrm>
            <a:off x="818545" y="2259449"/>
            <a:ext cx="5277455" cy="1077218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python app.py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명령어를 실행하면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linux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/local/bin/python app.py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읽어서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Python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프로그램을 실행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59AB5E-A651-016D-A63C-2D1E75C8FADA}"/>
              </a:ext>
            </a:extLst>
          </p:cNvPr>
          <p:cNvSpPr txBox="1"/>
          <p:nvPr/>
        </p:nvSpPr>
        <p:spPr>
          <a:xfrm>
            <a:off x="1041403" y="3429000"/>
            <a:ext cx="321044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Linux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│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│ 실행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▼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실행파일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│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├──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코드 읽기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├──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Bytecode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생성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├──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객체 관리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├── 메모리 관리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└── 코드 실행</a:t>
            </a:r>
          </a:p>
        </p:txBody>
      </p:sp>
    </p:spTree>
    <p:extLst>
      <p:ext uri="{BB962C8B-B14F-4D97-AF65-F5344CB8AC3E}">
        <p14:creationId xmlns:p14="http://schemas.microsoft.com/office/powerpoint/2010/main" val="28525228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082F8-91DD-D4AC-8A6C-109150840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906B6A1-4DE0-972D-070B-86520EF38FD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python build vs. docker build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52ED161-CC88-2389-5992-0274CB03AFC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E4A2DA-79E0-6DA5-74B7-B256A9254ED8}"/>
              </a:ext>
            </a:extLst>
          </p:cNvPr>
          <p:cNvSpPr txBox="1"/>
          <p:nvPr/>
        </p:nvSpPr>
        <p:spPr>
          <a:xfrm>
            <a:off x="608995" y="1194291"/>
            <a:ext cx="11107360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CPython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Python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언어를 실제 컴퓨터에서 실행해 주는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Python Runtime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핵심 구현체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Python Runtime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까지 포함해서 애플리케이션 전체를 포장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(Image)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한 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Docker Engine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그 이미지를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Container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실행하는 기술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ACB9DA-DBB9-7634-ECD8-B08D69338830}"/>
              </a:ext>
            </a:extLst>
          </p:cNvPr>
          <p:cNvSpPr txBox="1"/>
          <p:nvPr/>
        </p:nvSpPr>
        <p:spPr>
          <a:xfrm>
            <a:off x="3982547" y="2790393"/>
            <a:ext cx="2733675" cy="3662541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Container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│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Linux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Space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│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3.12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Runtime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├──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├──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standard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library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└──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실행환경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│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FastAPI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│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Uvicorn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│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└── app.py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666554-2B24-BA87-59EC-E5F9245F91F4}"/>
              </a:ext>
            </a:extLst>
          </p:cNvPr>
          <p:cNvSpPr txBox="1"/>
          <p:nvPr/>
        </p:nvSpPr>
        <p:spPr>
          <a:xfrm>
            <a:off x="885825" y="3128947"/>
            <a:ext cx="1840519" cy="18158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myfastapi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│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Python 3.12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FastAPI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Uvicorn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app.py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└──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실행 설정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0B50BD-CF12-E1EC-93B7-2A82781040DB}"/>
              </a:ext>
            </a:extLst>
          </p:cNvPr>
          <p:cNvSpPr txBox="1"/>
          <p:nvPr/>
        </p:nvSpPr>
        <p:spPr>
          <a:xfrm>
            <a:off x="7972425" y="2482559"/>
            <a:ext cx="3333750" cy="418576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Host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┌───────────────────────────────┐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Windows                      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                   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WSL2                         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┌───────────────────────────┐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│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Linux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Kernel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│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│                           │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│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│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│ ┌───────────────────────┐ │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│ │ Container             │ │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│ │                       │ │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│ │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Linux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User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Space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│ │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│ │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Runtime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│ │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│ │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FastAPI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│ │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│ │ app.py                │ │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│ └───────────────────────┘ │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└───────────────────────────┘ │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└───────────────────────────────┘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7C562E-8842-0EA0-EDC0-63CD08156AE1}"/>
              </a:ext>
            </a:extLst>
          </p:cNvPr>
          <p:cNvSpPr txBox="1"/>
          <p:nvPr/>
        </p:nvSpPr>
        <p:spPr>
          <a:xfrm>
            <a:off x="784110" y="2790393"/>
            <a:ext cx="12668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AutoShape 2">
            <a:extLst>
              <a:ext uri="{FF2B5EF4-FFF2-40B4-BE49-F238E27FC236}">
                <a16:creationId xmlns:a16="http://schemas.microsoft.com/office/drawing/2014/main" id="{3C645A9C-620C-805F-33F0-3760903609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8291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6E27F-67DA-FEB1-4BB8-A3F9ADD88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B9532F4-EDE9-7261-2B3E-06E46541CDC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소스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컴파일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 Runtime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B963B8B-7ADA-DDEB-7AB8-E6A34306C83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5D6F968-44B3-1124-E2B9-2E0B8312B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344" y="1477702"/>
            <a:ext cx="7456431" cy="489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7386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CA049-FD5B-1B96-1672-0CB24CFA8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365702D-EA4A-B4A1-EBC6-537ED604D87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Runtime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F347BE9-9653-DA64-5BA5-493D8AADD99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90E968E-CE02-89FC-28DD-934EC5242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181" y="2025329"/>
            <a:ext cx="5626234" cy="36806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4BA09E-5ADD-220B-6F7F-345A57D49298}"/>
              </a:ext>
            </a:extLst>
          </p:cNvPr>
          <p:cNvSpPr txBox="1"/>
          <p:nvPr/>
        </p:nvSpPr>
        <p:spPr>
          <a:xfrm>
            <a:off x="475644" y="1958154"/>
            <a:ext cx="5614475" cy="3747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C/C++ : 컴파일하면 기계어가 되므로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CPU가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바로 실행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Java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컴파일 결과는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Bytecode이고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JVM이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실행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소스를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Bytecode로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만든 뒤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Runtime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(C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ython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+ Python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Virtual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)이 실행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코드를 실행하는 것이 아니라 코드 + 런타임 + 라이브러리를 하나의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Image로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만들어 Container에서 실행</a:t>
            </a:r>
          </a:p>
        </p:txBody>
      </p:sp>
    </p:spTree>
    <p:extLst>
      <p:ext uri="{BB962C8B-B14F-4D97-AF65-F5344CB8AC3E}">
        <p14:creationId xmlns:p14="http://schemas.microsoft.com/office/powerpoint/2010/main" val="31179460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ACE78-763B-DF6D-4238-85CCF9CF6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FDAB368-C457-9F6B-7138-2D902C85715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명령어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985ECA-6A68-C4D3-73C6-89817EF668FD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AF9BA79-50B8-B018-7AB3-0D060F7A4DC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4CB2DEB-9EA8-A0CD-D9C4-BDCF6B5C8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995" y="1587267"/>
            <a:ext cx="11154380" cy="457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 실행 (</a:t>
            </a:r>
            <a:r>
              <a:rPr kumimoji="0" lang="ko-KR" altLang="ko-K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hello-world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도커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허브에서 이미지 자동 다운로드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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 생성 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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테스트 메시지 출력 후 종료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 상태 조회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ps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현재 실행 중인 컨테이너 목록 조회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–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종료된 컨테이너를 포함한 전체 실행 기록(히스토리) 조회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 중지 및 정돈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stop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&lt;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컨테이너ID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/이름&gt;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실행 중인 컨테이너 안전하게 중지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rm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&lt;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컨테이너ID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/이름&gt;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중지된 컨테이너 삭제 (-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옵션 추가 시 실행 중인 컨테이너 강제 삭제)</a:t>
            </a:r>
          </a:p>
        </p:txBody>
      </p:sp>
    </p:spTree>
    <p:extLst>
      <p:ext uri="{BB962C8B-B14F-4D97-AF65-F5344CB8AC3E}">
        <p14:creationId xmlns:p14="http://schemas.microsoft.com/office/powerpoint/2010/main" val="15975000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2"/>
          <p:cNvSpPr txBox="1">
            <a:spLocks noGrp="1"/>
          </p:cNvSpPr>
          <p:nvPr>
            <p:ph type="title"/>
          </p:nvPr>
        </p:nvSpPr>
        <p:spPr>
          <a:xfrm>
            <a:off x="919119" y="37886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 err="1"/>
              <a:t>실습하기</a:t>
            </a:r>
            <a:endParaRPr dirty="0"/>
          </a:p>
        </p:txBody>
      </p:sp>
      <p:pic>
        <p:nvPicPr>
          <p:cNvPr id="369" name="Google Shape;369;p22" descr="나무 배경에 영화 클래퍼입니다. 3d 그림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5783" y="1574223"/>
            <a:ext cx="9525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2"/>
          <p:cNvSpPr txBox="1"/>
          <p:nvPr/>
        </p:nvSpPr>
        <p:spPr>
          <a:xfrm rot="1558658">
            <a:off x="3140505" y="4832272"/>
            <a:ext cx="33983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docker run / build</a:t>
            </a:r>
            <a:endParaRPr sz="1800" b="1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2"/>
          <p:cNvSpPr txBox="1"/>
          <p:nvPr/>
        </p:nvSpPr>
        <p:spPr>
          <a:xfrm rot="1416959">
            <a:off x="1219750" y="4406350"/>
            <a:ext cx="7458333" cy="45552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Batang"/>
              <a:buNone/>
            </a:pPr>
            <a:r>
              <a:rPr lang="en-US" sz="1600" b="1" u="sng" dirty="0">
                <a:solidFill>
                  <a:srgbClr val="FFFF00"/>
                </a:solidFill>
                <a:latin typeface="Batang"/>
                <a:ea typeface="Batang"/>
                <a:cs typeface="Batang"/>
                <a:sym typeface="Batang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Beginner’s guide to use docker (Build, Run, Push and Pull)</a:t>
            </a:r>
            <a:endParaRPr sz="1600" b="1" dirty="0">
              <a:solidFill>
                <a:srgbClr val="FFFF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E6001-3FEC-77DB-8683-7FD5DBF9A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E00CBC-B28C-2C6A-126F-3004A7725C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desktop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설치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A1FDCF-EFFF-AD30-2847-C6A182B18169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FFEE19D-4E72-8DEE-AD86-EFC39E64A8C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A8BDD442-F296-7A5A-E1FE-F8268414B2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3EF25F3-80E9-ECDE-AFCD-8C2932355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44" y="1510373"/>
            <a:ext cx="10950889" cy="3977985"/>
          </a:xfrm>
          <a:prstGeom prst="rect">
            <a:avLst/>
          </a:prstGeom>
        </p:spPr>
      </p:pic>
      <p:sp>
        <p:nvSpPr>
          <p:cNvPr id="7" name="설명선: 굽은 선 6">
            <a:extLst>
              <a:ext uri="{FF2B5EF4-FFF2-40B4-BE49-F238E27FC236}">
                <a16:creationId xmlns:a16="http://schemas.microsoft.com/office/drawing/2014/main" id="{C9D23713-FD5D-9530-DFDD-2E5B295FD122}"/>
              </a:ext>
            </a:extLst>
          </p:cNvPr>
          <p:cNvSpPr/>
          <p:nvPr/>
        </p:nvSpPr>
        <p:spPr>
          <a:xfrm>
            <a:off x="7656510" y="5621400"/>
            <a:ext cx="3901023" cy="465076"/>
          </a:xfrm>
          <a:prstGeom prst="borderCallout2">
            <a:avLst>
              <a:gd name="adj1" fmla="val 45375"/>
              <a:gd name="adj2" fmla="val -2961"/>
              <a:gd name="adj3" fmla="val 18750"/>
              <a:gd name="adj4" fmla="val -16667"/>
              <a:gd name="adj5" fmla="val -42942"/>
              <a:gd name="adj6" fmla="val -33726"/>
            </a:avLst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docker hub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이미지 다운</a:t>
            </a:r>
          </a:p>
        </p:txBody>
      </p:sp>
    </p:spTree>
    <p:extLst>
      <p:ext uri="{BB962C8B-B14F-4D97-AF65-F5344CB8AC3E}">
        <p14:creationId xmlns:p14="http://schemas.microsoft.com/office/powerpoint/2010/main" val="30842300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F79EE-55EE-C9A4-7388-09C8F0F57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3A14197-CE3B-7059-A1F0-64E44B0EE67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desktop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설치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1CEC14-5191-F985-B33F-AB46C5C17B16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73D1404-659A-9541-9455-E1A98C4C046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C15A5E7E-3E1F-C577-D04A-D7C749C7E0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397E819-6ECE-2B49-9CCD-4A6A35E7C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491" y="1356475"/>
            <a:ext cx="7668814" cy="5071656"/>
          </a:xfrm>
          <a:prstGeom prst="rect">
            <a:avLst/>
          </a:prstGeom>
        </p:spPr>
      </p:pic>
      <p:sp>
        <p:nvSpPr>
          <p:cNvPr id="4" name="설명선: 굽은 선 3">
            <a:extLst>
              <a:ext uri="{FF2B5EF4-FFF2-40B4-BE49-F238E27FC236}">
                <a16:creationId xmlns:a16="http://schemas.microsoft.com/office/drawing/2014/main" id="{930DE57A-8399-76EC-89FB-5AD3D5E9AD2D}"/>
              </a:ext>
            </a:extLst>
          </p:cNvPr>
          <p:cNvSpPr/>
          <p:nvPr/>
        </p:nvSpPr>
        <p:spPr>
          <a:xfrm>
            <a:off x="7946380" y="3112532"/>
            <a:ext cx="3901023" cy="76643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2942"/>
              <a:gd name="adj6" fmla="val -33726"/>
            </a:avLst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이미지 다운받고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container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중단</a:t>
            </a:r>
          </a:p>
        </p:txBody>
      </p:sp>
    </p:spTree>
    <p:extLst>
      <p:ext uri="{BB962C8B-B14F-4D97-AF65-F5344CB8AC3E}">
        <p14:creationId xmlns:p14="http://schemas.microsoft.com/office/powerpoint/2010/main" val="35714250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52B5E-31C4-5968-47D5-6806B18DE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12C6756-11CF-E6EE-AE34-CC08ABABFC6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desktop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설치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D258A6-542E-F9E6-6620-D76EE5FB39FC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2469DCE-68E3-E101-5079-4FF17FA7FCD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A34A99F0-4882-B9EE-28AE-86B28E32B8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938850-621F-5228-F22D-757246085098}"/>
              </a:ext>
            </a:extLst>
          </p:cNvPr>
          <p:cNvSpPr txBox="1"/>
          <p:nvPr/>
        </p:nvSpPr>
        <p:spPr>
          <a:xfrm>
            <a:off x="647701" y="2363516"/>
            <a:ext cx="4895850" cy="233910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n8nio/n8n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Linux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User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Space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Node.js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Runtime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←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대신 이것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n8n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Application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└── Node.js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Libraries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973AF6-B374-F38D-3B77-E92EBB4FA1CA}"/>
              </a:ext>
            </a:extLst>
          </p:cNvPr>
          <p:cNvSpPr txBox="1"/>
          <p:nvPr/>
        </p:nvSpPr>
        <p:spPr>
          <a:xfrm>
            <a:off x="6256854" y="4703659"/>
            <a:ext cx="5343526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n8n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─────────────                   ─────────────</a:t>
            </a:r>
          </a:p>
          <a:p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Runtime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↔           Node.js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Runtime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FastAPI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↔           n8n</a:t>
            </a:r>
          </a:p>
          <a:p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pip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packages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↔          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npm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packages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app.py              ↔           n8n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application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51696B-4134-BC27-A1F9-1E69F0AA568D}"/>
              </a:ext>
            </a:extLst>
          </p:cNvPr>
          <p:cNvSpPr txBox="1"/>
          <p:nvPr/>
        </p:nvSpPr>
        <p:spPr>
          <a:xfrm>
            <a:off x="552449" y="1274564"/>
            <a:ext cx="10963275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핵심은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프로그램만 넣는 것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 아니라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그 프로그램이 실행될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Runtime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까지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함께 넣어 배포하는 것</a:t>
            </a:r>
          </a:p>
        </p:txBody>
      </p:sp>
    </p:spTree>
    <p:extLst>
      <p:ext uri="{BB962C8B-B14F-4D97-AF65-F5344CB8AC3E}">
        <p14:creationId xmlns:p14="http://schemas.microsoft.com/office/powerpoint/2010/main" val="25971046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E7208-FD41-51A5-10D0-162555D90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9FAE5FF-C735-D784-1683-049AAD3021F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 hub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95112-72D8-FE99-8BD9-68DA6A7D836B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495CDA8-7D3C-3E63-9A35-7918D2A62E6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8C62E094-C837-DF31-CAFF-5547EF2FE6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39196BC-0F86-B1BC-1AC1-973A59B2F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38" y="1356475"/>
            <a:ext cx="8250976" cy="506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720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5FDCF-A514-1757-9A1C-523CEC8B9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C103821-8849-6408-57BE-E15F46AA90E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 run hello-world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F93CA0-8854-EE15-F1F5-D29149C7B62D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A36BF2F-A6AE-22B4-7A69-1EB160D2DB4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E3FF34DC-DBC1-9AB0-4F91-1857C2F5D4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C65908D-1062-EFC7-8AD9-484EF86D3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65" y="1369484"/>
            <a:ext cx="7135685" cy="5006533"/>
          </a:xfrm>
          <a:prstGeom prst="rect">
            <a:avLst/>
          </a:prstGeom>
        </p:spPr>
      </p:pic>
      <p:sp>
        <p:nvSpPr>
          <p:cNvPr id="7" name="설명선: 굽은 선 6">
            <a:extLst>
              <a:ext uri="{FF2B5EF4-FFF2-40B4-BE49-F238E27FC236}">
                <a16:creationId xmlns:a16="http://schemas.microsoft.com/office/drawing/2014/main" id="{BBBC5263-FFEF-C04E-AD21-EE8282FE1DE2}"/>
              </a:ext>
            </a:extLst>
          </p:cNvPr>
          <p:cNvSpPr/>
          <p:nvPr/>
        </p:nvSpPr>
        <p:spPr>
          <a:xfrm>
            <a:off x="7879705" y="1398032"/>
            <a:ext cx="3901023" cy="2215634"/>
          </a:xfrm>
          <a:prstGeom prst="borderCallout2">
            <a:avLst/>
          </a:prstGeom>
          <a:ln>
            <a:solidFill>
              <a:srgbClr val="FFFF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Hello from Docker! This message shows that your installation appears to be working correctly. 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 generate this message, Docker took the following steps: </a:t>
            </a:r>
          </a:p>
          <a:p>
            <a:pPr marL="342900" indent="-342900">
              <a:buAutoNum type="arabicPeriod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 Docker client contacted the Docker daemon. </a:t>
            </a:r>
          </a:p>
          <a:p>
            <a:pPr marL="342900" indent="-342900">
              <a:buAutoNum type="arabicPeriod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 Docker daemon pulled the "hello-world" image from the Docker Hub. </a:t>
            </a:r>
          </a:p>
          <a:p>
            <a:pPr marL="342900" indent="-342900">
              <a:buAutoNum type="arabicPeriod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 Docker daemon created a new container from that image... </a:t>
            </a:r>
          </a:p>
          <a:p>
            <a:pPr marL="342900" indent="-342900">
              <a:buAutoNum type="arabicPeriod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4. The Docker daemon streamed that output to the Docker client...</a:t>
            </a:r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0140836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CAAB9-ACA9-AEBC-886C-4678B6856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5E9E7-1BC6-5A3D-FC8C-6F2131DC1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5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Codespaces</a:t>
            </a: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5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7E3231D0-C6EE-2D2D-206A-E9E51806B7D4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C1B9FD-E9D4-3878-D360-358CDCC97F39}"/>
              </a:ext>
            </a:extLst>
          </p:cNvPr>
          <p:cNvSpPr txBox="1"/>
          <p:nvPr/>
        </p:nvSpPr>
        <p:spPr>
          <a:xfrm>
            <a:off x="855620" y="2752872"/>
            <a:ext cx="9374230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Linux</a:t>
            </a:r>
          </a:p>
        </p:txBody>
      </p:sp>
    </p:spTree>
    <p:extLst>
      <p:ext uri="{BB962C8B-B14F-4D97-AF65-F5344CB8AC3E}">
        <p14:creationId xmlns:p14="http://schemas.microsoft.com/office/powerpoint/2010/main" val="29014687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C5853-55A3-21A1-6500-18AADD4A1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12E6410-D7D9-0CBC-5C8D-28B178C4F80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codespaces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71A9EF-4531-27E6-C4EF-FB1306627CCF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3D6EB26-833B-3896-5929-885651239E3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DFCC15D7-E24D-A137-FEA2-BA51A2D946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3DA2F47-8A5F-BFDC-FC08-8CDE00E07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364" y="2960717"/>
            <a:ext cx="7372862" cy="34153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5C3380A7-E7F0-646C-F442-EB15EA65C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620" y="1171129"/>
            <a:ext cx="11353281" cy="1531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웹 브라우저 안에서 VS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에디터와 리눅스 터미널을 함께 쓰는 클라우드 IDE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에디터 화면에서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Dockerfile이나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docker-compose.yml을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직접 작성하고 터미널에서 빌드/실행(월 60시간 무료)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Dockerfile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작성, 소스코드 패키징, 다중 컨테이너(DB 연동) 실습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사이트: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github.com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/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features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/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codespaces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AutoShape 2" descr="codespaces-diagr...">
            <a:extLst>
              <a:ext uri="{FF2B5EF4-FFF2-40B4-BE49-F238E27FC236}">
                <a16:creationId xmlns:a16="http://schemas.microsoft.com/office/drawing/2014/main" id="{22D80AF1-1BA7-25AE-13B6-263E11B5E0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9132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937A0-DE77-F3AC-2CB0-4D90EAE22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A548B2E-94A5-B89C-754B-778BDB592E6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codespaces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DD36D7-FC47-DDC0-856E-F11AB6AB1F37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3460571-FE90-E8BB-9C24-39216547748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7C64428-29F6-5EA8-CC81-0343F2EBB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" y="1228241"/>
            <a:ext cx="11353281" cy="793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 tooltip="GitHu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제공하는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 tooltip="Visual Studio C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Visual Studio Code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기반 클라우드 서비스로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 tooltip="GitHub/저장소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 tooltip="GitHub/저장소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저장소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내의 코드를 편집할 수 있는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5" tooltip="개발환경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개발환경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6" tooltip="클라우드 컴퓨팅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클라우드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구성해 원격으로 접속할 수 있는 가상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7" tooltip="통합 개발 환경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통합 개발 환경</a:t>
            </a: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AutoShape 2" descr="codespaces-diagr...">
            <a:extLst>
              <a:ext uri="{FF2B5EF4-FFF2-40B4-BE49-F238E27FC236}">
                <a16:creationId xmlns:a16="http://schemas.microsoft.com/office/drawing/2014/main" id="{8BA51481-8FCF-1F90-6F29-2A12E77296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7A7C590-F4C2-6337-351B-A49F55F4D3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7334" y="2184725"/>
            <a:ext cx="6332531" cy="432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0288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01277-9A88-504F-5FAA-393191183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73F94AF-1626-69A4-4C1D-8C37A04FE2D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Exercise 1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F14F2A-AFC4-ED2F-58BA-29DD27630EDC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43B6768-0300-4858-09FE-DAAE8BD7A79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4D02AC-8F0E-FB61-0FFF-76B88FD92A01}"/>
              </a:ext>
            </a:extLst>
          </p:cNvPr>
          <p:cNvSpPr txBox="1"/>
          <p:nvPr/>
        </p:nvSpPr>
        <p:spPr>
          <a:xfrm>
            <a:off x="563418" y="1221695"/>
            <a:ext cx="11152937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GitHub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Codespaces는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기본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도커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데몬을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지원하므로 추가 설치 없이 바로 컨테이너 기반 가상화 실습을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위해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Nginx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이미지 기반으로 커스텀 웹 서버 컨테이너를 빌드하고 외부로 노출하는 과제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91C317-3FCB-6CC5-3F59-A918C38DAF3C}"/>
              </a:ext>
            </a:extLst>
          </p:cNvPr>
          <p:cNvSpPr txBox="1"/>
          <p:nvPr/>
        </p:nvSpPr>
        <p:spPr>
          <a:xfrm>
            <a:off x="744021" y="2537313"/>
            <a:ext cx="6377216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&gt;&gt; </a:t>
            </a:r>
            <a:r>
              <a:rPr lang="en-US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mkdir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docker-lab &amp;&amp; cd docker-lab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&gt;&gt; echo '&lt;h1&gt;Hello Docker from GitHub </a:t>
            </a:r>
            <a:r>
              <a:rPr lang="en-US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Codespaces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!&lt;/h1&gt;' &gt; index.html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C1F6EB-ACBB-A589-8B98-7A9066D2FA40}"/>
              </a:ext>
            </a:extLst>
          </p:cNvPr>
          <p:cNvSpPr txBox="1"/>
          <p:nvPr/>
        </p:nvSpPr>
        <p:spPr>
          <a:xfrm>
            <a:off x="744020" y="3270768"/>
            <a:ext cx="5177919" cy="11695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&gt;&gt; cat &lt;&lt;'EOF' &gt; </a:t>
            </a:r>
            <a:r>
              <a:rPr lang="en-US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Dockerfile</a:t>
            </a:r>
            <a:endParaRPr lang="en-US" altLang="ko-KR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nginx:alpine</a:t>
            </a:r>
            <a:endParaRPr lang="en-US" altLang="ko-KR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COPY index.html /</a:t>
            </a:r>
            <a:r>
              <a:rPr lang="en-US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usr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/share/nginx/html/index.html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EXPOSE 80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EOF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329935-2163-0685-E597-81DF3D34E6B7}"/>
              </a:ext>
            </a:extLst>
          </p:cNvPr>
          <p:cNvSpPr txBox="1"/>
          <p:nvPr/>
        </p:nvSpPr>
        <p:spPr>
          <a:xfrm>
            <a:off x="744020" y="4805154"/>
            <a:ext cx="5177919" cy="73866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&gt;&gt; L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endParaRPr lang="en-US" altLang="ko-KR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&gt;&gt; docker build -t my-web-app .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&gt;&gt; docker run -d -p 8080:80 --name web-server my-web-app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50945E-47A0-7BF1-EFE6-B38A41037DED}"/>
              </a:ext>
            </a:extLst>
          </p:cNvPr>
          <p:cNvSpPr txBox="1"/>
          <p:nvPr/>
        </p:nvSpPr>
        <p:spPr>
          <a:xfrm>
            <a:off x="6080761" y="4543058"/>
            <a:ext cx="5620355" cy="600164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ot"/>
          </a:ln>
        </p:spPr>
        <p:txBody>
          <a:bodyPr wrap="square">
            <a:spAutoFit/>
          </a:bodyPr>
          <a:lstStyle/>
          <a:p>
            <a:pPr lvl="0"/>
            <a:r>
              <a:rPr lang="ko-KR" altLang="ko-KR" sz="11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lang="ko-KR" altLang="ko-KR" sz="11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1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build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Dockerfile을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읽어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도커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이미지를 생성</a:t>
            </a:r>
          </a:p>
          <a:p>
            <a:pPr lvl="0"/>
            <a:r>
              <a:rPr lang="ko-KR" altLang="ko-KR" sz="1100" b="1" dirty="0"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ko-KR" altLang="ko-KR" sz="11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lang="ko-KR" altLang="ko-KR" sz="11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1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my-web-app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: 생성할 이미지의 이름(태그)을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my-web-app으로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지정</a:t>
            </a:r>
          </a:p>
          <a:p>
            <a:pPr lvl="0"/>
            <a:r>
              <a:rPr lang="ko-KR" altLang="ko-KR" sz="1100" b="1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: 이미지 빌드에 필요한 파일들이 위치한 현재 디렉터리를 의미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C4B2B6-78ED-DDD4-14F9-21BB2F58EF26}"/>
              </a:ext>
            </a:extLst>
          </p:cNvPr>
          <p:cNvSpPr txBox="1"/>
          <p:nvPr/>
        </p:nvSpPr>
        <p:spPr>
          <a:xfrm>
            <a:off x="6080761" y="5172776"/>
            <a:ext cx="5620355" cy="1107996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ot"/>
          </a:ln>
        </p:spPr>
        <p:txBody>
          <a:bodyPr wrap="square">
            <a:spAutoFit/>
          </a:bodyPr>
          <a:lstStyle/>
          <a:p>
            <a:pPr lvl="0"/>
            <a:r>
              <a:rPr lang="ko-KR" altLang="ko-KR" sz="11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lang="ko-KR" altLang="ko-KR" sz="11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1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run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: 지정한 이미지를 기반으로 새로운 컨테이너를 생성하여 실행</a:t>
            </a:r>
          </a:p>
          <a:p>
            <a:pPr lvl="0"/>
            <a:r>
              <a:rPr lang="ko-KR" altLang="ko-KR" sz="1100" b="1" dirty="0"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ko-KR" altLang="ko-KR" sz="11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d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: 컨테이너를 백그라운드(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Detached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모드)에서 실행</a:t>
            </a:r>
          </a:p>
          <a:p>
            <a:pPr lvl="0"/>
            <a:r>
              <a:rPr lang="ko-KR" altLang="ko-KR" sz="1100" b="1" dirty="0"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ko-KR" altLang="ko-KR" sz="11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ko-KR" altLang="ko-KR" sz="1100" b="1" dirty="0">
                <a:latin typeface="D2Coding" panose="020B0609020101020101" pitchFamily="49" charset="-127"/>
                <a:ea typeface="D2Coding" panose="020B0609020101020101" pitchFamily="49" charset="-127"/>
              </a:rPr>
              <a:t> 8080:80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: 외부(호스트) 8080번 포트 접속을 컨테이너 내부의 80번 포트로 연결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0"/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(포트 마이그레이션/바인딩)</a:t>
            </a:r>
          </a:p>
          <a:p>
            <a:pPr lvl="0"/>
            <a:r>
              <a:rPr lang="ko-KR" altLang="ko-KR" sz="1100" b="1" dirty="0">
                <a:latin typeface="D2Coding" panose="020B0609020101020101" pitchFamily="49" charset="-127"/>
                <a:ea typeface="D2Coding" panose="020B0609020101020101" pitchFamily="49" charset="-127"/>
              </a:rPr>
              <a:t>--</a:t>
            </a:r>
            <a:r>
              <a:rPr lang="ko-KR" altLang="ko-KR" sz="11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ko-KR" sz="11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1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web-server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: 실행되는 컨테이너의 이름을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web-server로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지정</a:t>
            </a:r>
          </a:p>
          <a:p>
            <a:pPr lvl="0"/>
            <a:r>
              <a:rPr lang="ko-KR" altLang="ko-KR" sz="11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my-web-app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: 실행에 사용할 이미지 이름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CBD8E1-1624-6410-A099-DD2C56FDB4F7}"/>
              </a:ext>
            </a:extLst>
          </p:cNvPr>
          <p:cNvSpPr txBox="1"/>
          <p:nvPr/>
        </p:nvSpPr>
        <p:spPr>
          <a:xfrm>
            <a:off x="563418" y="5041970"/>
            <a:ext cx="5440218" cy="523219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txBody>
          <a:bodyPr wrap="square">
            <a:spAutoFit/>
          </a:bodyPr>
          <a:lstStyle/>
          <a:p>
            <a:pPr lvl="0"/>
            <a:endParaRPr lang="ko-KR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6" name="그래픽 25" descr="무술 단색으로 채워진">
            <a:extLst>
              <a:ext uri="{FF2B5EF4-FFF2-40B4-BE49-F238E27FC236}">
                <a16:creationId xmlns:a16="http://schemas.microsoft.com/office/drawing/2014/main" id="{4512B19F-724D-19EA-1744-83EB8BBA00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9922" y="438861"/>
            <a:ext cx="753545" cy="7535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43AD24-0E63-F2AC-699A-EDA055666BA4}"/>
              </a:ext>
            </a:extLst>
          </p:cNvPr>
          <p:cNvSpPr txBox="1"/>
          <p:nvPr/>
        </p:nvSpPr>
        <p:spPr>
          <a:xfrm>
            <a:off x="7345259" y="2440511"/>
            <a:ext cx="4371096" cy="193899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&lt;!DOCTYPE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head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&lt;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meta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charset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="UTF-8"&gt;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&lt;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Codespaces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Web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Server&lt;/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head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body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&lt;h1&gt;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Hello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Custom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Nginx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on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Codespaces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!&lt;/h1&gt;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body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endParaRPr lang="ko-KR" altLang="ko-KR" sz="800" b="0" dirty="0">
              <a:solidFill>
                <a:srgbClr val="E6EDF3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151AE0-39C9-5C42-9B0E-DB3AFDF87B5A}"/>
              </a:ext>
            </a:extLst>
          </p:cNvPr>
          <p:cNvSpPr txBox="1"/>
          <p:nvPr/>
        </p:nvSpPr>
        <p:spPr>
          <a:xfrm>
            <a:off x="7345258" y="2117957"/>
            <a:ext cx="25653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index.html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직접 만들기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21774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2B202-F298-120E-1CD5-ECF8C00D8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2CA04B8-B246-15CA-D285-458AA271AF5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Exercise 1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505DFCE-227D-4944-0620-37DCCAC02F1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26" name="그래픽 25" descr="무술 단색으로 채워진">
            <a:extLst>
              <a:ext uri="{FF2B5EF4-FFF2-40B4-BE49-F238E27FC236}">
                <a16:creationId xmlns:a16="http://schemas.microsoft.com/office/drawing/2014/main" id="{BC9D54E2-AB5E-EF89-4317-5BE43F618A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9922" y="438861"/>
            <a:ext cx="753545" cy="75354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D5EFEE5-802F-7F8B-B9D8-25116753A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10165"/>
            <a:ext cx="11028218" cy="2930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BAFC93-AC42-EBF3-49BB-7D11216C54E4}"/>
              </a:ext>
            </a:extLst>
          </p:cNvPr>
          <p:cNvSpPr txBox="1"/>
          <p:nvPr/>
        </p:nvSpPr>
        <p:spPr>
          <a:xfrm>
            <a:off x="609600" y="4616420"/>
            <a:ext cx="11102109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&gt;&gt; curl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http://localhost:8080</a:t>
            </a:r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&gt;&gt; docker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</a:t>
            </a:r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CONTAINER ID   IMAGE        COMMAND                  CREATED         STATUS         PORTS                                     NAMES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4ed065d9a093   my-web-app   "/docker-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entrypoint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.…"   3 minutes ago   Up 3 minutes   0.0.0.0:8080-&gt;80/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tcp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[::]:8080-&gt;80/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tcp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web-server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37F770-05C4-CC9D-7A06-56FE511F6142}"/>
              </a:ext>
            </a:extLst>
          </p:cNvPr>
          <p:cNvSpPr txBox="1"/>
          <p:nvPr/>
        </p:nvSpPr>
        <p:spPr>
          <a:xfrm>
            <a:off x="3074097" y="4816997"/>
            <a:ext cx="7626001" cy="26161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ot"/>
          </a:ln>
        </p:spPr>
        <p:txBody>
          <a:bodyPr wrap="square">
            <a:spAutoFit/>
          </a:bodyPr>
          <a:lstStyle/>
          <a:p>
            <a:pPr lvl="0"/>
            <a:r>
              <a:rPr lang="ko-KR" altLang="ko-KR" sz="1100" dirty="0">
                <a:solidFill>
                  <a:schemeClr val="bg1"/>
                </a:solidFill>
              </a:rPr>
              <a:t>현재 내 컴퓨터의 8080번 포트에서 실행 중인 웹 서버에 HTTP 요청을 보내는 터미널 명령어</a:t>
            </a:r>
            <a:endParaRPr lang="ko-KR" altLang="ko-KR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12565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7E790-91C6-EAF8-0BA8-84E2D4926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366CFF1-0379-855C-73FE-6315BA04F02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Exercise 2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3148465-0CDC-6F0D-EAB9-A2045B30D9F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7" name="그래픽 6" descr="무술 단색으로 채워진">
            <a:extLst>
              <a:ext uri="{FF2B5EF4-FFF2-40B4-BE49-F238E27FC236}">
                <a16:creationId xmlns:a16="http://schemas.microsoft.com/office/drawing/2014/main" id="{02BEA1C6-AED9-9C8F-5BB9-0BFDFE0A55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9922" y="438861"/>
            <a:ext cx="753545" cy="7535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86C37FA-AB27-3BE4-AB75-252220E74F26}"/>
              </a:ext>
            </a:extLst>
          </p:cNvPr>
          <p:cNvSpPr txBox="1"/>
          <p:nvPr/>
        </p:nvSpPr>
        <p:spPr>
          <a:xfrm>
            <a:off x="563418" y="1221695"/>
            <a:ext cx="11152937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가상환경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(Virtual Environment)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만들고 필요한 모듈과 패키지를 설치한 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seaborn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Titanic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바탕으로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FastAPI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애플리케이션에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마운트(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gr.mount_gradio_app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)하여 타이타닉 데이터셋을 웹 인터페이스로 탐색(EDA)하는 구현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하라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E5F1EBB-626F-F535-9E2F-C960121C1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36" y="2669309"/>
            <a:ext cx="9384526" cy="347176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34AB9CE-49C7-3B70-0295-5A1CB8D7DCF7}"/>
              </a:ext>
            </a:extLst>
          </p:cNvPr>
          <p:cNvSpPr txBox="1"/>
          <p:nvPr/>
        </p:nvSpPr>
        <p:spPr>
          <a:xfrm>
            <a:off x="3491345" y="5113086"/>
            <a:ext cx="7416799" cy="523219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txBody>
          <a:bodyPr wrap="square">
            <a:spAutoFit/>
          </a:bodyPr>
          <a:lstStyle/>
          <a:p>
            <a:pPr lvl="0"/>
            <a:endParaRPr lang="ko-KR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6" name="설명선: 굽은 선 25">
            <a:extLst>
              <a:ext uri="{FF2B5EF4-FFF2-40B4-BE49-F238E27FC236}">
                <a16:creationId xmlns:a16="http://schemas.microsoft.com/office/drawing/2014/main" id="{097617E5-6327-C11A-96F9-304451D0F31C}"/>
              </a:ext>
            </a:extLst>
          </p:cNvPr>
          <p:cNvSpPr/>
          <p:nvPr/>
        </p:nvSpPr>
        <p:spPr>
          <a:xfrm>
            <a:off x="7313976" y="4143583"/>
            <a:ext cx="2835564" cy="52321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04295"/>
              <a:gd name="adj6" fmla="val -66862"/>
            </a:avLst>
          </a:prstGeom>
          <a:solidFill>
            <a:schemeClr val="tx1"/>
          </a:solidFill>
          <a:ln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로컬이 아닌 외부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(Public)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연결하여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웹브라우저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시크릿 모드에서 확인 </a:t>
            </a:r>
          </a:p>
        </p:txBody>
      </p:sp>
    </p:spTree>
    <p:extLst>
      <p:ext uri="{BB962C8B-B14F-4D97-AF65-F5344CB8AC3E}">
        <p14:creationId xmlns:p14="http://schemas.microsoft.com/office/powerpoint/2010/main" val="366758236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1E716-933D-B585-BA12-48FA6DA4E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D5E372B-FBA7-3B66-8628-FD60AE21FFE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Exercise 2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33A693F-B36A-13D8-7EB0-BA311A6FA8F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7" name="그래픽 6" descr="무술 단색으로 채워진">
            <a:extLst>
              <a:ext uri="{FF2B5EF4-FFF2-40B4-BE49-F238E27FC236}">
                <a16:creationId xmlns:a16="http://schemas.microsoft.com/office/drawing/2014/main" id="{5C6C0998-9139-8CD4-56A2-85C15039BD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9922" y="438861"/>
            <a:ext cx="753545" cy="75354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CEAAACF-53FE-DE8D-B374-C353D03E7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709" y="1215394"/>
            <a:ext cx="9277698" cy="535754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828A5D5-F827-D90F-0E4F-E3D5729A2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7858" y="2026632"/>
            <a:ext cx="5468923" cy="266516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4DFFF03-B17F-9ADC-F16B-3821EB9F80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4313" y="2581481"/>
            <a:ext cx="4534855" cy="3017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594F4C2-147B-FA0B-BD5B-639EB20419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7391" y="3330669"/>
            <a:ext cx="4152942" cy="323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27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53E20-9AC5-F483-F682-701DCBC3F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21D7D5D-DC4A-010F-A3DB-A7F57682A84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Linux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EDCD0F-CECA-43BF-184B-64CCE7C4EB6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F2F1F58-E7D7-6F5A-35A4-8C894ED8CE1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26A53C0-CA82-2D75-2FF9-76AB13BE5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710" y="1867783"/>
            <a:ext cx="10438823" cy="41573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0261F5-6247-2387-C8C4-5B4D9A025D52}"/>
              </a:ext>
            </a:extLst>
          </p:cNvPr>
          <p:cNvSpPr txBox="1"/>
          <p:nvPr/>
        </p:nvSpPr>
        <p:spPr>
          <a:xfrm>
            <a:off x="561975" y="1320931"/>
            <a:ext cx="6096000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Linux</a:t>
            </a:r>
            <a:r>
              <a:rPr lang="ko-KR" altLang="en-US" dirty="0">
                <a:solidFill>
                  <a:schemeClr val="bg1"/>
                </a:solidFill>
              </a:rPr>
              <a:t> System.pptx</a:t>
            </a:r>
          </a:p>
        </p:txBody>
      </p:sp>
    </p:spTree>
    <p:extLst>
      <p:ext uri="{BB962C8B-B14F-4D97-AF65-F5344CB8AC3E}">
        <p14:creationId xmlns:p14="http://schemas.microsoft.com/office/powerpoint/2010/main" val="166652902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5BC59-D54E-264E-5A23-5EC65A7F9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912680-EBEF-D463-3076-ABE05DFE0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WSL </a:t>
            </a:r>
            <a:endParaRPr lang="ko-KR" altLang="en-US" sz="5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B7A44FF9-2975-B402-1E01-B382452291B9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77C9B-6B5E-68EE-EC34-449ED619C455}"/>
              </a:ext>
            </a:extLst>
          </p:cNvPr>
          <p:cNvSpPr txBox="1"/>
          <p:nvPr/>
        </p:nvSpPr>
        <p:spPr>
          <a:xfrm>
            <a:off x="855620" y="2752872"/>
            <a:ext cx="9374230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Vscode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on WSL</a:t>
            </a:r>
          </a:p>
        </p:txBody>
      </p:sp>
    </p:spTree>
    <p:extLst>
      <p:ext uri="{BB962C8B-B14F-4D97-AF65-F5344CB8AC3E}">
        <p14:creationId xmlns:p14="http://schemas.microsoft.com/office/powerpoint/2010/main" val="135426453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"/>
          <p:cNvSpPr txBox="1">
            <a:spLocks noGrp="1"/>
          </p:cNvSpPr>
          <p:nvPr>
            <p:ph type="title"/>
          </p:nvPr>
        </p:nvSpPr>
        <p:spPr>
          <a:xfrm>
            <a:off x="913794" y="456614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Docker </a:t>
            </a:r>
            <a:r>
              <a:rPr lang="en-US" dirty="0" err="1"/>
              <a:t>설치</a:t>
            </a:r>
            <a:r>
              <a:rPr lang="en-US" dirty="0"/>
              <a:t>(WSL)</a:t>
            </a:r>
            <a:endParaRPr dirty="0"/>
          </a:p>
        </p:txBody>
      </p:sp>
      <p:sp>
        <p:nvSpPr>
          <p:cNvPr id="249" name="Google Shape;249;p10" descr="Deployment evolution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250" name="Google Shape;25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7286" y="2320872"/>
            <a:ext cx="9062227" cy="28258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54388E8C-D519-6B2C-100C-D6358F335E5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47298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218B5659-BB76-2E3E-A5A7-C42DF701F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">
            <a:extLst>
              <a:ext uri="{FF2B5EF4-FFF2-40B4-BE49-F238E27FC236}">
                <a16:creationId xmlns:a16="http://schemas.microsoft.com/office/drawing/2014/main" id="{1B0B7104-BF03-322B-2DE6-1CB7DFEE5A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3794" y="456614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Docker </a:t>
            </a:r>
            <a:r>
              <a:rPr lang="en-US" dirty="0" err="1"/>
              <a:t>설치</a:t>
            </a:r>
            <a:r>
              <a:rPr lang="en-US" dirty="0"/>
              <a:t>(WSL)</a:t>
            </a:r>
            <a:endParaRPr dirty="0"/>
          </a:p>
        </p:txBody>
      </p:sp>
      <p:sp>
        <p:nvSpPr>
          <p:cNvPr id="249" name="Google Shape;249;p10" descr="Deployment evolution">
            <a:extLst>
              <a:ext uri="{FF2B5EF4-FFF2-40B4-BE49-F238E27FC236}">
                <a16:creationId xmlns:a16="http://schemas.microsoft.com/office/drawing/2014/main" id="{23B72557-BA42-28EB-76B1-86A8B073DAD0}"/>
              </a:ext>
            </a:extLst>
          </p:cNvPr>
          <p:cNvSpPr/>
          <p:nvPr/>
        </p:nvSpPr>
        <p:spPr>
          <a:xfrm>
            <a:off x="5440218" y="381221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249E23A8-8949-7CC2-CAAA-336492AAF5D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Google Shape;294;p14">
            <a:extLst>
              <a:ext uri="{FF2B5EF4-FFF2-40B4-BE49-F238E27FC236}">
                <a16:creationId xmlns:a16="http://schemas.microsoft.com/office/drawing/2014/main" id="{E8C34E9D-FFF2-9010-CE14-5900654870D6}"/>
              </a:ext>
            </a:extLst>
          </p:cNvPr>
          <p:cNvSpPr/>
          <p:nvPr/>
        </p:nvSpPr>
        <p:spPr>
          <a:xfrm>
            <a:off x="2365595" y="5506505"/>
            <a:ext cx="7169429" cy="766439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 11 Home (Host OS)</a:t>
            </a: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95;p14">
            <a:extLst>
              <a:ext uri="{FF2B5EF4-FFF2-40B4-BE49-F238E27FC236}">
                <a16:creationId xmlns:a16="http://schemas.microsoft.com/office/drawing/2014/main" id="{022040FF-1AD3-3DBE-045A-E9168C103CD9}"/>
              </a:ext>
            </a:extLst>
          </p:cNvPr>
          <p:cNvSpPr/>
          <p:nvPr/>
        </p:nvSpPr>
        <p:spPr>
          <a:xfrm>
            <a:off x="2365595" y="4663866"/>
            <a:ext cx="7169429" cy="766439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WSL2 (</a:t>
            </a:r>
            <a:r>
              <a:rPr lang="ko-KR" altLang="en-US" sz="1800" dirty="0">
                <a:latin typeface="Arial"/>
                <a:ea typeface="Arial"/>
                <a:cs typeface="Arial"/>
                <a:sym typeface="Arial"/>
              </a:rPr>
              <a:t>가상화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800" dirty="0">
                <a:latin typeface="Arial"/>
                <a:ea typeface="Arial"/>
                <a:cs typeface="Arial"/>
                <a:sym typeface="Arial"/>
              </a:rPr>
              <a:t>지원</a:t>
            </a:r>
            <a:r>
              <a:rPr lang="en-US" altLang="ko-KR" sz="1800" dirty="0">
                <a:latin typeface="Arial"/>
                <a:ea typeface="Arial"/>
                <a:cs typeface="Arial"/>
                <a:sym typeface="Arial"/>
              </a:rPr>
              <a:t>)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296;p14">
            <a:extLst>
              <a:ext uri="{FF2B5EF4-FFF2-40B4-BE49-F238E27FC236}">
                <a16:creationId xmlns:a16="http://schemas.microsoft.com/office/drawing/2014/main" id="{37F2D2BA-E277-9025-3416-8F782AFA9F30}"/>
              </a:ext>
            </a:extLst>
          </p:cNvPr>
          <p:cNvSpPr/>
          <p:nvPr/>
        </p:nvSpPr>
        <p:spPr>
          <a:xfrm>
            <a:off x="2344024" y="3812219"/>
            <a:ext cx="7169429" cy="766439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Ubuntu (L</a:t>
            </a:r>
            <a:r>
              <a:rPr lang="en-US" altLang="ko-K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inux</a:t>
            </a:r>
            <a:r>
              <a:rPr lang="ko-KR" alt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OS)</a:t>
            </a: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297;p14" descr="리눅스 (Linux) 명령어] 우분투(Ubuntu) 버전 확인하는 방법들! : 네이버 블로그">
            <a:extLst>
              <a:ext uri="{FF2B5EF4-FFF2-40B4-BE49-F238E27FC236}">
                <a16:creationId xmlns:a16="http://schemas.microsoft.com/office/drawing/2014/main" id="{4AA2B0A0-AC95-9E3F-B674-D1890589E2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27380" y="3916498"/>
            <a:ext cx="766292" cy="566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그림 1" descr="Overview of Docker Desktop - DEV Community">
            <a:extLst>
              <a:ext uri="{FF2B5EF4-FFF2-40B4-BE49-F238E27FC236}">
                <a16:creationId xmlns:a16="http://schemas.microsoft.com/office/drawing/2014/main" id="{D810340E-F137-3B9C-102E-E7B2BC26F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595" y="2747404"/>
            <a:ext cx="1977229" cy="98861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A846C04-3157-3382-A901-E20FCCD68D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688" y="2747404"/>
            <a:ext cx="1357925" cy="98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63328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A1AEC-5624-24F6-8379-98C1F8AD0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DBA8A3E-5CE9-E8C8-625D-3E19FD81B1D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WSL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54D114-5F84-74D5-66B9-0D2969803647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1364800-C37B-DC24-7E14-A3C8A5A5DFC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E6599ACA-B608-7B9B-1C99-7776140396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35A25B-E1DD-CBD7-9DCB-F3B98CAB6187}"/>
              </a:ext>
            </a:extLst>
          </p:cNvPr>
          <p:cNvSpPr txBox="1"/>
          <p:nvPr/>
        </p:nvSpPr>
        <p:spPr>
          <a:xfrm>
            <a:off x="2551629" y="1801242"/>
            <a:ext cx="6877051" cy="25545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C:\Users\조상구&gt;wsl --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version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WSL 버전: 2.7.11.0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커널 버전: 6.18.33.2-2</a:t>
            </a:r>
          </a:p>
          <a:p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WSLg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버전: 1.0.73.2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MSRDC 버전: 1.2.7214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Direct3D 버전: 1.611.1-81528511</a:t>
            </a:r>
          </a:p>
          <a:p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DXCore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버전: 10.0.26100.1-240331-1435.ge-release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Windows 버전: 10.0.26200.9168</a:t>
            </a:r>
          </a:p>
          <a:p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C:\Users\조상구&gt;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EF6CBDF-3A34-69BE-7A02-A4BDA8C45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45" y="1217365"/>
            <a:ext cx="11353281" cy="46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WSL(Windows Subsystem for Linux)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33188051-64FB-BF0F-AFBB-814E0FCB0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" y="4610284"/>
            <a:ext cx="11353281" cy="880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Docker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WSL 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먼저 설치하고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그 위에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Docker Desktop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얹어서 연동</a:t>
            </a: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405642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"/>
          <p:cNvSpPr txBox="1">
            <a:spLocks noGrp="1"/>
          </p:cNvSpPr>
          <p:nvPr>
            <p:ph type="title"/>
          </p:nvPr>
        </p:nvSpPr>
        <p:spPr>
          <a:xfrm>
            <a:off x="913794" y="438519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Windows PowerShell</a:t>
            </a:r>
            <a:endParaRPr/>
          </a:p>
        </p:txBody>
      </p:sp>
      <p:sp>
        <p:nvSpPr>
          <p:cNvPr id="259" name="Google Shape;259;p11"/>
          <p:cNvSpPr txBox="1"/>
          <p:nvPr/>
        </p:nvSpPr>
        <p:spPr>
          <a:xfrm>
            <a:off x="620413" y="1605947"/>
            <a:ext cx="10480459" cy="443031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36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28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PS C:\WINDOWS\system32&gt; </a:t>
            </a:r>
            <a:r>
              <a:rPr lang="en-US" sz="2800" b="1" dirty="0" err="1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wsl</a:t>
            </a:r>
            <a:r>
              <a:rPr lang="en-US" sz="2800" b="1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--version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908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endParaRPr sz="2800" dirty="0">
              <a:solidFill>
                <a:schemeClr val="lt2"/>
              </a:solidFill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908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28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PS C:\WINDOWS\system32&gt; </a:t>
            </a:r>
            <a:r>
              <a:rPr lang="en-US" sz="2700" b="1" dirty="0" err="1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wsl</a:t>
            </a:r>
            <a:r>
              <a:rPr lang="en-US" sz="2700" b="1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--list –online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NAME                                   FRIENDLY NAME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Ubuntu                                 </a:t>
            </a:r>
            <a:r>
              <a:rPr lang="en-US" sz="1400" dirty="0" err="1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Ubuntu</a:t>
            </a:r>
            <a:endParaRPr sz="1400" dirty="0">
              <a:solidFill>
                <a:schemeClr val="lt2"/>
              </a:solidFill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Debian                                 </a:t>
            </a:r>
            <a:r>
              <a:rPr lang="en-US" sz="1400" dirty="0" err="1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Debian</a:t>
            </a: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GNU/Linux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kali-</a:t>
            </a:r>
            <a:r>
              <a:rPr lang="en-US" sz="1400" dirty="0" err="1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linux</a:t>
            </a: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                            Kali Linux Rolling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Ubuntu-18.04                           Ubuntu 18.04 LTS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Ubuntu-20.04                           Ubuntu 20.04 LTS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Ubuntu-22.04                           Ubuntu 22.04 LTS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OracleLinux_7_9                        Oracle Linux 7.9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OracleLinux_8_7                        Oracle Linux 8.7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OracleLinux_9_1                        Oracle Linux 9.1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openSUSE-Leap-15.5                     openSUSE Leap 15.5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SUSE-Linux-Enterprise-Server-15-SP4    SUSE Linux Enterprise Server 15 SP4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SUSE-Linux-Enterprise-15-SP5           SUSE Linux Enterprise 15 SP5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openSUSE-Tumbleweed                    openSUSE Tumbleweed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831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endParaRPr sz="2100" dirty="0">
              <a:solidFill>
                <a:schemeClr val="lt2"/>
              </a:solidFill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908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28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PS C:\WINDOWS\system32&gt; </a:t>
            </a:r>
            <a:r>
              <a:rPr lang="en-US" sz="2700" b="1" dirty="0" err="1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wsl</a:t>
            </a:r>
            <a:r>
              <a:rPr lang="en-US" sz="2700" b="1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--status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60" name="Google Shape;26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0675" y="1396406"/>
            <a:ext cx="5480912" cy="502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3C797678-5E79-C069-4201-77C29A5A67D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59219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"/>
          <p:cNvSpPr txBox="1">
            <a:spLocks noGrp="1"/>
          </p:cNvSpPr>
          <p:nvPr>
            <p:ph type="title"/>
          </p:nvPr>
        </p:nvSpPr>
        <p:spPr>
          <a:xfrm>
            <a:off x="919119" y="419546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WSL2 Installation</a:t>
            </a:r>
            <a:endParaRPr dirty="0"/>
          </a:p>
        </p:txBody>
      </p:sp>
      <p:sp>
        <p:nvSpPr>
          <p:cNvPr id="293" name="Google Shape;293;p14"/>
          <p:cNvSpPr txBox="1"/>
          <p:nvPr/>
        </p:nvSpPr>
        <p:spPr>
          <a:xfrm>
            <a:off x="585585" y="1416783"/>
            <a:ext cx="11458633" cy="4616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PS C:\WINDOWS\system32&gt; </a:t>
            </a:r>
            <a:r>
              <a:rPr lang="en-US" sz="1400" dirty="0" err="1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wsl</a:t>
            </a:r>
            <a:r>
              <a:rPr lang="en-US" sz="1400" dirty="0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--install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Ubuntu이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(가)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이미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설치되어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있습니다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.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Ubuntu을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(를)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시작하는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중...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To run a command as administrator (user "root"), use "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sudo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&lt;command&gt;".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See "man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sudo_root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" for details.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ancestor9@DESKTOP-LMLFU0S:~$ ls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ancestor9@DESKTOP-LMLFU0S:~$ ls -al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total 28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drwxr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-x--- 3 ancestor9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4096 Dec 20 00:06 .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drwxr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xr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-x 3 root     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root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     4096 Dec 19 23:02 ..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rw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------- 1 ancestor9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 179 Dec 20 10:53 .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bash_history</a:t>
            </a:r>
            <a:endParaRPr sz="1400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rw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-r--r-- 1 ancestor9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 220 Dec 19 23:02 .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bash_logout</a:t>
            </a:r>
            <a:endParaRPr sz="1400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rw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-r--r-- 1 ancestor9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3771 Dec 19 23:02 .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bashrc</a:t>
            </a:r>
            <a:endParaRPr sz="1400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drwx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------ 2 ancestor9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4096 Dec 19 23:02 .cache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rw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-r--r-- 1 ancestor9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   0 Dec 20 10:42 .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motd_shown</a:t>
            </a:r>
            <a:endParaRPr sz="1400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rw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-r--r-- 1 ancestor9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 807 Dec 19 23:02 .profile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PS C:\WINDOWS\system32&gt; </a:t>
            </a:r>
            <a:r>
              <a:rPr lang="en-US" sz="1400" dirty="0" err="1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wsl</a:t>
            </a:r>
            <a:r>
              <a:rPr lang="en-US" sz="1400" dirty="0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-l -v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NAME                   STATE           VERSION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Ubuntu                 Running         2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7907414" y="6033391"/>
            <a:ext cx="3836894" cy="766439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 11 Home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7907414" y="5190752"/>
            <a:ext cx="3836894" cy="766439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WSL2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7885843" y="4339105"/>
            <a:ext cx="3836894" cy="766439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Ubuntu</a:t>
            </a: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14" descr="리눅스 (Linux) 명령어] 우분투(Ubuntu) 버전 확인하는 방법들! : 네이버 블로그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54435" y="4458107"/>
            <a:ext cx="686696" cy="528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BF6D61E0-D3DF-C556-13C4-F4718251455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2152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41DFE-ADCB-8390-3A1D-DB14DC897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EF68F42-E515-4A96-D7E9-9246B3AE794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WSL,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Vs Code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177EDE-8835-4628-7AC8-ECBE6F70F2FA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781565B-514E-66EF-A29D-4BC7730BA34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D80D92BE-4F88-1665-7685-9E3775DD00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F410ABF9-52B4-C90E-30FA-30F42B734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759" y="1231970"/>
            <a:ext cx="11353281" cy="1162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WSL(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가상환경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VS Code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실행은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client-server(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클라이언트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서버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아키텍처를 통해 작동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Windows (UI Client):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에디터의 화면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(UI),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메뉴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테마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렌더링 등 사용자가 조작하는 영역 담당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WSL (VS Code Server): WSL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터미널에서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code .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입력하는 순간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WSL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내부에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VS Code Server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AutoShape 2" descr="codespaces-diagr...">
            <a:extLst>
              <a:ext uri="{FF2B5EF4-FFF2-40B4-BE49-F238E27FC236}">
                <a16:creationId xmlns:a16="http://schemas.microsoft.com/office/drawing/2014/main" id="{33DDD9B3-45C3-841F-FF91-D7D5EC3E84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19C3AA-F7B6-DFEB-356A-9839AA030E4A}"/>
              </a:ext>
            </a:extLst>
          </p:cNvPr>
          <p:cNvSpPr txBox="1"/>
          <p:nvPr/>
        </p:nvSpPr>
        <p:spPr>
          <a:xfrm>
            <a:off x="624017" y="2668615"/>
            <a:ext cx="4209791" cy="3818866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통신 및 작업 처리 방식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실시간 통신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Windows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UI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WSL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Server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는 내부 소켓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(IPC/TCP)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을 통해 통신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리눅스 네이티브 실행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코드의 확장 기능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(Python, Node.js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터미널 실행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디버깅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파일 검색 등 모든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백엔드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작업은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WSL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내부에서 리눅스 바이너리로 직접 동작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파일 액세스 속도 최적화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Windows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파일 시스템을 거쳐 리눅스 파일을 읽는 대신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리눅스 내부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Server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가 해당 파일 시스템에 직접 접근하므로 속도가 매우 빠르고 권한 문제가 발생하지 않음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개발자는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Windows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의 편리한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UI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를 그대로 유지하면서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완전한 리눅스 개발 환경의 이점을 사용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Google Shape;294;p14">
            <a:extLst>
              <a:ext uri="{FF2B5EF4-FFF2-40B4-BE49-F238E27FC236}">
                <a16:creationId xmlns:a16="http://schemas.microsoft.com/office/drawing/2014/main" id="{75AC0761-96EF-8DB6-FC1F-95F3E005B83A}"/>
              </a:ext>
            </a:extLst>
          </p:cNvPr>
          <p:cNvSpPr/>
          <p:nvPr/>
        </p:nvSpPr>
        <p:spPr>
          <a:xfrm>
            <a:off x="6113650" y="5369172"/>
            <a:ext cx="4623545" cy="479178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Arial"/>
                <a:sym typeface="Arial"/>
              </a:rPr>
              <a:t>Window H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Arial"/>
                <a:sym typeface="Arial"/>
              </a:rPr>
              <a:t>ost</a:t>
            </a:r>
            <a:endParaRPr sz="1800" dirty="0">
              <a:latin typeface="D2Coding" panose="020B0609020101020101" pitchFamily="49" charset="-127"/>
              <a:ea typeface="D2Coding" panose="020B0609020101020101" pitchFamily="49" charset="-127"/>
              <a:cs typeface="Arial"/>
              <a:sym typeface="Arial"/>
            </a:endParaRPr>
          </a:p>
        </p:txBody>
      </p:sp>
      <p:sp>
        <p:nvSpPr>
          <p:cNvPr id="19" name="Google Shape;295;p14">
            <a:extLst>
              <a:ext uri="{FF2B5EF4-FFF2-40B4-BE49-F238E27FC236}">
                <a16:creationId xmlns:a16="http://schemas.microsoft.com/office/drawing/2014/main" id="{01855198-2F50-BBE5-E1BD-1B2E5D4E525A}"/>
              </a:ext>
            </a:extLst>
          </p:cNvPr>
          <p:cNvSpPr/>
          <p:nvPr/>
        </p:nvSpPr>
        <p:spPr>
          <a:xfrm>
            <a:off x="6113650" y="4793492"/>
            <a:ext cx="4623545" cy="479178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Arial"/>
                <a:sym typeface="Arial"/>
              </a:rPr>
              <a:t>WSL2(Linux 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Arial"/>
                <a:sym typeface="Arial"/>
              </a:rPr>
              <a:t>가상환경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  <a:cs typeface="Arial"/>
                <a:sym typeface="Arial"/>
              </a:rPr>
              <a:t>)</a:t>
            </a:r>
            <a:endParaRPr sz="1800" dirty="0">
              <a:latin typeface="D2Coding" panose="020B0609020101020101" pitchFamily="49" charset="-127"/>
              <a:ea typeface="D2Coding" panose="020B0609020101020101" pitchFamily="49" charset="-127"/>
              <a:cs typeface="Arial"/>
              <a:sym typeface="Arial"/>
            </a:endParaRPr>
          </a:p>
        </p:txBody>
      </p:sp>
      <p:sp>
        <p:nvSpPr>
          <p:cNvPr id="20" name="Google Shape;296;p14">
            <a:extLst>
              <a:ext uri="{FF2B5EF4-FFF2-40B4-BE49-F238E27FC236}">
                <a16:creationId xmlns:a16="http://schemas.microsoft.com/office/drawing/2014/main" id="{CBDD4233-AC71-FD46-A10C-53ECEB06D405}"/>
              </a:ext>
            </a:extLst>
          </p:cNvPr>
          <p:cNvSpPr/>
          <p:nvPr/>
        </p:nvSpPr>
        <p:spPr>
          <a:xfrm>
            <a:off x="6092079" y="4217811"/>
            <a:ext cx="4623545" cy="479178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Arial"/>
                <a:sym typeface="Arial"/>
              </a:rPr>
              <a:t>Ubuntu</a:t>
            </a:r>
            <a:endParaRPr sz="1800" dirty="0">
              <a:latin typeface="D2Coding" panose="020B0609020101020101" pitchFamily="49" charset="-127"/>
              <a:ea typeface="D2Coding" panose="020B0609020101020101" pitchFamily="49" charset="-127"/>
              <a:cs typeface="Arial"/>
              <a:sym typeface="Arial"/>
            </a:endParaRPr>
          </a:p>
        </p:txBody>
      </p:sp>
      <p:sp>
        <p:nvSpPr>
          <p:cNvPr id="21" name="Google Shape;296;p14">
            <a:extLst>
              <a:ext uri="{FF2B5EF4-FFF2-40B4-BE49-F238E27FC236}">
                <a16:creationId xmlns:a16="http://schemas.microsoft.com/office/drawing/2014/main" id="{9D2A7F7B-6613-2C20-CF98-71FFF0109191}"/>
              </a:ext>
            </a:extLst>
          </p:cNvPr>
          <p:cNvSpPr/>
          <p:nvPr/>
        </p:nvSpPr>
        <p:spPr>
          <a:xfrm>
            <a:off x="6092079" y="3599884"/>
            <a:ext cx="1689845" cy="40685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r>
              <a:rPr lang="ko-KR" altLang="en-US"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r>
              <a:rPr lang="ko-KR" altLang="en-US"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sz="16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96;p14">
            <a:extLst>
              <a:ext uri="{FF2B5EF4-FFF2-40B4-BE49-F238E27FC236}">
                <a16:creationId xmlns:a16="http://schemas.microsoft.com/office/drawing/2014/main" id="{2010E48F-F16B-3566-34E7-A997517133A3}"/>
              </a:ext>
            </a:extLst>
          </p:cNvPr>
          <p:cNvSpPr/>
          <p:nvPr/>
        </p:nvSpPr>
        <p:spPr>
          <a:xfrm>
            <a:off x="9025779" y="3599884"/>
            <a:ext cx="1689845" cy="40685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 sz="16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D1556FB4-6DE3-5A67-6FFF-D69BC88A1BE3}"/>
              </a:ext>
            </a:extLst>
          </p:cNvPr>
          <p:cNvCxnSpPr>
            <a:cxnSpLocks/>
            <a:stCxn id="18" idx="1"/>
            <a:endCxn id="21" idx="1"/>
          </p:cNvCxnSpPr>
          <p:nvPr/>
        </p:nvCxnSpPr>
        <p:spPr>
          <a:xfrm rot="10800000">
            <a:off x="6092080" y="3803311"/>
            <a:ext cx="21571" cy="1805450"/>
          </a:xfrm>
          <a:prstGeom prst="bentConnector3">
            <a:avLst>
              <a:gd name="adj1" fmla="val 115975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AAB798F7-4E5D-EBD1-BAB6-E056D74EEAC1}"/>
              </a:ext>
            </a:extLst>
          </p:cNvPr>
          <p:cNvCxnSpPr>
            <a:cxnSpLocks/>
            <a:stCxn id="18" idx="3"/>
            <a:endCxn id="22" idx="3"/>
          </p:cNvCxnSpPr>
          <p:nvPr/>
        </p:nvCxnSpPr>
        <p:spPr>
          <a:xfrm flipH="1" flipV="1">
            <a:off x="10715624" y="3803311"/>
            <a:ext cx="21571" cy="1805450"/>
          </a:xfrm>
          <a:prstGeom prst="bentConnector3">
            <a:avLst>
              <a:gd name="adj1" fmla="val -105975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C6E4AD5-ECD4-3EB1-F65C-78262F1AE35B}"/>
              </a:ext>
            </a:extLst>
          </p:cNvPr>
          <p:cNvSpPr txBox="1"/>
          <p:nvPr/>
        </p:nvSpPr>
        <p:spPr>
          <a:xfrm>
            <a:off x="5029899" y="4362605"/>
            <a:ext cx="94045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내부 소켓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(IPC/TCP)</a:t>
            </a:r>
            <a:endParaRPr lang="ko-KR" altLang="en-US" sz="11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9DDD8A-C3BF-B293-DC4F-D903ED061B6C}"/>
              </a:ext>
            </a:extLst>
          </p:cNvPr>
          <p:cNvSpPr txBox="1"/>
          <p:nvPr/>
        </p:nvSpPr>
        <p:spPr>
          <a:xfrm>
            <a:off x="10997614" y="4266102"/>
            <a:ext cx="94045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내부 소켓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(IPC/TCP)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56411480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CD719-B81F-0F52-9078-3D5F522DB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597515E-6A96-4B95-7417-A18D21E8AB8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WSL VS Code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C5F6C23-2A26-B3FA-118D-7116027BA8D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01E2B88A-3104-6F36-B459-66AEED336D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E33FC50F-546D-4900-E871-4AE5CCD7A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977" y="1451592"/>
            <a:ext cx="5379403" cy="429198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6D5E62F-14A4-355A-E273-77C1F99C8077}"/>
              </a:ext>
            </a:extLst>
          </p:cNvPr>
          <p:cNvSpPr/>
          <p:nvPr/>
        </p:nvSpPr>
        <p:spPr>
          <a:xfrm>
            <a:off x="6515610" y="2338911"/>
            <a:ext cx="1177758" cy="2656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B590B61-4EA1-4513-D789-68129DE88234}"/>
              </a:ext>
            </a:extLst>
          </p:cNvPr>
          <p:cNvSpPr/>
          <p:nvPr/>
        </p:nvSpPr>
        <p:spPr>
          <a:xfrm>
            <a:off x="9872142" y="4562475"/>
            <a:ext cx="1294865" cy="3453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78203C8-A11D-AC18-CAE3-0BBB33E4FB5E}"/>
              </a:ext>
            </a:extLst>
          </p:cNvPr>
          <p:cNvSpPr/>
          <p:nvPr/>
        </p:nvSpPr>
        <p:spPr>
          <a:xfrm>
            <a:off x="7981317" y="2200277"/>
            <a:ext cx="2658108" cy="6191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5F170E-0CF4-3217-C149-A4852281CC79}"/>
              </a:ext>
            </a:extLst>
          </p:cNvPr>
          <p:cNvSpPr txBox="1"/>
          <p:nvPr/>
        </p:nvSpPr>
        <p:spPr>
          <a:xfrm>
            <a:off x="599470" y="1250379"/>
            <a:ext cx="5564786" cy="538609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사전 준비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(Windows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측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VS Code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설치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Windows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용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VS Code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설치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확장 플러그인 설치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VS Code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열고 왼쪽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Extensions(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Ctrl+Shift+X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탭에서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WSL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(Microsoft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확장 프로그램을 설치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WSL(Ubuntu)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터미널 접속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Windows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명령 프롬프트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(CMD)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Ubuntu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환경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+mj-lt"/>
              <a:buAutoNum type="arabicPeriod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+mj-lt"/>
              <a:buAutoNum type="arabicPeriod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indent="-342900"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프로젝트 디렉토리 생성 및 이동</a:t>
            </a:r>
          </a:p>
          <a:p>
            <a:pPr lvl="2" indent="-342900"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리눅스 내에서 작업할 폴더를 생성하고 해당 이동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2" indent="-342900"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WSL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Windows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드라이브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/c/, 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/d/)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보다 리눅스 홈 경로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(~)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작업할 때 성능 및 파일 읽기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쓰기 속도가 훨씬 빠름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2" indent="-342900">
              <a:buFont typeface="Wingdings" panose="05000000000000000000" pitchFamily="2" charset="2"/>
              <a:buChar char="v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18A7981-A94A-B728-48CE-4284034A6907}"/>
              </a:ext>
            </a:extLst>
          </p:cNvPr>
          <p:cNvSpPr/>
          <p:nvPr/>
        </p:nvSpPr>
        <p:spPr>
          <a:xfrm>
            <a:off x="9749616" y="1934622"/>
            <a:ext cx="1719636" cy="2656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124892-1DCC-3B9C-348F-7255A8E973BA}"/>
              </a:ext>
            </a:extLst>
          </p:cNvPr>
          <p:cNvSpPr txBox="1"/>
          <p:nvPr/>
        </p:nvSpPr>
        <p:spPr>
          <a:xfrm>
            <a:off x="1028700" y="3083577"/>
            <a:ext cx="4982176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&gt;&gt; </a:t>
            </a:r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wsl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-d Ubuntu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48AE58-5207-1022-FF70-C9DE7510ACBD}"/>
              </a:ext>
            </a:extLst>
          </p:cNvPr>
          <p:cNvSpPr txBox="1"/>
          <p:nvPr/>
        </p:nvSpPr>
        <p:spPr>
          <a:xfrm>
            <a:off x="1028700" y="4883289"/>
            <a:ext cx="4982176" cy="169277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리눅스 사용자 홈 디렉토리로 이동</a:t>
            </a:r>
            <a:endParaRPr lang="en-US" altLang="ko-KR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&gt;&gt;cd ~ 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작업용 폴더 생성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my-project) </a:t>
            </a:r>
          </a:p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&gt;&gt;</a:t>
            </a:r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mkdir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my-project 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해당 폴더로 이동 </a:t>
            </a:r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&gt;&gt;cd my-project</a:t>
            </a:r>
          </a:p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&gt;&gt;code .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198319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AF781-9BE2-4D60-D1BF-BA5ECC4FE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E8EFB78-3722-F05B-4FFF-164E1749B85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WSL VS Code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1717C55-56D0-8554-0485-4637F108B54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F55DA21E-10BE-5B49-00B4-4DF98D99EB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9359FDB-7E87-CA9A-B082-8BD247C61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94812"/>
              </p:ext>
            </p:extLst>
          </p:nvPr>
        </p:nvGraphicFramePr>
        <p:xfrm>
          <a:off x="1380105" y="1900610"/>
          <a:ext cx="9964170" cy="4072308"/>
        </p:xfrm>
        <a:graphic>
          <a:graphicData uri="http://schemas.openxmlformats.org/drawingml/2006/table">
            <a:tbl>
              <a:tblPr/>
              <a:tblGrid>
                <a:gridCol w="2848995">
                  <a:extLst>
                    <a:ext uri="{9D8B030D-6E8A-4147-A177-3AD203B41FA5}">
                      <a16:colId xmlns:a16="http://schemas.microsoft.com/office/drawing/2014/main" val="2571242239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1497785675"/>
                    </a:ext>
                  </a:extLst>
                </a:gridCol>
                <a:gridCol w="4914900">
                  <a:extLst>
                    <a:ext uri="{9D8B030D-6E8A-4147-A177-3AD203B41FA5}">
                      <a16:colId xmlns:a16="http://schemas.microsoft.com/office/drawing/2014/main" val="4109236800"/>
                    </a:ext>
                  </a:extLst>
                </a:gridCol>
              </a:tblGrid>
              <a:tr h="21639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구분</a:t>
                      </a:r>
                    </a:p>
                  </a:txBody>
                  <a:tcPr marL="49937" marR="49937" marT="33291" marB="33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명령어</a:t>
                      </a:r>
                    </a:p>
                  </a:txBody>
                  <a:tcPr marL="49937" marR="49937" marT="33291" marB="3329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설명</a:t>
                      </a:r>
                    </a:p>
                  </a:txBody>
                  <a:tcPr marL="49937" marR="49937" marT="33291" marB="3329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8106979"/>
                  </a:ext>
                </a:extLst>
              </a:tr>
              <a:tr h="5160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Windows CMD/PowerShell</a:t>
                      </a:r>
                    </a:p>
                  </a:txBody>
                  <a:tcPr marL="49937" marR="49937" marT="33291" marB="33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0" i="0" dirty="0" err="1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wsl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-l -v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9937" marR="49937" marT="33291" marB="3329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설치된 </a:t>
                      </a:r>
                      <a:r>
                        <a:rPr lang="en-US" altLang="ko-KR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WSL </a:t>
                      </a:r>
                      <a:r>
                        <a:rPr lang="ko-KR" altLang="en-US" sz="1600" b="0" dirty="0" err="1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배포판</a:t>
                      </a: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목록 및 버전 확인</a:t>
                      </a:r>
                    </a:p>
                  </a:txBody>
                  <a:tcPr marL="49937" marR="49937" marT="33291" marB="3329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622478"/>
                  </a:ext>
                </a:extLst>
              </a:tr>
              <a:tr h="516011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1600" b="0" dirty="0">
                        <a:solidFill>
                          <a:srgbClr val="1F1F1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9937" marR="49937" marT="33291" marB="33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0" i="0" dirty="0" err="1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wsl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-d Ubuntu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9937" marR="49937" marT="33291" marB="3329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Ubuntu </a:t>
                      </a: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배포판으로 터미널 진입</a:t>
                      </a:r>
                    </a:p>
                  </a:txBody>
                  <a:tcPr marL="49937" marR="49937" marT="33291" marB="3329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23460"/>
                  </a:ext>
                </a:extLst>
              </a:tr>
              <a:tr h="5160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WSL (Ubuntu) </a:t>
                      </a: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터미널</a:t>
                      </a:r>
                    </a:p>
                  </a:txBody>
                  <a:tcPr marL="49937" marR="49937" marT="33291" marB="33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cd ~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9937" marR="49937" marT="33291" marB="3329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리눅스 사용자 홈 디렉토리로 이동</a:t>
                      </a:r>
                    </a:p>
                  </a:txBody>
                  <a:tcPr marL="49937" marR="49937" marT="33291" marB="3329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3543505"/>
                  </a:ext>
                </a:extLst>
              </a:tr>
              <a:tr h="516011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1600" b="0" dirty="0">
                        <a:solidFill>
                          <a:srgbClr val="1F1F1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9937" marR="49937" marT="33291" marB="33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cd /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mnt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/d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9937" marR="49937" marT="33291" marB="3329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Windows D </a:t>
                      </a:r>
                      <a:r>
                        <a:rPr lang="ko-KR" altLang="en-US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드라이브 경로로 이동</a:t>
                      </a:r>
                    </a:p>
                  </a:txBody>
                  <a:tcPr marL="49937" marR="49937" marT="33291" marB="3329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260485"/>
                  </a:ext>
                </a:extLst>
              </a:tr>
              <a:tr h="516011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1600" b="0">
                        <a:solidFill>
                          <a:srgbClr val="1F1F1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9937" marR="49937" marT="33291" marB="33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0" i="0" dirty="0" err="1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pwd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9937" marR="49937" marT="33291" marB="3329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현재 위치한 디렉토리 경로 확인</a:t>
                      </a:r>
                    </a:p>
                  </a:txBody>
                  <a:tcPr marL="49937" marR="49937" marT="33291" marB="3329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779983"/>
                  </a:ext>
                </a:extLst>
              </a:tr>
              <a:tr h="516011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1600" b="0">
                        <a:solidFill>
                          <a:srgbClr val="1F1F1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9937" marR="49937" marT="33291" marB="33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ls -l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9937" marR="49937" marT="33291" marB="3329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현재 디렉토리 파일</a:t>
                      </a:r>
                      <a:r>
                        <a:rPr lang="en-US" altLang="ko-KR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폴더 목록 확인</a:t>
                      </a:r>
                    </a:p>
                  </a:txBody>
                  <a:tcPr marL="49937" marR="49937" marT="33291" marB="3329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780964"/>
                  </a:ext>
                </a:extLst>
              </a:tr>
              <a:tr h="665820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1600" b="0">
                        <a:solidFill>
                          <a:srgbClr val="1F1F1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9937" marR="49937" marT="33291" marB="33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code .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9937" marR="49937" marT="33291" marB="3329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현재 디렉토리를 작업 공간으로 하여 </a:t>
                      </a:r>
                      <a:r>
                        <a:rPr lang="en-US" altLang="ko-KR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VS Code </a:t>
                      </a: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실행</a:t>
                      </a:r>
                    </a:p>
                  </a:txBody>
                  <a:tcPr marL="49937" marR="49937" marT="33291" marB="3329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259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546077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4CB15-5ED0-DADC-0DEC-008B6B94D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8CE828A-C8DA-2A4A-77AA-47FAAB632E1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2. WSL VS Code + .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venv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+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ipkernel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8A869B8-07C4-4DFE-4DA3-01DD36C4F88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26CD73C7-5FAD-D77A-2BC2-0F99CAB091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D26759-0827-6FD9-3062-8A42A33F1478}"/>
              </a:ext>
            </a:extLst>
          </p:cNvPr>
          <p:cNvSpPr txBox="1"/>
          <p:nvPr/>
        </p:nvSpPr>
        <p:spPr>
          <a:xfrm>
            <a:off x="581025" y="1475210"/>
            <a:ext cx="9058274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sudo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apt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update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sudo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apt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python3-pip python3-venv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DD78B7-4DE5-4D2B-2E99-B0EA9B15DF9E}"/>
              </a:ext>
            </a:extLst>
          </p:cNvPr>
          <p:cNvSpPr txBox="1"/>
          <p:nvPr/>
        </p:nvSpPr>
        <p:spPr>
          <a:xfrm>
            <a:off x="581025" y="2215693"/>
            <a:ext cx="9058274" cy="181588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1. 프로젝트 폴더 생성 및 이동 (홈 디렉토리 권장)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cd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mkdir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my_jupyter_project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cd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my_jupyter_project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2. '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venv'라는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이름의 가상환경 생성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python3 -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3. 가상환경 활성화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source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activate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9E7811-0899-56EF-A9B5-2E2106190875}"/>
              </a:ext>
            </a:extLst>
          </p:cNvPr>
          <p:cNvSpPr txBox="1"/>
          <p:nvPr/>
        </p:nvSpPr>
        <p:spPr>
          <a:xfrm>
            <a:off x="581025" y="4267888"/>
            <a:ext cx="9058275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pip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업그레이드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pip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--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upgrade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pip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Jupyter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및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ipykernel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설치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pip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jupyter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ipykernel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VS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Code에서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가상환경을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Jupyter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커널로 인식하도록 등록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ipykernel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--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user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--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--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display-name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"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)"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9329F6-39D0-11E4-CFC3-E7433C85F41F}"/>
              </a:ext>
            </a:extLst>
          </p:cNvPr>
          <p:cNvSpPr txBox="1"/>
          <p:nvPr/>
        </p:nvSpPr>
        <p:spPr>
          <a:xfrm>
            <a:off x="581025" y="5682061"/>
            <a:ext cx="8801100" cy="705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ipynb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파일 오른쪽 상단의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Select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(또는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버전 표시) 버튼을 클릭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Environments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... 선택 후 방금 만든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커널을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선택후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cell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</a:p>
        </p:txBody>
      </p:sp>
    </p:spTree>
    <p:extLst>
      <p:ext uri="{BB962C8B-B14F-4D97-AF65-F5344CB8AC3E}">
        <p14:creationId xmlns:p14="http://schemas.microsoft.com/office/powerpoint/2010/main" val="1254013064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18914</TotalTime>
  <Words>5360</Words>
  <Application>Microsoft Office PowerPoint</Application>
  <PresentationFormat>와이드스크린</PresentationFormat>
  <Paragraphs>1018</Paragraphs>
  <Slides>80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80</vt:i4>
      </vt:variant>
    </vt:vector>
  </HeadingPairs>
  <TitlesOfParts>
    <vt:vector size="92" baseType="lpstr">
      <vt:lpstr>D2Coding</vt:lpstr>
      <vt:lpstr>Noto Sans Symbols</vt:lpstr>
      <vt:lpstr>Sorts Mill Goudy</vt:lpstr>
      <vt:lpstr>맑은 고딕</vt:lpstr>
      <vt:lpstr>맑은 고딕</vt:lpstr>
      <vt:lpstr>Batang</vt:lpstr>
      <vt:lpstr>Arial</vt:lpstr>
      <vt:lpstr>Courier New</vt:lpstr>
      <vt:lpstr>Segoe UI</vt:lpstr>
      <vt:lpstr>Segoe UI Emoji</vt:lpstr>
      <vt:lpstr>Wingdings</vt:lpstr>
      <vt:lpstr>WelcomeDoc</vt:lpstr>
      <vt:lpstr>Application Deployment  코드 작성 → 컴파일/빌드 → 형상관리 → CI → 테스트 → CD → 배포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Source Code Build</vt:lpstr>
      <vt:lpstr>PowerPoint 프레젠테이션</vt:lpstr>
      <vt:lpstr>PowerPoint 프레젠테이션</vt:lpstr>
      <vt:lpstr>PowerPoint 프레젠테이션</vt:lpstr>
      <vt:lpstr>Install Visual Studio Code</vt:lpstr>
      <vt:lpstr>Client/Server Architecture</vt:lpstr>
      <vt:lpstr>PowerPoint 프레젠테이션</vt:lpstr>
      <vt:lpstr>PowerPoint 프레젠테이션</vt:lpstr>
      <vt:lpstr>PowerPoint 프레젠테이션</vt:lpstr>
      <vt:lpstr>PowerPoint 프레젠테이션</vt:lpstr>
      <vt:lpstr>Create your own github Create your own GitHub(Install git GitHub Desktop)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Docker</vt:lpstr>
      <vt:lpstr>Why SW Virtualization ?</vt:lpstr>
      <vt:lpstr>사진기로 사진찍고 인화하기 </vt:lpstr>
      <vt:lpstr>가상화(Virtualizaion) 종류</vt:lpstr>
      <vt:lpstr>Traditional Installation before docker</vt:lpstr>
      <vt:lpstr>1. Virtual Machine (Linux)</vt:lpstr>
      <vt:lpstr>1. Virtual Machine (Linux)</vt:lpstr>
      <vt:lpstr>2. Docker</vt:lpstr>
      <vt:lpstr>2. Docker</vt:lpstr>
      <vt:lpstr>2. Docker</vt:lpstr>
      <vt:lpstr>Docker</vt:lpstr>
      <vt:lpstr>Container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Github Codespaces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WSL </vt:lpstr>
      <vt:lpstr>Docker 설치(WSL)</vt:lpstr>
      <vt:lpstr>Docker 설치(WSL)</vt:lpstr>
      <vt:lpstr>PowerPoint 프레젠테이션</vt:lpstr>
      <vt:lpstr>Windows PowerShell</vt:lpstr>
      <vt:lpstr>WSL2 Installation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조상구</cp:lastModifiedBy>
  <cp:revision>269</cp:revision>
  <dcterms:created xsi:type="dcterms:W3CDTF">2026-04-06T01:00:39Z</dcterms:created>
  <dcterms:modified xsi:type="dcterms:W3CDTF">2026-09-14T02:11:38Z</dcterms:modified>
  <cp:version/>
</cp:coreProperties>
</file>