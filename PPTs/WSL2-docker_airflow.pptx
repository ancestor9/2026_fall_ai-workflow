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embeddedFontLst>
    <p:embeddedFont>
      <p:font typeface="Arial Black" panose="020B0A04020102020204" pitchFamily="34" charset="0"/>
      <p:regular r:id="rId38"/>
      <p:bold r:id="rId39"/>
    </p:embeddedFont>
    <p:embeddedFont>
      <p:font typeface="Inter" panose="020B0600000101010101" charset="0"/>
      <p:regular r:id="rId40"/>
      <p:bold r:id="rId41"/>
    </p:embeddedFont>
    <p:embeddedFont>
      <p:font typeface="Sorts Mill Goudy" panose="020B0600000101010101" charset="0"/>
      <p:regular r:id="rId42"/>
      <p:italic r:id="rId43"/>
    </p:embeddedFont>
    <p:embeddedFont>
      <p:font typeface="Ubuntu Condensed" panose="020F0502020204030204" pitchFamily="34" charset="0"/>
      <p:regular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jGkZZt89EMuIPwfKghuzf0lIz4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2024-03-03</a:t>
            </a:r>
            <a:endParaRPr/>
          </a:p>
        </p:txBody>
      </p:sp>
      <p:sp>
        <p:nvSpPr>
          <p:cNvPr id="162" name="Google Shape;16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2024-03-03</a:t>
            </a:r>
            <a:endParaRPr/>
          </a:p>
        </p:txBody>
      </p:sp>
      <p:sp>
        <p:nvSpPr>
          <p:cNvPr id="171" name="Google Shape;17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2024-03-03</a:t>
            </a:r>
            <a:endParaRPr/>
          </a:p>
        </p:txBody>
      </p:sp>
      <p:sp>
        <p:nvSpPr>
          <p:cNvPr id="180" name="Google Shape;18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2024-03-03</a:t>
            </a:r>
            <a:endParaRPr/>
          </a:p>
        </p:txBody>
      </p:sp>
      <p:sp>
        <p:nvSpPr>
          <p:cNvPr id="296" name="Google Shape;29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5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2024-03-03</a:t>
            </a:r>
            <a:endParaRPr/>
          </a:p>
        </p:txBody>
      </p:sp>
      <p:sp>
        <p:nvSpPr>
          <p:cNvPr id="315" name="Google Shape;31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2024-03-03</a:t>
            </a:r>
            <a:endParaRPr/>
          </a:p>
        </p:txBody>
      </p:sp>
      <p:sp>
        <p:nvSpPr>
          <p:cNvPr id="404" name="Google Shape;404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Batang"/>
              <a:buNone/>
              <a:defRPr sz="5400"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7"/>
          <p:cNvSpPr txBox="1"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460"/>
              </a:spcBef>
              <a:spcAft>
                <a:spcPts val="0"/>
              </a:spcAft>
              <a:buSzPts val="1610"/>
              <a:buNone/>
              <a:defRPr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98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7"/>
          <p:cNvSpPr txBox="1">
            <a:spLocks noGrp="1"/>
          </p:cNvSpPr>
          <p:nvPr>
            <p:ph type="dt" idx="10"/>
          </p:nvPr>
        </p:nvSpPr>
        <p:spPr>
          <a:xfrm>
            <a:off x="7678736" y="63381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7"/>
          <p:cNvSpPr txBox="1">
            <a:spLocks noGrp="1"/>
          </p:cNvSpPr>
          <p:nvPr>
            <p:ph type="ftr" idx="11"/>
          </p:nvPr>
        </p:nvSpPr>
        <p:spPr>
          <a:xfrm>
            <a:off x="913795" y="6338113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7"/>
          <p:cNvSpPr txBox="1">
            <a:spLocks noGrp="1"/>
          </p:cNvSpPr>
          <p:nvPr>
            <p:ph type="sldNum" idx="12"/>
          </p:nvPr>
        </p:nvSpPr>
        <p:spPr>
          <a:xfrm>
            <a:off x="10514011" y="6338113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924" y="6365874"/>
            <a:ext cx="355393" cy="39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8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  <a:defRPr sz="3200"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8"/>
          <p:cNvSpPr txBox="1">
            <a:spLocks noGrp="1"/>
          </p:cNvSpPr>
          <p:nvPr>
            <p:ph type="body" idx="1"/>
          </p:nvPr>
        </p:nvSpPr>
        <p:spPr>
          <a:xfrm>
            <a:off x="913795" y="1127464"/>
            <a:ext cx="10353762" cy="46637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835" algn="l">
              <a:lnSpc>
                <a:spcPct val="110000"/>
              </a:lnSpc>
              <a:spcBef>
                <a:spcPts val="460"/>
              </a:spcBef>
              <a:spcAft>
                <a:spcPts val="0"/>
              </a:spcAft>
              <a:buSzPts val="161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1pPr>
            <a:lvl2pPr marL="914400" lvl="1" indent="-321944" algn="l">
              <a:spcBef>
                <a:spcPts val="600"/>
              </a:spcBef>
              <a:spcAft>
                <a:spcPts val="0"/>
              </a:spcAft>
              <a:buSzPts val="1470"/>
              <a:buChar char="🞚"/>
              <a:defRPr>
                <a:latin typeface="Batang"/>
                <a:ea typeface="Batang"/>
                <a:cs typeface="Batang"/>
                <a:sym typeface="Batang"/>
              </a:defRPr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3pPr>
            <a:lvl4pPr marL="1828800" lvl="3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>
                <a:latin typeface="Batang"/>
                <a:ea typeface="Batang"/>
                <a:cs typeface="Batang"/>
                <a:sym typeface="Batang"/>
              </a:defRPr>
            </a:lvl4pPr>
            <a:lvl5pPr marL="2286000" lvl="4" indent="-299720" algn="l">
              <a:spcBef>
                <a:spcPts val="600"/>
              </a:spcBef>
              <a:spcAft>
                <a:spcPts val="0"/>
              </a:spcAft>
              <a:buSzPts val="112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pic>
        <p:nvPicPr>
          <p:cNvPr id="25" name="Google Shape;25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924" y="6365874"/>
            <a:ext cx="355393" cy="39357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8"/>
          <p:cNvSpPr txBox="1">
            <a:spLocks noGrp="1"/>
          </p:cNvSpPr>
          <p:nvPr>
            <p:ph type="dt" idx="10"/>
          </p:nvPr>
        </p:nvSpPr>
        <p:spPr>
          <a:xfrm>
            <a:off x="7678736" y="63381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8"/>
          <p:cNvSpPr txBox="1">
            <a:spLocks noGrp="1"/>
          </p:cNvSpPr>
          <p:nvPr>
            <p:ph type="ftr" idx="11"/>
          </p:nvPr>
        </p:nvSpPr>
        <p:spPr>
          <a:xfrm>
            <a:off x="913795" y="6338113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8"/>
          <p:cNvSpPr txBox="1">
            <a:spLocks noGrp="1"/>
          </p:cNvSpPr>
          <p:nvPr>
            <p:ph type="sldNum" idx="12"/>
          </p:nvPr>
        </p:nvSpPr>
        <p:spPr>
          <a:xfrm>
            <a:off x="10514011" y="6338113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9"/>
          <p:cNvSpPr txBox="1"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Batang"/>
              <a:buNone/>
              <a:defRPr sz="4000" b="0" cap="none"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9"/>
          <p:cNvSpPr txBox="1"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8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2" name="Google Shape;32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924" y="6365874"/>
            <a:ext cx="355393" cy="393576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9"/>
          <p:cNvSpPr txBox="1">
            <a:spLocks noGrp="1"/>
          </p:cNvSpPr>
          <p:nvPr>
            <p:ph type="dt" idx="10"/>
          </p:nvPr>
        </p:nvSpPr>
        <p:spPr>
          <a:xfrm>
            <a:off x="7678736" y="63381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9"/>
          <p:cNvSpPr txBox="1">
            <a:spLocks noGrp="1"/>
          </p:cNvSpPr>
          <p:nvPr>
            <p:ph type="ftr" idx="11"/>
          </p:nvPr>
        </p:nvSpPr>
        <p:spPr>
          <a:xfrm>
            <a:off x="913795" y="6338113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9"/>
          <p:cNvSpPr txBox="1">
            <a:spLocks noGrp="1"/>
          </p:cNvSpPr>
          <p:nvPr>
            <p:ph type="sldNum" idx="12"/>
          </p:nvPr>
        </p:nvSpPr>
        <p:spPr>
          <a:xfrm>
            <a:off x="10514011" y="6338113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2개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0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Batang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0"/>
          <p:cNvSpPr txBox="1">
            <a:spLocks noGrp="1"/>
          </p:cNvSpPr>
          <p:nvPr>
            <p:ph type="body" idx="1"/>
          </p:nvPr>
        </p:nvSpPr>
        <p:spPr>
          <a:xfrm>
            <a:off x="913795" y="2076450"/>
            <a:ext cx="4856841" cy="362267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835" algn="l">
              <a:lnSpc>
                <a:spcPct val="110000"/>
              </a:lnSpc>
              <a:spcBef>
                <a:spcPts val="460"/>
              </a:spcBef>
              <a:spcAft>
                <a:spcPts val="0"/>
              </a:spcAft>
              <a:buSzPts val="161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1pPr>
            <a:lvl2pPr marL="914400" lvl="1" indent="-321944" algn="l">
              <a:spcBef>
                <a:spcPts val="600"/>
              </a:spcBef>
              <a:spcAft>
                <a:spcPts val="0"/>
              </a:spcAft>
              <a:buSzPts val="1470"/>
              <a:buChar char="🞚"/>
              <a:defRPr>
                <a:latin typeface="Batang"/>
                <a:ea typeface="Batang"/>
                <a:cs typeface="Batang"/>
                <a:sym typeface="Batang"/>
              </a:defRPr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3pPr>
            <a:lvl4pPr marL="1828800" lvl="3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>
                <a:latin typeface="Batang"/>
                <a:ea typeface="Batang"/>
                <a:cs typeface="Batang"/>
                <a:sym typeface="Batang"/>
              </a:defRPr>
            </a:lvl4pPr>
            <a:lvl5pPr marL="2286000" lvl="4" indent="-299720" algn="l">
              <a:spcBef>
                <a:spcPts val="600"/>
              </a:spcBef>
              <a:spcAft>
                <a:spcPts val="0"/>
              </a:spcAft>
              <a:buSzPts val="112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39" name="Google Shape;39;p40"/>
          <p:cNvSpPr txBox="1">
            <a:spLocks noGrp="1"/>
          </p:cNvSpPr>
          <p:nvPr>
            <p:ph type="body" idx="2"/>
          </p:nvPr>
        </p:nvSpPr>
        <p:spPr>
          <a:xfrm>
            <a:off x="6410716" y="2076451"/>
            <a:ext cx="4856841" cy="36226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835" algn="l">
              <a:lnSpc>
                <a:spcPct val="110000"/>
              </a:lnSpc>
              <a:spcBef>
                <a:spcPts val="460"/>
              </a:spcBef>
              <a:spcAft>
                <a:spcPts val="0"/>
              </a:spcAft>
              <a:buSzPts val="161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1pPr>
            <a:lvl2pPr marL="914400" lvl="1" indent="-321944" algn="l">
              <a:spcBef>
                <a:spcPts val="600"/>
              </a:spcBef>
              <a:spcAft>
                <a:spcPts val="0"/>
              </a:spcAft>
              <a:buSzPts val="1470"/>
              <a:buChar char="🞚"/>
              <a:defRPr>
                <a:latin typeface="Batang"/>
                <a:ea typeface="Batang"/>
                <a:cs typeface="Batang"/>
                <a:sym typeface="Batang"/>
              </a:defRPr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3pPr>
            <a:lvl4pPr marL="1828800" lvl="3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>
                <a:latin typeface="Batang"/>
                <a:ea typeface="Batang"/>
                <a:cs typeface="Batang"/>
                <a:sym typeface="Batang"/>
              </a:defRPr>
            </a:lvl4pPr>
            <a:lvl5pPr marL="2286000" lvl="4" indent="-299720" algn="l">
              <a:spcBef>
                <a:spcPts val="600"/>
              </a:spcBef>
              <a:spcAft>
                <a:spcPts val="0"/>
              </a:spcAft>
              <a:buSzPts val="112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pic>
        <p:nvPicPr>
          <p:cNvPr id="40" name="Google Shape;40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924" y="6365874"/>
            <a:ext cx="355393" cy="393576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0"/>
          <p:cNvSpPr txBox="1">
            <a:spLocks noGrp="1"/>
          </p:cNvSpPr>
          <p:nvPr>
            <p:ph type="dt" idx="10"/>
          </p:nvPr>
        </p:nvSpPr>
        <p:spPr>
          <a:xfrm>
            <a:off x="7678736" y="63381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0"/>
          <p:cNvSpPr txBox="1">
            <a:spLocks noGrp="1"/>
          </p:cNvSpPr>
          <p:nvPr>
            <p:ph type="ftr" idx="11"/>
          </p:nvPr>
        </p:nvSpPr>
        <p:spPr>
          <a:xfrm>
            <a:off x="913795" y="6338113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sldNum" idx="12"/>
          </p:nvPr>
        </p:nvSpPr>
        <p:spPr>
          <a:xfrm>
            <a:off x="10514011" y="6338113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41" descr="Slate-V2-HD-comp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3795" y="1734506"/>
            <a:ext cx="5029200" cy="4099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41" descr="Slate-V2-HD-comp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8357" y="1734506"/>
            <a:ext cx="5029200" cy="409995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Batang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1"/>
          <p:cNvSpPr txBox="1"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1"/>
          <p:cNvSpPr txBox="1">
            <a:spLocks noGrp="1"/>
          </p:cNvSpPr>
          <p:nvPr>
            <p:ph type="body" idx="2"/>
          </p:nvPr>
        </p:nvSpPr>
        <p:spPr>
          <a:xfrm>
            <a:off x="1046013" y="2702103"/>
            <a:ext cx="4764764" cy="30435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>
                <a:latin typeface="Batang"/>
                <a:ea typeface="Batang"/>
                <a:cs typeface="Batang"/>
                <a:sym typeface="Batang"/>
              </a:defRPr>
            </a:lvl2pPr>
            <a:lvl3pPr marL="1371600" lvl="2" indent="-29083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>
                <a:latin typeface="Batang"/>
                <a:ea typeface="Batang"/>
                <a:cs typeface="Batang"/>
                <a:sym typeface="Batang"/>
              </a:defRPr>
            </a:lvl3pPr>
            <a:lvl4pPr marL="1828800" lvl="3" indent="-281939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>
                <a:latin typeface="Batang"/>
                <a:ea typeface="Batang"/>
                <a:cs typeface="Batang"/>
                <a:sym typeface="Batang"/>
              </a:defRPr>
            </a:lvl4pPr>
            <a:lvl5pPr marL="2286000" lvl="4" indent="-281939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>
                <a:latin typeface="Batang"/>
                <a:ea typeface="Batang"/>
                <a:cs typeface="Batang"/>
                <a:sym typeface="Batang"/>
              </a:defRPr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50" name="Google Shape;50;p41"/>
          <p:cNvSpPr txBox="1">
            <a:spLocks noGrp="1"/>
          </p:cNvSpPr>
          <p:nvPr>
            <p:ph type="body" idx="3"/>
          </p:nvPr>
        </p:nvSpPr>
        <p:spPr>
          <a:xfrm>
            <a:off x="6363166" y="1855152"/>
            <a:ext cx="4779582" cy="69249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41"/>
          <p:cNvSpPr txBox="1">
            <a:spLocks noGrp="1"/>
          </p:cNvSpPr>
          <p:nvPr>
            <p:ph type="body" idx="4"/>
          </p:nvPr>
        </p:nvSpPr>
        <p:spPr>
          <a:xfrm>
            <a:off x="6363167" y="2702103"/>
            <a:ext cx="4779581" cy="30435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>
                <a:latin typeface="Batang"/>
                <a:ea typeface="Batang"/>
                <a:cs typeface="Batang"/>
                <a:sym typeface="Batang"/>
              </a:defRPr>
            </a:lvl2pPr>
            <a:lvl3pPr marL="1371600" lvl="2" indent="-29083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>
                <a:latin typeface="Batang"/>
                <a:ea typeface="Batang"/>
                <a:cs typeface="Batang"/>
                <a:sym typeface="Batang"/>
              </a:defRPr>
            </a:lvl3pPr>
            <a:lvl4pPr marL="1828800" lvl="3" indent="-281939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>
                <a:latin typeface="Batang"/>
                <a:ea typeface="Batang"/>
                <a:cs typeface="Batang"/>
                <a:sym typeface="Batang"/>
              </a:defRPr>
            </a:lvl4pPr>
            <a:lvl5pPr marL="2286000" lvl="4" indent="-281939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>
                <a:latin typeface="Batang"/>
                <a:ea typeface="Batang"/>
                <a:cs typeface="Batang"/>
                <a:sym typeface="Batang"/>
              </a:defRPr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pic>
        <p:nvPicPr>
          <p:cNvPr id="52" name="Google Shape;5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24" y="6365874"/>
            <a:ext cx="355393" cy="39357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1"/>
          <p:cNvSpPr txBox="1">
            <a:spLocks noGrp="1"/>
          </p:cNvSpPr>
          <p:nvPr>
            <p:ph type="dt" idx="10"/>
          </p:nvPr>
        </p:nvSpPr>
        <p:spPr>
          <a:xfrm>
            <a:off x="7678736" y="63381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1"/>
          <p:cNvSpPr txBox="1">
            <a:spLocks noGrp="1"/>
          </p:cNvSpPr>
          <p:nvPr>
            <p:ph type="ftr" idx="11"/>
          </p:nvPr>
        </p:nvSpPr>
        <p:spPr>
          <a:xfrm>
            <a:off x="913795" y="6338113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1"/>
          <p:cNvSpPr txBox="1">
            <a:spLocks noGrp="1"/>
          </p:cNvSpPr>
          <p:nvPr>
            <p:ph type="sldNum" idx="12"/>
          </p:nvPr>
        </p:nvSpPr>
        <p:spPr>
          <a:xfrm>
            <a:off x="10514011" y="6338113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2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Batang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8" name="Google Shape;58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924" y="6365874"/>
            <a:ext cx="355393" cy="39357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2"/>
          <p:cNvSpPr txBox="1">
            <a:spLocks noGrp="1"/>
          </p:cNvSpPr>
          <p:nvPr>
            <p:ph type="dt" idx="10"/>
          </p:nvPr>
        </p:nvSpPr>
        <p:spPr>
          <a:xfrm>
            <a:off x="7678736" y="63381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2"/>
          <p:cNvSpPr txBox="1">
            <a:spLocks noGrp="1"/>
          </p:cNvSpPr>
          <p:nvPr>
            <p:ph type="ftr" idx="11"/>
          </p:nvPr>
        </p:nvSpPr>
        <p:spPr>
          <a:xfrm>
            <a:off x="913795" y="6338113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2"/>
          <p:cNvSpPr txBox="1">
            <a:spLocks noGrp="1"/>
          </p:cNvSpPr>
          <p:nvPr>
            <p:ph type="sldNum" idx="12"/>
          </p:nvPr>
        </p:nvSpPr>
        <p:spPr>
          <a:xfrm>
            <a:off x="10514011" y="6338113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어 있음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924" y="6365874"/>
            <a:ext cx="355393" cy="39357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3"/>
          <p:cNvSpPr txBox="1">
            <a:spLocks noGrp="1"/>
          </p:cNvSpPr>
          <p:nvPr>
            <p:ph type="dt" idx="10"/>
          </p:nvPr>
        </p:nvSpPr>
        <p:spPr>
          <a:xfrm>
            <a:off x="7678736" y="63381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3"/>
          <p:cNvSpPr txBox="1">
            <a:spLocks noGrp="1"/>
          </p:cNvSpPr>
          <p:nvPr>
            <p:ph type="ftr" idx="11"/>
          </p:nvPr>
        </p:nvSpPr>
        <p:spPr>
          <a:xfrm>
            <a:off x="913795" y="6338113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3"/>
          <p:cNvSpPr txBox="1">
            <a:spLocks noGrp="1"/>
          </p:cNvSpPr>
          <p:nvPr>
            <p:ph type="sldNum" idx="12"/>
          </p:nvPr>
        </p:nvSpPr>
        <p:spPr>
          <a:xfrm>
            <a:off x="10514011" y="6338113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4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Batang"/>
              <a:buNone/>
              <a:defRPr sz="2800" b="0"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4"/>
          <p:cNvSpPr txBox="1">
            <a:spLocks noGrp="1"/>
          </p:cNvSpPr>
          <p:nvPr>
            <p:ph type="body" idx="1"/>
          </p:nvPr>
        </p:nvSpPr>
        <p:spPr>
          <a:xfrm>
            <a:off x="4855633" y="609600"/>
            <a:ext cx="6411924" cy="50800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835" algn="l">
              <a:lnSpc>
                <a:spcPct val="110000"/>
              </a:lnSpc>
              <a:spcBef>
                <a:spcPts val="460"/>
              </a:spcBef>
              <a:spcAft>
                <a:spcPts val="0"/>
              </a:spcAft>
              <a:buSzPts val="161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1pPr>
            <a:lvl2pPr marL="914400" lvl="1" indent="-321944" algn="l">
              <a:spcBef>
                <a:spcPts val="600"/>
              </a:spcBef>
              <a:spcAft>
                <a:spcPts val="0"/>
              </a:spcAft>
              <a:buSzPts val="1470"/>
              <a:buChar char="🞚"/>
              <a:defRPr>
                <a:latin typeface="Batang"/>
                <a:ea typeface="Batang"/>
                <a:cs typeface="Batang"/>
                <a:sym typeface="Batang"/>
              </a:defRPr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3pPr>
            <a:lvl4pPr marL="1828800" lvl="3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>
                <a:latin typeface="Batang"/>
                <a:ea typeface="Batang"/>
                <a:cs typeface="Batang"/>
                <a:sym typeface="Batang"/>
              </a:defRPr>
            </a:lvl4pPr>
            <a:lvl5pPr marL="2286000" lvl="4" indent="-299720" algn="l">
              <a:spcBef>
                <a:spcPts val="600"/>
              </a:spcBef>
              <a:spcAft>
                <a:spcPts val="0"/>
              </a:spcAft>
              <a:buSzPts val="112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70" name="Google Shape;70;p44"/>
          <p:cNvSpPr txBox="1">
            <a:spLocks noGrp="1"/>
          </p:cNvSpPr>
          <p:nvPr>
            <p:ph type="body" idx="2"/>
          </p:nvPr>
        </p:nvSpPr>
        <p:spPr>
          <a:xfrm>
            <a:off x="913795" y="2673351"/>
            <a:ext cx="3706889" cy="30162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44"/>
          <p:cNvSpPr txBox="1">
            <a:spLocks noGrp="1"/>
          </p:cNvSpPr>
          <p:nvPr>
            <p:ph type="dt" idx="10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4"/>
          <p:cNvSpPr txBox="1">
            <a:spLocks noGrp="1"/>
          </p:cNvSpPr>
          <p:nvPr>
            <p:ph type="ftr" idx="11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4"/>
          <p:cNvSpPr txBox="1">
            <a:spLocks noGrp="1"/>
          </p:cNvSpPr>
          <p:nvPr>
            <p:ph type="sldNum" idx="12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45" descr="Slate-V2-HD-vert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3665" y="609600"/>
            <a:ext cx="3584166" cy="520483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5"/>
          <p:cNvSpPr txBox="1"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  <a:defRPr sz="3200" b="0"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5"/>
          <p:cNvSpPr>
            <a:spLocks noGrp="1"/>
          </p:cNvSpPr>
          <p:nvPr>
            <p:ph type="pic" idx="2"/>
          </p:nvPr>
        </p:nvSpPr>
        <p:spPr>
          <a:xfrm>
            <a:off x="7442551" y="763702"/>
            <a:ext cx="3275751" cy="4912822"/>
          </a:xfrm>
          <a:prstGeom prst="rect">
            <a:avLst/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78" name="Google Shape;78;p45"/>
          <p:cNvSpPr txBox="1">
            <a:spLocks noGrp="1"/>
          </p:cNvSpPr>
          <p:nvPr>
            <p:ph type="body" idx="1"/>
          </p:nvPr>
        </p:nvSpPr>
        <p:spPr>
          <a:xfrm>
            <a:off x="1473698" y="2679699"/>
            <a:ext cx="4588094" cy="313569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45"/>
          <p:cNvSpPr txBox="1">
            <a:spLocks noGrp="1"/>
          </p:cNvSpPr>
          <p:nvPr>
            <p:ph type="dt" idx="10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5"/>
          <p:cNvSpPr txBox="1">
            <a:spLocks noGrp="1"/>
          </p:cNvSpPr>
          <p:nvPr>
            <p:ph type="ftr" idx="11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5"/>
          <p:cNvSpPr txBox="1">
            <a:spLocks noGrp="1"/>
          </p:cNvSpPr>
          <p:nvPr>
            <p:ph type="sldNum" idx="12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파노라마 그림">
  <p:cSld name="캡션 있는 파노라마 그림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46" descr="Slate-V2-HD-pano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3883" y="547807"/>
            <a:ext cx="10141799" cy="381680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6"/>
          <p:cNvSpPr txBox="1"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Batang"/>
              <a:buNone/>
              <a:defRPr sz="2800"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6"/>
          <p:cNvSpPr>
            <a:spLocks noGrp="1"/>
          </p:cNvSpPr>
          <p:nvPr>
            <p:ph type="pic" idx="2"/>
          </p:nvPr>
        </p:nvSpPr>
        <p:spPr>
          <a:xfrm>
            <a:off x="1169349" y="695009"/>
            <a:ext cx="9845346" cy="3525671"/>
          </a:xfrm>
          <a:prstGeom prst="rect">
            <a:avLst/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86" name="Google Shape;86;p46"/>
          <p:cNvSpPr txBox="1">
            <a:spLocks noGrp="1"/>
          </p:cNvSpPr>
          <p:nvPr>
            <p:ph type="body" idx="1"/>
          </p:nvPr>
        </p:nvSpPr>
        <p:spPr>
          <a:xfrm>
            <a:off x="913795" y="5247728"/>
            <a:ext cx="10353762" cy="543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46"/>
          <p:cNvSpPr txBox="1">
            <a:spLocks noGrp="1"/>
          </p:cNvSpPr>
          <p:nvPr>
            <p:ph type="dt" idx="10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6"/>
          <p:cNvSpPr txBox="1">
            <a:spLocks noGrp="1"/>
          </p:cNvSpPr>
          <p:nvPr>
            <p:ph type="ftr" idx="11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6"/>
          <p:cNvSpPr txBox="1">
            <a:spLocks noGrp="1"/>
          </p:cNvSpPr>
          <p:nvPr>
            <p:ph type="sldNum" idx="12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캡션">
  <p:cSld name="제목 및 캡션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7"/>
          <p:cNvSpPr txBox="1"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Batang"/>
              <a:buNone/>
              <a:defRPr sz="4000"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7"/>
          <p:cNvSpPr txBox="1">
            <a:spLocks noGrp="1"/>
          </p:cNvSpPr>
          <p:nvPr>
            <p:ph type="body" idx="1"/>
          </p:nvPr>
        </p:nvSpPr>
        <p:spPr>
          <a:xfrm>
            <a:off x="913794" y="4295180"/>
            <a:ext cx="10353763" cy="150182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93" name="Google Shape;93;p47"/>
          <p:cNvSpPr txBox="1">
            <a:spLocks noGrp="1"/>
          </p:cNvSpPr>
          <p:nvPr>
            <p:ph type="dt" idx="10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7"/>
          <p:cNvSpPr txBox="1">
            <a:spLocks noGrp="1"/>
          </p:cNvSpPr>
          <p:nvPr>
            <p:ph type="ftr" idx="11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7"/>
          <p:cNvSpPr txBox="1">
            <a:spLocks noGrp="1"/>
          </p:cNvSpPr>
          <p:nvPr>
            <p:ph type="sldNum" idx="12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인용문">
  <p:cSld name="캡션 있는 인용문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8"/>
          <p:cNvSpPr txBox="1"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Batang"/>
              <a:buNone/>
              <a:defRPr sz="3600"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8"/>
          <p:cNvSpPr txBox="1">
            <a:spLocks noGrp="1"/>
          </p:cNvSpPr>
          <p:nvPr>
            <p:ph type="body" idx="1"/>
          </p:nvPr>
        </p:nvSpPr>
        <p:spPr>
          <a:xfrm>
            <a:off x="1720644" y="3610032"/>
            <a:ext cx="8752299" cy="532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99" name="Google Shape;99;p48"/>
          <p:cNvSpPr txBox="1">
            <a:spLocks noGrp="1"/>
          </p:cNvSpPr>
          <p:nvPr>
            <p:ph type="body" idx="2"/>
          </p:nvPr>
        </p:nvSpPr>
        <p:spPr>
          <a:xfrm>
            <a:off x="913794" y="4304353"/>
            <a:ext cx="10353763" cy="14894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100" name="Google Shape;100;p48"/>
          <p:cNvSpPr txBox="1">
            <a:spLocks noGrp="1"/>
          </p:cNvSpPr>
          <p:nvPr>
            <p:ph type="dt" idx="10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8"/>
          <p:cNvSpPr txBox="1">
            <a:spLocks noGrp="1"/>
          </p:cNvSpPr>
          <p:nvPr>
            <p:ph type="ftr" idx="11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8"/>
          <p:cNvSpPr txBox="1">
            <a:spLocks noGrp="1"/>
          </p:cNvSpPr>
          <p:nvPr>
            <p:ph type="sldNum" idx="12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48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Batang"/>
              <a:buNone/>
            </a:pPr>
            <a:r>
              <a:rPr lang="en-US" sz="8000" b="0" cap="non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rPr>
              <a:t>“</a:t>
            </a:r>
            <a:endParaRPr/>
          </a:p>
        </p:txBody>
      </p:sp>
      <p:sp>
        <p:nvSpPr>
          <p:cNvPr id="104" name="Google Shape;104;p48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Batang"/>
              <a:buNone/>
            </a:pPr>
            <a:r>
              <a:rPr lang="en-US" sz="8000" b="0" cap="non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명함">
  <p:cSld name="명함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9"/>
          <p:cNvSpPr txBox="1"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  <a:defRPr sz="3200"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49"/>
          <p:cNvSpPr txBox="1">
            <a:spLocks noGrp="1"/>
          </p:cNvSpPr>
          <p:nvPr>
            <p:ph type="body" idx="1"/>
          </p:nvPr>
        </p:nvSpPr>
        <p:spPr>
          <a:xfrm>
            <a:off x="913784" y="4650556"/>
            <a:ext cx="10352199" cy="11406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108" name="Google Shape;108;p49"/>
          <p:cNvSpPr txBox="1">
            <a:spLocks noGrp="1"/>
          </p:cNvSpPr>
          <p:nvPr>
            <p:ph type="dt" idx="10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9"/>
          <p:cNvSpPr txBox="1">
            <a:spLocks noGrp="1"/>
          </p:cNvSpPr>
          <p:nvPr>
            <p:ph type="ftr" idx="11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9"/>
          <p:cNvSpPr txBox="1">
            <a:spLocks noGrp="1"/>
          </p:cNvSpPr>
          <p:nvPr>
            <p:ph type="sldNum" idx="12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열">
  <p:cSld name="3열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0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Batang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50"/>
          <p:cNvSpPr txBox="1"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440"/>
              </a:spcBef>
              <a:spcAft>
                <a:spcPts val="0"/>
              </a:spcAft>
              <a:buSzPts val="1540"/>
              <a:buNone/>
              <a:defRPr sz="2200" b="0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14" name="Google Shape;114;p50"/>
          <p:cNvSpPr txBox="1">
            <a:spLocks noGrp="1"/>
          </p:cNvSpPr>
          <p:nvPr>
            <p:ph type="body" idx="2"/>
          </p:nvPr>
        </p:nvSpPr>
        <p:spPr>
          <a:xfrm>
            <a:off x="913795" y="2768112"/>
            <a:ext cx="3300984" cy="30230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15" name="Google Shape;115;p50"/>
          <p:cNvSpPr txBox="1">
            <a:spLocks noGrp="1"/>
          </p:cNvSpPr>
          <p:nvPr>
            <p:ph type="body" idx="3"/>
          </p:nvPr>
        </p:nvSpPr>
        <p:spPr>
          <a:xfrm>
            <a:off x="4446711" y="1885949"/>
            <a:ext cx="3300984" cy="7647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440"/>
              </a:spcBef>
              <a:spcAft>
                <a:spcPts val="0"/>
              </a:spcAft>
              <a:buSzPts val="1540"/>
              <a:buNone/>
              <a:defRPr sz="2200" b="0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50"/>
          <p:cNvSpPr txBox="1">
            <a:spLocks noGrp="1"/>
          </p:cNvSpPr>
          <p:nvPr>
            <p:ph type="body" idx="4"/>
          </p:nvPr>
        </p:nvSpPr>
        <p:spPr>
          <a:xfrm>
            <a:off x="4441435" y="2768112"/>
            <a:ext cx="3300984" cy="30230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17" name="Google Shape;117;p50"/>
          <p:cNvSpPr txBox="1">
            <a:spLocks noGrp="1"/>
          </p:cNvSpPr>
          <p:nvPr>
            <p:ph type="body" idx="5"/>
          </p:nvPr>
        </p:nvSpPr>
        <p:spPr>
          <a:xfrm>
            <a:off x="7966572" y="1885950"/>
            <a:ext cx="3300984" cy="76478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440"/>
              </a:spcBef>
              <a:spcAft>
                <a:spcPts val="0"/>
              </a:spcAft>
              <a:buSzPts val="1540"/>
              <a:buNone/>
              <a:defRPr sz="2200" b="0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50"/>
          <p:cNvSpPr txBox="1">
            <a:spLocks noGrp="1"/>
          </p:cNvSpPr>
          <p:nvPr>
            <p:ph type="body" idx="6"/>
          </p:nvPr>
        </p:nvSpPr>
        <p:spPr>
          <a:xfrm>
            <a:off x="7966572" y="2768110"/>
            <a:ext cx="3300984" cy="302308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19" name="Google Shape;119;p50"/>
          <p:cNvSpPr txBox="1">
            <a:spLocks noGrp="1"/>
          </p:cNvSpPr>
          <p:nvPr>
            <p:ph type="dt" idx="10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50"/>
          <p:cNvSpPr txBox="1">
            <a:spLocks noGrp="1"/>
          </p:cNvSpPr>
          <p:nvPr>
            <p:ph type="ftr" idx="11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50"/>
          <p:cNvSpPr txBox="1">
            <a:spLocks noGrp="1"/>
          </p:cNvSpPr>
          <p:nvPr>
            <p:ph type="sldNum" idx="12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그림 열">
  <p:cSld name="3 그림 열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51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7962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1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03800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1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6051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1"/>
          <p:cNvSpPr txBox="1"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Batang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51"/>
          <p:cNvSpPr txBox="1"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 b="0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28" name="Google Shape;128;p51"/>
          <p:cNvSpPr>
            <a:spLocks noGrp="1"/>
          </p:cNvSpPr>
          <p:nvPr>
            <p:ph type="pic" idx="2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129" name="Google Shape;129;p51"/>
          <p:cNvSpPr txBox="1">
            <a:spLocks noGrp="1"/>
          </p:cNvSpPr>
          <p:nvPr>
            <p:ph type="body" idx="3"/>
          </p:nvPr>
        </p:nvSpPr>
        <p:spPr>
          <a:xfrm>
            <a:off x="913795" y="4572443"/>
            <a:ext cx="3300984" cy="121875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30" name="Google Shape;130;p51"/>
          <p:cNvSpPr txBox="1">
            <a:spLocks noGrp="1"/>
          </p:cNvSpPr>
          <p:nvPr>
            <p:ph type="body" idx="4"/>
          </p:nvPr>
        </p:nvSpPr>
        <p:spPr>
          <a:xfrm>
            <a:off x="4442788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 b="0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31" name="Google Shape;131;p51"/>
          <p:cNvSpPr>
            <a:spLocks noGrp="1"/>
          </p:cNvSpPr>
          <p:nvPr>
            <p:ph type="pic" idx="5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132" name="Google Shape;132;p51"/>
          <p:cNvSpPr txBox="1">
            <a:spLocks noGrp="1"/>
          </p:cNvSpPr>
          <p:nvPr>
            <p:ph type="body" idx="6"/>
          </p:nvPr>
        </p:nvSpPr>
        <p:spPr>
          <a:xfrm>
            <a:off x="4441435" y="4572442"/>
            <a:ext cx="3300984" cy="121875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p51"/>
          <p:cNvSpPr txBox="1">
            <a:spLocks noGrp="1"/>
          </p:cNvSpPr>
          <p:nvPr>
            <p:ph type="body" idx="7"/>
          </p:nvPr>
        </p:nvSpPr>
        <p:spPr>
          <a:xfrm>
            <a:off x="7966697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 b="0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34" name="Google Shape;134;p51"/>
          <p:cNvSpPr>
            <a:spLocks noGrp="1"/>
          </p:cNvSpPr>
          <p:nvPr>
            <p:ph type="pic" idx="8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135" name="Google Shape;135;p51"/>
          <p:cNvSpPr txBox="1">
            <a:spLocks noGrp="1"/>
          </p:cNvSpPr>
          <p:nvPr>
            <p:ph type="body" idx="9"/>
          </p:nvPr>
        </p:nvSpPr>
        <p:spPr>
          <a:xfrm>
            <a:off x="7966572" y="4572442"/>
            <a:ext cx="3300984" cy="121875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latin typeface="Batang"/>
                <a:ea typeface="Batang"/>
                <a:cs typeface="Batang"/>
                <a:sym typeface="Batang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36" name="Google Shape;136;p51"/>
          <p:cNvSpPr txBox="1">
            <a:spLocks noGrp="1"/>
          </p:cNvSpPr>
          <p:nvPr>
            <p:ph type="dt" idx="10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51"/>
          <p:cNvSpPr txBox="1">
            <a:spLocks noGrp="1"/>
          </p:cNvSpPr>
          <p:nvPr>
            <p:ph type="ftr" idx="11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51"/>
          <p:cNvSpPr txBox="1">
            <a:spLocks noGrp="1"/>
          </p:cNvSpPr>
          <p:nvPr>
            <p:ph type="sldNum" idx="12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2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Batang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2"/>
          <p:cNvSpPr txBox="1">
            <a:spLocks noGrp="1"/>
          </p:cNvSpPr>
          <p:nvPr>
            <p:ph type="body" idx="1"/>
          </p:nvPr>
        </p:nvSpPr>
        <p:spPr>
          <a:xfrm rot="5400000">
            <a:off x="4233302" y="-1243057"/>
            <a:ext cx="3714749" cy="103537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835" algn="l">
              <a:lnSpc>
                <a:spcPct val="110000"/>
              </a:lnSpc>
              <a:spcBef>
                <a:spcPts val="460"/>
              </a:spcBef>
              <a:spcAft>
                <a:spcPts val="0"/>
              </a:spcAft>
              <a:buSzPts val="161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1pPr>
            <a:lvl2pPr marL="914400" lvl="1" indent="-321944" algn="l">
              <a:spcBef>
                <a:spcPts val="600"/>
              </a:spcBef>
              <a:spcAft>
                <a:spcPts val="0"/>
              </a:spcAft>
              <a:buSzPts val="1470"/>
              <a:buChar char="🞚"/>
              <a:defRPr>
                <a:latin typeface="Batang"/>
                <a:ea typeface="Batang"/>
                <a:cs typeface="Batang"/>
                <a:sym typeface="Batang"/>
              </a:defRPr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3pPr>
            <a:lvl4pPr marL="1828800" lvl="3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>
                <a:latin typeface="Batang"/>
                <a:ea typeface="Batang"/>
                <a:cs typeface="Batang"/>
                <a:sym typeface="Batang"/>
              </a:defRPr>
            </a:lvl4pPr>
            <a:lvl5pPr marL="2286000" lvl="4" indent="-299720" algn="l">
              <a:spcBef>
                <a:spcPts val="600"/>
              </a:spcBef>
              <a:spcAft>
                <a:spcPts val="0"/>
              </a:spcAft>
              <a:buSzPts val="112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142" name="Google Shape;142;p52"/>
          <p:cNvSpPr txBox="1">
            <a:spLocks noGrp="1"/>
          </p:cNvSpPr>
          <p:nvPr>
            <p:ph type="dt" idx="10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52"/>
          <p:cNvSpPr txBox="1">
            <a:spLocks noGrp="1"/>
          </p:cNvSpPr>
          <p:nvPr>
            <p:ph type="ftr" idx="11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52"/>
          <p:cNvSpPr txBox="1">
            <a:spLocks noGrp="1"/>
          </p:cNvSpPr>
          <p:nvPr>
            <p:ph type="sldNum" idx="12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3"/>
          <p:cNvSpPr txBox="1">
            <a:spLocks noGrp="1"/>
          </p:cNvSpPr>
          <p:nvPr>
            <p:ph type="title"/>
          </p:nvPr>
        </p:nvSpPr>
        <p:spPr>
          <a:xfrm rot="5400000">
            <a:off x="7534511" y="2058156"/>
            <a:ext cx="5181601" cy="228448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Batang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53"/>
          <p:cNvSpPr txBox="1">
            <a:spLocks noGrp="1"/>
          </p:cNvSpPr>
          <p:nvPr>
            <p:ph type="body" idx="1"/>
          </p:nvPr>
        </p:nvSpPr>
        <p:spPr>
          <a:xfrm rot="5400000">
            <a:off x="2281431" y="-758036"/>
            <a:ext cx="5181601" cy="79168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835" algn="l">
              <a:lnSpc>
                <a:spcPct val="110000"/>
              </a:lnSpc>
              <a:spcBef>
                <a:spcPts val="460"/>
              </a:spcBef>
              <a:spcAft>
                <a:spcPts val="0"/>
              </a:spcAft>
              <a:buSzPts val="161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1pPr>
            <a:lvl2pPr marL="914400" lvl="1" indent="-321944" algn="l">
              <a:spcBef>
                <a:spcPts val="600"/>
              </a:spcBef>
              <a:spcAft>
                <a:spcPts val="0"/>
              </a:spcAft>
              <a:buSzPts val="1470"/>
              <a:buChar char="🞚"/>
              <a:defRPr>
                <a:latin typeface="Batang"/>
                <a:ea typeface="Batang"/>
                <a:cs typeface="Batang"/>
                <a:sym typeface="Batang"/>
              </a:defRPr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3pPr>
            <a:lvl4pPr marL="1828800" lvl="3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>
                <a:latin typeface="Batang"/>
                <a:ea typeface="Batang"/>
                <a:cs typeface="Batang"/>
                <a:sym typeface="Batang"/>
              </a:defRPr>
            </a:lvl4pPr>
            <a:lvl5pPr marL="2286000" lvl="4" indent="-299720" algn="l">
              <a:spcBef>
                <a:spcPts val="600"/>
              </a:spcBef>
              <a:spcAft>
                <a:spcPts val="0"/>
              </a:spcAft>
              <a:buSzPts val="1120"/>
              <a:buChar char="◈"/>
              <a:defRPr>
                <a:latin typeface="Batang"/>
                <a:ea typeface="Batang"/>
                <a:cs typeface="Batang"/>
                <a:sym typeface="Batang"/>
              </a:defRPr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148" name="Google Shape;148;p53"/>
          <p:cNvSpPr txBox="1">
            <a:spLocks noGrp="1"/>
          </p:cNvSpPr>
          <p:nvPr>
            <p:ph type="dt" idx="10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53"/>
          <p:cNvSpPr txBox="1">
            <a:spLocks noGrp="1"/>
          </p:cNvSpPr>
          <p:nvPr>
            <p:ph type="ftr" idx="11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3"/>
          <p:cNvSpPr txBox="1">
            <a:spLocks noGrp="1"/>
          </p:cNvSpPr>
          <p:nvPr>
            <p:ph type="sldNum" idx="12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Batang"/>
              <a:buNone/>
              <a:defRPr sz="4600" b="0" i="0" u="none" strike="noStrike" cap="none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6"/>
          <p:cNvSpPr txBox="1"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835" algn="l" rtl="0">
              <a:lnSpc>
                <a:spcPct val="110000"/>
              </a:lnSpc>
              <a:spcBef>
                <a:spcPts val="460"/>
              </a:spcBef>
              <a:spcAft>
                <a:spcPts val="0"/>
              </a:spcAft>
              <a:buClr>
                <a:schemeClr val="lt2"/>
              </a:buClr>
              <a:buSzPts val="1610"/>
              <a:buFont typeface="Noto Sans Symbols"/>
              <a:buChar char="◈"/>
              <a:defRPr sz="2300" b="0" i="0" u="none" strike="noStrike" cap="none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914400" marR="0" lvl="1" indent="-321944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70"/>
              <a:buFont typeface="Noto Sans Symbols"/>
              <a:buChar char="🞚"/>
              <a:defRPr sz="2100" b="0" i="0" u="none" strike="noStrike" cap="none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1371600" marR="0" lvl="2" indent="-308610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◈"/>
              <a:defRPr sz="1800" b="0" i="0" u="none" strike="noStrike" cap="none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1828800" marR="0" lvl="3" indent="-29971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🞚"/>
              <a:defRPr sz="1600" b="0" i="0" u="none" strike="noStrike" cap="none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2286000" marR="0" lvl="4" indent="-299720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◈"/>
              <a:defRPr sz="1600" b="0" i="0" u="none" strike="noStrike" cap="none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2743200" marR="0" lvl="5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290829" algn="l" rtl="0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2" name="Google Shape;12;p36"/>
          <p:cNvSpPr txBox="1">
            <a:spLocks noGrp="1"/>
          </p:cNvSpPr>
          <p:nvPr>
            <p:ph type="dt" idx="10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3" name="Google Shape;13;p36"/>
          <p:cNvSpPr txBox="1">
            <a:spLocks noGrp="1"/>
          </p:cNvSpPr>
          <p:nvPr>
            <p:ph type="ftr" idx="11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4" name="Google Shape;14;p36"/>
          <p:cNvSpPr txBox="1">
            <a:spLocks noGrp="1"/>
          </p:cNvSpPr>
          <p:nvPr>
            <p:ph type="sldNum" idx="12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F2F2F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ing.edx.org/course/course-v1:IBM+DB0100EN+1T2021/block-v1:IBM+DB0100EN+1T2021+type@sequential+block@e8012a6f7334458281a743562e0fc897/block-v1:IBM+DB0100EN+1T2021+type@vertical+block@de7b397903a547bda6b1e79dbc05d990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towards-data-science/building-a-data-platform-in-2024-d63c736ccce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hyperlink" Target="https://www.slideserve.com/alvis/php-mysql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hyperlink" Target="https://opentutorials.org/course/62/233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" TargetMode="Externa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naver.com/gi_balja/223028077537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python.com/python-data-engineer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akefs.io/blog/data-orchestration-tools-2023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python.com/python-data-engineer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lef.fr/airflow-getting-started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irflow.apache.org/docs/apache-airflow/stable/howto/docker-compose/index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irflow.apache.org/docs/apache-airflow/2.5.1/docker-compose.ya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t-is-my-life.tistory.com/21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Vertex_(graph_theory)" TargetMode="External"/><Relationship Id="rId3" Type="http://schemas.openxmlformats.org/officeDocument/2006/relationships/image" Target="../media/image41.png"/><Relationship Id="rId7" Type="http://schemas.openxmlformats.org/officeDocument/2006/relationships/hyperlink" Target="https://en.wikipedia.org/wiki/Cycle_graph#Directed_cycle_graph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Directed_graph" TargetMode="External"/><Relationship Id="rId5" Type="http://schemas.openxmlformats.org/officeDocument/2006/relationships/hyperlink" Target="https://steemit.com/dag/@cryptodreamers/dag-dag-directed-acyclic-graph" TargetMode="External"/><Relationship Id="rId4" Type="http://schemas.openxmlformats.org/officeDocument/2006/relationships/image" Target="../media/image42.png"/><Relationship Id="rId9" Type="http://schemas.openxmlformats.org/officeDocument/2006/relationships/hyperlink" Target="https://en.wikipedia.org/wiki/Edge_(graph_theory)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" descr="컵, 커피, 음식, 음료 그림&#10;&#10;자동 생성되는 설명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"/>
          <p:cNvSpPr txBox="1">
            <a:spLocks noGrp="1"/>
          </p:cNvSpPr>
          <p:nvPr>
            <p:ph type="ctrTitle"/>
          </p:nvPr>
        </p:nvSpPr>
        <p:spPr>
          <a:xfrm>
            <a:off x="1537754" y="1081229"/>
            <a:ext cx="9440100" cy="26484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>
              <a:buSzPts val="7200"/>
            </a:pPr>
            <a:r>
              <a:rPr lang="en-US" altLang="ko-KR" sz="7200" b="1" dirty="0"/>
              <a:t>Data Engineering with Apache Airflow</a:t>
            </a:r>
            <a:br>
              <a:rPr lang="en-US" altLang="ko-KR" sz="7200" b="1" dirty="0"/>
            </a:br>
            <a:endParaRPr sz="7200" b="1" dirty="0"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57" name="Google Shape;157;p1"/>
          <p:cNvSpPr txBox="1">
            <a:spLocks noGrp="1"/>
          </p:cNvSpPr>
          <p:nvPr>
            <p:ph type="subTitle" idx="1"/>
          </p:nvPr>
        </p:nvSpPr>
        <p:spPr>
          <a:xfrm>
            <a:off x="1306039" y="4810847"/>
            <a:ext cx="9440034" cy="13979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rPr lang="en-US" sz="2800" b="1" dirty="0"/>
              <a:t>2026 Fall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rPr lang="ko-KR" altLang="en-US" sz="2800" b="1" dirty="0">
                <a:latin typeface="Batang"/>
                <a:ea typeface="Batang"/>
                <a:cs typeface="Batang"/>
                <a:sym typeface="Batang"/>
              </a:rPr>
              <a:t>조상구</a:t>
            </a:r>
            <a:endParaRPr sz="2800" b="1" dirty="0"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65" name="Google Shape;165;p2"/>
          <p:cNvSpPr txBox="1">
            <a:spLocks noGrp="1"/>
          </p:cNvSpPr>
          <p:nvPr>
            <p:ph type="body" idx="1"/>
          </p:nvPr>
        </p:nvSpPr>
        <p:spPr>
          <a:xfrm>
            <a:off x="913795" y="1127463"/>
            <a:ext cx="10353761" cy="449091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6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10"/>
              <a:buChar char="◈"/>
            </a:pPr>
            <a:r>
              <a:rPr lang="en-US" b="1" u="sng">
                <a:solidFill>
                  <a:srgbClr val="FFFF00"/>
                </a:solidFill>
              </a:rPr>
              <a:t>What is Data Engineering?</a:t>
            </a:r>
            <a:endParaRPr/>
          </a:p>
          <a:p>
            <a:pPr marL="342900" lvl="0" indent="-306000" algn="l" rtl="0">
              <a:lnSpc>
                <a:spcPct val="20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/>
              <a:t>Linux 개발환경</a:t>
            </a:r>
            <a:endParaRPr/>
          </a:p>
          <a:p>
            <a:pPr marL="342900" lvl="0" indent="-306000" algn="l" rtl="0">
              <a:lnSpc>
                <a:spcPct val="20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/>
              <a:t>Apache Airflow Container</a:t>
            </a:r>
            <a:endParaRPr/>
          </a:p>
        </p:txBody>
      </p:sp>
      <p:sp>
        <p:nvSpPr>
          <p:cNvPr id="166" name="Google Shape;166;p2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Who is a Data Engineer? which skill required?</a:t>
            </a:r>
            <a:endParaRPr/>
          </a:p>
        </p:txBody>
      </p:sp>
      <p:sp>
        <p:nvSpPr>
          <p:cNvPr id="174" name="Google Shape;174;p3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75" name="Google Shape;175;p3"/>
          <p:cNvSpPr txBox="1"/>
          <p:nvPr/>
        </p:nvSpPr>
        <p:spPr>
          <a:xfrm>
            <a:off x="1746316" y="1843392"/>
            <a:ext cx="6094428" cy="341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Data Engineering</a:t>
            </a:r>
            <a:endParaRPr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Data Analysing</a:t>
            </a:r>
            <a:endParaRPr sz="2800" b="0" i="0" u="none" strike="noStrike" cap="non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Data Science</a:t>
            </a:r>
            <a:endParaRPr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Business Intelligence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A Day in the Life of a Data Engineer</a:t>
            </a:r>
            <a:endParaRPr/>
          </a:p>
        </p:txBody>
      </p:sp>
      <p:sp>
        <p:nvSpPr>
          <p:cNvPr id="183" name="Google Shape;183;p4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84" name="Google Shape;1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0809" y="1554317"/>
            <a:ext cx="8550381" cy="374936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"/>
          <p:cNvSpPr txBox="1"/>
          <p:nvPr/>
        </p:nvSpPr>
        <p:spPr>
          <a:xfrm>
            <a:off x="1820809" y="6020976"/>
            <a:ext cx="96139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sng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https://learning.edx.org/course/course-v1:IBM+DB0100EN+1T2021/block-v1:IBM+DB0100EN+1T2021+type@sequential+block@e8012a6f7334458281a743562e0fc897/block-v1:IBM+DB0100EN+1T2021+type@vertical+block@de7b397903a547bda6b1e79dbc05d990</a:t>
            </a:r>
            <a:r>
              <a:rPr lang="en-US" sz="9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Modern data platform Architecture</a:t>
            </a:r>
            <a:endParaRPr/>
          </a:p>
        </p:txBody>
      </p:sp>
      <p:sp>
        <p:nvSpPr>
          <p:cNvPr id="191" name="Google Shape;191;p5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92" name="Google Shape;19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3487" y="1084082"/>
            <a:ext cx="8807229" cy="495217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"/>
          <p:cNvSpPr txBox="1"/>
          <p:nvPr/>
        </p:nvSpPr>
        <p:spPr>
          <a:xfrm>
            <a:off x="1923488" y="6124387"/>
            <a:ext cx="83343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FFFF00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https://medium.com/towards-data-science/building-a-data-platform-in-2024-d63c736cccef</a:t>
            </a:r>
            <a:r>
              <a:rPr lang="en-US" sz="1200">
                <a:solidFill>
                  <a:srgbClr val="FFFF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3487" y="1084082"/>
            <a:ext cx="8807229" cy="495217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 txBox="1"/>
          <p:nvPr/>
        </p:nvSpPr>
        <p:spPr>
          <a:xfrm>
            <a:off x="223652" y="1459248"/>
            <a:ext cx="11578707" cy="1015663"/>
          </a:xfrm>
          <a:prstGeom prst="rect">
            <a:avLst/>
          </a:prstGeom>
          <a:solidFill>
            <a:srgbClr val="BFBFBF">
              <a:alpha val="49803"/>
            </a:srgbClr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Ubuntu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223651" y="3429000"/>
            <a:ext cx="11578707" cy="1323439"/>
          </a:xfrm>
          <a:prstGeom prst="rect">
            <a:avLst/>
          </a:prstGeom>
          <a:solidFill>
            <a:srgbClr val="BFBFBF">
              <a:alpha val="49803"/>
            </a:srgbClr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VM, VE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git/github</a:t>
            </a:r>
            <a:endParaRPr sz="2000" b="1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Modern data platform Architecture</a:t>
            </a:r>
            <a:endParaRPr/>
          </a:p>
        </p:txBody>
      </p:sp>
      <p:sp>
        <p:nvSpPr>
          <p:cNvPr id="202" name="Google Shape;202;p6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03" name="Google Shape;203;p6"/>
          <p:cNvSpPr txBox="1"/>
          <p:nvPr/>
        </p:nvSpPr>
        <p:spPr>
          <a:xfrm>
            <a:off x="2300141" y="4350263"/>
            <a:ext cx="1404594" cy="86177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Beautifulsoup</a:t>
            </a: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8797886" y="4873483"/>
            <a:ext cx="1404594" cy="33855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Apache Airflow</a:t>
            </a: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7185040" y="1283404"/>
            <a:ext cx="1815034" cy="86177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Poewr BI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Matplotlib, Seaborn</a:t>
            </a: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6777568" y="4090719"/>
            <a:ext cx="1404594" cy="107721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Scikit-learn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Keras, Tensorflow</a:t>
            </a: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Pytorch</a:t>
            </a: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LLM, Langchain</a:t>
            </a: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9529481" y="1751636"/>
            <a:ext cx="1404594" cy="5847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Fast API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Django</a:t>
            </a: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4525418" y="1166861"/>
            <a:ext cx="1404594" cy="5847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DataBase, SQL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DBeaver</a:t>
            </a: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5582240" y="3200234"/>
            <a:ext cx="1404594" cy="33855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Pandas, SQL</a:t>
            </a: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LAPM; Web/Server Programing</a:t>
            </a:r>
            <a:endParaRPr/>
          </a:p>
        </p:txBody>
      </p:sp>
      <p:sp>
        <p:nvSpPr>
          <p:cNvPr id="215" name="Google Shape;215;p7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16" name="Google Shape;216;p7"/>
          <p:cNvSpPr txBox="1"/>
          <p:nvPr/>
        </p:nvSpPr>
        <p:spPr>
          <a:xfrm>
            <a:off x="381270" y="5991860"/>
            <a:ext cx="60944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https://www.slideserve.com/alvis/php-mysql</a:t>
            </a:r>
            <a:r>
              <a:rPr lang="en-US" sz="12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 sz="12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217" name="Google Shape;21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744" y="2082039"/>
            <a:ext cx="5927480" cy="3674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39758" y="4130759"/>
            <a:ext cx="1545758" cy="533989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19" name="Google Shape;219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82347" y="2122704"/>
            <a:ext cx="2548011" cy="1504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74439" y="5230522"/>
            <a:ext cx="1821338" cy="525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 txBox="1"/>
          <p:nvPr/>
        </p:nvSpPr>
        <p:spPr>
          <a:xfrm>
            <a:off x="6491533" y="3807993"/>
            <a:ext cx="23543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download/installation</a:t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222" name="Google Shape;222;p7"/>
          <p:cNvCxnSpPr/>
          <p:nvPr/>
        </p:nvCxnSpPr>
        <p:spPr>
          <a:xfrm>
            <a:off x="6881567" y="4361567"/>
            <a:ext cx="1574276" cy="0"/>
          </a:xfrm>
          <a:prstGeom prst="straightConnector1">
            <a:avLst/>
          </a:prstGeom>
          <a:noFill/>
          <a:ln w="9525" cap="rnd" cmpd="sng">
            <a:solidFill>
              <a:schemeClr val="l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3" name="Google Shape;223;p7"/>
          <p:cNvSpPr/>
          <p:nvPr/>
        </p:nvSpPr>
        <p:spPr>
          <a:xfrm>
            <a:off x="8732283" y="2875176"/>
            <a:ext cx="212904" cy="2564090"/>
          </a:xfrm>
          <a:prstGeom prst="leftBrace">
            <a:avLst>
              <a:gd name="adj1" fmla="val 66397"/>
              <a:gd name="adj2" fmla="val 50000"/>
            </a:avLst>
          </a:prstGeom>
          <a:noFill/>
          <a:ln w="952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464744" y="1086098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❖"/>
            </a:pPr>
            <a:r>
              <a:rPr lang="en-US" sz="1800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LAPM; Linux(Ubuntu), Apache, PHP, MySQL</a:t>
            </a:r>
            <a:endParaRPr sz="1800">
              <a:solidFill>
                <a:schemeClr val="lt2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grpSp>
        <p:nvGrpSpPr>
          <p:cNvPr id="225" name="Google Shape;225;p7"/>
          <p:cNvGrpSpPr/>
          <p:nvPr/>
        </p:nvGrpSpPr>
        <p:grpSpPr>
          <a:xfrm>
            <a:off x="4628056" y="1742523"/>
            <a:ext cx="2581987" cy="2368189"/>
            <a:chOff x="4628056" y="1742523"/>
            <a:chExt cx="2581987" cy="2368189"/>
          </a:xfrm>
        </p:grpSpPr>
        <p:pic>
          <p:nvPicPr>
            <p:cNvPr id="226" name="Google Shape;226;p7" descr="Nickelback Didn't Originally Want 'How You Remind Me' to Be a Lead Single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84578" y="2066442"/>
              <a:ext cx="2017500" cy="134255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7" name="Google Shape;227;p7"/>
            <p:cNvGrpSpPr/>
            <p:nvPr/>
          </p:nvGrpSpPr>
          <p:grpSpPr>
            <a:xfrm>
              <a:off x="4628056" y="1742523"/>
              <a:ext cx="2581987" cy="2368189"/>
              <a:chOff x="4628056" y="1742523"/>
              <a:chExt cx="2581987" cy="2368189"/>
            </a:xfrm>
          </p:grpSpPr>
          <p:cxnSp>
            <p:nvCxnSpPr>
              <p:cNvPr id="228" name="Google Shape;228;p7"/>
              <p:cNvCxnSpPr/>
              <p:nvPr/>
            </p:nvCxnSpPr>
            <p:spPr>
              <a:xfrm rot="10800000" flipH="1">
                <a:off x="4628056" y="3050007"/>
                <a:ext cx="1072412" cy="1060705"/>
              </a:xfrm>
              <a:prstGeom prst="straightConnector1">
                <a:avLst/>
              </a:prstGeom>
              <a:noFill/>
              <a:ln w="9525" cap="rnd" cmpd="sng">
                <a:solidFill>
                  <a:srgbClr val="FF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229" name="Google Shape;229;p7"/>
              <p:cNvSpPr txBox="1"/>
              <p:nvPr/>
            </p:nvSpPr>
            <p:spPr>
              <a:xfrm>
                <a:off x="5192543" y="1742523"/>
                <a:ext cx="2017500" cy="369332"/>
              </a:xfrm>
              <a:prstGeom prst="rect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>
                    <a:solidFill>
                      <a:srgbClr val="FF0000"/>
                    </a:solidFill>
                    <a:latin typeface="Sorts Mill Goudy"/>
                    <a:ea typeface="Sorts Mill Goudy"/>
                    <a:cs typeface="Sorts Mill Goudy"/>
                    <a:sym typeface="Sorts Mill Goudy"/>
                  </a:rPr>
                  <a:t>Application</a:t>
                </a:r>
                <a:endParaRPr sz="1800" b="1">
                  <a:solidFill>
                    <a:srgbClr val="FF0000"/>
                  </a:solidFill>
                  <a:latin typeface="Sorts Mill Goudy"/>
                  <a:ea typeface="Sorts Mill Goudy"/>
                  <a:cs typeface="Sorts Mill Goudy"/>
                  <a:sym typeface="Sorts Mill Goudy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LAPM; Web/Server Programing</a:t>
            </a:r>
            <a:endParaRPr/>
          </a:p>
        </p:txBody>
      </p:sp>
      <p:sp>
        <p:nvSpPr>
          <p:cNvPr id="235" name="Google Shape;235;p8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36" name="Google Shape;23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3795" y="2377596"/>
            <a:ext cx="2019475" cy="662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157" y="3841904"/>
            <a:ext cx="2194750" cy="1806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80373" y="1247597"/>
            <a:ext cx="2065510" cy="2703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54688" y="2685921"/>
            <a:ext cx="7212868" cy="335849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"/>
          <p:cNvSpPr txBox="1"/>
          <p:nvPr/>
        </p:nvSpPr>
        <p:spPr>
          <a:xfrm>
            <a:off x="913795" y="6079980"/>
            <a:ext cx="60944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https://opentutorials.org/course/62/233</a:t>
            </a:r>
            <a:r>
              <a:rPr lang="en-US" sz="12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LAPM; Web/Server Programing</a:t>
            </a:r>
            <a:endParaRPr/>
          </a:p>
        </p:txBody>
      </p:sp>
      <p:sp>
        <p:nvSpPr>
          <p:cNvPr id="246" name="Google Shape;246;p9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484093" y="3562295"/>
            <a:ext cx="4025155" cy="51008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</a:t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7512421" y="3559522"/>
            <a:ext cx="4025155" cy="2120143"/>
          </a:xfrm>
          <a:prstGeom prst="rect">
            <a:avLst/>
          </a:prstGeom>
          <a:solidFill>
            <a:srgbClr val="00B0F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helloworld.php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PHP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Apache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Ubuntu (Linux OS)</a:t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475128" y="3559522"/>
            <a:ext cx="11062448" cy="2120143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447525" y="3623645"/>
            <a:ext cx="2576643" cy="3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로컬영역(내 컴퓨터) 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784514" y="4080023"/>
            <a:ext cx="2328043" cy="3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www.google.com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9" descr="Mozilla Firefox, Microsoft Edge, Google Chrome, Internet Explorer and Opera  - Popular Internet Browsers. Kyiv, Ukraine - December Editorial Stock Photo  - Illustration of logo, edge: 2040961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755" y="2811326"/>
            <a:ext cx="2758266" cy="6865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p9"/>
          <p:cNvCxnSpPr>
            <a:stCxn id="252" idx="0"/>
            <a:endCxn id="248" idx="0"/>
          </p:cNvCxnSpPr>
          <p:nvPr/>
        </p:nvCxnSpPr>
        <p:spPr>
          <a:xfrm rot="-5400000" flipH="1">
            <a:off x="5308888" y="-656674"/>
            <a:ext cx="748200" cy="7684200"/>
          </a:xfrm>
          <a:prstGeom prst="bentConnector3">
            <a:avLst>
              <a:gd name="adj1" fmla="val -106148"/>
            </a:avLst>
          </a:prstGeom>
          <a:noFill/>
          <a:ln w="9525" cap="rnd" cmpd="sng">
            <a:solidFill>
              <a:schemeClr val="lt1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254" name="Google Shape;254;p9" descr="A brief explanation of the Request / Response Model in Web Development | by  Ruman Ahmed | Medium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26869" y="1181445"/>
            <a:ext cx="4671403" cy="20413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9"/>
          <p:cNvGrpSpPr/>
          <p:nvPr/>
        </p:nvGrpSpPr>
        <p:grpSpPr>
          <a:xfrm>
            <a:off x="9313682" y="1805671"/>
            <a:ext cx="2527696" cy="3507699"/>
            <a:chOff x="9478430" y="2028257"/>
            <a:chExt cx="2527696" cy="3507699"/>
          </a:xfrm>
        </p:grpSpPr>
        <p:grpSp>
          <p:nvGrpSpPr>
            <p:cNvPr id="256" name="Google Shape;256;p9"/>
            <p:cNvGrpSpPr/>
            <p:nvPr/>
          </p:nvGrpSpPr>
          <p:grpSpPr>
            <a:xfrm>
              <a:off x="9478430" y="2028257"/>
              <a:ext cx="2527696" cy="2364851"/>
              <a:chOff x="4536466" y="1742523"/>
              <a:chExt cx="2673577" cy="2334693"/>
            </a:xfrm>
          </p:grpSpPr>
          <p:pic>
            <p:nvPicPr>
              <p:cNvPr id="257" name="Google Shape;257;p9" descr="Nickelback Didn't Originally Want 'How You Remind Me' to Be a Lead Single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5184578" y="2066442"/>
                <a:ext cx="2017500" cy="134255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58" name="Google Shape;258;p9"/>
              <p:cNvGrpSpPr/>
              <p:nvPr/>
            </p:nvGrpSpPr>
            <p:grpSpPr>
              <a:xfrm>
                <a:off x="4536466" y="1742523"/>
                <a:ext cx="2673577" cy="2334693"/>
                <a:chOff x="4536466" y="1742523"/>
                <a:chExt cx="2673577" cy="2334693"/>
              </a:xfrm>
            </p:grpSpPr>
            <p:cxnSp>
              <p:nvCxnSpPr>
                <p:cNvPr id="259" name="Google Shape;259;p9"/>
                <p:cNvCxnSpPr/>
                <p:nvPr/>
              </p:nvCxnSpPr>
              <p:spPr>
                <a:xfrm rot="10800000" flipH="1">
                  <a:off x="4536466" y="3050007"/>
                  <a:ext cx="1164003" cy="1027209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sp>
              <p:nvSpPr>
                <p:cNvPr id="260" name="Google Shape;260;p9"/>
                <p:cNvSpPr txBox="1"/>
                <p:nvPr/>
              </p:nvSpPr>
              <p:spPr>
                <a:xfrm>
                  <a:off x="5192543" y="1742523"/>
                  <a:ext cx="2017500" cy="369332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b="1">
                      <a:solidFill>
                        <a:srgbClr val="FF0000"/>
                      </a:solidFill>
                      <a:latin typeface="Sorts Mill Goudy"/>
                      <a:ea typeface="Sorts Mill Goudy"/>
                      <a:cs typeface="Sorts Mill Goudy"/>
                      <a:sym typeface="Sorts Mill Goudy"/>
                    </a:rPr>
                    <a:t>php Application</a:t>
                  </a:r>
                  <a:endParaRPr sz="1800" b="1">
                    <a:solidFill>
                      <a:srgbClr val="FF0000"/>
                    </a:solidFill>
                    <a:latin typeface="Sorts Mill Goudy"/>
                    <a:ea typeface="Sorts Mill Goudy"/>
                    <a:cs typeface="Sorts Mill Goudy"/>
                    <a:sym typeface="Sorts Mill Goudy"/>
                  </a:endParaRPr>
                </a:p>
              </p:txBody>
            </p:sp>
          </p:grpSp>
        </p:grpSp>
        <p:pic>
          <p:nvPicPr>
            <p:cNvPr id="261" name="Google Shape;261;p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111191" y="3775583"/>
              <a:ext cx="1668925" cy="17603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2" name="Google Shape;262;p9"/>
          <p:cNvSpPr/>
          <p:nvPr/>
        </p:nvSpPr>
        <p:spPr>
          <a:xfrm>
            <a:off x="7501080" y="3633065"/>
            <a:ext cx="2576643" cy="3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글로벌 원격영역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Web Service Architecture</a:t>
            </a:r>
            <a:endParaRPr/>
          </a:p>
        </p:txBody>
      </p:sp>
      <p:sp>
        <p:nvSpPr>
          <p:cNvPr id="268" name="Google Shape;268;p10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69" name="Google Shape;26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8413" y="2087764"/>
            <a:ext cx="8695173" cy="268247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0"/>
          <p:cNvSpPr txBox="1"/>
          <p:nvPr/>
        </p:nvSpPr>
        <p:spPr>
          <a:xfrm>
            <a:off x="1623768" y="5452563"/>
            <a:ext cx="60944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https://blog.naver.com/gi_balja/223028077537</a:t>
            </a:r>
            <a:r>
              <a:rPr lang="en-US" sz="12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Modern S/W Architecture</a:t>
            </a:r>
            <a:endParaRPr/>
          </a:p>
        </p:txBody>
      </p:sp>
      <p:sp>
        <p:nvSpPr>
          <p:cNvPr id="276" name="Google Shape;276;p11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77" name="Google Shape;27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7436" y="1309752"/>
            <a:ext cx="8355106" cy="4726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4806" y="1444132"/>
            <a:ext cx="2828229" cy="64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What is Data Engineering?</a:t>
            </a:r>
            <a:endParaRPr/>
          </a:p>
        </p:txBody>
      </p:sp>
      <p:sp>
        <p:nvSpPr>
          <p:cNvPr id="284" name="Google Shape;284;p12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1810869" y="3484913"/>
            <a:ext cx="1919528" cy="766439"/>
          </a:xfrm>
          <a:prstGeom prst="rect">
            <a:avLst/>
          </a:prstGeom>
          <a:solidFill>
            <a:srgbClr val="00B0F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Extract</a:t>
            </a: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4947975" y="3484913"/>
            <a:ext cx="1919528" cy="766439"/>
          </a:xfrm>
          <a:prstGeom prst="rect">
            <a:avLst/>
          </a:prstGeom>
          <a:solidFill>
            <a:srgbClr val="00B0F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Transform</a:t>
            </a: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8085082" y="3484913"/>
            <a:ext cx="1919528" cy="766439"/>
          </a:xfrm>
          <a:prstGeom prst="rect">
            <a:avLst/>
          </a:prstGeom>
          <a:solidFill>
            <a:srgbClr val="00B0F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12"/>
          <p:cNvCxnSpPr>
            <a:endCxn id="286" idx="1"/>
          </p:cNvCxnSpPr>
          <p:nvPr/>
        </p:nvCxnSpPr>
        <p:spPr>
          <a:xfrm>
            <a:off x="3730275" y="3868133"/>
            <a:ext cx="1217700" cy="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9" name="Google Shape;289;p12"/>
          <p:cNvCxnSpPr>
            <a:stCxn id="286" idx="3"/>
          </p:cNvCxnSpPr>
          <p:nvPr/>
        </p:nvCxnSpPr>
        <p:spPr>
          <a:xfrm>
            <a:off x="6867503" y="3868133"/>
            <a:ext cx="1217700" cy="0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0" name="Google Shape;290;p12"/>
          <p:cNvSpPr txBox="1"/>
          <p:nvPr/>
        </p:nvSpPr>
        <p:spPr>
          <a:xfrm>
            <a:off x="3307435" y="2186772"/>
            <a:ext cx="534404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Overview of Inside Data Pipeline</a:t>
            </a:r>
            <a:endParaRPr sz="2000" b="1">
              <a:solidFill>
                <a:schemeClr val="lt2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291" name="Google Shape;291;p12"/>
          <p:cNvSpPr txBox="1"/>
          <p:nvPr/>
        </p:nvSpPr>
        <p:spPr>
          <a:xfrm>
            <a:off x="1810869" y="4868100"/>
            <a:ext cx="60944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https://realpython.com/python-data-engineer/</a:t>
            </a: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atang"/>
              <a:buNone/>
            </a:pPr>
            <a:r>
              <a:rPr lang="en-US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Orchestration Tools: Ultimate Review</a:t>
            </a:r>
            <a:r>
              <a:rPr lang="en-US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9" name="Google Shape;299;p13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300" name="Google Shape;300;p13"/>
          <p:cNvSpPr txBox="1"/>
          <p:nvPr/>
        </p:nvSpPr>
        <p:spPr>
          <a:xfrm>
            <a:off x="765928" y="1251309"/>
            <a:ext cx="7096026" cy="4967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rts Mill Goudy"/>
              <a:buAutoNum type="arabicPeriod"/>
            </a:pPr>
            <a:r>
              <a:rPr lang="en-US" sz="1600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Apache Airflow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rts Mill Goudy"/>
              <a:buAutoNum type="arabicPeriod"/>
            </a:pPr>
            <a:r>
              <a:rPr lang="en-US" sz="1600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*Astronomer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rts Mill Goudy"/>
              <a:buAutoNum type="arabicPeriod"/>
            </a:pPr>
            <a:r>
              <a:rPr lang="en-US" sz="1600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Dagster</a:t>
            </a:r>
            <a:endParaRPr sz="1600">
              <a:solidFill>
                <a:schemeClr val="lt2"/>
              </a:solidFill>
              <a:latin typeface="Batang"/>
              <a:ea typeface="Batang"/>
              <a:cs typeface="Batang"/>
              <a:sym typeface="Batang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rts Mill Goudy"/>
              <a:buAutoNum type="arabicPeriod"/>
            </a:pPr>
            <a:r>
              <a:rPr lang="en-US" sz="1600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Prefect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rts Mill Goudy"/>
              <a:buAutoNum type="arabicPeriod"/>
            </a:pPr>
            <a:r>
              <a:rPr lang="en-US" sz="1600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Mage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rts Mill Goudy"/>
              <a:buAutoNum type="arabicPeriod"/>
            </a:pPr>
            <a:r>
              <a:rPr lang="en-US" sz="1600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Luigi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rts Mill Goudy"/>
              <a:buAutoNum type="arabicPeriod"/>
            </a:pPr>
            <a:r>
              <a:rPr lang="en-US" sz="1600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Apache Oozie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rts Mill Goudy"/>
              <a:buAutoNum type="arabicPeriod"/>
            </a:pPr>
            <a:r>
              <a:rPr lang="en-US" sz="1600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Flyte</a:t>
            </a:r>
            <a:endParaRPr sz="1600">
              <a:solidFill>
                <a:schemeClr val="lt2"/>
              </a:solidFill>
              <a:latin typeface="Batang"/>
              <a:ea typeface="Batang"/>
              <a:cs typeface="Batang"/>
              <a:sym typeface="Batang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rts Mill Goudy"/>
              <a:buAutoNum type="arabicPeriod"/>
            </a:pPr>
            <a:r>
              <a:rPr lang="en-US" sz="1600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DAGWorks</a:t>
            </a:r>
            <a:endParaRPr sz="1600">
              <a:solidFill>
                <a:schemeClr val="lt2"/>
              </a:solidFill>
              <a:latin typeface="Batang"/>
              <a:ea typeface="Batang"/>
              <a:cs typeface="Batang"/>
              <a:sym typeface="Batang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rts Mill Goudy"/>
              <a:buAutoNum type="arabicPeriod"/>
            </a:pPr>
            <a:r>
              <a:rPr lang="en-US" sz="1600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Shipyard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rts Mill Goudy"/>
              <a:buAutoNum type="arabicPeriod"/>
            </a:pPr>
            <a:r>
              <a:rPr lang="en-US" sz="1600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Kestra</a:t>
            </a:r>
            <a:endParaRPr sz="1600">
              <a:solidFill>
                <a:schemeClr val="lt2"/>
              </a:solidFill>
              <a:latin typeface="Batang"/>
              <a:ea typeface="Batang"/>
              <a:cs typeface="Batang"/>
              <a:sym typeface="Batang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rts Mill Goudy"/>
              <a:buAutoNum type="arabicPeriod"/>
            </a:pPr>
            <a:r>
              <a:rPr lang="en-US" sz="1600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Datorios</a:t>
            </a:r>
            <a:endParaRPr sz="1600">
              <a:solidFill>
                <a:schemeClr val="lt2"/>
              </a:solidFill>
              <a:latin typeface="Batang"/>
              <a:ea typeface="Batang"/>
              <a:cs typeface="Batang"/>
              <a:sym typeface="Batang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rts Mill Goudy"/>
              <a:buAutoNum type="arabicPeriod"/>
            </a:pPr>
            <a:r>
              <a:rPr lang="en-US" sz="1600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MLtwist</a:t>
            </a:r>
            <a:endParaRPr sz="1600">
              <a:solidFill>
                <a:schemeClr val="lt2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pic>
        <p:nvPicPr>
          <p:cNvPr id="301" name="Google Shape;30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57935" y="1955466"/>
            <a:ext cx="7843300" cy="355921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3"/>
          <p:cNvSpPr txBox="1"/>
          <p:nvPr/>
        </p:nvSpPr>
        <p:spPr>
          <a:xfrm>
            <a:off x="3957935" y="5605983"/>
            <a:ext cx="730962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*Astro is a fully-managed SaaS application for data orchestration that helps teams write and run data pipelines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200" b="0" i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with Apache Airflow at any level of scale.</a:t>
            </a:r>
            <a:endParaRPr sz="12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What Are Common Data Engineering Skills?</a:t>
            </a:r>
            <a:endParaRPr/>
          </a:p>
        </p:txBody>
      </p:sp>
      <p:sp>
        <p:nvSpPr>
          <p:cNvPr id="308" name="Google Shape;308;p14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09" name="Google Shape;309;p14"/>
          <p:cNvSpPr txBox="1"/>
          <p:nvPr/>
        </p:nvSpPr>
        <p:spPr>
          <a:xfrm>
            <a:off x="2038546" y="5482263"/>
            <a:ext cx="60944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https://realpython.com/python-data-engineer/</a:t>
            </a: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</p:txBody>
      </p:sp>
      <p:sp>
        <p:nvSpPr>
          <p:cNvPr id="310" name="Google Shape;310;p14"/>
          <p:cNvSpPr txBox="1"/>
          <p:nvPr/>
        </p:nvSpPr>
        <p:spPr>
          <a:xfrm>
            <a:off x="1586059" y="1475505"/>
            <a:ext cx="9999483" cy="3621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❖"/>
            </a:pPr>
            <a:r>
              <a:rPr lang="en-US" sz="2000" b="1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General programming concepts</a:t>
            </a:r>
            <a:endParaRPr/>
          </a:p>
          <a:p>
            <a:pPr marL="914400" marR="0" lvl="2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Python</a:t>
            </a:r>
            <a:r>
              <a:rPr lang="en-US" sz="1800" b="0" i="0" u="none" strike="noStrike" cap="none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, Scala, and Java / Apache Airflow</a:t>
            </a:r>
            <a:endParaRPr/>
          </a:p>
          <a:p>
            <a:pPr marL="9144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lt2"/>
              </a:solidFill>
              <a:latin typeface="Batang"/>
              <a:ea typeface="Batang"/>
              <a:cs typeface="Batang"/>
              <a:sym typeface="Batang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❖"/>
            </a:pPr>
            <a:r>
              <a:rPr lang="en-US" sz="2000" b="1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Databases</a:t>
            </a:r>
            <a:endParaRPr/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❖"/>
            </a:pPr>
            <a:r>
              <a:rPr lang="en-US" sz="1800" b="1" i="0" u="none" strike="noStrike" cap="none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SQL / Maria DB, Postgres, MySQL, Mongo DB, Oracle</a:t>
            </a:r>
            <a:endParaRPr/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endParaRPr sz="1800" b="1" i="0" u="none" strike="noStrike" cap="none">
              <a:solidFill>
                <a:schemeClr val="lt2"/>
              </a:solidFill>
              <a:latin typeface="Batang"/>
              <a:ea typeface="Batang"/>
              <a:cs typeface="Batang"/>
              <a:sym typeface="Batang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❖"/>
            </a:pPr>
            <a:r>
              <a:rPr lang="en-US" sz="2000" b="1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Distributed systems and cloud engineering</a:t>
            </a:r>
            <a:endParaRPr/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lt2"/>
                </a:solidFill>
                <a:latin typeface="Batang"/>
                <a:ea typeface="Batang"/>
                <a:cs typeface="Batang"/>
                <a:sym typeface="Batang"/>
              </a:rPr>
              <a:t>Apache Spark / Amazon S3, GCP, and Microsoft Azure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318" name="Google Shape;318;p15"/>
          <p:cNvSpPr txBox="1">
            <a:spLocks noGrp="1"/>
          </p:cNvSpPr>
          <p:nvPr>
            <p:ph type="body" idx="1"/>
          </p:nvPr>
        </p:nvSpPr>
        <p:spPr>
          <a:xfrm>
            <a:off x="913795" y="1127463"/>
            <a:ext cx="10353761" cy="449091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6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10"/>
              <a:buChar char="◈"/>
            </a:pPr>
            <a:r>
              <a:rPr lang="en-US"/>
              <a:t>What is Data Engineering?</a:t>
            </a:r>
            <a:endParaRPr/>
          </a:p>
          <a:p>
            <a:pPr marL="342900" lvl="0" indent="-306000" algn="l" rtl="0">
              <a:lnSpc>
                <a:spcPct val="20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 b="1" u="sng">
                <a:solidFill>
                  <a:srgbClr val="FFFF00"/>
                </a:solidFill>
              </a:rPr>
              <a:t>Linux 개발환경</a:t>
            </a:r>
            <a:endParaRPr b="1" u="sng">
              <a:solidFill>
                <a:srgbClr val="FFFF00"/>
              </a:solidFill>
            </a:endParaRPr>
          </a:p>
          <a:p>
            <a:pPr marL="342900" lvl="0" indent="-306000" algn="l" rtl="0">
              <a:lnSpc>
                <a:spcPct val="20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/>
              <a:t>Apache Airflow Container</a:t>
            </a:r>
            <a:endParaRPr/>
          </a:p>
        </p:txBody>
      </p:sp>
      <p:sp>
        <p:nvSpPr>
          <p:cNvPr id="319" name="Google Shape;319;p15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"/>
          <p:cNvSpPr/>
          <p:nvPr/>
        </p:nvSpPr>
        <p:spPr>
          <a:xfrm>
            <a:off x="484093" y="3562295"/>
            <a:ext cx="4025155" cy="160384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 code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 Environment(venv)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7512421" y="3559522"/>
            <a:ext cx="4025155" cy="1606613"/>
          </a:xfrm>
          <a:prstGeom prst="rect">
            <a:avLst/>
          </a:prstGeom>
          <a:solidFill>
            <a:srgbClr val="00B0F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WSL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Ubuntu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Apache Airflow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Bash Shell Script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6" name="Google Shape;326;p16"/>
          <p:cNvCxnSpPr>
            <a:stCxn id="327" idx="0"/>
            <a:endCxn id="328" idx="1"/>
          </p:cNvCxnSpPr>
          <p:nvPr/>
        </p:nvCxnSpPr>
        <p:spPr>
          <a:xfrm rot="-5400000">
            <a:off x="3296484" y="1756984"/>
            <a:ext cx="1953600" cy="2390400"/>
          </a:xfrm>
          <a:prstGeom prst="bentConnector2">
            <a:avLst/>
          </a:prstGeom>
          <a:noFill/>
          <a:ln w="9525" cap="rnd" cmpd="sng">
            <a:solidFill>
              <a:schemeClr val="lt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9" name="Google Shape;329;p16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개발 환경 구성도</a:t>
            </a:r>
            <a:endParaRPr/>
          </a:p>
        </p:txBody>
      </p:sp>
      <p:sp>
        <p:nvSpPr>
          <p:cNvPr id="330" name="Google Shape;330;p16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328" name="Google Shape;32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8470" y="1735526"/>
            <a:ext cx="1030941" cy="479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1" name="Google Shape;331;p16"/>
          <p:cNvCxnSpPr>
            <a:stCxn id="332" idx="0"/>
            <a:endCxn id="328" idx="3"/>
          </p:cNvCxnSpPr>
          <p:nvPr/>
        </p:nvCxnSpPr>
        <p:spPr>
          <a:xfrm rot="5400000" flipH="1">
            <a:off x="7018343" y="1456384"/>
            <a:ext cx="1953600" cy="2991600"/>
          </a:xfrm>
          <a:prstGeom prst="bentConnector2">
            <a:avLst/>
          </a:prstGeom>
          <a:noFill/>
          <a:ln w="9525" cap="rnd" cmpd="sng">
            <a:solidFill>
              <a:schemeClr val="lt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3" name="Google Shape;333;p16"/>
          <p:cNvSpPr/>
          <p:nvPr/>
        </p:nvSpPr>
        <p:spPr>
          <a:xfrm>
            <a:off x="475128" y="3559522"/>
            <a:ext cx="11062448" cy="2485268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327" name="Google Shape;32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04591" y="3928984"/>
            <a:ext cx="746986" cy="332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17450" y="3928984"/>
            <a:ext cx="746986" cy="33269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6"/>
          <p:cNvSpPr/>
          <p:nvPr/>
        </p:nvSpPr>
        <p:spPr>
          <a:xfrm>
            <a:off x="370350" y="3076068"/>
            <a:ext cx="2576643" cy="3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로컬영역(내 컴퓨터) 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16" descr="GitHub · GitHub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37428" y="1215519"/>
            <a:ext cx="659324" cy="659324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6"/>
          <p:cNvSpPr/>
          <p:nvPr/>
        </p:nvSpPr>
        <p:spPr>
          <a:xfrm>
            <a:off x="2160785" y="1365953"/>
            <a:ext cx="2576643" cy="3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원격영역(클라우드)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3846514" y="5166135"/>
            <a:ext cx="761563" cy="3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*.py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7512421" y="5336380"/>
            <a:ext cx="1716184" cy="3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*.py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*.sh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Docker start / stop on WSL2</a:t>
            </a:r>
            <a:endParaRPr/>
          </a:p>
        </p:txBody>
      </p:sp>
      <p:sp>
        <p:nvSpPr>
          <p:cNvPr id="344" name="Google Shape;344;p17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45" name="Google Shape;345;p17"/>
          <p:cNvSpPr txBox="1"/>
          <p:nvPr/>
        </p:nvSpPr>
        <p:spPr>
          <a:xfrm>
            <a:off x="2187803" y="4653386"/>
            <a:ext cx="1015031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&amp;&gt; docker ps </a:t>
            </a: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# To list running containers and find the container name or ID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&amp;&gt; docker stop my_container </a:t>
            </a: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# Replace 'my_container' with your actual container name or ID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&amp;&gt; docker stop $(docker ps -q)</a:t>
            </a:r>
            <a:endParaRPr sz="2000" b="1">
              <a:solidFill>
                <a:srgbClr val="FF000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2187803" y="2898494"/>
            <a:ext cx="752180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&amp;&gt; sudo docker service start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&amp;&gt; sudo docker compose up   # down</a:t>
            </a:r>
            <a:endParaRPr/>
          </a:p>
        </p:txBody>
      </p:sp>
      <p:pic>
        <p:nvPicPr>
          <p:cNvPr id="347" name="Google Shape;34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270" y="1056352"/>
            <a:ext cx="2799648" cy="1013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최종 개발환경</a:t>
            </a:r>
            <a:endParaRPr/>
          </a:p>
        </p:txBody>
      </p:sp>
      <p:sp>
        <p:nvSpPr>
          <p:cNvPr id="353" name="Google Shape;353;p18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54" name="Google Shape;354;p18"/>
          <p:cNvSpPr/>
          <p:nvPr/>
        </p:nvSpPr>
        <p:spPr>
          <a:xfrm>
            <a:off x="3971364" y="5123286"/>
            <a:ext cx="3836894" cy="766439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Window 11 Home</a:t>
            </a:r>
            <a:endParaRPr sz="1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3971364" y="4280647"/>
            <a:ext cx="3836894" cy="766439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WSL2</a:t>
            </a:r>
            <a:endParaRPr sz="1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3949793" y="3429000"/>
            <a:ext cx="3836894" cy="76643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Ubuntu</a:t>
            </a:r>
            <a:endParaRPr sz="1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3949793" y="2577353"/>
            <a:ext cx="1868301" cy="766439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docker</a:t>
            </a:r>
            <a:endParaRPr sz="1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5897215" y="2577352"/>
            <a:ext cx="1868301" cy="766439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docker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compose</a:t>
            </a:r>
            <a:endParaRPr sz="1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59" name="Google Shape;359;p18" descr="Airflow] Apache Airflow 설치하기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94637" y="1694048"/>
            <a:ext cx="1646913" cy="696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8" descr="Docker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7145" y="1898549"/>
            <a:ext cx="1868302" cy="1443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Docker on WSL2(Ubuntu)</a:t>
            </a:r>
            <a:endParaRPr/>
          </a:p>
        </p:txBody>
      </p:sp>
      <p:sp>
        <p:nvSpPr>
          <p:cNvPr id="366" name="Google Shape;366;p19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67" name="Google Shape;367;p19"/>
          <p:cNvSpPr txBox="1"/>
          <p:nvPr/>
        </p:nvSpPr>
        <p:spPr>
          <a:xfrm>
            <a:off x="546846" y="1150229"/>
            <a:ext cx="1103555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Docker is a widely-used container technology that allows users to create an </a:t>
            </a:r>
            <a:r>
              <a:rPr lang="en-US" sz="1800" b="1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isolated copy (instance) of one or more applications, including their dependencies and deploy them on a host system. </a:t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368" name="Google Shape;368;p19" descr="dock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0472" y="2108051"/>
            <a:ext cx="5763511" cy="3992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Docker Desktop on Ubuntu</a:t>
            </a:r>
            <a:endParaRPr/>
          </a:p>
        </p:txBody>
      </p:sp>
      <p:sp>
        <p:nvSpPr>
          <p:cNvPr id="374" name="Google Shape;374;p20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75" name="Google Shape;375;p20"/>
          <p:cNvSpPr txBox="1"/>
          <p:nvPr/>
        </p:nvSpPr>
        <p:spPr>
          <a:xfrm>
            <a:off x="954246" y="1018408"/>
            <a:ext cx="10272859" cy="547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ancestor9@DESKTOP-LMLFU0S:~$ </a:t>
            </a:r>
            <a:r>
              <a:rPr lang="en-US" sz="1400" b="1">
                <a:solidFill>
                  <a:srgbClr val="FFFF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docker --version</a:t>
            </a:r>
            <a:endParaRPr sz="1400" b="1">
              <a:solidFill>
                <a:srgbClr val="FFFF0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Docker version 24.0.7, build afdd53b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ancestor9@DESKTOP-LMLFU0S:~$ </a:t>
            </a:r>
            <a:r>
              <a:rPr lang="en-US" sz="1400" b="1">
                <a:solidFill>
                  <a:srgbClr val="FFFF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sudo systemctl status docker</a:t>
            </a:r>
            <a:endParaRPr sz="1400" b="1">
              <a:solidFill>
                <a:srgbClr val="FFFF0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[sudo] password for ancestor9: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● docker.service - Docker Application Container Engine</a:t>
            </a:r>
            <a:endParaRPr sz="14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   Loaded: loaded (/lib/systemd/system/docker.service; enabled; vendor preset: enabled)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   Active: active (running) since Sat 2024-01-06 23:13:45 KST; 3h 9min ago</a:t>
            </a:r>
            <a:endParaRPr sz="14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ancestor9@DESKTOP-LMLFU0S:~$ </a:t>
            </a:r>
            <a:r>
              <a:rPr lang="en-US" sz="1400" b="1">
                <a:solidFill>
                  <a:srgbClr val="FFFF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sudo systemctl stop docker.socket</a:t>
            </a:r>
            <a:endParaRPr sz="1400" b="1">
              <a:solidFill>
                <a:srgbClr val="FFFF0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ancestor9@DESKTOP-LMLFU0S:~$  </a:t>
            </a:r>
            <a:r>
              <a:rPr lang="en-US" sz="1400" b="1">
                <a:solidFill>
                  <a:srgbClr val="FFFF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sudo systemctl status docker</a:t>
            </a:r>
            <a:endParaRPr sz="1400" b="1">
              <a:solidFill>
                <a:srgbClr val="FFFF0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○ docker.service - Docker Application Container Engine</a:t>
            </a:r>
            <a:endParaRPr sz="14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   Loaded: loaded (/lib/systemd/system/docker.service; enabled; vendor preset: enabled)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   Active: inactive (dead) since Sun 2024-01-07 02:24:43 KST; 51s ago</a:t>
            </a:r>
            <a:endParaRPr sz="14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ancestor9@DESKTOP-LMLFU0S:~$ </a:t>
            </a:r>
            <a:r>
              <a:rPr lang="en-US" sz="1400" b="1">
                <a:solidFill>
                  <a:srgbClr val="FFFF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docker version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Client: Docker Engine - Community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Version:           24.0.7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API version:       1.43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Go version:        go1.20.10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Git commit:        afdd53b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Built:             Thu Oct 26 09:07:41 2023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OS/Arch:           linux/amd64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Cannot connect to the Docker daemon at unix:///var/run/docker.sock. Is the docker daemon running?</a:t>
            </a:r>
            <a:endParaRPr sz="14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WSL2(Ubuntu)</a:t>
            </a:r>
            <a:endParaRPr/>
          </a:p>
        </p:txBody>
      </p:sp>
      <p:sp>
        <p:nvSpPr>
          <p:cNvPr id="381" name="Google Shape;381;p21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82" name="Google Shape;382;p21" descr="Architecture of Linux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8737" y="2279275"/>
            <a:ext cx="5254981" cy="3714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pic>
      <p:sp>
        <p:nvSpPr>
          <p:cNvPr id="383" name="Google Shape;383;p21"/>
          <p:cNvSpPr txBox="1"/>
          <p:nvPr/>
        </p:nvSpPr>
        <p:spPr>
          <a:xfrm>
            <a:off x="3379694" y="1580518"/>
            <a:ext cx="34424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Architecture of Linux system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WSL2(Ubuntu)</a:t>
            </a:r>
            <a:endParaRPr/>
          </a:p>
        </p:txBody>
      </p:sp>
      <p:sp>
        <p:nvSpPr>
          <p:cNvPr id="389" name="Google Shape;389;p22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90" name="Google Shape;390;p22" descr="Architecture of Linux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8990" y="1378754"/>
            <a:ext cx="5360892" cy="4380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3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Ubuntu-Run on shell mode</a:t>
            </a:r>
            <a:endParaRPr/>
          </a:p>
        </p:txBody>
      </p:sp>
      <p:sp>
        <p:nvSpPr>
          <p:cNvPr id="396" name="Google Shape;396;p23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97" name="Google Shape;397;p23"/>
          <p:cNvSpPr txBox="1"/>
          <p:nvPr/>
        </p:nvSpPr>
        <p:spPr>
          <a:xfrm>
            <a:off x="374807" y="1321647"/>
            <a:ext cx="11431738" cy="283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## C</a:t>
            </a:r>
            <a:r>
              <a:rPr lang="en-US" sz="1600" b="1">
                <a:solidFill>
                  <a:schemeClr val="lt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ontainer에 접속 (Ubuntu CLI)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PS C:\demo&gt; docker attach myubuntu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root@f74bd5d917e2:/#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root@f74bd5d917e2:~# la -al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F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total 16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F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drwx------ 2 root root 4096 Dec 11 14:08 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F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drwxr-xr-x 1 root root 4096 Dec 19 11:34 ..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F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-rw-r--r-- 1 root root 3106 Oct 15  2021 .bashrc</a:t>
            </a:r>
            <a:endParaRPr sz="1600">
              <a:solidFill>
                <a:srgbClr val="00B0F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F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-rw-r--r-- 1 root root  161 Jul  9  2019 .profile</a:t>
            </a:r>
            <a:endParaRPr/>
          </a:p>
        </p:txBody>
      </p:sp>
      <p:sp>
        <p:nvSpPr>
          <p:cNvPr id="398" name="Google Shape;398;p23"/>
          <p:cNvSpPr/>
          <p:nvPr/>
        </p:nvSpPr>
        <p:spPr>
          <a:xfrm>
            <a:off x="204476" y="2082344"/>
            <a:ext cx="2790033" cy="385482"/>
          </a:xfrm>
          <a:prstGeom prst="rect">
            <a:avLst/>
          </a:prstGeom>
          <a:noFill/>
          <a:ln w="15875" cap="rnd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399" name="Google Shape;399;p23" descr="Top 50+ Linux Commands You MUST Know | DigitalOcea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96553" y="2467826"/>
            <a:ext cx="5056094" cy="3370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4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407" name="Google Shape;407;p24"/>
          <p:cNvSpPr txBox="1">
            <a:spLocks noGrp="1"/>
          </p:cNvSpPr>
          <p:nvPr>
            <p:ph type="body" idx="1"/>
          </p:nvPr>
        </p:nvSpPr>
        <p:spPr>
          <a:xfrm>
            <a:off x="913795" y="1127463"/>
            <a:ext cx="10353761" cy="449091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6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10"/>
              <a:buChar char="◈"/>
            </a:pPr>
            <a:r>
              <a:rPr lang="en-US"/>
              <a:t>What is Data Engineering?</a:t>
            </a:r>
            <a:endParaRPr/>
          </a:p>
          <a:p>
            <a:pPr marL="342900" lvl="0" indent="-306000" algn="l" rtl="0">
              <a:lnSpc>
                <a:spcPct val="20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/>
              <a:t>Linux 개발환경</a:t>
            </a:r>
            <a:endParaRPr/>
          </a:p>
          <a:p>
            <a:pPr marL="342900" lvl="0" indent="-306000" algn="l" rtl="0">
              <a:lnSpc>
                <a:spcPct val="20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 b="1" u="sng">
                <a:solidFill>
                  <a:srgbClr val="FFFF00"/>
                </a:solidFill>
              </a:rPr>
              <a:t>Apache Airflow Container</a:t>
            </a:r>
            <a:endParaRPr/>
          </a:p>
        </p:txBody>
      </p:sp>
      <p:sp>
        <p:nvSpPr>
          <p:cNvPr id="408" name="Google Shape;408;p24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5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Apache Airflow Architecture</a:t>
            </a:r>
            <a:endParaRPr/>
          </a:p>
        </p:txBody>
      </p:sp>
      <p:sp>
        <p:nvSpPr>
          <p:cNvPr id="414" name="Google Shape;414;p25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415" name="Google Shape;41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4990" y="1357525"/>
            <a:ext cx="6633278" cy="4315197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5"/>
          <p:cNvSpPr txBox="1"/>
          <p:nvPr/>
        </p:nvSpPr>
        <p:spPr>
          <a:xfrm>
            <a:off x="2502767" y="5729094"/>
            <a:ext cx="609442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https://www.blef.fr/airflow-getting-started/</a:t>
            </a: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6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Apache airflow</a:t>
            </a:r>
            <a:endParaRPr/>
          </a:p>
        </p:txBody>
      </p:sp>
      <p:sp>
        <p:nvSpPr>
          <p:cNvPr id="422" name="Google Shape;422;p26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23" name="Google Shape;423;p26"/>
          <p:cNvSpPr txBox="1"/>
          <p:nvPr/>
        </p:nvSpPr>
        <p:spPr>
          <a:xfrm>
            <a:off x="733367" y="905522"/>
            <a:ext cx="11458633" cy="52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# </a:t>
            </a:r>
            <a:r>
              <a:rPr lang="en-US" sz="1800" b="1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https://airflow.apache.org/docs/apache-airflow/stable/howto/docker-compose/index.html</a:t>
            </a:r>
            <a:r>
              <a:rPr lang="en-US" sz="1800" b="1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root@f74bd5d917e2:~# apt-get update &amp;&amp; apt-get install -y curl</a:t>
            </a: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Get:1 http://archive.ubuntu.com/ubuntu jammy InRelease [270 kB]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Get:2 http://security.ubuntu.com/ubuntu jammy-security InRelease [110 kB]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Get:3 http://security.ubuntu.com/ubuntu jammy-security/universe amd64 Packages [1046 kB]</a:t>
            </a:r>
            <a:endParaRPr sz="1600">
              <a:solidFill>
                <a:srgbClr val="00B05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B05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root@f74bd5d917e2:~# curl -LfO 'https://airflow.apache.org/docs/apache-airflow/2.8.0/docker-compose.yaml’   # 오른쪽 마우스 클릭</a:t>
            </a: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% Total    % Received % Xferd  Average Speed   Time    Time     Time  Current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                               Dload  Upload   Total   Spent    Left  Speed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100 10940  100 10940    0     0  22708      0 --:--:-- --:--:-- --:--:-- 22744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B05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root@f74bd5d917e2:~# ls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docker-compose.yaml</a:t>
            </a:r>
            <a:endParaRPr/>
          </a:p>
        </p:txBody>
      </p:sp>
      <p:pic>
        <p:nvPicPr>
          <p:cNvPr id="424" name="Google Shape;424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5083" y="1288793"/>
            <a:ext cx="6355134" cy="1703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7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Apache airflow</a:t>
            </a:r>
            <a:endParaRPr/>
          </a:p>
        </p:txBody>
      </p:sp>
      <p:sp>
        <p:nvSpPr>
          <p:cNvPr id="430" name="Google Shape;430;p27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31" name="Google Shape;431;p27"/>
          <p:cNvSpPr txBox="1"/>
          <p:nvPr/>
        </p:nvSpPr>
        <p:spPr>
          <a:xfrm>
            <a:off x="733367" y="905522"/>
            <a:ext cx="11458633" cy="501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root@f74bd5d917e2:~# mkdir -p ./dags ./logs ./plugins ./config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root@f74bd5d917e2:~# echo -e "AIRFLOW_UID=$(id -u)" &gt; .en</a:t>
            </a: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root@f74bd5d917e2:~# ls -al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total 48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drwx------ 1 root root  4096 Dec 19 13:29 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drwxr-xr-x 1 root root  4096 Dec 19 11:34 ..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-rw-r--r-- 1 root root  3106 Oct 15  2021 .bashrc</a:t>
            </a:r>
            <a:endParaRPr sz="1600">
              <a:solidFill>
                <a:srgbClr val="00B05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-rw-r--r-- 1 root root    14 Dec 19 13:29 .en</a:t>
            </a:r>
            <a:endParaRPr sz="1600">
              <a:solidFill>
                <a:srgbClr val="00B05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-rw-r--r-- 1 root root   161 Jul  9  2019 .profile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drwxr-xr-x 2 root root  4096 Dec 19 13:29 config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drwxr-xr-x 2 root root  4096 Dec 19 13:29 dags</a:t>
            </a:r>
            <a:endParaRPr sz="1600">
              <a:solidFill>
                <a:srgbClr val="00B05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-rw-r--r-- 1 root root 10940 Dec 19 13:23 docker-compose.yaml</a:t>
            </a:r>
            <a:endParaRPr sz="1600">
              <a:solidFill>
                <a:srgbClr val="00B05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drwxr-xr-x 2 root root  4096 Dec 19 13:29 logs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drwxr-xr-x 2 root root  4096 Dec 19 13:29 plugins</a:t>
            </a:r>
            <a:endParaRPr sz="1600">
              <a:solidFill>
                <a:srgbClr val="00B05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root@f74bd5d917e2:~# AIRFLOW_UID=50000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PS C:\demo&gt; docker compose up airflow-init</a:t>
            </a: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[+] Running 39/45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- postgres 13 layers [⣿⣿⣿⣿⣿⣿⣿⠀⣿⣿⣿⠀⠀] 526.7kB/106.5MB Pulling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8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Apache airflow</a:t>
            </a:r>
            <a:endParaRPr/>
          </a:p>
        </p:txBody>
      </p:sp>
      <p:sp>
        <p:nvSpPr>
          <p:cNvPr id="437" name="Google Shape;437;p28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38" name="Google Shape;438;p28"/>
          <p:cNvSpPr txBox="1"/>
          <p:nvPr/>
        </p:nvSpPr>
        <p:spPr>
          <a:xfrm>
            <a:off x="733367" y="905522"/>
            <a:ext cx="11458633" cy="501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root@f74bd5d917e2:~# mkdir -p ./dags ./logs ./plugins ./config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root@f74bd5d917e2:~# echo -e "AIRFLOW_UID=$(id -u)" &gt; .en</a:t>
            </a: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root@f74bd5d917e2:~# ls -al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total 48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drwx------ 1 root root  4096 Dec 19 13:29 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drwxr-xr-x 1 root root  4096 Dec 19 11:34 ..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-rw-r--r-- 1 root root  3106 Oct 15  2021 .bashrc</a:t>
            </a:r>
            <a:endParaRPr sz="1600">
              <a:solidFill>
                <a:srgbClr val="00B05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-rw-r--r-- 1 root root    14 Dec 19 13:29 .en</a:t>
            </a:r>
            <a:endParaRPr sz="1600">
              <a:solidFill>
                <a:srgbClr val="00B05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-rw-r--r-- 1 root root   161 Jul  9  2019 .profile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drwxr-xr-x 2 root root  4096 Dec 19 13:29 config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drwxr-xr-x 2 root root  4096 Dec 19 13:29 dags</a:t>
            </a:r>
            <a:endParaRPr sz="1600">
              <a:solidFill>
                <a:srgbClr val="00B05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-rw-r--r-- 1 root root 10940 Dec 19 13:23 docker-compose.yaml</a:t>
            </a:r>
            <a:endParaRPr sz="1600">
              <a:solidFill>
                <a:srgbClr val="00B05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drwxr-xr-x 2 root root  4096 Dec 19 13:29 logs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drwxr-xr-x 2 root root  4096 Dec 19 13:29 plugins</a:t>
            </a:r>
            <a:endParaRPr sz="1600">
              <a:solidFill>
                <a:srgbClr val="00B05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root@f74bd5d917e2:~# AIRFLOW_UID=50000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PS C:\demo&gt; docker compose up airflow-init</a:t>
            </a: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[+] Running 39/45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B05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- postgres 13 layers [⣿⣿⣿⣿⣿⣿⣿⠀⣿⣿⣿⠀⠀] 526.7kB/106.5MB Pulling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Apache airflow</a:t>
            </a:r>
            <a:endParaRPr/>
          </a:p>
        </p:txBody>
      </p:sp>
      <p:sp>
        <p:nvSpPr>
          <p:cNvPr id="444" name="Google Shape;444;p29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45" name="Google Shape;445;p29"/>
          <p:cNvSpPr txBox="1"/>
          <p:nvPr/>
        </p:nvSpPr>
        <p:spPr>
          <a:xfrm>
            <a:off x="733367" y="905522"/>
            <a:ext cx="11458633" cy="501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# docker-compose.yml</a:t>
            </a:r>
            <a:endParaRPr sz="18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C:/&gt; docker –v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C:/&gt; docker-compose –v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# creat the ‘docker-compose.yaml’ file that defines multiple services like server, scheduler and worker in the corresponding folder.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https://airflow.apache.org/docs/apache-airflow/2.5.1/docker-compose.yaml</a:t>
            </a: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# docker-compose는 yaml file로 multi container 관리할 수 있는 client이고 명령어를 적어서 컨테이너를 정의하고 관리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# 동일한 dir에 ‘.env’라는 파일안에 AIRFLOW_UID = 50000 내용으로 작성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# Configuration to perform initialization tasks such as creating the necessary data tables, default users and setting up other configurations required to run Apache Airflow.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C:\demo&gt;docker-compose up airflow-init</a:t>
            </a: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C:\demo&gt;docker-compose up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8230205" y="720856"/>
            <a:ext cx="3495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https://it-is-my-life.tistory.com/21</a:t>
            </a: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 sz="14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Apache airflow</a:t>
            </a:r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453" name="Google Shape;45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459" y="1062533"/>
            <a:ext cx="5217459" cy="2121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2918" y="834846"/>
            <a:ext cx="4231564" cy="23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6558" y="3341513"/>
            <a:ext cx="7948054" cy="296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1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Apache airflow</a:t>
            </a:r>
            <a:endParaRPr/>
          </a:p>
        </p:txBody>
      </p:sp>
      <p:sp>
        <p:nvSpPr>
          <p:cNvPr id="461" name="Google Shape;461;p31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462" name="Google Shape;46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462" y="2943174"/>
            <a:ext cx="514350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8476" y="2943174"/>
            <a:ext cx="32289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1"/>
          <p:cNvSpPr txBox="1"/>
          <p:nvPr/>
        </p:nvSpPr>
        <p:spPr>
          <a:xfrm>
            <a:off x="7538476" y="2430908"/>
            <a:ext cx="35948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DAG(Directed Acyclic Graph)</a:t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65" name="Google Shape;465;p31"/>
          <p:cNvSpPr txBox="1"/>
          <p:nvPr/>
        </p:nvSpPr>
        <p:spPr>
          <a:xfrm>
            <a:off x="2313974" y="2430908"/>
            <a:ext cx="2912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Negative Graph</a:t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66" name="Google Shape;466;p31"/>
          <p:cNvSpPr txBox="1"/>
          <p:nvPr/>
        </p:nvSpPr>
        <p:spPr>
          <a:xfrm>
            <a:off x="840462" y="5564924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https://steemit.com/dag/@cryptodreamers/dag-dag-directed-acyclic-graph</a:t>
            </a: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</p:txBody>
      </p:sp>
      <p:sp>
        <p:nvSpPr>
          <p:cNvPr id="467" name="Google Shape;467;p31"/>
          <p:cNvSpPr txBox="1"/>
          <p:nvPr/>
        </p:nvSpPr>
        <p:spPr>
          <a:xfrm>
            <a:off x="700368" y="905522"/>
            <a:ext cx="1056718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Directed Acyclic Graph (DAG) </a:t>
            </a: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is a </a:t>
            </a:r>
            <a:r>
              <a:rPr lang="en-US" sz="18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directed graph</a:t>
            </a: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 with no </a:t>
            </a:r>
            <a:r>
              <a:rPr lang="en-US" sz="18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directed cycles</a:t>
            </a: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 That is, it consists of </a:t>
            </a:r>
            <a:r>
              <a:rPr lang="en-US" sz="18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vertices</a:t>
            </a: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 and </a:t>
            </a:r>
            <a:r>
              <a:rPr lang="en-US" sz="18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edges</a:t>
            </a: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 (also called arcs), with each edge directed from one vertex to another, such that following those directions will never form a closed loop.</a:t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2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Apache airflow</a:t>
            </a:r>
            <a:endParaRPr/>
          </a:p>
        </p:txBody>
      </p:sp>
      <p:sp>
        <p:nvSpPr>
          <p:cNvPr id="473" name="Google Shape;473;p32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474" name="Google Shape;47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935" y="2131689"/>
            <a:ext cx="9983400" cy="3777786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2"/>
          <p:cNvSpPr/>
          <p:nvPr/>
        </p:nvSpPr>
        <p:spPr>
          <a:xfrm>
            <a:off x="645459" y="1013011"/>
            <a:ext cx="1792941" cy="932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Names of registered workflows</a:t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76" name="Google Shape;476;p32"/>
          <p:cNvCxnSpPr>
            <a:stCxn id="477" idx="0"/>
            <a:endCxn id="475" idx="2"/>
          </p:cNvCxnSpPr>
          <p:nvPr/>
        </p:nvCxnSpPr>
        <p:spPr>
          <a:xfrm rot="5400000" flipH="1">
            <a:off x="-145837" y="3633088"/>
            <a:ext cx="3594900" cy="21930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8" name="Google Shape;478;p32"/>
          <p:cNvSpPr/>
          <p:nvPr/>
        </p:nvSpPr>
        <p:spPr>
          <a:xfrm>
            <a:off x="3370601" y="1263110"/>
            <a:ext cx="1610009" cy="582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Workflow Schedules</a:t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79" name="Google Shape;479;p32"/>
          <p:cNvCxnSpPr>
            <a:stCxn id="480" idx="0"/>
            <a:endCxn id="478" idx="2"/>
          </p:cNvCxnSpPr>
          <p:nvPr/>
        </p:nvCxnSpPr>
        <p:spPr>
          <a:xfrm rot="5400000" flipH="1">
            <a:off x="2868981" y="3152463"/>
            <a:ext cx="3681300" cy="106830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1" name="Google Shape;481;p32"/>
          <p:cNvSpPr/>
          <p:nvPr/>
        </p:nvSpPr>
        <p:spPr>
          <a:xfrm>
            <a:off x="6096000" y="1319968"/>
            <a:ext cx="2497615" cy="582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State of workflow tasks from recent runs</a:t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82" name="Google Shape;482;p32"/>
          <p:cNvCxnSpPr>
            <a:stCxn id="483" idx="0"/>
            <a:endCxn id="481" idx="2"/>
          </p:cNvCxnSpPr>
          <p:nvPr/>
        </p:nvCxnSpPr>
        <p:spPr>
          <a:xfrm rot="5400000" flipH="1">
            <a:off x="6251379" y="2996094"/>
            <a:ext cx="3626400" cy="143940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7" name="Google Shape;477;p32"/>
          <p:cNvSpPr/>
          <p:nvPr/>
        </p:nvSpPr>
        <p:spPr>
          <a:xfrm>
            <a:off x="644854" y="5540188"/>
            <a:ext cx="2232817" cy="496073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0" name="Google Shape;480;p32"/>
          <p:cNvSpPr/>
          <p:nvPr/>
        </p:nvSpPr>
        <p:spPr>
          <a:xfrm>
            <a:off x="4818227" y="5527263"/>
            <a:ext cx="851108" cy="508998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7590840" y="5528994"/>
            <a:ext cx="2386877" cy="496073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4626" y="1922317"/>
            <a:ext cx="8154446" cy="337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1183" y="1928926"/>
            <a:ext cx="3583929" cy="3362569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3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Apache airflow</a:t>
            </a:r>
            <a:endParaRPr/>
          </a:p>
        </p:txBody>
      </p:sp>
      <p:sp>
        <p:nvSpPr>
          <p:cNvPr id="491" name="Google Shape;491;p33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492" name="Google Shape;492;p33"/>
          <p:cNvSpPr/>
          <p:nvPr/>
        </p:nvSpPr>
        <p:spPr>
          <a:xfrm>
            <a:off x="1681183" y="1083084"/>
            <a:ext cx="1407459" cy="932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All runs of one task</a:t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93" name="Google Shape;493;p33"/>
          <p:cNvCxnSpPr>
            <a:stCxn id="494" idx="1"/>
            <a:endCxn id="492" idx="3"/>
          </p:cNvCxnSpPr>
          <p:nvPr/>
        </p:nvCxnSpPr>
        <p:spPr>
          <a:xfrm rot="10800000">
            <a:off x="3088624" y="1549165"/>
            <a:ext cx="1375800" cy="2193600"/>
          </a:xfrm>
          <a:prstGeom prst="curvedConnector3">
            <a:avLst>
              <a:gd name="adj1" fmla="val 49999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4" name="Google Shape;494;p33"/>
          <p:cNvSpPr/>
          <p:nvPr/>
        </p:nvSpPr>
        <p:spPr>
          <a:xfrm>
            <a:off x="4464424" y="3621742"/>
            <a:ext cx="770964" cy="24204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5" name="Google Shape;495;p33"/>
          <p:cNvSpPr/>
          <p:nvPr/>
        </p:nvSpPr>
        <p:spPr>
          <a:xfrm>
            <a:off x="4939253" y="3636733"/>
            <a:ext cx="287170" cy="176604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6" name="Google Shape;496;p33"/>
          <p:cNvSpPr/>
          <p:nvPr/>
        </p:nvSpPr>
        <p:spPr>
          <a:xfrm>
            <a:off x="4479021" y="4280704"/>
            <a:ext cx="268948" cy="2420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6786284" y="5402777"/>
            <a:ext cx="1255059" cy="932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One run of a workflow</a:t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98" name="Google Shape;498;p33"/>
          <p:cNvCxnSpPr>
            <a:stCxn id="495" idx="2"/>
            <a:endCxn id="497" idx="1"/>
          </p:cNvCxnSpPr>
          <p:nvPr/>
        </p:nvCxnSpPr>
        <p:spPr>
          <a:xfrm rot="-5400000" flipH="1">
            <a:off x="5701438" y="4784177"/>
            <a:ext cx="466200" cy="1703400"/>
          </a:xfrm>
          <a:prstGeom prst="curvedConnector2">
            <a:avLst/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9" name="Google Shape;499;p33"/>
          <p:cNvSpPr/>
          <p:nvPr/>
        </p:nvSpPr>
        <p:spPr>
          <a:xfrm>
            <a:off x="1815503" y="5308751"/>
            <a:ext cx="1255059" cy="932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State of a single task</a:t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500" name="Google Shape;500;p33"/>
          <p:cNvCxnSpPr>
            <a:stCxn id="499" idx="3"/>
            <a:endCxn id="496" idx="1"/>
          </p:cNvCxnSpPr>
          <p:nvPr/>
        </p:nvCxnSpPr>
        <p:spPr>
          <a:xfrm rot="10800000" flipH="1">
            <a:off x="3070562" y="4401816"/>
            <a:ext cx="1408500" cy="1373100"/>
          </a:xfrm>
          <a:prstGeom prst="curvedConnector3">
            <a:avLst>
              <a:gd name="adj1" fmla="val 49999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4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Backfilling</a:t>
            </a:r>
            <a:endParaRPr/>
          </a:p>
        </p:txBody>
      </p:sp>
      <p:sp>
        <p:nvSpPr>
          <p:cNvPr id="506" name="Google Shape;506;p34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507" name="Google Shape;50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1575" y="3557954"/>
            <a:ext cx="4619625" cy="1894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8651" y="3534269"/>
            <a:ext cx="4077540" cy="191785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4"/>
          <p:cNvSpPr txBox="1"/>
          <p:nvPr/>
        </p:nvSpPr>
        <p:spPr>
          <a:xfrm>
            <a:off x="537882" y="905522"/>
            <a:ext cx="11152093" cy="157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DAG가 이미 배포되어 실행 중이며 해당 DAG를 사용하여 DAG의 시작 날짜 이전에 데이터 처리 경우</a:t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Backfill은 지정한 기간동안 DAG 다시 재시작, 지정한 기간동안 전체 재시작, 지정한 기간 지정한 상태 동안 전체 재시작을 지정 하여 사용이 가능</a:t>
            </a:r>
            <a:endParaRPr sz="1600" b="0" i="0" u="none" strike="noStrike" cap="non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과거 주가데이터를 다시 수집하는 경우</a:t>
            </a:r>
            <a:endParaRPr/>
          </a:p>
        </p:txBody>
      </p:sp>
      <p:cxnSp>
        <p:nvCxnSpPr>
          <p:cNvPr id="510" name="Google Shape;510;p34"/>
          <p:cNvCxnSpPr/>
          <p:nvPr/>
        </p:nvCxnSpPr>
        <p:spPr>
          <a:xfrm>
            <a:off x="6113928" y="4365812"/>
            <a:ext cx="57374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5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Digress: Apache NIFI</a:t>
            </a:r>
            <a:endParaRPr/>
          </a:p>
        </p:txBody>
      </p:sp>
      <p:sp>
        <p:nvSpPr>
          <p:cNvPr id="516" name="Google Shape;516;p35"/>
          <p:cNvSpPr txBox="1">
            <a:spLocks noGrp="1"/>
          </p:cNvSpPr>
          <p:nvPr>
            <p:ph type="sldNum" idx="12"/>
          </p:nvPr>
        </p:nvSpPr>
        <p:spPr>
          <a:xfrm>
            <a:off x="10514011" y="6036261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517" name="Google Shape;517;p35"/>
          <p:cNvSpPr txBox="1"/>
          <p:nvPr/>
        </p:nvSpPr>
        <p:spPr>
          <a:xfrm>
            <a:off x="6490446" y="1388882"/>
            <a:ext cx="496644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C:\demo&gt;docker-compose -p myproject up</a:t>
            </a: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C:\demo&gt;docker ps # process status</a:t>
            </a: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18" name="Google Shape;518;p35"/>
          <p:cNvSpPr txBox="1"/>
          <p:nvPr/>
        </p:nvSpPr>
        <p:spPr>
          <a:xfrm>
            <a:off x="1127815" y="1285788"/>
            <a:ext cx="5766044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# Create ‘docker-compose.yml’ as follows;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version: '3'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services: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nifi: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  image: apache/nifi:latest</a:t>
            </a: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  ports: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    - "8080:8080"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  volumes: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    - ./nifi-data:/opt/nifi/nifi-current/conf</a:t>
            </a:r>
            <a:endParaRPr sz="16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  environment: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    - NIFI_WEB_HTTP_PORT=8080</a:t>
            </a:r>
            <a:endParaRPr/>
          </a:p>
        </p:txBody>
      </p:sp>
      <p:pic>
        <p:nvPicPr>
          <p:cNvPr id="519" name="Google Shape;519;p35" descr="Apache Nifi란?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29520" y="139083"/>
            <a:ext cx="1895238" cy="79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ateVTI">
  <a:themeElements>
    <a:clrScheme name="Coffee">
      <a:dk1>
        <a:srgbClr val="000000"/>
      </a:dk1>
      <a:lt1>
        <a:srgbClr val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1839</Words>
  <Application>Microsoft Office PowerPoint</Application>
  <PresentationFormat>와이드스크린</PresentationFormat>
  <Paragraphs>339</Paragraphs>
  <Slides>35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5" baseType="lpstr">
      <vt:lpstr>Sorts Mill Goudy</vt:lpstr>
      <vt:lpstr>Noto Sans Symbols</vt:lpstr>
      <vt:lpstr>Inter</vt:lpstr>
      <vt:lpstr>Arial Black</vt:lpstr>
      <vt:lpstr>Ubuntu Condensed</vt:lpstr>
      <vt:lpstr>Calibri</vt:lpstr>
      <vt:lpstr>Arial</vt:lpstr>
      <vt:lpstr>Times New Roman</vt:lpstr>
      <vt:lpstr>Batang</vt:lpstr>
      <vt:lpstr>SlateVTI</vt:lpstr>
      <vt:lpstr>Data Engineering with Apache Airflow </vt:lpstr>
      <vt:lpstr>Contents</vt:lpstr>
      <vt:lpstr>Who is a Data Engineer? which skill required?</vt:lpstr>
      <vt:lpstr>A Day in the Life of a Data Engineer</vt:lpstr>
      <vt:lpstr>Modern data platform Architecture</vt:lpstr>
      <vt:lpstr>Modern data platform Architecture</vt:lpstr>
      <vt:lpstr>LAPM; Web/Server Programing</vt:lpstr>
      <vt:lpstr>LAPM; Web/Server Programing</vt:lpstr>
      <vt:lpstr>LAPM; Web/Server Programing</vt:lpstr>
      <vt:lpstr>Web Service Architecture</vt:lpstr>
      <vt:lpstr>Modern S/W Architecture</vt:lpstr>
      <vt:lpstr>What is Data Engineering?</vt:lpstr>
      <vt:lpstr>Data Orchestration Tools: Ultimate Review </vt:lpstr>
      <vt:lpstr>What Are Common Data Engineering Skills?</vt:lpstr>
      <vt:lpstr>Contents</vt:lpstr>
      <vt:lpstr>개발 환경 구성도</vt:lpstr>
      <vt:lpstr>Docker start / stop on WSL2</vt:lpstr>
      <vt:lpstr>최종 개발환경</vt:lpstr>
      <vt:lpstr>Docker on WSL2(Ubuntu)</vt:lpstr>
      <vt:lpstr>Docker Desktop on Ubuntu</vt:lpstr>
      <vt:lpstr>WSL2(Ubuntu)</vt:lpstr>
      <vt:lpstr>WSL2(Ubuntu)</vt:lpstr>
      <vt:lpstr>Ubuntu-Run on shell mode</vt:lpstr>
      <vt:lpstr>Contents</vt:lpstr>
      <vt:lpstr>Apache Airflow Architecture</vt:lpstr>
      <vt:lpstr>Apache airflow</vt:lpstr>
      <vt:lpstr>Apache airflow</vt:lpstr>
      <vt:lpstr>Apache airflow</vt:lpstr>
      <vt:lpstr>Apache airflow</vt:lpstr>
      <vt:lpstr>Apache airflow</vt:lpstr>
      <vt:lpstr>Apache airflow</vt:lpstr>
      <vt:lpstr>Apache airflow</vt:lpstr>
      <vt:lpstr>Apache airflow</vt:lpstr>
      <vt:lpstr>Backfilling</vt:lpstr>
      <vt:lpstr>Digress: Apache NIFI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Sanggoo Cho</dc:creator>
  <cp:lastModifiedBy>조상구</cp:lastModifiedBy>
  <cp:revision>1</cp:revision>
  <dcterms:created xsi:type="dcterms:W3CDTF">2023-11-06T08:03:36Z</dcterms:created>
  <dcterms:modified xsi:type="dcterms:W3CDTF">2026-08-20T01:01:03Z</dcterms:modified>
</cp:coreProperties>
</file>