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1136" r:id="rId3"/>
    <p:sldId id="1264" r:id="rId4"/>
    <p:sldId id="1278" r:id="rId5"/>
    <p:sldId id="1280" r:id="rId6"/>
    <p:sldId id="1281" r:id="rId7"/>
    <p:sldId id="1282" r:id="rId8"/>
    <p:sldId id="1279" r:id="rId9"/>
    <p:sldId id="1263" r:id="rId10"/>
    <p:sldId id="1265" r:id="rId11"/>
    <p:sldId id="1266" r:id="rId12"/>
    <p:sldId id="1268" r:id="rId13"/>
    <p:sldId id="1267" r:id="rId14"/>
    <p:sldId id="1269" r:id="rId15"/>
    <p:sldId id="1277" r:id="rId16"/>
    <p:sldId id="1271" r:id="rId17"/>
    <p:sldId id="1272" r:id="rId18"/>
    <p:sldId id="1273" r:id="rId19"/>
    <p:sldId id="1274" r:id="rId20"/>
    <p:sldId id="1275" r:id="rId21"/>
    <p:sldId id="1276" r:id="rId2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264"/>
            <p14:sldId id="1278"/>
            <p14:sldId id="1280"/>
            <p14:sldId id="1281"/>
            <p14:sldId id="1282"/>
            <p14:sldId id="1279"/>
            <p14:sldId id="1263"/>
            <p14:sldId id="1265"/>
            <p14:sldId id="1266"/>
            <p14:sldId id="1268"/>
            <p14:sldId id="1267"/>
            <p14:sldId id="1269"/>
            <p14:sldId id="1277"/>
            <p14:sldId id="1271"/>
            <p14:sldId id="1272"/>
            <p14:sldId id="1273"/>
            <p14:sldId id="1274"/>
            <p14:sldId id="1275"/>
            <p14:sldId id="127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845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2026-08-19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4A73-0DF4-6018-8EC1-E24C2C44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A6BCE8-90AA-D178-6A22-9999B9230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33456C-38C3-CF65-F3B2-46F4EC8C5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18726D-52B0-5BA3-FE58-E58B4A5D1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6726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0DC5-1957-DE85-6D97-FA9D8164D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662B04-5920-3048-B2C1-4C57638D9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97B99-D6AA-7D2D-A343-24D83D9A7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1EA3A-652D-6075-B830-98ABE8724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7981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1B78-5575-88F8-0A7E-E53379AF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50F36F-171E-36E5-3DAF-9968D8C25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FFA43C-EDDB-96A5-0C73-7E04FD414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FA5DC-B20D-0A3E-0B35-F0C9FEE2A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12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2026-08-19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2026-08-19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hackjsp.tistory.com/72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features/codespaces" TargetMode="Externa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 Deployment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5CA11-BB27-9F61-9705-232FBA299991}"/>
              </a:ext>
            </a:extLst>
          </p:cNvPr>
          <p:cNvSpPr txBox="1"/>
          <p:nvPr/>
        </p:nvSpPr>
        <p:spPr>
          <a:xfrm>
            <a:off x="981074" y="1746840"/>
            <a:ext cx="9848333" cy="336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/GitHub 기본기(계정 생성,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설치, GitHub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익혀 코드를 버전 관리하고 원격 저장소에 올리기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CI/CD 개념과 GitHub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실습(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예제)하여, 코드 변경이 자동으로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테스트·배포되는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파이프라인을 구축하기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애플리케이션을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컨테이너화하여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배포하는 법을 익혀, 로컬 개발부터 자동화된 배포까지 전체 흐름을 실전으로 완성</a:t>
            </a: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D502D8-2161-F2CC-62B6-823679B5CD6C}"/>
              </a:ext>
            </a:extLst>
          </p:cNvPr>
          <p:cNvSpPr/>
          <p:nvPr/>
        </p:nvSpPr>
        <p:spPr>
          <a:xfrm>
            <a:off x="628650" y="5019675"/>
            <a:ext cx="10200757" cy="561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903285" y="1619250"/>
            <a:ext cx="10669590" cy="4447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your own GitHub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Install git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Install GitHub Desktop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CI(Continuous Integration)/CD(Continuous Delivery / Deployment)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Virtual Environment + Cline(Option)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Client-Server Architecture (request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&lt;-&gt; response)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 Actions Exercise (python +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sapce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Deployment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D940-69A6-74AE-2745-A1922822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93DBC-52DB-BF95-C9AE-3B5D294F4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 fontScale="90000"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CI(Continuously Integration)/CD(Continuously Deployment)</a:t>
            </a:r>
            <a:br>
              <a:rPr lang="en-US" altLang="ko-KR" sz="5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59DA375E-6466-65EA-0528-D944F2783957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724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AF17-6037-9EA5-051E-DBDC682E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E9C33A6-1C08-09C3-D900-2F4DB72A874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CI/CD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24145-BCCC-D9F5-36E5-508073DCA78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419CAB2-ED92-D3C0-15FD-3C00D72E087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E7CD2-9D03-53B2-4785-3198DF0BE569}"/>
              </a:ext>
            </a:extLst>
          </p:cNvPr>
          <p:cNvSpPr txBox="1"/>
          <p:nvPr/>
        </p:nvSpPr>
        <p:spPr>
          <a:xfrm>
            <a:off x="600075" y="1513147"/>
            <a:ext cx="110109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CI(Continuously Integration)</a:t>
            </a:r>
          </a:p>
          <a:p>
            <a:pPr algn="l">
              <a:spcAft>
                <a:spcPts val="1200"/>
              </a:spcAft>
              <a:buNone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애플리케이션에 대한 새로운 코드 변경 사항이 정기적으로 빌드 및 테스트되어 공유 </a:t>
            </a:r>
            <a:r>
              <a:rPr lang="ko-KR" altLang="en-US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리포지토리에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통합하는 것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CD(Continuously Deployment)</a:t>
            </a:r>
          </a:p>
          <a:p>
            <a:pPr algn="l">
              <a:spcAft>
                <a:spcPts val="1200"/>
              </a:spcAft>
              <a:buNone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개발자의 변경 사항을 </a:t>
            </a:r>
            <a:r>
              <a:rPr lang="ko-KR" altLang="en-US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리포지토리에서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고객이 사용 가능한 프로덕션 환경까지 자동으로 </a:t>
            </a:r>
            <a:r>
              <a:rPr lang="ko-KR" altLang="en-US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릴리스하는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것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ko-KR" sz="16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Action</a:t>
            </a:r>
          </a:p>
          <a:p>
            <a:pPr algn="l">
              <a:spcAft>
                <a:spcPts val="1200"/>
              </a:spcAft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Git Repo 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프로젝트의 빌드 테스트 및 배포 파이프라인을 자동화할 수 있는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CI/CD 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플랫폼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AWS </a:t>
            </a:r>
            <a:r>
              <a:rPr lang="en-US" altLang="ko-KR" sz="16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CodePipline</a:t>
            </a:r>
            <a:endParaRPr lang="en-US" altLang="ko-KR" sz="1600" b="1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spcAft>
                <a:spcPts val="1200"/>
              </a:spcAft>
              <a:buNone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소스의 변화를 감지하고 빌드한 다음 배포를 하는 과정을 자동으로 수행할 수 있게 하는 서비스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AWS </a:t>
            </a:r>
            <a:r>
              <a:rPr lang="en-US" altLang="ko-KR" sz="16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CodeDeploy</a:t>
            </a:r>
            <a:endParaRPr lang="en-US" altLang="ko-KR" sz="1600" b="1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CodePipeLine</a:t>
            </a: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배포 단계에서 선택하는 배포 제공자 서비스</a:t>
            </a:r>
          </a:p>
        </p:txBody>
      </p:sp>
    </p:spTree>
    <p:extLst>
      <p:ext uri="{BB962C8B-B14F-4D97-AF65-F5344CB8AC3E}">
        <p14:creationId xmlns:p14="http://schemas.microsoft.com/office/powerpoint/2010/main" val="4082462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0D39-B6CD-12C4-BECD-2153B8F92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8C249F-10DF-0040-36C9-6D142ED868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CI/CD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A8C65D-B519-F9CA-DF47-D992636AD5F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AE9F07E-6AAB-D715-16AE-BAA6F032BBF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124" name="Picture 4" descr="GitHub - y005/ci-cd-example: CI/CD 구축 예제 프로젝트입니다. · GitHub">
            <a:extLst>
              <a:ext uri="{FF2B5EF4-FFF2-40B4-BE49-F238E27FC236}">
                <a16:creationId xmlns:a16="http://schemas.microsoft.com/office/drawing/2014/main" id="{F657A9B5-2BBF-9C4A-8F3B-D91E0AE7A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406" y="2019300"/>
            <a:ext cx="7610475" cy="380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941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934A-1284-D4DD-6ACC-1F5687EA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07E434A-C8A5-F322-E645-CE87E3E759B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MLops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E3FC5D2-AE61-6B56-9347-8C4E235669C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128" name="Picture 8" descr="DTU-MLOps">
            <a:extLst>
              <a:ext uri="{FF2B5EF4-FFF2-40B4-BE49-F238E27FC236}">
                <a16:creationId xmlns:a16="http://schemas.microsoft.com/office/drawing/2014/main" id="{096B3358-EBF4-CD3E-6451-C6D400242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406" y="2019300"/>
            <a:ext cx="8752462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93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36DA9-1569-BFD3-4F30-D9021E5D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1BBDA-8ADF-7356-F8A1-A2147D60F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 Actions Exercise 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(python + </a:t>
            </a:r>
            <a:r>
              <a:rPr lang="en-US" altLang="ko-KR" sz="3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3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3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sapce</a:t>
            </a:r>
            <a: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5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8550AF3-DDF2-1E10-E992-83BF722E9B73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4791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84553-1240-F4AB-5C9A-FF6A74293622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Github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 Actions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기본 사용 방법 및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CI/CD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워크플로우 구성하기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(Virtual Environment)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8D85BC-4D9F-B91C-3041-7AA66F21C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195" y="2458880"/>
            <a:ext cx="4056430" cy="3265645"/>
          </a:xfrm>
          <a:prstGeom prst="rect">
            <a:avLst/>
          </a:prstGeom>
        </p:spPr>
      </p:pic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C1D71D42-D86C-CD8D-0A44-CBB293213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8B7A-DB89-FE54-0CAC-B383B9C9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7C9541-25DE-D61B-075D-D5726EE80C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deploy.yml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FAF6E-9718-5E48-D104-52F4CB05D21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F58C93-CFF4-FCA6-E9D0-DF153293F01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DB55D-0615-F477-52F2-18CE5A65581B}"/>
              </a:ext>
            </a:extLst>
          </p:cNvPr>
          <p:cNvSpPr txBox="1"/>
          <p:nvPr/>
        </p:nvSpPr>
        <p:spPr>
          <a:xfrm>
            <a:off x="571500" y="1248422"/>
            <a:ext cx="100203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 to Hugging Face Spaces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branches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runs-on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ubuntu-latest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steps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Checkout repository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actions/checkout@v4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fetch-depth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 to Hugging Face Space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env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HF_TOKEN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${{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git config --global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config --global user.name "GitHub Actions"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remote add space https://user:$HF_TOKEN@huggingface.co/spaces/ancestor9/my-first-gradio-app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push --force space 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FCC6A42-2846-6649-9444-F49337181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22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0BBE-3BED-8702-F3E1-32B1EF4B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8B3D03-9960-6D7D-8CE3-BAC50D3E21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D2030-8F27-04B4-FDF0-BCBAF56618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D283702-3058-8EAB-4AA6-37099308AF6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97C6-46E6-C890-7A8F-812E312570AA}"/>
              </a:ext>
            </a:extLst>
          </p:cNvPr>
          <p:cNvSpPr txBox="1"/>
          <p:nvPr/>
        </p:nvSpPr>
        <p:spPr>
          <a:xfrm>
            <a:off x="1386423" y="1514207"/>
            <a:ext cx="6462178" cy="462030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My First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App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emoji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🚀</a:t>
            </a:r>
            <a:endParaRPr lang="ko-KR" altLang="en-US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blue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green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sdk_version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app_file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app.py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간단한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인터페이스 예제입니다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3F0788F6-5895-75ED-17B6-3C8A2C2F0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4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DC86-0CC8-A417-F58C-22184A0B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EA4143-A38E-0CD8-6467-5120CDAC98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requirements.txt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D02E-46E6-2C5A-1B01-B09188AFCC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22C5B0-A438-DC35-9FFE-74C8EABCDBB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C320F-5ABD-04AC-F949-ED05A186ABF8}"/>
              </a:ext>
            </a:extLst>
          </p:cNvPr>
          <p:cNvSpPr txBox="1"/>
          <p:nvPr/>
        </p:nvSpPr>
        <p:spPr>
          <a:xfrm>
            <a:off x="1257300" y="2103198"/>
            <a:ext cx="6096000" cy="286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수영">
            <a:extLst>
              <a:ext uri="{FF2B5EF4-FFF2-40B4-BE49-F238E27FC236}">
                <a16:creationId xmlns:a16="http://schemas.microsoft.com/office/drawing/2014/main" id="{32BE3742-7138-BA32-BC09-60BCA80E6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21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44CB-6DCE-F00B-D70A-845D2EE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CEE76A4-13E6-CE66-4BA6-0D232D13D3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E555-8DEE-B4CC-ABE8-9B64A1FBF39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5B52623-F24E-2E31-29C1-DE65F09A7A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ECEDC-1BC8-6143-B155-63D4DB892953}"/>
              </a:ext>
            </a:extLst>
          </p:cNvPr>
          <p:cNvSpPr txBox="1"/>
          <p:nvPr/>
        </p:nvSpPr>
        <p:spPr>
          <a:xfrm>
            <a:off x="744020" y="1334482"/>
            <a:ext cx="8668355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spaces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@spaces.GPU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predict(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input_text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GPU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추론 코드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output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greet(name):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"Hello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{name}!"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 =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gr.Interface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=greet,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inputs=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"Type your name ...."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outputs=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"greeting !!!"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title=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Demo app"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description=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"A simple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interface example."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__name__ ==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"__main__"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demo.launch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server_name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"0.0.0.0"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7860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C32DA7A-F553-08FD-2A13-4CB17DA42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3221-BCC2-E73E-5ECE-FC0D08A2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E98970-B8B2-8158-00D9-5C45631744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Deployment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UI(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gradio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A0A8B-DCEE-4734-094C-DBA1FD8F4C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3848BC8-1ABE-0BD9-D867-BEF02A368B6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7C49C9-1C30-EB3E-F23D-FDA9073C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29" y="1529510"/>
            <a:ext cx="7521592" cy="4732430"/>
          </a:xfrm>
          <a:prstGeom prst="rect">
            <a:avLst/>
          </a:prstGeom>
        </p:spPr>
      </p:pic>
      <p:pic>
        <p:nvPicPr>
          <p:cNvPr id="4" name="그래픽 3" descr="수영">
            <a:extLst>
              <a:ext uri="{FF2B5EF4-FFF2-40B4-BE49-F238E27FC236}">
                <a16:creationId xmlns:a16="http://schemas.microsoft.com/office/drawing/2014/main" id="{453B4CE4-3E16-22A3-4EC3-2511DC714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83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85D5-E24E-B833-4C4D-B3B056D3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D545A-7E04-ABAD-5A16-15667349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 Deployment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B690CFB-61F9-C8A8-B334-48F3880A6791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7542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32C9-8831-7BD4-9DD2-7AACBD37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B4136D-BB87-5441-BE89-2E19A00EAA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41BF8-57BD-FF6A-26BC-9BF604EA4BC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2919CB0-5F55-77BF-0798-AB95E32044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56311E5-7256-D3E9-E789-358C2B19F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D2E4FE6-88CB-4B28-45F1-11126F9C1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95" y="2210514"/>
            <a:ext cx="11154380" cy="333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실행 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hello-world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허브에서 이미지 자동 다운로드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생성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테스트 메시지 출력 후 종료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상태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실행 중인 컨테이너 목록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–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종료된 컨테이너를 포함한 전체 실행 기록(히스토리) 조회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중지 및 정돈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실행 중인 컨테이너 안전하게 중지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중지된 컨테이너 삭제 (-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옵션 추가 시 실행 중인 컨테이너 강제 삭제)</a:t>
            </a:r>
          </a:p>
        </p:txBody>
      </p:sp>
    </p:spTree>
    <p:extLst>
      <p:ext uri="{BB962C8B-B14F-4D97-AF65-F5344CB8AC3E}">
        <p14:creationId xmlns:p14="http://schemas.microsoft.com/office/powerpoint/2010/main" val="4184478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D33A-6D4F-7983-05F1-FD4213D10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B89909-E97F-29A7-E7F1-B9A29BB959A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48C15-FDC3-711B-6FFF-DA3B587AFEE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D6B74DF-A617-6F5B-B0F7-4B5F480EB67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573CE50D-45DD-A082-4E33-08CB3DE49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04A012-36C2-A0FE-73EA-163FFB056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364" y="2960717"/>
            <a:ext cx="7372862" cy="34153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6B67764-92A4-6371-4797-DBF149A81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20" y="1171129"/>
            <a:ext cx="11353281" cy="153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웹 브라우저 안에서 VS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에디터와 리눅스 터미널을 함께 쓰는 클라우드 IDE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에디터 화면에서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Dockerfile이나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docker-compose.yml을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직접 작성하고 터미널에서 빌드/실행(월 60시간 무료)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작성, 소스코드 패키징, 다중 컨테이너(DB 연동) 실습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사이트: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github.com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features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codespaces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910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7208-FD41-51A5-10D0-162555D9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9FAE5FF-C735-D784-1683-049AAD3021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hub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95112-72D8-FE99-8BD9-68DA6A7D836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95CDA8-7D3C-3E63-9A35-7918D2A62E6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8C62E094-C837-DF31-CAFF-5547EF2FE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39196BC-0F86-B1BC-1AC1-973A59B2F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38" y="1356475"/>
            <a:ext cx="8250976" cy="50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7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FDCF-A514-1757-9A1C-523CEC8B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103821-8849-6408-57BE-E15F46AA9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run hello-world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93CA0-8854-EE15-F1F5-D29149C7B62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A36BF2F-A6AE-22B4-7A69-1EB160D2DB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3FF34DC-DBC1-9AB0-4F91-1857C2F5D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C65908D-1062-EFC7-8AD9-484EF86D3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65" y="1369484"/>
            <a:ext cx="7135685" cy="5006533"/>
          </a:xfrm>
          <a:prstGeom prst="rect">
            <a:avLst/>
          </a:prstGeom>
        </p:spPr>
      </p:pic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BBBC5263-FFEF-C04E-AD21-EE8282FE1DE2}"/>
              </a:ext>
            </a:extLst>
          </p:cNvPr>
          <p:cNvSpPr/>
          <p:nvPr/>
        </p:nvSpPr>
        <p:spPr>
          <a:xfrm>
            <a:off x="7879705" y="1398032"/>
            <a:ext cx="3901023" cy="2215634"/>
          </a:xfrm>
          <a:prstGeom prst="borderCallout2">
            <a:avLst/>
          </a:prstGeom>
          <a:ln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from Docker! This message shows that your installation appears to be working correctly. 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generate this message, Docker took the following steps: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client contacted the Docker daemon.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pulled the "hello-world" image from the Docker Hub.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created a new container from that image...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 The Docker daemon streamed that output to the Docker client...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14083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1AEC-5624-24F6-8379-98C1F8AD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BA8A3E-5CE9-E8C8-625D-3E19FD81B1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Install docker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D114-5F84-74D5-66B9-0D2969803647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1364800-C37B-DC24-7E14-A3C8A5A5DF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6599ACA-B608-7B9B-1C99-777614039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5A25B-E1DD-CBD7-9DCB-F3B98CAB6187}"/>
              </a:ext>
            </a:extLst>
          </p:cNvPr>
          <p:cNvSpPr txBox="1"/>
          <p:nvPr/>
        </p:nvSpPr>
        <p:spPr>
          <a:xfrm>
            <a:off x="2551629" y="1801242"/>
            <a:ext cx="6877051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C:\Users\조상구&gt;wsl --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 버전: 2.7.11.0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커널 버전: 6.18.33.2-2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WSLg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1.0.73.2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MSRDC 버전: 1.2.7214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Direct3D 버전: 1.611.1-81528511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DXCore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10.0.26100.1-240331-1435.ge-release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Windows 버전: 10.0.26200.9168</a:t>
            </a:r>
          </a:p>
          <a:p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F6CBDF-3A34-69BE-7A02-A4BDA8C45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5" y="1217365"/>
            <a:ext cx="11353281" cy="46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WSL(Windows Subsystem for Linux)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3188051-64FB-BF0F-AFBB-814E0FCB0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4610284"/>
            <a:ext cx="11353281" cy="88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 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먼저 설치하고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 위에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얹어서 연동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3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6001-3FEC-77DB-8683-7FD5DBF9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E00CBC-B28C-2C6A-126F-3004A7725C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desktop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설치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1FDCF-EFFF-AD30-2847-C6A182B1816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FFEE19D-4E72-8DEE-AD86-EFC39E64A8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A8BDD442-F296-7A5A-E1FE-F8268414B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2B21F8-E3B2-3124-A7A1-C89690B27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491" y="1356475"/>
            <a:ext cx="7668814" cy="5071656"/>
          </a:xfrm>
          <a:prstGeom prst="rect">
            <a:avLst/>
          </a:prstGeom>
        </p:spPr>
      </p:pic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A00BA074-3502-A522-021F-D1C1E6C7374A}"/>
              </a:ext>
            </a:extLst>
          </p:cNvPr>
          <p:cNvSpPr/>
          <p:nvPr/>
        </p:nvSpPr>
        <p:spPr>
          <a:xfrm>
            <a:off x="7946380" y="3112532"/>
            <a:ext cx="3901023" cy="76643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2942"/>
              <a:gd name="adj6" fmla="val -3372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 다운받고 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 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중단</a:t>
            </a:r>
          </a:p>
        </p:txBody>
      </p:sp>
    </p:spTree>
    <p:extLst>
      <p:ext uri="{BB962C8B-B14F-4D97-AF65-F5344CB8AC3E}">
        <p14:creationId xmlns:p14="http://schemas.microsoft.com/office/powerpoint/2010/main" val="308423005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18394</TotalTime>
  <Words>909</Words>
  <Application>Microsoft Office PowerPoint</Application>
  <PresentationFormat>와이드스크린</PresentationFormat>
  <Paragraphs>164</Paragraphs>
  <Slides>21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D2Coding</vt:lpstr>
      <vt:lpstr>맑은 고딕</vt:lpstr>
      <vt:lpstr>바탕</vt:lpstr>
      <vt:lpstr>Arial</vt:lpstr>
      <vt:lpstr>Segoe UI Emoji</vt:lpstr>
      <vt:lpstr>Wingdings</vt:lpstr>
      <vt:lpstr>WelcomeDoc</vt:lpstr>
      <vt:lpstr>App Deployment</vt:lpstr>
      <vt:lpstr>PowerPoint 프레젠테이션</vt:lpstr>
      <vt:lpstr>PowerPoint 프레젠테이션</vt:lpstr>
      <vt:lpstr>CI/CD CI(Continuously Integration)/CD(Continuously Deployment) </vt:lpstr>
      <vt:lpstr>PowerPoint 프레젠테이션</vt:lpstr>
      <vt:lpstr>PowerPoint 프레젠테이션</vt:lpstr>
      <vt:lpstr>PowerPoint 프레젠테이션</vt:lpstr>
      <vt:lpstr>GitHub Actions Exercise  (python + gradio + Huggingface sapce)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Docker Deployment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239</cp:revision>
  <dcterms:created xsi:type="dcterms:W3CDTF">2026-04-06T01:00:39Z</dcterms:created>
  <dcterms:modified xsi:type="dcterms:W3CDTF">2026-08-19T02:42:14Z</dcterms:modified>
  <cp:version/>
</cp:coreProperties>
</file>