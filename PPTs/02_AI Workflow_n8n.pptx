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8"/>
  </p:notesMasterIdLst>
  <p:handoutMasterIdLst>
    <p:handoutMasterId r:id="rId109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313" r:id="rId8"/>
    <p:sldId id="1230" r:id="rId9"/>
    <p:sldId id="1224" r:id="rId10"/>
    <p:sldId id="1289" r:id="rId11"/>
    <p:sldId id="1155" r:id="rId12"/>
    <p:sldId id="1153" r:id="rId13"/>
    <p:sldId id="1291" r:id="rId14"/>
    <p:sldId id="1290" r:id="rId15"/>
    <p:sldId id="1298" r:id="rId16"/>
    <p:sldId id="1299" r:id="rId17"/>
    <p:sldId id="1292" r:id="rId18"/>
    <p:sldId id="1293" r:id="rId19"/>
    <p:sldId id="1294" r:id="rId20"/>
    <p:sldId id="1295" r:id="rId21"/>
    <p:sldId id="1296" r:id="rId22"/>
    <p:sldId id="1297" r:id="rId23"/>
    <p:sldId id="1286" r:id="rId24"/>
    <p:sldId id="1273" r:id="rId25"/>
    <p:sldId id="1142" r:id="rId26"/>
    <p:sldId id="1270" r:id="rId27"/>
    <p:sldId id="1228" r:id="rId28"/>
    <p:sldId id="1269" r:id="rId29"/>
    <p:sldId id="1301" r:id="rId30"/>
    <p:sldId id="1302" r:id="rId31"/>
    <p:sldId id="1303" r:id="rId32"/>
    <p:sldId id="1300" r:id="rId33"/>
    <p:sldId id="1272" r:id="rId34"/>
    <p:sldId id="1288" r:id="rId35"/>
    <p:sldId id="1274" r:id="rId36"/>
    <p:sldId id="1284" r:id="rId37"/>
    <p:sldId id="1285" r:id="rId38"/>
    <p:sldId id="1287" r:id="rId39"/>
    <p:sldId id="1141" r:id="rId40"/>
    <p:sldId id="1232" r:id="rId41"/>
    <p:sldId id="1233" r:id="rId42"/>
    <p:sldId id="1234" r:id="rId43"/>
    <p:sldId id="1235" r:id="rId44"/>
    <p:sldId id="1239" r:id="rId45"/>
    <p:sldId id="1236" r:id="rId46"/>
    <p:sldId id="1237" r:id="rId47"/>
    <p:sldId id="1238" r:id="rId48"/>
    <p:sldId id="1283" r:id="rId49"/>
    <p:sldId id="1231" r:id="rId50"/>
    <p:sldId id="1144" r:id="rId51"/>
    <p:sldId id="1275" r:id="rId52"/>
    <p:sldId id="1241" r:id="rId53"/>
    <p:sldId id="1242" r:id="rId54"/>
    <p:sldId id="1246" r:id="rId55"/>
    <p:sldId id="1243" r:id="rId56"/>
    <p:sldId id="1244" r:id="rId57"/>
    <p:sldId id="1245" r:id="rId58"/>
    <p:sldId id="1247" r:id="rId59"/>
    <p:sldId id="1248" r:id="rId60"/>
    <p:sldId id="1249" r:id="rId61"/>
    <p:sldId id="1281" r:id="rId62"/>
    <p:sldId id="1282" r:id="rId63"/>
    <p:sldId id="1276" r:id="rId64"/>
    <p:sldId id="1277" r:id="rId65"/>
    <p:sldId id="1319" r:id="rId66"/>
    <p:sldId id="1318" r:id="rId67"/>
    <p:sldId id="1321" r:id="rId68"/>
    <p:sldId id="1322" r:id="rId69"/>
    <p:sldId id="1323" r:id="rId70"/>
    <p:sldId id="1320" r:id="rId71"/>
    <p:sldId id="1311" r:id="rId72"/>
    <p:sldId id="1308" r:id="rId73"/>
    <p:sldId id="1156" r:id="rId74"/>
    <p:sldId id="1157" r:id="rId75"/>
    <p:sldId id="1256" r:id="rId76"/>
    <p:sldId id="1314" r:id="rId77"/>
    <p:sldId id="1309" r:id="rId78"/>
    <p:sldId id="1310" r:id="rId79"/>
    <p:sldId id="1263" r:id="rId80"/>
    <p:sldId id="1254" r:id="rId81"/>
    <p:sldId id="1304" r:id="rId82"/>
    <p:sldId id="1305" r:id="rId83"/>
    <p:sldId id="1255" r:id="rId84"/>
    <p:sldId id="1261" r:id="rId85"/>
    <p:sldId id="1312" r:id="rId86"/>
    <p:sldId id="1262" r:id="rId87"/>
    <p:sldId id="1257" r:id="rId88"/>
    <p:sldId id="1259" r:id="rId89"/>
    <p:sldId id="1258" r:id="rId90"/>
    <p:sldId id="1260" r:id="rId91"/>
    <p:sldId id="1317" r:id="rId92"/>
    <p:sldId id="1315" r:id="rId93"/>
    <p:sldId id="1316" r:id="rId94"/>
    <p:sldId id="1252" r:id="rId95"/>
    <p:sldId id="1266" r:id="rId96"/>
    <p:sldId id="1253" r:id="rId97"/>
    <p:sldId id="1264" r:id="rId98"/>
    <p:sldId id="1279" r:id="rId99"/>
    <p:sldId id="1280" r:id="rId100"/>
    <p:sldId id="1250" r:id="rId101"/>
    <p:sldId id="1240" r:id="rId102"/>
    <p:sldId id="1145" r:id="rId103"/>
    <p:sldId id="1251" r:id="rId104"/>
    <p:sldId id="1138" r:id="rId105"/>
    <p:sldId id="1143" r:id="rId106"/>
    <p:sldId id="1139" r:id="rId10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313"/>
            <p14:sldId id="1230"/>
            <p14:sldId id="1224"/>
            <p14:sldId id="1289"/>
            <p14:sldId id="1155"/>
            <p14:sldId id="1153"/>
            <p14:sldId id="1291"/>
            <p14:sldId id="1290"/>
            <p14:sldId id="1298"/>
            <p14:sldId id="1299"/>
            <p14:sldId id="1292"/>
            <p14:sldId id="1293"/>
            <p14:sldId id="1294"/>
            <p14:sldId id="1295"/>
            <p14:sldId id="1296"/>
            <p14:sldId id="1297"/>
            <p14:sldId id="1286"/>
            <p14:sldId id="1273"/>
            <p14:sldId id="1142"/>
            <p14:sldId id="1270"/>
            <p14:sldId id="1228"/>
            <p14:sldId id="1269"/>
            <p14:sldId id="1301"/>
            <p14:sldId id="1302"/>
            <p14:sldId id="1303"/>
            <p14:sldId id="1300"/>
            <p14:sldId id="1272"/>
            <p14:sldId id="1288"/>
            <p14:sldId id="1274"/>
            <p14:sldId id="1284"/>
            <p14:sldId id="1285"/>
            <p14:sldId id="1287"/>
            <p14:sldId id="1141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83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81"/>
            <p14:sldId id="1282"/>
            <p14:sldId id="1276"/>
            <p14:sldId id="1277"/>
            <p14:sldId id="1319"/>
            <p14:sldId id="1318"/>
            <p14:sldId id="1321"/>
            <p14:sldId id="1322"/>
            <p14:sldId id="1323"/>
            <p14:sldId id="1320"/>
            <p14:sldId id="1311"/>
            <p14:sldId id="1308"/>
            <p14:sldId id="1156"/>
            <p14:sldId id="1157"/>
            <p14:sldId id="1256"/>
            <p14:sldId id="1314"/>
            <p14:sldId id="1309"/>
            <p14:sldId id="1310"/>
            <p14:sldId id="1263"/>
            <p14:sldId id="1254"/>
            <p14:sldId id="1304"/>
            <p14:sldId id="1305"/>
            <p14:sldId id="1255"/>
            <p14:sldId id="1261"/>
            <p14:sldId id="1312"/>
            <p14:sldId id="1262"/>
            <p14:sldId id="1257"/>
            <p14:sldId id="1259"/>
            <p14:sldId id="1258"/>
            <p14:sldId id="1260"/>
            <p14:sldId id="1317"/>
            <p14:sldId id="1315"/>
            <p14:sldId id="1316"/>
            <p14:sldId id="1252"/>
            <p14:sldId id="1266"/>
            <p14:sldId id="1253"/>
            <p14:sldId id="1264"/>
            <p14:sldId id="1279"/>
            <p14:sldId id="1280"/>
            <p14:sldId id="1250"/>
            <p14:sldId id="1240"/>
            <p14:sldId id="1145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786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viewProps" Target="view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notesMaster" Target="notesMasters/notesMaster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handoutMaster" Target="handoutMasters/handoutMaster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commentAuthors" Target="commentAuthor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>
          <a:extLst>
            <a:ext uri="{FF2B5EF4-FFF2-40B4-BE49-F238E27FC236}">
              <a16:creationId xmlns:a16="http://schemas.microsoft.com/office/drawing/2014/main" id="{5A19A87F-E029-987D-0E44-03D4E97F9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>
            <a:extLst>
              <a:ext uri="{FF2B5EF4-FFF2-40B4-BE49-F238E27FC236}">
                <a16:creationId xmlns:a16="http://schemas.microsoft.com/office/drawing/2014/main" id="{25368C2A-DAF5-B980-98D1-9BB7945F1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>
            <a:extLst>
              <a:ext uri="{FF2B5EF4-FFF2-40B4-BE49-F238E27FC236}">
                <a16:creationId xmlns:a16="http://schemas.microsoft.com/office/drawing/2014/main" id="{586681E8-13F1-B900-8AB4-0408A594B1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68636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E889F-CE87-890B-47CC-FF1216FE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E591-1FE7-C828-3F41-F85CB52B3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95068A-54CA-6E83-64F6-0C89BE965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E66438-C9C0-A649-A5BC-D9F7B799C4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885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54A5-C7D8-0157-A8E8-A2303273E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09CE80-3932-DAF8-36DD-A568DC289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C1CEB-EB96-BE5C-D939-E0C8333E0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54A45-DB36-F587-61ED-07AB165012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908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48B6-1FB4-2F27-E3D1-4C576712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8A38A0-C391-27B7-1338-AE1EA0114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20581-3BB9-1B3F-ADA1-49ED77A00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76B9D-5CD6-3177-6FD0-BFFDCCB7F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77078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B465-A183-E614-2E51-4C45385C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AE9311-30B7-F5D8-57FE-51C11FFE7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6C492F-0C60-7F66-19DB-53B900502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E1BBE0-4E72-EF85-5864-CF52C7F04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35798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F45F0-58B0-5964-B8B7-EDD38B8D3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474EB7-66D8-38D9-7147-2601BD904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C2EB95-1A43-9C6C-4930-1AFEC074C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AFBDEB-FB3A-8A2F-B290-471762C669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25995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lXNIteL16Z0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png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47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.svg"/><Relationship Id="rId5" Type="http://schemas.openxmlformats.org/officeDocument/2006/relationships/hyperlink" Target="https://ngrok.com/download/windows" TargetMode="External"/><Relationship Id="rId4" Type="http://schemas.openxmlformats.org/officeDocument/2006/relationships/image" Target="../media/image45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hyperlink" Target="https://www.youtube.com/watch?v=lXNIteL16Z0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6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20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hyperlink" Target="https://www.youtube.com/watch?v=tf1mnCVWJkQ&amp;t=413s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The%20First%20workflow%20exercises.json" TargetMode="External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0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3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0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home.openweathermap.org/" TargetMode="External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scripts/02_introduction_to_llm.ipynb" TargetMode="External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scripts/03_tokens_and_token_embeddings.ipynb" TargetMode="Externa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9.png"/><Relationship Id="rId4" Type="http://schemas.openxmlformats.org/officeDocument/2006/relationships/hyperlink" Target="https://word2vec.kr/search/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google.com/search?q=https://supabase.com/dashboard&amp;authuser=1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AI%20Agent%20(RAG).json" TargetMode="External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124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sv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tree/main/n8n" TargetMode="Externa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4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7321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option)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809757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2644844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2663791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914524"/>
            <a:ext cx="10059005" cy="4412389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>
          <a:extLst>
            <a:ext uri="{FF2B5EF4-FFF2-40B4-BE49-F238E27FC236}">
              <a16:creationId xmlns:a16="http://schemas.microsoft.com/office/drawing/2014/main" id="{55EDDF08-AF5C-550A-63E6-E4428680C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>
            <a:extLst>
              <a:ext uri="{FF2B5EF4-FFF2-40B4-BE49-F238E27FC236}">
                <a16:creationId xmlns:a16="http://schemas.microsoft.com/office/drawing/2014/main" id="{A49CD767-74D1-FC46-A5AB-126F750D85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Exercise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67A0501-A743-D63E-DF53-EBAD758B644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A9EF698-0592-69E9-EEF5-A9C952A73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302793"/>
            <a:ext cx="5936806" cy="50388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EE4D699-655D-9009-911B-23D4033A4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470" y="2014970"/>
            <a:ext cx="4570456" cy="2038290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1E7335-553E-FCBC-A053-D61F239536BF}"/>
              </a:ext>
            </a:extLst>
          </p:cNvPr>
          <p:cNvSpPr/>
          <p:nvPr/>
        </p:nvSpPr>
        <p:spPr>
          <a:xfrm>
            <a:off x="4649354" y="2014970"/>
            <a:ext cx="2122921" cy="45287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래픽 15" descr="본문 작성기">
            <a:extLst>
              <a:ext uri="{FF2B5EF4-FFF2-40B4-BE49-F238E27FC236}">
                <a16:creationId xmlns:a16="http://schemas.microsoft.com/office/drawing/2014/main" id="{5E9C042B-6EEC-7DEB-8F8C-A138E13475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84337" y="299420"/>
            <a:ext cx="766440" cy="76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79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Overview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7FEB-027D-5E1B-C580-F582BD15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585A0A-B659-F775-8968-A3621C7A67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115FF46-27C2-3CE4-424A-372669877078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2FC683-51C4-0343-AB3E-F45EB87746B6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CCCB15-9111-F971-89EB-F02D5F1E6D9A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B168EA5-31B7-630D-07E0-CF6207CE78B9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C4810B-86AF-9337-AB60-1F7F528646F3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A56C67-3670-198B-B8CA-C3AD1BBFAC77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5984F4-1F99-9AF5-99AC-EA173A92EC05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2E4C27-52CF-4148-7B32-3F92C0568480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514BF7-FA57-BC0A-0B39-E31CE3CDEEC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36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 Integrations</a:t>
            </a:r>
            <a:endParaRPr lang="ko-KR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5152680" y="5685498"/>
            <a:ext cx="3463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2"/>
              </a:rPr>
              <a:t>orchestrate-data-science-project-python-prefect</a:t>
            </a:r>
            <a:endParaRPr lang="ko-KR" altLang="en-US" sz="12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97" y="2531429"/>
            <a:ext cx="5775803" cy="2938440"/>
          </a:xfrm>
          <a:prstGeom prst="rect">
            <a:avLst/>
          </a:prstGeom>
          <a:ln>
            <a:noFill/>
          </a:ln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96FDF6-0D65-7B01-FC4C-0009B938A10C}"/>
              </a:ext>
            </a:extLst>
          </p:cNvPr>
          <p:cNvSpPr/>
          <p:nvPr/>
        </p:nvSpPr>
        <p:spPr>
          <a:xfrm>
            <a:off x="5152680" y="1942575"/>
            <a:ext cx="6439245" cy="3677176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0B239C-CAA0-60DF-50C5-E2FAE41CEA53}"/>
              </a:ext>
            </a:extLst>
          </p:cNvPr>
          <p:cNvSpPr txBox="1"/>
          <p:nvPr/>
        </p:nvSpPr>
        <p:spPr>
          <a:xfrm>
            <a:off x="5076481" y="1476718"/>
            <a:ext cx="838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427FE-0FFD-77FB-6D73-48CE4B5107FE}"/>
              </a:ext>
            </a:extLst>
          </p:cNvPr>
          <p:cNvSpPr txBox="1"/>
          <p:nvPr/>
        </p:nvSpPr>
        <p:spPr>
          <a:xfrm>
            <a:off x="5371582" y="2063137"/>
            <a:ext cx="601165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 / Credentials / Executions / Data tables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A0A602C7-07E8-7966-C0F3-39B3F735A36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EB3C7-3949-2FFF-67D1-9F9FD220426A}"/>
              </a:ext>
            </a:extLst>
          </p:cNvPr>
          <p:cNvSpPr txBox="1"/>
          <p:nvPr/>
        </p:nvSpPr>
        <p:spPr>
          <a:xfrm>
            <a:off x="3209235" y="2853058"/>
            <a:ext cx="15433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</a:p>
          <a:p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OAuth</a:t>
            </a:r>
            <a:endParaRPr lang="ko-KR" altLang="en-US" sz="2400" dirty="0"/>
          </a:p>
        </p:txBody>
      </p:sp>
      <p:pic>
        <p:nvPicPr>
          <p:cNvPr id="20" name="그래픽 19" descr="전송 윤곽선">
            <a:extLst>
              <a:ext uri="{FF2B5EF4-FFF2-40B4-BE49-F238E27FC236}">
                <a16:creationId xmlns:a16="http://schemas.microsoft.com/office/drawing/2014/main" id="{6E4E761F-76D9-5DD2-018C-C87D37FBD6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24122" y="3086100"/>
            <a:ext cx="222885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A2C5F6-C262-1CAA-01DE-0D3C3B66327F}"/>
              </a:ext>
            </a:extLst>
          </p:cNvPr>
          <p:cNvSpPr txBox="1"/>
          <p:nvPr/>
        </p:nvSpPr>
        <p:spPr>
          <a:xfrm>
            <a:off x="808763" y="1942575"/>
            <a:ext cx="1409700" cy="378565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Google,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Naver…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Kakao, Instagram…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Notion, Discord, Slack…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 GPT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4F163C-5FA3-FC66-366E-19A05101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34147"/>
            <a:ext cx="8176724" cy="521658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361B069-77D4-8BB0-42FE-06A92D363E04}"/>
              </a:ext>
            </a:extLst>
          </p:cNvPr>
          <p:cNvSpPr/>
          <p:nvPr/>
        </p:nvSpPr>
        <p:spPr>
          <a:xfrm>
            <a:off x="2125763" y="2982725"/>
            <a:ext cx="5608537" cy="446275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55B69-0D0C-3565-903A-EC4EA2946A1D}"/>
              </a:ext>
            </a:extLst>
          </p:cNvPr>
          <p:cNvSpPr/>
          <p:nvPr/>
        </p:nvSpPr>
        <p:spPr>
          <a:xfrm>
            <a:off x="2335313" y="37193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0E5A-5D8C-D85D-A3EA-6012E6283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813CC7-454E-1604-4FD1-6F6514F37B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CE9E18-0061-2445-60A2-1B1F2E7F5D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4B6741-44DA-51A3-8839-C5D89248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299" y="1365389"/>
            <a:ext cx="8371033" cy="517666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C14B45C-3F68-549F-5200-FD403B8AE064}"/>
              </a:ext>
            </a:extLst>
          </p:cNvPr>
          <p:cNvSpPr/>
          <p:nvPr/>
        </p:nvSpPr>
        <p:spPr>
          <a:xfrm>
            <a:off x="6916838" y="3896572"/>
            <a:ext cx="1312762" cy="1151677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170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0E9A7-09E8-713F-A796-AE8D1FF82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56811192-6322-DCC2-F16C-B435698B2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89966"/>
            <a:ext cx="10353762" cy="475763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480ABD7A-5293-C67C-10AD-EB5396B166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F610D7-7A5A-64E0-1050-DD31F20E99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75E32-C72E-526A-8B44-3D66B9BEC18F}"/>
              </a:ext>
            </a:extLst>
          </p:cNvPr>
          <p:cNvSpPr/>
          <p:nvPr/>
        </p:nvSpPr>
        <p:spPr>
          <a:xfrm>
            <a:off x="1215139" y="1489967"/>
            <a:ext cx="2461511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655B86-FECE-F15F-978F-84E542FFB0BF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3662A-F9DE-2614-C511-5E2455855F74}"/>
              </a:ext>
            </a:extLst>
          </p:cNvPr>
          <p:cNvSpPr/>
          <p:nvPr/>
        </p:nvSpPr>
        <p:spPr>
          <a:xfrm>
            <a:off x="9121143" y="178202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22D2370-3B1D-C7AC-AA32-3C5056D2C18C}"/>
              </a:ext>
            </a:extLst>
          </p:cNvPr>
          <p:cNvSpPr/>
          <p:nvPr/>
        </p:nvSpPr>
        <p:spPr>
          <a:xfrm>
            <a:off x="1809564" y="1782021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14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E322-F1BC-D80F-951C-58F386CA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E4FEE7-2B7E-E9D9-8560-8A3D32191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56" y="1398217"/>
            <a:ext cx="10915650" cy="497780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ABE085-C371-70D7-2C85-A3C942A286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7E27F7-A185-97E5-7823-F6717C3FED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1762953-C1A1-930E-A887-03A12E31C2B8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C7363E-A776-9C50-C427-81D662566C97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3500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B18B-377D-F2D4-7EB2-CEC70CC6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F54A72-8052-0AEB-F8DD-69B5EF02B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70915"/>
            <a:ext cx="10648950" cy="482641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DFAB054-1BEE-ED37-3171-08D7AAFFD2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3421-69BE-D3FC-3A2F-B651B93A7E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9A363A-2595-BD5C-84AB-78ED02E62FEE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B3939C-D1F9-422B-A2F0-031C7F891A69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881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2456-6108-10C1-D968-3AA3B59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828EB3-8291-C872-A7E0-F6E16A6FE9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FBBB31-FC04-E55A-2CA9-8A5FA7862A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9DBCAD-2196-C5FB-3E00-DC5E4CFDE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943395"/>
            <a:ext cx="6992178" cy="4529428"/>
          </a:xfrm>
          <a:prstGeom prst="rect">
            <a:avLst/>
          </a:prstGeom>
        </p:spPr>
      </p:pic>
      <p:grpSp>
        <p:nvGrpSpPr>
          <p:cNvPr id="4" name="그룹 3">
            <a:extLst>
              <a:ext uri="{FF2B5EF4-FFF2-40B4-BE49-F238E27FC236}">
                <a16:creationId xmlns:a16="http://schemas.microsoft.com/office/drawing/2014/main" id="{2C46B22C-1AC1-1249-D0F6-971713DF5788}"/>
              </a:ext>
            </a:extLst>
          </p:cNvPr>
          <p:cNvGrpSpPr/>
          <p:nvPr/>
        </p:nvGrpSpPr>
        <p:grpSpPr>
          <a:xfrm>
            <a:off x="627822" y="1310078"/>
            <a:ext cx="4819727" cy="578528"/>
            <a:chOff x="5275619" y="3041249"/>
            <a:chExt cx="5325706" cy="77790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D09D063-82C9-B796-921E-CBB86D737258}"/>
                </a:ext>
              </a:extLst>
            </p:cNvPr>
            <p:cNvSpPr txBox="1"/>
            <p:nvPr/>
          </p:nvSpPr>
          <p:spPr>
            <a:xfrm>
              <a:off x="6916381" y="3217618"/>
              <a:ext cx="336502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385EBC7-6C86-3B7C-89E8-F3BC32E28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3CEC5AA6-2F83-A411-4376-BD05DB3606B3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D190BDB-CC07-F0FA-FC4C-B094AF3824F4}"/>
              </a:ext>
            </a:extLst>
          </p:cNvPr>
          <p:cNvSpPr txBox="1"/>
          <p:nvPr/>
        </p:nvSpPr>
        <p:spPr>
          <a:xfrm>
            <a:off x="618586" y="1886822"/>
            <a:ext cx="2503306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60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등록하기</a:t>
            </a:r>
          </a:p>
        </p:txBody>
      </p:sp>
    </p:spTree>
    <p:extLst>
      <p:ext uri="{BB962C8B-B14F-4D97-AF65-F5344CB8AC3E}">
        <p14:creationId xmlns:p14="http://schemas.microsoft.com/office/powerpoint/2010/main" val="2429960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7BFE-9532-4E37-72AF-3ECEC8F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101F7A-07C5-AAD8-62DF-98F7ADC82C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9BA654-367B-102B-84B5-6C369B79BF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77062F-EC92-B4EA-FC85-81F6D4F09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811" y="1480350"/>
            <a:ext cx="7801430" cy="504266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B716D9A-7378-EA5E-D019-AF4A77E33F64}"/>
              </a:ext>
            </a:extLst>
          </p:cNvPr>
          <p:cNvSpPr/>
          <p:nvPr/>
        </p:nvSpPr>
        <p:spPr>
          <a:xfrm>
            <a:off x="4103211" y="4528353"/>
            <a:ext cx="42464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77E9CD2-1E32-F392-0460-56D627E32106}"/>
              </a:ext>
            </a:extLst>
          </p:cNvPr>
          <p:cNvSpPr/>
          <p:nvPr/>
        </p:nvSpPr>
        <p:spPr>
          <a:xfrm>
            <a:off x="4103211" y="5178136"/>
            <a:ext cx="42464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841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2696-F08D-BA3B-E531-C441BE25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9F852-B1C7-53FC-49A3-618D3965FE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3.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BB07F38-7DEE-9AD5-3311-04DEE0D77B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A8CB4B-67B8-8304-258F-DF8E19B91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7" y="1424695"/>
            <a:ext cx="8044358" cy="515708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CF9881-2648-212C-0C09-C4E522710F07}"/>
              </a:ext>
            </a:extLst>
          </p:cNvPr>
          <p:cNvSpPr/>
          <p:nvPr/>
        </p:nvSpPr>
        <p:spPr>
          <a:xfrm>
            <a:off x="3068738" y="317291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385121-031A-7502-43E6-651D5D7788E7}"/>
              </a:ext>
            </a:extLst>
          </p:cNvPr>
          <p:cNvSpPr/>
          <p:nvPr/>
        </p:nvSpPr>
        <p:spPr>
          <a:xfrm>
            <a:off x="3068738" y="39002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324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CFEE-55B6-581F-885A-C9B9E9D73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BACDC8-816E-93A9-3AB5-6E47DA4E4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E490AF-76F5-46CE-35E4-3956C7FE0EF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35983E-0AE0-E8F8-B3F5-EFC46D7D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11" y="1486094"/>
            <a:ext cx="8057777" cy="507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25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1559-AFCF-4296-BBF0-B13790B1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1B99FE-E346-CFBE-C19B-4DCD5CE45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90D7F5-688E-FF79-16A2-F3D5616B2C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6EB943-2257-CDFC-94D5-C5DEAD29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968" y="1408951"/>
            <a:ext cx="10646063" cy="477815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1A8F0F3-4C56-8450-E84B-7F995813A5BE}"/>
              </a:ext>
            </a:extLst>
          </p:cNvPr>
          <p:cNvSpPr/>
          <p:nvPr/>
        </p:nvSpPr>
        <p:spPr>
          <a:xfrm>
            <a:off x="2992538" y="362405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298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7C87-5D8A-9CC8-FDC2-79D77D0F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F1A90-5C68-23CA-FBA8-A40D9F81F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93F746F-8242-BBBF-ECB8-DE72333BB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CAD6C4-C1F0-1E5B-67F9-2507E0FC0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1885816"/>
            <a:ext cx="10676545" cy="308636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076C41-3CED-986F-2214-51F6AF370119}"/>
              </a:ext>
            </a:extLst>
          </p:cNvPr>
          <p:cNvSpPr/>
          <p:nvPr/>
        </p:nvSpPr>
        <p:spPr>
          <a:xfrm>
            <a:off x="8111171" y="1885816"/>
            <a:ext cx="34463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108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F061-1344-B98F-ACD0-0C6461F9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BEED9-E7DE-EFC5-3F80-50F7E6C89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Triggers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3CDAF1E-4A24-E4F7-3B8D-58EE39B2B97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540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E886543-B6F0-03BC-4DEF-3CDBC0E26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0" y="1335360"/>
            <a:ext cx="1615580" cy="1044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- 1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4F5B4B-A5A8-EC1E-B149-3F19014F0E0D}"/>
              </a:ext>
            </a:extLst>
          </p:cNvPr>
          <p:cNvGrpSpPr/>
          <p:nvPr/>
        </p:nvGrpSpPr>
        <p:grpSpPr>
          <a:xfrm>
            <a:off x="1653246" y="2107181"/>
            <a:ext cx="4967764" cy="3322526"/>
            <a:chOff x="1672296" y="2196650"/>
            <a:chExt cx="4967764" cy="332252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75EA25A-5CB2-390D-AF50-6ACA7941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5732CE-42F6-88F9-8A1E-FA49CB6A4C61}"/>
                </a:ext>
              </a:extLst>
            </p:cNvPr>
            <p:cNvSpPr/>
            <p:nvPr/>
          </p:nvSpPr>
          <p:spPr>
            <a:xfrm>
              <a:off x="3838576" y="3251434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37748B1-9E33-E39A-A1F5-C1BCAFCC1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046" y="3768444"/>
            <a:ext cx="6174715" cy="11573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1E45-09DC-06BC-24CC-46C6A66D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08720A-8C0B-9E07-ED5F-485E3BBFA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A1E8E4-980C-1E95-5073-D10311611C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E8D8AED-AC80-3324-C240-AC7936AE6898}"/>
              </a:ext>
            </a:extLst>
          </p:cNvPr>
          <p:cNvGrpSpPr/>
          <p:nvPr/>
        </p:nvGrpSpPr>
        <p:grpSpPr>
          <a:xfrm>
            <a:off x="559849" y="1462743"/>
            <a:ext cx="3758543" cy="4589453"/>
            <a:chOff x="559849" y="1462743"/>
            <a:chExt cx="3758543" cy="458945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48DECE0F-D01F-A345-37CE-B3D349661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849" y="1462743"/>
              <a:ext cx="3421601" cy="458945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7E1C6DA-AAE1-3DC9-DAB4-F1332C11480E}"/>
                </a:ext>
              </a:extLst>
            </p:cNvPr>
            <p:cNvSpPr/>
            <p:nvPr/>
          </p:nvSpPr>
          <p:spPr>
            <a:xfrm>
              <a:off x="1724026" y="1761790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D9C3577-54A7-242C-2545-E6F44FF13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158" y="2108608"/>
            <a:ext cx="4582394" cy="33910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1129C5-C2A7-78FB-EF90-36C0A4F87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494" y="4679102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414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30D8-2921-9908-2BFB-A90A1CF3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F59493-0548-9D72-AF4F-445831182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- 3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66E1613-A894-8733-D1A2-B35A8E4368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FF79AB-4B62-67E2-9969-E962EBD5FC39}"/>
              </a:ext>
            </a:extLst>
          </p:cNvPr>
          <p:cNvGrpSpPr/>
          <p:nvPr/>
        </p:nvGrpSpPr>
        <p:grpSpPr>
          <a:xfrm>
            <a:off x="602772" y="1445884"/>
            <a:ext cx="4967764" cy="3322526"/>
            <a:chOff x="1672296" y="2196650"/>
            <a:chExt cx="4967764" cy="3322526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F1CEF6C-224A-F645-D5DE-C45F7DFD0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18A13E3-978D-4BD4-1E54-CEE1771A4497}"/>
                </a:ext>
              </a:extLst>
            </p:cNvPr>
            <p:cNvSpPr/>
            <p:nvPr/>
          </p:nvSpPr>
          <p:spPr>
            <a:xfrm>
              <a:off x="5343524" y="2417341"/>
              <a:ext cx="1296535" cy="34539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74CB7EAF-C185-05CE-6672-68E7F4B21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124" y="2089558"/>
            <a:ext cx="4851400" cy="4528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E3C07C-A202-E23C-E7CD-F0C5EBD05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122" y="4194872"/>
            <a:ext cx="4675184" cy="7791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0530620-900A-6799-876D-A68623132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888" y="2987811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20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8EA-606E-3C83-F6EE-31242BC7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0DC845E-CBF2-BFBF-0EDD-0B327914B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083"/>
            <a:ext cx="3025402" cy="11583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0396C7-39EA-D008-E235-2294D1D4E2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- 4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011716C-D386-C592-C3FD-01B35EB3FE3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9065830-1576-803F-0ED3-6317B6F9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8" y="2406294"/>
            <a:ext cx="8633092" cy="39697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59E5DF-468B-3F52-67C5-7B77C356D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0970" y="2806481"/>
            <a:ext cx="8131019" cy="37520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5623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51283-2D2C-5A52-9BA3-56EE201BD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A028C9-E9F2-B65D-36D1-02BA2ED051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–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41FD952-66C5-2B4E-C75C-D68FEA709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A1FFE344-64C1-DE0E-5C89-3DE6B2847964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6D9FA2A-3285-CA5B-A280-CCEE4153A660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A150074-F145-A967-634A-A9D3759B537D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298CE6-DCB4-724B-846F-6D4D1F8F2A06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7185ED5D-579A-EBE5-ABDD-E87A35E32A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CEEB944-A7EB-8513-548D-558EDC37DF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432E5CA-3AA4-E175-82F8-FF3243197872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8283B54B-66D7-B184-B457-B620C20E1E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46A855D-FF22-0357-474C-61003C724D23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F956162-13B7-1D95-2725-32EC7558A3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84BBD12E-F28B-68ED-B990-F028E40CE0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65A89595-137E-E7C2-6C62-3B03CB02236B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FC1BBA-06AC-B378-9179-E4373F93F6E2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038943D-486B-5234-A847-A7EE6AB5DBB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372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BD6-62C0-B3CF-658F-6CB6B8817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FD45C-8D14-6164-4469-6D4AAAE31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D497057-19AC-1A65-15FD-64944C65192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39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B6B4-688C-F8C0-93AA-412AB7D5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E2B34-C875-A751-74B6-A21F5B84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DBA32C2-0795-80E1-A347-338DA140971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21789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3570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The First workflow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exercises.json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481692" y="138877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54F415-D550-A81D-D960-4B8D5A7EF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775" y="1388771"/>
            <a:ext cx="7723306" cy="51819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4406021A-D0BA-4DA5-C7B4-DD7CC73AE076}"/>
              </a:ext>
            </a:extLst>
          </p:cNvPr>
          <p:cNvSpPr/>
          <p:nvPr/>
        </p:nvSpPr>
        <p:spPr>
          <a:xfrm>
            <a:off x="3409950" y="1727326"/>
            <a:ext cx="5353050" cy="23589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8D9F4-A9ED-C502-1F16-BA2706DB8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CAA10F-28C1-B69D-D8F3-63585974E00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Why RAG ?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06562DA-214B-AA04-F755-A76700C158C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366657-B3BC-A05B-EDAA-AF40865BBF55}"/>
              </a:ext>
            </a:extLst>
          </p:cNvPr>
          <p:cNvSpPr txBox="1"/>
          <p:nvPr/>
        </p:nvSpPr>
        <p:spPr>
          <a:xfrm>
            <a:off x="509025" y="1214298"/>
            <a:ext cx="11173949" cy="23214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최신 정보를 알지 못하는 지식 컷오프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(Knowledge Cutoff):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지식이 멈춘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유통기한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시점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지식 컷오프가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월이라면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년에 일어난 뉴스나 사건을 알지 못하고 엉뚱한 답변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(Hallucination)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하게 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페이지일 때 질문할 때마다 프롬프트에 그 내용을 통째로 복사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붙여넣기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해서 모델에 넘기면 해결되니 번거로운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것 이외에는 기술적 고민이나 복잡한 아키텍처가 전혀 필요 없지만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넣을 건가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(Chunk)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검색하여 찾아내는 기술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9CBFE35-45B4-F13F-C861-6DF8F0D0F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782" y="4037365"/>
            <a:ext cx="6179127" cy="246418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0B3C5068-7F90-2FC2-3703-398DD715B2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22" y="3780677"/>
            <a:ext cx="1733792" cy="6096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B57D56C-FED0-0B9F-FFF9-CA83DD6E8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5686" y="3780677"/>
            <a:ext cx="3311847" cy="60465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3217391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97E2B-EBEA-9F7B-DD22-5226A2CB3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FDA9B9-A8F2-FF26-CFCC-3301FF0BD4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10893E-FABB-550A-2E3E-B70968F45F8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CA81CF9-97F4-B59D-0F92-CED75D4B0E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131B657-A52D-AEE9-8219-D599A781C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177" y="1579419"/>
            <a:ext cx="10061968" cy="47684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81202009-CE66-C113-F32A-53AAF55EA9D0}"/>
              </a:ext>
            </a:extLst>
          </p:cNvPr>
          <p:cNvSpPr/>
          <p:nvPr/>
        </p:nvSpPr>
        <p:spPr>
          <a:xfrm>
            <a:off x="7777019" y="3168073"/>
            <a:ext cx="3403741" cy="3352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7149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AE521-DECB-4C7B-550E-96AB3C8C7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E7395F-9E71-9934-71BE-068F993EC1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47D28B-305D-16F4-AE07-7995A048BBE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D228DAC-8363-E008-E967-11E02D1813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827D11-DC4D-6195-9060-E6F7F5BD2B2F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69250F7-7EF2-C9E3-86B5-E12DFFF117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FC97641E-FC53-6839-44F4-E3E59C3344F9}"/>
              </a:ext>
            </a:extLst>
          </p:cNvPr>
          <p:cNvSpPr/>
          <p:nvPr/>
        </p:nvSpPr>
        <p:spPr>
          <a:xfrm>
            <a:off x="6908801" y="3971636"/>
            <a:ext cx="2142836" cy="18565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500749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597FC-A1B6-AEFC-4D36-39C576FC3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E2C4CE-648D-9F1C-119A-F9145B4BA6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696F026-412A-63F3-9A9D-224461087E1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ADA9B48-AA66-AA1E-7547-4A28C6546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927" y="2273421"/>
            <a:ext cx="8541961" cy="442370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B5C10E5-AE86-BB4D-6302-CC1BB9A641DA}"/>
              </a:ext>
            </a:extLst>
          </p:cNvPr>
          <p:cNvSpPr txBox="1"/>
          <p:nvPr/>
        </p:nvSpPr>
        <p:spPr>
          <a:xfrm>
            <a:off x="572655" y="1348634"/>
            <a:ext cx="11220507" cy="7056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기후정보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https://home.openweathermap.org/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API key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발급받고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 connect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City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칸에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도시를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직접 인식하도록 클릭하고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Workflow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</p:txBody>
      </p:sp>
    </p:spTree>
    <p:extLst>
      <p:ext uri="{BB962C8B-B14F-4D97-AF65-F5344CB8AC3E}">
        <p14:creationId xmlns:p14="http://schemas.microsoft.com/office/powerpoint/2010/main" val="6765347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DBEC0-1706-857D-6BB1-247A81C3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0E4C13-434D-9D35-C46C-28F1FF87EE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D4285F1-CFC1-2AC3-D2FD-81E5F9AA7D2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2C5833D-6E3F-0E7E-4396-FD1961B9F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282" y="1336250"/>
            <a:ext cx="3198622" cy="161938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4A93FCA-5D0E-D12B-1C66-2A0BA7CB9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4339" y="1562683"/>
            <a:ext cx="4056373" cy="22187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416CB4C4-B3CC-D1D4-11B2-1940140111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9904" y="3716729"/>
            <a:ext cx="5029902" cy="253400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3698551-F81E-B1FE-DF61-1AFEB07052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60" y="2801689"/>
            <a:ext cx="2949158" cy="37568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416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97C0C-D832-305C-40AF-1646687CB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8A9B38-F38F-6CD4-0223-664DB7920C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682D8550-5200-ECF1-EED2-52386F606CE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72B741E-80E9-E076-DD6B-0C3ED40AC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925" y="1654559"/>
            <a:ext cx="5703166" cy="38693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C443897-D5D6-A7E8-2A3A-1F0C573A2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1288" y="2947017"/>
            <a:ext cx="6080655" cy="3429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2803440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99AD6-B945-FA38-65D8-F7699EC45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986B9-B48D-562F-DB3D-3FA74ECE3C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8C7FCAB-651B-2A21-0504-9805C05A4D2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653B893E-CF7B-21BC-C790-9E039DB26B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63272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E58D4C-0BCB-5478-FA2D-48173632A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8" y="1731441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72</a:t>
            </a:fld>
            <a:endParaRPr lang="en-US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5EE8A-38EC-A9ED-B4C5-598B07ED5787}"/>
              </a:ext>
            </a:extLst>
          </p:cNvPr>
          <p:cNvSpPr txBox="1"/>
          <p:nvPr/>
        </p:nvSpPr>
        <p:spPr>
          <a:xfrm>
            <a:off x="6095999" y="613667"/>
            <a:ext cx="54864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02_introduction_to_llm.ipynb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03_tokens_and_token_embeddings.ipynb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73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74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pdf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구글드라이브에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후 다운 받아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관련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D7DCB9C-E7DE-A2FA-BD4B-2E7B145AD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670" y="2459704"/>
            <a:ext cx="6603501" cy="314987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BC2BE07-302D-2461-EEFC-B2DA6A37A3E4}"/>
              </a:ext>
            </a:extLst>
          </p:cNvPr>
          <p:cNvSpPr txBox="1"/>
          <p:nvPr/>
        </p:nvSpPr>
        <p:spPr>
          <a:xfrm>
            <a:off x="6180601" y="4716907"/>
            <a:ext cx="489351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909726-101E-D2D6-69D1-4EBB12547D8B}"/>
              </a:ext>
            </a:extLst>
          </p:cNvPr>
          <p:cNvSpPr txBox="1"/>
          <p:nvPr/>
        </p:nvSpPr>
        <p:spPr>
          <a:xfrm>
            <a:off x="6180601" y="3049477"/>
            <a:ext cx="515918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552042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85CA-9D1E-9D75-FEDA-69CAEADFB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1F5E37-99A6-08E6-1016-6C9E298318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857435-D15E-8DDA-43FA-458F0DD263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C19AF0-9BBE-5077-8802-A20E4E81A058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6534AC-9622-FBD1-91F3-D256F45D3523}"/>
              </a:ext>
            </a:extLst>
          </p:cNvPr>
          <p:cNvSpPr txBox="1"/>
          <p:nvPr/>
        </p:nvSpPr>
        <p:spPr>
          <a:xfrm>
            <a:off x="994246" y="2037060"/>
            <a:ext cx="42883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RAG Google Drive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Supabase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C029A1-D519-9BE0-2F22-E201FB38419E}"/>
              </a:ext>
            </a:extLst>
          </p:cNvPr>
          <p:cNvSpPr txBox="1"/>
          <p:nvPr/>
        </p:nvSpPr>
        <p:spPr>
          <a:xfrm>
            <a:off x="6588985" y="2460894"/>
            <a:ext cx="489351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05BCCE-85D5-405D-5725-378AB59C3E83}"/>
              </a:ext>
            </a:extLst>
          </p:cNvPr>
          <p:cNvSpPr txBox="1"/>
          <p:nvPr/>
        </p:nvSpPr>
        <p:spPr>
          <a:xfrm>
            <a:off x="1103776" y="2460894"/>
            <a:ext cx="515918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830C621-077F-A2CB-1D74-9593C1E42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776" y="2855272"/>
            <a:ext cx="5159187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1C38980-F41D-7600-78CA-50FE73277B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85" y="2855272"/>
            <a:ext cx="4893512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5961319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77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1D0E954-41C6-DFA7-3857-3D1A7430A2F9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48350AB-59C2-044F-5A77-90C216F13CD9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E2C86-A7BD-7380-ED6A-7BC7D5AFD984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CBCC5-7696-BEC3-846D-A44064B88289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21114-9B46-D86B-EA5A-E62CCE9248E6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78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6F744-FF48-6B88-6448-FD8BD4350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418962-51E6-EA0E-97E1-C1BD654C0A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7AAF80-B843-F286-4D45-55083896C6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9D8BA3-D65D-68A9-AC70-C1EC7F85601C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9BDEC1-B44B-E02E-BEE5-31C3E18A4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476" y="3164840"/>
            <a:ext cx="4580830" cy="24239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D533731-7E5D-1D24-26F2-FF5C5FAEA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95" y="2471108"/>
            <a:ext cx="6085841" cy="39049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11624CFE-6264-33EF-F505-1D28AD14AD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connection error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Resume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project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6F57DC-9A17-3246-D2FA-FD0C96DB0E98}"/>
              </a:ext>
            </a:extLst>
          </p:cNvPr>
          <p:cNvSpPr txBox="1"/>
          <p:nvPr/>
        </p:nvSpPr>
        <p:spPr>
          <a:xfrm>
            <a:off x="628045" y="1207782"/>
            <a:ext cx="10832924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일시 중지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(Paused)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무료 플랜은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주일간 요청이 없으면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Pause(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일시 중지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Dashboard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접속해서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Active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상태인지 확인하고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Paused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버튼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99DF7A05-7C0C-B587-4ED9-091B57ABCD16}"/>
              </a:ext>
            </a:extLst>
          </p:cNvPr>
          <p:cNvSpPr/>
          <p:nvPr/>
        </p:nvSpPr>
        <p:spPr>
          <a:xfrm>
            <a:off x="6888480" y="3810000"/>
            <a:ext cx="335280" cy="1097280"/>
          </a:xfrm>
          <a:prstGeom prst="rightArrow">
            <a:avLst>
              <a:gd name="adj1" fmla="val 68519"/>
              <a:gd name="adj2" fmla="val 50000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7D97DBF-F1A3-4664-8191-7A68A71294D7}"/>
              </a:ext>
            </a:extLst>
          </p:cNvPr>
          <p:cNvSpPr/>
          <p:nvPr/>
        </p:nvSpPr>
        <p:spPr>
          <a:xfrm>
            <a:off x="4245082" y="4333875"/>
            <a:ext cx="2470479" cy="1053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703C43-B118-8E1B-8216-472FF2727294}"/>
              </a:ext>
            </a:extLst>
          </p:cNvPr>
          <p:cNvSpPr/>
          <p:nvPr/>
        </p:nvSpPr>
        <p:spPr>
          <a:xfrm>
            <a:off x="9945521" y="4724400"/>
            <a:ext cx="970129" cy="457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00127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D225-6B48-9565-57D8-2A90AF6A1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8F0CB-3DA7-3A13-00FF-D553371CAF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9240F00-CA2A-F0E4-D63B-FE9CF03E864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49D43B26-3235-5F22-9BBF-2C6E6523C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41212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123" y="2383585"/>
            <a:ext cx="6463277" cy="42828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C75B04-C7FD-DBA6-F6CE-824219A6AAE9}"/>
              </a:ext>
            </a:extLst>
          </p:cNvPr>
          <p:cNvSpPr txBox="1"/>
          <p:nvPr/>
        </p:nvSpPr>
        <p:spPr>
          <a:xfrm>
            <a:off x="1601306" y="2383585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D4E57-7AC8-2AC9-5AEA-E285F502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C4485CB-0338-D3A1-C71B-A6E9EDFF6AD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: 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39A453-CB87-11BB-304D-C314DBB1E5D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3EB1C61-1966-3A25-FCF9-BB49B77C48A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C163C6-D7A9-7291-A0C6-117516F1CA2A}"/>
              </a:ext>
            </a:extLst>
          </p:cNvPr>
          <p:cNvSpPr txBox="1"/>
          <p:nvPr/>
        </p:nvSpPr>
        <p:spPr>
          <a:xfrm>
            <a:off x="6681817" y="2004386"/>
            <a:ext cx="521970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테이블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(int8):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문서 데이터의 고유 식별자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기본키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Primary Key)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content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(text):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텍스트 데이터 내용이 저장되는 컬럼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문서 본문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metadata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jsonb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관련 부가 정보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URL,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생성 일자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파일명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저장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(vector):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PDF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수치화한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Size: 200)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벡터 값으로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수치화한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벡터값이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저장되는 컬럼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24F3E9-B45B-482D-A0CC-464DB026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36" y="1709635"/>
            <a:ext cx="5937797" cy="4467486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7C5681B1-A2AA-FC4C-002A-F283C3363EC7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81817" y="4227374"/>
            <a:ext cx="5219700" cy="175432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n8n_chat_histories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대화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유지: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질문과 답변을 기억하여 연속되는 질문을 이해하고 문맥에 맞는 대답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다중 대화(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Multi-turn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Conversation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지원: 단발성 질의응답이 아닌, 대화가 길어지는 상황에서 일관된 답변 톤과 규칙을 유지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LLM 전달 입력: n8n이나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프레임워크에서 [사용자 질문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chat_history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검색된 문서]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하나로 묶어 LLM(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등)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함께 보낼 때 사용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562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방금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잠에서 깨어난 과학자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7E4DA3C-AEE3-50CD-D393-14844B3F6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52" y="1421579"/>
            <a:ext cx="10945295" cy="49544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DD8C2C8-34AB-522B-2B93-0185E1705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217" y="3429000"/>
            <a:ext cx="2054408" cy="27723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A0B6B0-83EB-BD25-3153-9E3C01D44CD8}"/>
              </a:ext>
            </a:extLst>
          </p:cNvPr>
          <p:cNvSpPr/>
          <p:nvPr/>
        </p:nvSpPr>
        <p:spPr>
          <a:xfrm>
            <a:off x="566202" y="1362723"/>
            <a:ext cx="2138898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61F14F-87F3-3DA8-FFA7-4AAD5CA5C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95865"/>
            <a:ext cx="10932560" cy="4083314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F40F9E-BEB9-9E19-1ED1-710134DDE7FE}"/>
              </a:ext>
            </a:extLst>
          </p:cNvPr>
          <p:cNvSpPr/>
          <p:nvPr/>
        </p:nvSpPr>
        <p:spPr>
          <a:xfrm>
            <a:off x="9849176" y="4138402"/>
            <a:ext cx="1331585" cy="500273"/>
          </a:xfrm>
          <a:prstGeom prst="rect">
            <a:avLst/>
          </a:prstGeom>
          <a:noFill/>
          <a:ln w="38100">
            <a:solidFill>
              <a:srgbClr val="DD46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2F57479-AF75-B65E-D793-B1D32FBAB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699" y="2981343"/>
            <a:ext cx="8515827" cy="357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307" y="1310594"/>
            <a:ext cx="3562774" cy="314411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313" y="4016617"/>
            <a:ext cx="3562775" cy="21892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7973" y="1311946"/>
            <a:ext cx="3890754" cy="249495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7973" y="3966350"/>
            <a:ext cx="3880722" cy="2465093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214954" y="5226514"/>
            <a:ext cx="2118736" cy="917784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98628" y="1929975"/>
            <a:ext cx="2826930" cy="2056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917678" y="5202974"/>
            <a:ext cx="2826930" cy="91471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3F602B9-BEC5-19FB-AD81-AA92C731F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connection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6057C-A3D4-08E4-2604-A9F72F55B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734CC4E2-6E6B-E253-994B-C02D0B675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179" y="1293037"/>
            <a:ext cx="6990191" cy="43091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3EFF87-AE7C-7A3F-C662-58EBE90787D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B4461C-C6B6-19AD-1ABC-C68F1E310E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57F4AA-108B-596F-AD8F-5FA0B623C48D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B22ED87-3367-FBFA-0E3F-673B983FC3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C0FE73A-529D-EC36-46DC-28B804F5E363}"/>
              </a:ext>
            </a:extLst>
          </p:cNvPr>
          <p:cNvSpPr/>
          <p:nvPr/>
        </p:nvSpPr>
        <p:spPr>
          <a:xfrm>
            <a:off x="3930812" y="1270322"/>
            <a:ext cx="895831" cy="3038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741D3CCB-B69D-5FE8-62D2-50F44DC2A9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6604" y="1927313"/>
            <a:ext cx="4899357" cy="47380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430929-FEC0-5982-1FC0-C2781E889A6E}"/>
              </a:ext>
            </a:extLst>
          </p:cNvPr>
          <p:cNvSpPr txBox="1"/>
          <p:nvPr/>
        </p:nvSpPr>
        <p:spPr>
          <a:xfrm>
            <a:off x="8065511" y="1927313"/>
            <a:ext cx="3868795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Connect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Framework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방법을 그대로 따라 하기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70B0E5-D172-8F2F-D251-7B4B2FB75DBF}"/>
              </a:ext>
            </a:extLst>
          </p:cNvPr>
          <p:cNvSpPr/>
          <p:nvPr/>
        </p:nvSpPr>
        <p:spPr>
          <a:xfrm>
            <a:off x="3094653" y="2733676"/>
            <a:ext cx="895831" cy="8799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311786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DB707-253F-B1E3-3E07-2C7AC1146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91EF6D5A-C30E-FAE2-5039-36ED9A5A8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179" y="1293037"/>
            <a:ext cx="6990191" cy="43091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24A2928-E26A-055F-A052-1CC88BF0A69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A6E2391-4586-F02D-74FF-A5120956B25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6223F53-A7F7-9B9A-BA7D-C432076FC73F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46C8B8C-832B-7D4B-EE24-B393D22D2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 :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36E8863-0CAF-25B4-E02A-05F35BE8C8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8853" y="1848672"/>
            <a:ext cx="5098455" cy="45273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788CCD-52A3-C5BC-B719-4736B8B0D7FA}"/>
              </a:ext>
            </a:extLst>
          </p:cNvPr>
          <p:cNvSpPr txBox="1"/>
          <p:nvPr/>
        </p:nvSpPr>
        <p:spPr>
          <a:xfrm>
            <a:off x="6711021" y="5573517"/>
            <a:ext cx="5048803" cy="705642"/>
          </a:xfrm>
          <a:prstGeom prst="rect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SUPABASE_URL=https://qezdlsaohqcqsmhttsve.supabase.co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SUPABASE_KEY=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sb_secret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_????_RBBsYSa4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D624CD8-F1D9-A74E-512C-026F7E59B1A3}"/>
              </a:ext>
            </a:extLst>
          </p:cNvPr>
          <p:cNvSpPr/>
          <p:nvPr/>
        </p:nvSpPr>
        <p:spPr>
          <a:xfrm>
            <a:off x="3930812" y="1270322"/>
            <a:ext cx="895831" cy="3038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35664E1-9276-B3B8-41BD-04CD7BFB90B7}"/>
              </a:ext>
            </a:extLst>
          </p:cNvPr>
          <p:cNvSpPr/>
          <p:nvPr/>
        </p:nvSpPr>
        <p:spPr>
          <a:xfrm>
            <a:off x="5204610" y="4540066"/>
            <a:ext cx="2758772" cy="27500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93C2BDB-602D-47E4-EB4C-91A719DFFBDE}"/>
              </a:ext>
            </a:extLst>
          </p:cNvPr>
          <p:cNvSpPr/>
          <p:nvPr/>
        </p:nvSpPr>
        <p:spPr>
          <a:xfrm>
            <a:off x="5204610" y="5095701"/>
            <a:ext cx="2758772" cy="27500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7DC2FC-9AB3-532B-774B-4185A5F38EDF}"/>
              </a:ext>
            </a:extLst>
          </p:cNvPr>
          <p:cNvSpPr txBox="1"/>
          <p:nvPr/>
        </p:nvSpPr>
        <p:spPr>
          <a:xfrm>
            <a:off x="7855961" y="3132189"/>
            <a:ext cx="4096998" cy="2062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가상환경을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(Optional)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python-dotenv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환경변수 설정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최상위 디렉터리에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파일을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화면에 표시된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키를 입력</a:t>
            </a:r>
          </a:p>
        </p:txBody>
      </p:sp>
    </p:spTree>
    <p:extLst>
      <p:ext uri="{BB962C8B-B14F-4D97-AF65-F5344CB8AC3E}">
        <p14:creationId xmlns:p14="http://schemas.microsoft.com/office/powerpoint/2010/main" val="40150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5" grpId="0" animBg="1"/>
      <p:bldP spid="1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7D05D-B681-A0FF-44A8-B7EDD3E40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F580ED6-4B46-2DD8-D23D-3B1A5F3FFC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F84CB29-200A-5149-9044-0F98C52F37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 :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70C6C1-4197-0D31-07FF-6049C3DD0DB2}"/>
              </a:ext>
            </a:extLst>
          </p:cNvPr>
          <p:cNvSpPr txBox="1"/>
          <p:nvPr/>
        </p:nvSpPr>
        <p:spPr>
          <a:xfrm>
            <a:off x="581628" y="1398176"/>
            <a:ext cx="8365601" cy="3108543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dotenv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load_dotenv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Client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.env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 로드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load_dotenv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("SUPABASE_URL"); key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("SUPABASE_KEY")</a:t>
            </a: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not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or not key: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raise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ValueError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(".env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파일에서읽기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실패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>
              <a:buNone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Client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key)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response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supabase.table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("documents").select("*").execute()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doc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response.data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doc.keys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컬럼 이름 확인용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8FE44-B05C-D62C-4056-263146456CF4}"/>
              </a:ext>
            </a:extLst>
          </p:cNvPr>
          <p:cNvSpPr txBox="1"/>
          <p:nvPr/>
        </p:nvSpPr>
        <p:spPr>
          <a:xfrm>
            <a:off x="6362386" y="3913804"/>
            <a:ext cx="5571920" cy="2462213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doc in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response.data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print("===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본문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딕셔너리에서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키 이름으로 접근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컬럼 이름을 모르면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doc.keys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확인 가능합니다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("content") or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("text") or doc)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print("\n===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메타데이터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metadata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("metadata", {})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if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isinstance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(metadata,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dict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print("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파일명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metadata.get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document_title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"))  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print("-" * 50)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45B8A29-9393-CF39-254A-0E3683470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628" y="4506719"/>
            <a:ext cx="5132822" cy="1869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46275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84036" y="170751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036" y="216774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Mid-Term Project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20550</TotalTime>
  <Words>3274</Words>
  <Application>Microsoft Office PowerPoint</Application>
  <PresentationFormat>와이드스크린</PresentationFormat>
  <Paragraphs>597</Paragraphs>
  <Slides>106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106</vt:i4>
      </vt:variant>
    </vt:vector>
  </HeadingPairs>
  <TitlesOfParts>
    <vt:vector size="118" baseType="lpstr">
      <vt:lpstr>D2Coding</vt:lpstr>
      <vt:lpstr>MS Gothic</vt:lpstr>
      <vt:lpstr>Sorts Mill Goudy</vt:lpstr>
      <vt:lpstr>맑은 고딕</vt:lpstr>
      <vt:lpstr>Batang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Exercise Docker</vt:lpstr>
      <vt:lpstr>n8n Overview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Triggers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Credentials</vt:lpstr>
      <vt:lpstr>PowerPoint 프레젠테이션</vt:lpstr>
      <vt:lpstr>PowerPoint 프레젠테이션</vt:lpstr>
      <vt:lpstr>PowerPoint 프레젠테이션</vt:lpstr>
      <vt:lpstr>n8n 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Mid-Term Project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271</cp:revision>
  <dcterms:created xsi:type="dcterms:W3CDTF">2026-04-06T01:00:39Z</dcterms:created>
  <dcterms:modified xsi:type="dcterms:W3CDTF">2026-09-28T04:14:38Z</dcterms:modified>
  <cp:version/>
</cp:coreProperties>
</file>