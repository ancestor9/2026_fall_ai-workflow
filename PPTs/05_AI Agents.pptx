
<file path=[Content_Types].xml><?xml version="1.0" encoding="utf-8"?>
<Types xmlns="http://schemas.openxmlformats.org/package/2006/content-types">
  <Default Extension="0&amp;ixid=M3wxMjA3fDB8MHxzZWFyY2h8MXx8aHVtYW4lMjBuZXVyb258ZW58MHx8MHx8fDA" ContentType="image/jpeg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0"/>
  </p:notesMasterIdLst>
  <p:handoutMasterIdLst>
    <p:handoutMasterId r:id="rId51"/>
  </p:handoutMasterIdLst>
  <p:sldIdLst>
    <p:sldId id="256" r:id="rId2"/>
    <p:sldId id="1149" r:id="rId3"/>
    <p:sldId id="1167" r:id="rId4"/>
    <p:sldId id="1168" r:id="rId5"/>
    <p:sldId id="1169" r:id="rId6"/>
    <p:sldId id="1171" r:id="rId7"/>
    <p:sldId id="388" r:id="rId8"/>
    <p:sldId id="389" r:id="rId9"/>
    <p:sldId id="1193" r:id="rId10"/>
    <p:sldId id="1197" r:id="rId11"/>
    <p:sldId id="1198" r:id="rId12"/>
    <p:sldId id="1170" r:id="rId13"/>
    <p:sldId id="1199" r:id="rId14"/>
    <p:sldId id="1172" r:id="rId15"/>
    <p:sldId id="1177" r:id="rId16"/>
    <p:sldId id="1178" r:id="rId17"/>
    <p:sldId id="1194" r:id="rId18"/>
    <p:sldId id="401" r:id="rId19"/>
    <p:sldId id="433" r:id="rId20"/>
    <p:sldId id="432" r:id="rId21"/>
    <p:sldId id="1179" r:id="rId22"/>
    <p:sldId id="1183" r:id="rId23"/>
    <p:sldId id="382" r:id="rId24"/>
    <p:sldId id="1220" r:id="rId25"/>
    <p:sldId id="1201" r:id="rId26"/>
    <p:sldId id="1196" r:id="rId27"/>
    <p:sldId id="1165" r:id="rId28"/>
    <p:sldId id="1195" r:id="rId29"/>
    <p:sldId id="1202" r:id="rId30"/>
    <p:sldId id="1212" r:id="rId31"/>
    <p:sldId id="1144" r:id="rId32"/>
    <p:sldId id="1204" r:id="rId33"/>
    <p:sldId id="1190" r:id="rId34"/>
    <p:sldId id="1146" r:id="rId35"/>
    <p:sldId id="1208" r:id="rId36"/>
    <p:sldId id="1206" r:id="rId37"/>
    <p:sldId id="1217" r:id="rId38"/>
    <p:sldId id="1203" r:id="rId39"/>
    <p:sldId id="1218" r:id="rId40"/>
    <p:sldId id="1219" r:id="rId41"/>
    <p:sldId id="1205" r:id="rId42"/>
    <p:sldId id="1207" r:id="rId43"/>
    <p:sldId id="1214" r:id="rId44"/>
    <p:sldId id="1213" r:id="rId45"/>
    <p:sldId id="1211" r:id="rId46"/>
    <p:sldId id="1215" r:id="rId47"/>
    <p:sldId id="1216" r:id="rId48"/>
    <p:sldId id="1192" r:id="rId49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149"/>
            <p14:sldId id="1167"/>
            <p14:sldId id="1168"/>
            <p14:sldId id="1169"/>
            <p14:sldId id="1171"/>
            <p14:sldId id="388"/>
            <p14:sldId id="389"/>
            <p14:sldId id="1193"/>
            <p14:sldId id="1197"/>
            <p14:sldId id="1198"/>
            <p14:sldId id="1170"/>
            <p14:sldId id="1199"/>
            <p14:sldId id="1172"/>
            <p14:sldId id="1177"/>
            <p14:sldId id="1178"/>
            <p14:sldId id="1194"/>
            <p14:sldId id="401"/>
            <p14:sldId id="433"/>
            <p14:sldId id="432"/>
            <p14:sldId id="1179"/>
            <p14:sldId id="1183"/>
            <p14:sldId id="382"/>
            <p14:sldId id="1220"/>
            <p14:sldId id="1201"/>
            <p14:sldId id="1196"/>
            <p14:sldId id="1165"/>
            <p14:sldId id="1195"/>
            <p14:sldId id="1202"/>
            <p14:sldId id="1212"/>
            <p14:sldId id="1144"/>
            <p14:sldId id="1204"/>
            <p14:sldId id="1190"/>
            <p14:sldId id="1146"/>
            <p14:sldId id="1208"/>
            <p14:sldId id="1206"/>
            <p14:sldId id="1217"/>
            <p14:sldId id="1203"/>
            <p14:sldId id="1218"/>
            <p14:sldId id="1219"/>
            <p14:sldId id="1205"/>
            <p14:sldId id="1207"/>
            <p14:sldId id="1214"/>
            <p14:sldId id="1213"/>
            <p14:sldId id="1211"/>
            <p14:sldId id="1215"/>
            <p14:sldId id="1216"/>
            <p14:sldId id="1192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3C7FA8"/>
    <a:srgbClr val="FF99FF"/>
    <a:srgbClr val="D24726"/>
    <a:srgbClr val="FF9B45"/>
    <a:srgbClr val="DD462F"/>
    <a:srgbClr val="404040"/>
    <a:srgbClr val="F8CFB6"/>
    <a:srgbClr val="F8CAB6"/>
    <a:srgbClr val="9239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4B1156A-380E-4F78-BDF5-A606A8083BF9}" styleName="보통 스타일 4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3062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874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5021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2026-07-31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2026-07-31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altLang="ko-KR" noProof="0" smtClean="0"/>
              <a:pPr/>
              <a:t>45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17234792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324FB-1428-7997-5A13-DA41CC40C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848CA06-686A-8D0C-812C-7733E1246C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CF8BB19-A187-F931-E674-5BB8FB8F43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578189-8A00-1617-8345-37103702AE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altLang="ko-KR" noProof="0" smtClean="0"/>
              <a:pPr/>
              <a:t>46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8414619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C29BF-7BA8-A483-2A6A-E617340C7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DF25285-D9D4-E03B-A2AA-CADED504EE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548FBC3-2055-DFBC-6643-8D1A30FE9D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C74E24-57F2-EE5B-5799-07F4C78AF1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altLang="ko-KR" noProof="0" smtClean="0"/>
              <a:pPr/>
              <a:t>47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436916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2026-07-31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7/31/2026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2026-07-31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lmpo/a-brief-history-of-ai-with-deep-learning-26f7948bc87b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sv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www.youtube.com/watch?v=aircAruvnKk&amp;list=PLZHQObOWTQDNU6R1_67000Dx_ZCJB-3pi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png"/><Relationship Id="rId5" Type="http://schemas.openxmlformats.org/officeDocument/2006/relationships/image" Target="../media/image24.png"/><Relationship Id="rId4" Type="http://schemas.openxmlformats.org/officeDocument/2006/relationships/hyperlink" Target="https://www.youtube.com/watch?v=aircAruvnKk&amp;list=PLZHQObOWTQDNU6R1_67000Dx_ZCJB-3pi?start=190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0&amp;ixid=M3wxMjA3fDB8MHxzZWFyY2h8MXx8aHVtYW4lMjBuZXVyb258ZW58MHx8MHx8fDA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unsplash.com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s://playground.tensorflow.org/" TargetMode="Externa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ord2vec.kr/search/" TargetMode="External"/><Relationship Id="rId4" Type="http://schemas.openxmlformats.org/officeDocument/2006/relationships/hyperlink" Target="https://www.101ai.net/text/word-embed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hyperlink" Target="https://projector.tensorflow.org/" TargetMode="Externa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5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8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hyperlink" Target="https://huggingface.co/learn/nlp-course/chapter1/4?fw=pt" TargetMode="External"/><Relationship Id="rId9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hyperlink" Target="https://platform.openai.com/tokenizer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8.sv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svg"/><Relationship Id="rId3" Type="http://schemas.openxmlformats.org/officeDocument/2006/relationships/image" Target="../media/image50.png"/><Relationship Id="rId7" Type="http://schemas.openxmlformats.org/officeDocument/2006/relationships/image" Target="../media/image52.png"/><Relationship Id="rId2" Type="http://schemas.openxmlformats.org/officeDocument/2006/relationships/hyperlink" Target="https://github.com/ancestor9/Special_notes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1.svg"/><Relationship Id="rId5" Type="http://schemas.openxmlformats.org/officeDocument/2006/relationships/image" Target="../media/image3.png"/><Relationship Id="rId4" Type="http://schemas.openxmlformats.org/officeDocument/2006/relationships/hyperlink" Target="https://gradio.app/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5.png"/><Relationship Id="rId4" Type="http://schemas.openxmlformats.org/officeDocument/2006/relationships/hyperlink" Target="https://antigravity.google/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0.svg"/><Relationship Id="rId5" Type="http://schemas.openxmlformats.org/officeDocument/2006/relationships/image" Target="../media/image59.png"/><Relationship Id="rId4" Type="http://schemas.openxmlformats.org/officeDocument/2006/relationships/image" Target="../media/image58.jpe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gradio.app/" TargetMode="External"/><Relationship Id="rId7" Type="http://schemas.openxmlformats.org/officeDocument/2006/relationships/image" Target="../media/image53.svg"/><Relationship Id="rId2" Type="http://schemas.openxmlformats.org/officeDocument/2006/relationships/hyperlink" Target="https://github.com/ancestor9/Special_notes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2.png"/><Relationship Id="rId5" Type="http://schemas.openxmlformats.org/officeDocument/2006/relationships/image" Target="../media/image51.sv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sv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sv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sv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oKOuAt7uUcg&amp;t=858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ww.google.com/aclk?sa=L&amp;pf=1&amp;ai=DChsSEwj0kZnRofaVAxUc5BYFHVO8DF4YACICCAEQABoCdGw&amp;co=1&amp;ase=2&amp;gclid=CjwKCAjwpqHTBhAcEiwAj2Aful-y9Dh0rehkhku17HPYHW471ICRfaPzaNVJ6WffleNmv_mxG2O9VxoCDQYQAvD_BwE&amp;ei=-hdpap3HKYa-vr0PhfPBwQk&amp;cid=CAAS0wHkaDmWtQwVzcfyvm-YOaBM-4vZlWp0ZgvZHM1mupQ1Da0SMjd4vVP7mO4kjV6eqhRLmd0yLwaamx11ZqpAyCXSk5Gdy_L-7aAgRcaFJkC66ZIIEz_xKG_tJHrrPeJR8Lc93fBy3HW7yhKJ7GieJEody6brXzzn_xkDR2cij-F0D6xuS0GinN1LT-lLrLLJ_VAVRkF7MDdv7_ijd-F3CcW6CiVu-lJ3u53oc18b37-5jOGD-SE8qRS8VUr5WjCFRVDkI32qro2pzsK3tLN-ruk0n_zp&amp;cce=2&amp;category=acrcp_v1_32&amp;sig=AOD64_0ZsvARYv0DwslxqfxQzh3toEWb2g&amp;q&amp;sqi=2&amp;nis=4&amp;adurl=https://kiro.dev?trk%3Db49338ba-9c4b-4632-8663-3c92e0b1dd3f%26sc_channel%3Dps%26trk%3Db49338ba-9c4b-4632-8663-3c92e0b1dd3f%26sc_channel%3Dps%26ef_id%3DCjwKCAjwpqHTBhAcEiwAj2Aful-y9Dh0rehkhku17HPYHW471ICRfaPzaNVJ6WffleNmv_mxG2O9VxoCDQYQAvD_BwE:G:s%26s_kwcid%3DAL!4422!3!808827549821!p!!g!!cline!23846236691!198027731442%26gad_source%3D1%26gad_campaignid%3D23846236691%26gbraid%3D0AAAAADjHtp_VxAvJgEl1lxoOGmXPiwPyi%26gclid%3DCjwKCAjwpqHTBhAcEiwAj2Aful-y9Dh0rehkhku17HPYHW471ICRfaPzaNVJ6WffleNmv_mxG2O9VxoCDQYQAvD_BwE&amp;ved=2ahUKEwidrJPRofaVAxUGn68BHYV5MJgQ0Qx6BAgMEAE" TargetMode="External"/><Relationship Id="rId4" Type="http://schemas.openxmlformats.org/officeDocument/2006/relationships/image" Target="../media/image7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google-gemini/cookbook/blob/main/quickstarts/Get_started.ipynb#scrollTo=eVmFDcYOSNiV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wXc7-vFSd5U&amp;t=82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youtube.com/watch?v=WcmQPMrCYV8" TargetMode="Externa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sv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81025" y="1164324"/>
            <a:ext cx="11344275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AI Agent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84195" y="4456327"/>
            <a:ext cx="9582736" cy="12373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pPr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0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</a:t>
            </a:r>
            <a:r>
              <a:rPr lang="ko-KR" altLang="en-US" sz="2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교수</a:t>
            </a:r>
            <a:endParaRPr lang="en-US" altLang="ko-KR" sz="20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1806B-3677-1D38-9F7D-896DBF021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00685D-02FD-BF8B-B109-17CCFF94EC24}"/>
              </a:ext>
            </a:extLst>
          </p:cNvPr>
          <p:cNvSpPr/>
          <p:nvPr/>
        </p:nvSpPr>
        <p:spPr>
          <a:xfrm>
            <a:off x="634680" y="2019300"/>
            <a:ext cx="7118670" cy="5810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B71861-A105-753E-F5E8-C57C8BA99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1059EA3-E600-8D96-DF93-F92E75733DC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목차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7B32EC-3117-37D9-7774-7F4DAE2BF2FA}"/>
              </a:ext>
            </a:extLst>
          </p:cNvPr>
          <p:cNvSpPr txBox="1"/>
          <p:nvPr/>
        </p:nvSpPr>
        <p:spPr>
          <a:xfrm>
            <a:off x="1085850" y="1829447"/>
            <a:ext cx="8858250" cy="2944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는 왜 똑똑하지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는 어떻게 학습하지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생성형 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LLM agent</a:t>
            </a:r>
          </a:p>
        </p:txBody>
      </p:sp>
    </p:spTree>
    <p:extLst>
      <p:ext uri="{BB962C8B-B14F-4D97-AF65-F5344CB8AC3E}">
        <p14:creationId xmlns:p14="http://schemas.microsoft.com/office/powerpoint/2010/main" val="1633861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B2CCE-9E22-C556-7CE6-6699F2E89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521050-6C32-8CE4-726B-F2263E909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3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925D974-B59F-BC6E-A852-008B7BED479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사람이</a:t>
            </a:r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규칙을 직접 찾기</a:t>
            </a:r>
            <a:endParaRPr lang="en-US" altLang="ko-KR" sz="2800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1487E541-C596-3AD9-D2C4-466D32D5B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740" y="1248421"/>
            <a:ext cx="10886520" cy="949833"/>
          </a:xfrm>
        </p:spPr>
        <p:txBody>
          <a:bodyPr>
            <a:normAutofit lnSpcReduction="10000"/>
          </a:bodyPr>
          <a:lstStyle/>
          <a:p>
            <a:pPr>
              <a:lnSpc>
                <a:spcPct val="170000"/>
              </a:lnSpc>
              <a:buClr>
                <a:srgbClr val="FFC000"/>
              </a:buClr>
            </a:pPr>
            <a:r>
              <a:rPr lang="ko-KR" altLang="en-US" sz="18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머신러닝이전</a:t>
            </a:r>
            <a:r>
              <a:rPr lang="ko-KR" altLang="en-US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 시대에는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관측된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데이터에 존재하는 규칙성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(Patterns)</a:t>
            </a:r>
            <a:r>
              <a:rPr lang="ko-KR" altLang="en-US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을 사람이 직접 궁리하고 발견하여 새로운 데이터를 예측 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귀납법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E0BC085A-BB1A-1BED-274C-AAD6FA6203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2297" y="3287863"/>
            <a:ext cx="6307110" cy="3041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생각 풍선: 구름 모양 4">
            <a:extLst>
              <a:ext uri="{FF2B5EF4-FFF2-40B4-BE49-F238E27FC236}">
                <a16:creationId xmlns:a16="http://schemas.microsoft.com/office/drawing/2014/main" id="{93D8FD33-93EE-688B-10FA-17B086B8F883}"/>
              </a:ext>
            </a:extLst>
          </p:cNvPr>
          <p:cNvSpPr/>
          <p:nvPr/>
        </p:nvSpPr>
        <p:spPr>
          <a:xfrm>
            <a:off x="267856" y="2410691"/>
            <a:ext cx="3260435" cy="1856510"/>
          </a:xfrm>
          <a:prstGeom prst="cloudCallout">
            <a:avLst>
              <a:gd name="adj1" fmla="val 75056"/>
              <a:gd name="adj2" fmla="val 26484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방대한 데이터들을 직접 수년간 궁리하고 계산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(Compute)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한 끝에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행성의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공전궤도는 원이 아닌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타원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＇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이라는  사실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규칙성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패턴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을 발견</a:t>
            </a:r>
          </a:p>
        </p:txBody>
      </p:sp>
    </p:spTree>
    <p:extLst>
      <p:ext uri="{BB962C8B-B14F-4D97-AF65-F5344CB8AC3E}">
        <p14:creationId xmlns:p14="http://schemas.microsoft.com/office/powerpoint/2010/main" val="2359150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C8A06-4F59-A189-4D58-D447F8CD3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CD31A90-A090-FF32-8FDF-9608161D9F1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cap="none" dirty="0" err="1">
                <a:latin typeface="D2Coding" panose="020B0609020101020101" pitchFamily="49" charset="-127"/>
                <a:ea typeface="D2Coding" panose="020B0609020101020101" pitchFamily="49" charset="-127"/>
              </a:rPr>
              <a:t>머신러닝</a:t>
            </a:r>
            <a:endParaRPr lang="en-US" altLang="ko-KR" sz="2800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030137-F5E6-8F4A-FD2A-F5EE5C9BE80B}"/>
              </a:ext>
            </a:extLst>
          </p:cNvPr>
          <p:cNvSpPr txBox="1"/>
          <p:nvPr/>
        </p:nvSpPr>
        <p:spPr>
          <a:xfrm>
            <a:off x="552449" y="1248422"/>
            <a:ext cx="11001376" cy="878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FFC000"/>
              </a:buClr>
            </a:pPr>
            <a:r>
              <a:rPr lang="ko-KR" altLang="en-US" sz="1800" dirty="0">
                <a:latin typeface="+mn-lt"/>
                <a:ea typeface="D2Coding" panose="020B0609020101020101" pitchFamily="49" charset="-127"/>
              </a:rPr>
              <a:t>과거</a:t>
            </a:r>
            <a:r>
              <a:rPr lang="en-US" altLang="ko-KR" sz="1800" dirty="0">
                <a:latin typeface="+mn-lt"/>
                <a:ea typeface="D2Coding" panose="020B0609020101020101" pitchFamily="49" charset="-127"/>
              </a:rPr>
              <a:t> </a:t>
            </a:r>
            <a:r>
              <a:rPr lang="ko-KR" altLang="en-US" sz="1800" dirty="0">
                <a:latin typeface="+mn-lt"/>
                <a:ea typeface="D2Coding" panose="020B0609020101020101" pitchFamily="49" charset="-127"/>
              </a:rPr>
              <a:t>데이터에 존재하는 규칙성</a:t>
            </a:r>
            <a:r>
              <a:rPr lang="en-US" altLang="ko-KR" sz="1800" dirty="0">
                <a:latin typeface="+mn-lt"/>
                <a:ea typeface="D2Coding" panose="020B0609020101020101" pitchFamily="49" charset="-127"/>
              </a:rPr>
              <a:t>(Patterns)</a:t>
            </a:r>
            <a:r>
              <a:rPr lang="ko-KR" altLang="en-US" sz="1800" dirty="0">
                <a:latin typeface="+mn-lt"/>
                <a:ea typeface="D2Coding" panose="020B0609020101020101" pitchFamily="49" charset="-127"/>
              </a:rPr>
              <a:t>을 컴퓨터가 발견하게 하여 새로운 데이터를 예측하는 것이 </a:t>
            </a:r>
            <a:r>
              <a:rPr lang="ko-KR" altLang="en-US" sz="1800" dirty="0" err="1">
                <a:latin typeface="+mn-lt"/>
                <a:ea typeface="D2Coding" panose="020B0609020101020101" pitchFamily="49" charset="-127"/>
              </a:rPr>
              <a:t>머신러닝</a:t>
            </a:r>
            <a:r>
              <a:rPr lang="en-US" altLang="ko-KR" sz="1800" dirty="0">
                <a:latin typeface="+mn-lt"/>
                <a:ea typeface="D2Coding" panose="020B0609020101020101" pitchFamily="49" charset="-127"/>
              </a:rPr>
              <a:t>(Machine Learning)</a:t>
            </a:r>
            <a:r>
              <a:rPr lang="ko-KR" altLang="en-US" sz="1800" dirty="0">
                <a:latin typeface="+mn-lt"/>
                <a:ea typeface="D2Coding" panose="020B0609020101020101" pitchFamily="49" charset="-127"/>
              </a:rPr>
              <a:t> </a:t>
            </a:r>
            <a:r>
              <a:rPr lang="en-US" altLang="ko-KR" dirty="0"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en-US" altLang="ko-KR" sz="1800" dirty="0">
                <a:latin typeface="+mn-lt"/>
                <a:ea typeface="D2Coding" panose="020B0609020101020101" pitchFamily="49" charset="-127"/>
              </a:rPr>
              <a:t>New</a:t>
            </a:r>
            <a:r>
              <a:rPr lang="ko-KR" altLang="en-US" sz="1800" dirty="0">
                <a:latin typeface="+mn-lt"/>
                <a:ea typeface="D2Coding" panose="020B0609020101020101" pitchFamily="49" charset="-127"/>
              </a:rPr>
              <a:t> </a:t>
            </a:r>
            <a:r>
              <a:rPr lang="en-US" altLang="ko-KR" sz="1800" dirty="0">
                <a:latin typeface="+mn-lt"/>
                <a:ea typeface="D2Coding" panose="020B0609020101020101" pitchFamily="49" charset="-127"/>
              </a:rPr>
              <a:t>Paradigm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B4665AD-7B35-C5FC-9EC1-E7A307943170}"/>
              </a:ext>
            </a:extLst>
          </p:cNvPr>
          <p:cNvSpPr/>
          <p:nvPr/>
        </p:nvSpPr>
        <p:spPr>
          <a:xfrm>
            <a:off x="4340860" y="2637089"/>
            <a:ext cx="2641600" cy="118872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Classical </a:t>
            </a:r>
          </a:p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Programming</a:t>
            </a:r>
            <a:endParaRPr lang="ko-KR" altLang="en-US" sz="20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A8B2E9C-E853-7BDA-629C-3E96758506F4}"/>
              </a:ext>
            </a:extLst>
          </p:cNvPr>
          <p:cNvSpPr/>
          <p:nvPr/>
        </p:nvSpPr>
        <p:spPr>
          <a:xfrm>
            <a:off x="4340860" y="4730684"/>
            <a:ext cx="2641600" cy="118872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Machine </a:t>
            </a:r>
          </a:p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Learning</a:t>
            </a:r>
            <a:endParaRPr lang="ko-KR" altLang="en-US" sz="20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8" name="그래픽 7" descr="줄 화살표: 일자형">
            <a:extLst>
              <a:ext uri="{FF2B5EF4-FFF2-40B4-BE49-F238E27FC236}">
                <a16:creationId xmlns:a16="http://schemas.microsoft.com/office/drawing/2014/main" id="{D7DBF5B4-C0EB-790C-0371-CED90C1720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3322001" y="2616769"/>
            <a:ext cx="701040" cy="701040"/>
          </a:xfrm>
          <a:prstGeom prst="rect">
            <a:avLst/>
          </a:prstGeom>
        </p:spPr>
      </p:pic>
      <p:pic>
        <p:nvPicPr>
          <p:cNvPr id="9" name="그래픽 8" descr="줄 화살표: 일자형">
            <a:extLst>
              <a:ext uri="{FF2B5EF4-FFF2-40B4-BE49-F238E27FC236}">
                <a16:creationId xmlns:a16="http://schemas.microsoft.com/office/drawing/2014/main" id="{0333DC92-2A05-5E3F-4123-42B058440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3322001" y="3185730"/>
            <a:ext cx="701040" cy="701040"/>
          </a:xfrm>
          <a:prstGeom prst="rect">
            <a:avLst/>
          </a:prstGeom>
        </p:spPr>
      </p:pic>
      <p:pic>
        <p:nvPicPr>
          <p:cNvPr id="10" name="그래픽 9" descr="줄 화살표: 일자형">
            <a:extLst>
              <a:ext uri="{FF2B5EF4-FFF2-40B4-BE49-F238E27FC236}">
                <a16:creationId xmlns:a16="http://schemas.microsoft.com/office/drawing/2014/main" id="{9F0B3507-87E7-5D79-75F6-9640F758B3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7300279" y="2847379"/>
            <a:ext cx="701040" cy="7010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3FBAC10-E999-5756-60F3-D8E76AB97D81}"/>
              </a:ext>
            </a:extLst>
          </p:cNvPr>
          <p:cNvSpPr txBox="1"/>
          <p:nvPr/>
        </p:nvSpPr>
        <p:spPr>
          <a:xfrm>
            <a:off x="2124083" y="2716584"/>
            <a:ext cx="1197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Rules</a:t>
            </a:r>
            <a:endParaRPr lang="ko-KR" altLang="en-US" sz="2000" b="1" dirty="0">
              <a:solidFill>
                <a:srgbClr val="FF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B58E61-F2FE-4B7A-EF0D-83C41A6A46A3}"/>
              </a:ext>
            </a:extLst>
          </p:cNvPr>
          <p:cNvSpPr txBox="1"/>
          <p:nvPr/>
        </p:nvSpPr>
        <p:spPr>
          <a:xfrm>
            <a:off x="2124083" y="3354878"/>
            <a:ext cx="1197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Data</a:t>
            </a:r>
            <a:endParaRPr lang="ko-KR" altLang="en-US" sz="20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3A6DCF-B2FE-F4C7-DD87-9B2DBA331FC6}"/>
              </a:ext>
            </a:extLst>
          </p:cNvPr>
          <p:cNvSpPr txBox="1"/>
          <p:nvPr/>
        </p:nvSpPr>
        <p:spPr>
          <a:xfrm>
            <a:off x="8306600" y="2972372"/>
            <a:ext cx="1197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Answer</a:t>
            </a:r>
            <a:endParaRPr lang="ko-KR" altLang="en-US" sz="20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4" name="그래픽 13" descr="줄 화살표: 일자형">
            <a:extLst>
              <a:ext uri="{FF2B5EF4-FFF2-40B4-BE49-F238E27FC236}">
                <a16:creationId xmlns:a16="http://schemas.microsoft.com/office/drawing/2014/main" id="{E838EE3C-D05B-076B-D0F8-99BC761792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3322001" y="4700204"/>
            <a:ext cx="701040" cy="701040"/>
          </a:xfrm>
          <a:prstGeom prst="rect">
            <a:avLst/>
          </a:prstGeom>
        </p:spPr>
      </p:pic>
      <p:pic>
        <p:nvPicPr>
          <p:cNvPr id="15" name="그래픽 14" descr="줄 화살표: 일자형">
            <a:extLst>
              <a:ext uri="{FF2B5EF4-FFF2-40B4-BE49-F238E27FC236}">
                <a16:creationId xmlns:a16="http://schemas.microsoft.com/office/drawing/2014/main" id="{6E0A3722-6E85-ACD4-B488-2E2C68C0CE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3322001" y="5269165"/>
            <a:ext cx="701040" cy="701040"/>
          </a:xfrm>
          <a:prstGeom prst="rect">
            <a:avLst/>
          </a:prstGeom>
        </p:spPr>
      </p:pic>
      <p:pic>
        <p:nvPicPr>
          <p:cNvPr id="16" name="그래픽 15" descr="줄 화살표: 일자형">
            <a:extLst>
              <a:ext uri="{FF2B5EF4-FFF2-40B4-BE49-F238E27FC236}">
                <a16:creationId xmlns:a16="http://schemas.microsoft.com/office/drawing/2014/main" id="{AA8F17DC-BCA7-080A-2619-540F4917A5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7300279" y="4930814"/>
            <a:ext cx="701040" cy="70104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CCE61B6-A156-11AB-E24D-E2BF572677B5}"/>
              </a:ext>
            </a:extLst>
          </p:cNvPr>
          <p:cNvSpPr txBox="1"/>
          <p:nvPr/>
        </p:nvSpPr>
        <p:spPr>
          <a:xfrm>
            <a:off x="2124083" y="4800019"/>
            <a:ext cx="1197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Answer</a:t>
            </a:r>
            <a:endParaRPr lang="ko-KR" altLang="en-US" sz="20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3FBD98-CA29-E99F-209D-03B8DED80F4A}"/>
              </a:ext>
            </a:extLst>
          </p:cNvPr>
          <p:cNvSpPr txBox="1"/>
          <p:nvPr/>
        </p:nvSpPr>
        <p:spPr>
          <a:xfrm>
            <a:off x="2124083" y="5438313"/>
            <a:ext cx="1197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Data</a:t>
            </a:r>
            <a:endParaRPr lang="ko-KR" altLang="en-US" sz="20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D48910-FBEF-9698-E753-B62BE4D44C15}"/>
              </a:ext>
            </a:extLst>
          </p:cNvPr>
          <p:cNvSpPr txBox="1"/>
          <p:nvPr/>
        </p:nvSpPr>
        <p:spPr>
          <a:xfrm>
            <a:off x="8306600" y="5055807"/>
            <a:ext cx="1197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Rules</a:t>
            </a:r>
            <a:endParaRPr lang="ko-KR" altLang="en-US" sz="2000" b="1" dirty="0">
              <a:solidFill>
                <a:srgbClr val="FF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9F3E01C-276C-F67D-E749-A3CA4F9E6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4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7281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544BF-486E-CF55-333D-077990DDD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9360DF4-4F71-F6BE-C5F9-A496011E33B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endParaRPr lang="en-US" altLang="ko-KR" sz="2800" b="1" cap="none" dirty="0">
              <a:latin typeface="Lora" pitchFamily="2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2577F4F-3E3E-FB6A-7D3A-40B3DC62FDFA}"/>
              </a:ext>
            </a:extLst>
          </p:cNvPr>
          <p:cNvSpPr txBox="1">
            <a:spLocks/>
          </p:cNvSpPr>
          <p:nvPr/>
        </p:nvSpPr>
        <p:spPr>
          <a:xfrm>
            <a:off x="625201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Deep Learning Timeline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620269B-01B1-0716-A10B-84E6C47416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690" y="1469766"/>
            <a:ext cx="9968619" cy="46556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109C25-95D1-4C3B-F268-661322A0D0A4}"/>
              </a:ext>
            </a:extLst>
          </p:cNvPr>
          <p:cNvSpPr txBox="1"/>
          <p:nvPr/>
        </p:nvSpPr>
        <p:spPr>
          <a:xfrm>
            <a:off x="1034776" y="6237517"/>
            <a:ext cx="32624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A-brief-history-of-ai-with-deep-learning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946E0553-FCB6-9211-B623-8555364E7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5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4550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D534B-08E1-8419-3857-356E0F61A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8B8B7C1-764D-22ED-9281-151CA8F4DB7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가 똑똑한 이유</a:t>
            </a: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91823A-459C-E3E3-1588-6E0DCECAECFE}"/>
              </a:ext>
            </a:extLst>
          </p:cNvPr>
          <p:cNvSpPr txBox="1"/>
          <p:nvPr/>
        </p:nvSpPr>
        <p:spPr>
          <a:xfrm>
            <a:off x="542925" y="1248422"/>
            <a:ext cx="11306175" cy="116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 똑똑한 이유는 엄청난 양의 데이터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텍스트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사운드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동영상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초고속 컴퓨터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학습 능력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 밤낮없이 읽으면서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입력받은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모든 데이터의 패턴을 찾아냈기 때문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수능 만점자가 기출문제를 완벽하게 마스터해서 어떤 변형 문제가 나와도 맞히는 것과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비슷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3074" name="Picture 2" descr="A Blog on &quot;Understanding Deep Learning&quot;​ by Kalyan Mohanty - Intern (CoE- AI Lab)">
            <a:extLst>
              <a:ext uri="{FF2B5EF4-FFF2-40B4-BE49-F238E27FC236}">
                <a16:creationId xmlns:a16="http://schemas.microsoft.com/office/drawing/2014/main" id="{69601DCC-AE13-5655-6FCA-34EEF3DD14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394" y="2507566"/>
            <a:ext cx="6535612" cy="4036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래픽 6" descr="고속도로 장면">
            <a:extLst>
              <a:ext uri="{FF2B5EF4-FFF2-40B4-BE49-F238E27FC236}">
                <a16:creationId xmlns:a16="http://schemas.microsoft.com/office/drawing/2014/main" id="{5AF5882A-65A1-2DEB-5801-918D3C3C16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38284" y="3501607"/>
            <a:ext cx="580403" cy="580403"/>
          </a:xfrm>
          <a:prstGeom prst="rect">
            <a:avLst/>
          </a:prstGeom>
        </p:spPr>
      </p:pic>
      <p:pic>
        <p:nvPicPr>
          <p:cNvPr id="9" name="그래픽 8" descr="봉투 열기">
            <a:extLst>
              <a:ext uri="{FF2B5EF4-FFF2-40B4-BE49-F238E27FC236}">
                <a16:creationId xmlns:a16="http://schemas.microsoft.com/office/drawing/2014/main" id="{97BFBBE8-4C60-A151-E375-169FEE8D7C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96205" y="4082010"/>
            <a:ext cx="580403" cy="580403"/>
          </a:xfrm>
          <a:prstGeom prst="rect">
            <a:avLst/>
          </a:prstGeom>
        </p:spPr>
      </p:pic>
      <p:pic>
        <p:nvPicPr>
          <p:cNvPr id="11" name="그래픽 10" descr="팟캐스트">
            <a:extLst>
              <a:ext uri="{FF2B5EF4-FFF2-40B4-BE49-F238E27FC236}">
                <a16:creationId xmlns:a16="http://schemas.microsoft.com/office/drawing/2014/main" id="{84E2B080-9A0B-091C-9565-D7C4B054636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305497" y="4831462"/>
            <a:ext cx="580403" cy="58040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43F3519-D0F6-4D31-E9C0-E0AF5A640E77}"/>
              </a:ext>
            </a:extLst>
          </p:cNvPr>
          <p:cNvSpPr txBox="1"/>
          <p:nvPr/>
        </p:nvSpPr>
        <p:spPr>
          <a:xfrm>
            <a:off x="9646501" y="4690777"/>
            <a:ext cx="226240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6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Big Data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6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Computing power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6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Algorithm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725B7FF9-8432-EB94-D532-CA81EDD33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6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3335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88379-B0F0-E75F-55B5-46A9B2033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01BF6F47-E1D7-3404-6D26-B63F40AA3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583" y="400182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Supervised Learning(</a:t>
            </a: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지도학습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) </a:t>
            </a:r>
            <a:endParaRPr lang="ko-KR" altLang="en-US" b="1" cap="none" dirty="0">
              <a:latin typeface="D2Coding" panose="020B0609020101020101" pitchFamily="49" charset="-127"/>
              <a:ea typeface="D2Coding" panose="020B0609020101020101" pitchFamily="49" charset="-127"/>
              <a:cs typeface="Times New Roman" panose="02020603050405020304" pitchFamily="18" charset="0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810CAA31-8D8A-5DC1-2D9F-A0DABDC7E4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2264" y="1343566"/>
            <a:ext cx="5800377" cy="4677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B7762A-F77E-C397-01D9-B049ED94B47A}"/>
              </a:ext>
            </a:extLst>
          </p:cNvPr>
          <p:cNvSpPr txBox="1"/>
          <p:nvPr/>
        </p:nvSpPr>
        <p:spPr>
          <a:xfrm>
            <a:off x="9200620" y="1343566"/>
            <a:ext cx="11433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solidFill>
                  <a:schemeClr val="bg1"/>
                </a:solidFill>
                <a:cs typeface="Times New Roman" panose="02020603050405020304" pitchFamily="18" charset="0"/>
              </a:rPr>
              <a:t>(</a:t>
            </a:r>
            <a:r>
              <a:rPr lang="ko-KR" altLang="en-US" sz="2400" b="1" dirty="0">
                <a:solidFill>
                  <a:schemeClr val="bg1"/>
                </a:solidFill>
                <a:cs typeface="Times New Roman" panose="02020603050405020304" pitchFamily="18" charset="0"/>
              </a:rPr>
              <a:t>회귀</a:t>
            </a:r>
            <a:r>
              <a:rPr lang="en-US" altLang="ko-KR" sz="2400" b="1" dirty="0">
                <a:solidFill>
                  <a:schemeClr val="bg1"/>
                </a:solidFill>
                <a:cs typeface="Times New Roman" panose="02020603050405020304" pitchFamily="18" charset="0"/>
              </a:rPr>
              <a:t>)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C5F081-78EC-A7B8-D1D6-1CAEC7000201}"/>
              </a:ext>
            </a:extLst>
          </p:cNvPr>
          <p:cNvSpPr txBox="1"/>
          <p:nvPr/>
        </p:nvSpPr>
        <p:spPr>
          <a:xfrm>
            <a:off x="9306530" y="3888447"/>
            <a:ext cx="11433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solidFill>
                  <a:schemeClr val="bg1"/>
                </a:solidFill>
                <a:cs typeface="Times New Roman" panose="02020603050405020304" pitchFamily="18" charset="0"/>
              </a:rPr>
              <a:t>(</a:t>
            </a:r>
            <a:r>
              <a:rPr lang="ko-KR" altLang="en-US" sz="2400" b="1" dirty="0">
                <a:solidFill>
                  <a:schemeClr val="bg1"/>
                </a:solidFill>
                <a:cs typeface="Times New Roman" panose="02020603050405020304" pitchFamily="18" charset="0"/>
              </a:rPr>
              <a:t>분류</a:t>
            </a:r>
            <a:r>
              <a:rPr lang="en-US" altLang="ko-KR" sz="2400" b="1" dirty="0">
                <a:solidFill>
                  <a:schemeClr val="bg1"/>
                </a:solidFill>
                <a:cs typeface="Times New Roman" panose="02020603050405020304" pitchFamily="18" charset="0"/>
              </a:rPr>
              <a:t>)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5830F44-5F9D-1CF1-6475-3DCD2B29F0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444" y="1343566"/>
            <a:ext cx="5537631" cy="4697617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1160586-3065-34CB-E356-1E7377D50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7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521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322E1-8746-1FA5-3263-79DB08BE5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6826FB85-6160-EEBB-0430-C6E64E5D7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583" y="399196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Unsupervised Learning(</a:t>
            </a: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비지도학습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)</a:t>
            </a:r>
            <a:endParaRPr lang="ko-KR" altLang="en-US" b="1" cap="none" dirty="0">
              <a:latin typeface="D2Coding" panose="020B0609020101020101" pitchFamily="49" charset="-127"/>
              <a:ea typeface="D2Coding" panose="020B0609020101020101" pitchFamily="49" charset="-127"/>
              <a:cs typeface="Times New Roman" panose="02020603050405020304" pitchFamily="18" charset="0"/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8379BF96-2686-6187-65D2-FFD8B245F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2264" y="1852294"/>
            <a:ext cx="5698068" cy="4558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9E93246-86F7-392C-B5AA-61C126567EE0}"/>
              </a:ext>
            </a:extLst>
          </p:cNvPr>
          <p:cNvSpPr txBox="1"/>
          <p:nvPr/>
        </p:nvSpPr>
        <p:spPr>
          <a:xfrm>
            <a:off x="2353280" y="1318246"/>
            <a:ext cx="21615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cs typeface="Times New Roman" panose="02020603050405020304" pitchFamily="18" charset="0"/>
              </a:rPr>
              <a:t>Cluster(</a:t>
            </a:r>
            <a:r>
              <a:rPr lang="ko-KR" altLang="en-US" sz="2400" b="1" dirty="0">
                <a:cs typeface="Times New Roman" panose="02020603050405020304" pitchFamily="18" charset="0"/>
              </a:rPr>
              <a:t>군집</a:t>
            </a:r>
            <a:r>
              <a:rPr lang="en-US" altLang="ko-KR" sz="2400" b="1" dirty="0">
                <a:cs typeface="Times New Roman" panose="02020603050405020304" pitchFamily="18" charset="0"/>
              </a:rPr>
              <a:t>)</a:t>
            </a:r>
            <a:endParaRPr lang="ko-KR" altLang="en-US" sz="2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D76D564-A2B8-4E91-EFC8-558B15068E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668" y="1852294"/>
            <a:ext cx="5475257" cy="4584817"/>
          </a:xfrm>
          <a:prstGeom prst="rect">
            <a:avLst/>
          </a:prstGeom>
        </p:spPr>
      </p:pic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77057D25-D20A-36CB-6B01-6CF77FBEB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8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1323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A80E2-7EAE-0863-8D8D-175C83D73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B676623-DC5C-27B1-6E94-D5934094FACF}"/>
              </a:ext>
            </a:extLst>
          </p:cNvPr>
          <p:cNvSpPr/>
          <p:nvPr/>
        </p:nvSpPr>
        <p:spPr>
          <a:xfrm>
            <a:off x="634680" y="2752725"/>
            <a:ext cx="7118670" cy="5810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E89F832-A593-B8AE-635F-A7F1E1AAA44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목차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8E9DCC-AB41-959D-5E20-0D98CD06BFA5}"/>
              </a:ext>
            </a:extLst>
          </p:cNvPr>
          <p:cNvSpPr txBox="1"/>
          <p:nvPr/>
        </p:nvSpPr>
        <p:spPr>
          <a:xfrm>
            <a:off x="1085850" y="1829447"/>
            <a:ext cx="8858250" cy="2944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는 왜 똑똑하지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는 어떻게 학습하지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생성형 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LLM agent</a:t>
            </a:r>
          </a:p>
        </p:txBody>
      </p:sp>
    </p:spTree>
    <p:extLst>
      <p:ext uri="{BB962C8B-B14F-4D97-AF65-F5344CB8AC3E}">
        <p14:creationId xmlns:p14="http://schemas.microsoft.com/office/powerpoint/2010/main" val="3417058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B965E-0BA2-2F6C-DA02-CE91EDCC3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46527A5B-F142-4D17-F622-C794CAA8F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108" y="4057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AI</a:t>
            </a:r>
            <a:r>
              <a:rPr lang="ko-KR" altLang="en-US" b="1" cap="none" dirty="0"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는 어떻게 학습하지</a:t>
            </a:r>
            <a:r>
              <a:rPr lang="en-US" altLang="ko-KR" b="1" cap="none" dirty="0"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?</a:t>
            </a:r>
            <a:endParaRPr lang="ko-KR" altLang="en-US" b="1" cap="none" dirty="0">
              <a:latin typeface="D2Coding" panose="020B0609020101020101" pitchFamily="49" charset="-127"/>
              <a:ea typeface="D2Coding" panose="020B0609020101020101" pitchFamily="49" charset="-127"/>
              <a:cs typeface="Times New Roman" panose="02020603050405020304" pitchFamily="18" charset="0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504610D4-AA7C-03B3-F07B-210F893F5541}"/>
              </a:ext>
            </a:extLst>
          </p:cNvPr>
          <p:cNvSpPr/>
          <p:nvPr/>
        </p:nvSpPr>
        <p:spPr>
          <a:xfrm>
            <a:off x="1853682" y="2357376"/>
            <a:ext cx="1815752" cy="3941007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88375850-26DC-9B59-678E-D468D0067068}"/>
              </a:ext>
            </a:extLst>
          </p:cNvPr>
          <p:cNvSpPr/>
          <p:nvPr/>
        </p:nvSpPr>
        <p:spPr>
          <a:xfrm>
            <a:off x="5565083" y="2398583"/>
            <a:ext cx="1815752" cy="3941007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01AAE8DC-A708-8796-64DF-86B8D4DB32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9710546"/>
              </p:ext>
            </p:extLst>
          </p:nvPr>
        </p:nvGraphicFramePr>
        <p:xfrm>
          <a:off x="2428660" y="2911543"/>
          <a:ext cx="673100" cy="2819400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088299463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 dirty="0">
                          <a:effectLst/>
                        </a:rPr>
                        <a:t>3</a:t>
                      </a:r>
                      <a:endParaRPr lang="en-US" altLang="ko-KR" sz="1800" b="1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1388433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6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01853042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 dirty="0">
                          <a:effectLst/>
                        </a:rPr>
                        <a:t>9</a:t>
                      </a:r>
                      <a:endParaRPr lang="en-US" altLang="ko-KR" sz="1800" b="1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85562822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17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66389042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20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74341126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27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22408658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30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88901199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33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75224509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38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813068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 dirty="0">
                          <a:effectLst/>
                        </a:rPr>
                        <a:t>41</a:t>
                      </a:r>
                      <a:endParaRPr lang="en-US" altLang="ko-KR" sz="1800" b="1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29361620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0DE1CD5F-94A1-AB9B-E690-D65813C0A4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9589847"/>
              </p:ext>
            </p:extLst>
          </p:nvPr>
        </p:nvGraphicFramePr>
        <p:xfrm>
          <a:off x="6098309" y="2959386"/>
          <a:ext cx="749300" cy="2819400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749300">
                  <a:extLst>
                    <a:ext uri="{9D8B030D-6E8A-4147-A177-3AD203B41FA5}">
                      <a16:colId xmlns:a16="http://schemas.microsoft.com/office/drawing/2014/main" val="3929273141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15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69221949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 dirty="0">
                          <a:effectLst/>
                        </a:rPr>
                        <a:t>30</a:t>
                      </a:r>
                      <a:endParaRPr lang="en-US" altLang="ko-KR" sz="1800" b="1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2153109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41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2557093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74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86733329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87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2077531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102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33785529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105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8608088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137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15249384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124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12822705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 dirty="0">
                          <a:effectLst/>
                        </a:rPr>
                        <a:t>152</a:t>
                      </a:r>
                      <a:endParaRPr lang="en-US" altLang="ko-KR" sz="1800" b="1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741191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BE49EA0-62B9-36D1-C354-62D026481A22}"/>
                  </a:ext>
                </a:extLst>
              </p:cNvPr>
              <p:cNvSpPr txBox="1"/>
              <p:nvPr/>
            </p:nvSpPr>
            <p:spPr>
              <a:xfrm>
                <a:off x="6193876" y="1749463"/>
                <a:ext cx="55816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1" i="0" smtClean="0">
                          <a:latin typeface="Cambria Math" panose="02040503050406030204" pitchFamily="18" charset="0"/>
                        </a:rPr>
                        <m:t>𝐲</m:t>
                      </m:r>
                    </m:oMath>
                  </m:oMathPara>
                </a14:m>
                <a:endParaRPr lang="ko-KR" altLang="en-US" sz="2800" b="1" dirty="0"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BE49EA0-62B9-36D1-C354-62D026481A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3876" y="1749463"/>
                <a:ext cx="558165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9210D353-F3EA-E247-2CE1-4C9C9C0F6192}"/>
              </a:ext>
            </a:extLst>
          </p:cNvPr>
          <p:cNvCxnSpPr>
            <a:cxnSpLocks/>
          </p:cNvCxnSpPr>
          <p:nvPr/>
        </p:nvCxnSpPr>
        <p:spPr>
          <a:xfrm>
            <a:off x="3893415" y="3077797"/>
            <a:ext cx="13620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8D056597-1A4C-4AD3-E434-9C3216346CE8}"/>
              </a:ext>
            </a:extLst>
          </p:cNvPr>
          <p:cNvCxnSpPr>
            <a:cxnSpLocks/>
          </p:cNvCxnSpPr>
          <p:nvPr/>
        </p:nvCxnSpPr>
        <p:spPr>
          <a:xfrm>
            <a:off x="3893415" y="3392122"/>
            <a:ext cx="13620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8092B4F2-E324-02AE-CB30-96EE6B90729E}"/>
              </a:ext>
            </a:extLst>
          </p:cNvPr>
          <p:cNvCxnSpPr>
            <a:cxnSpLocks/>
          </p:cNvCxnSpPr>
          <p:nvPr/>
        </p:nvCxnSpPr>
        <p:spPr>
          <a:xfrm>
            <a:off x="3893415" y="3706447"/>
            <a:ext cx="13620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002E11FB-A99F-A026-C5F0-E6385ACDED5D}"/>
              </a:ext>
            </a:extLst>
          </p:cNvPr>
          <p:cNvCxnSpPr>
            <a:cxnSpLocks/>
          </p:cNvCxnSpPr>
          <p:nvPr/>
        </p:nvCxnSpPr>
        <p:spPr>
          <a:xfrm>
            <a:off x="3893415" y="4020772"/>
            <a:ext cx="13620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77431F94-EA51-86AE-4D5E-730AD004E870}"/>
              </a:ext>
            </a:extLst>
          </p:cNvPr>
          <p:cNvCxnSpPr>
            <a:cxnSpLocks/>
          </p:cNvCxnSpPr>
          <p:nvPr/>
        </p:nvCxnSpPr>
        <p:spPr>
          <a:xfrm>
            <a:off x="3893415" y="4335097"/>
            <a:ext cx="13620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E5DA01DD-1F6A-3D9C-4E44-6730C90D1A23}"/>
              </a:ext>
            </a:extLst>
          </p:cNvPr>
          <p:cNvCxnSpPr>
            <a:cxnSpLocks/>
          </p:cNvCxnSpPr>
          <p:nvPr/>
        </p:nvCxnSpPr>
        <p:spPr>
          <a:xfrm>
            <a:off x="3893415" y="4649422"/>
            <a:ext cx="13620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F71175BD-DC36-90AC-DB3A-86BFDCDEEE71}"/>
              </a:ext>
            </a:extLst>
          </p:cNvPr>
          <p:cNvCxnSpPr>
            <a:cxnSpLocks/>
          </p:cNvCxnSpPr>
          <p:nvPr/>
        </p:nvCxnSpPr>
        <p:spPr>
          <a:xfrm>
            <a:off x="3893415" y="4963747"/>
            <a:ext cx="13620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7776C68E-2C46-6816-1EED-AD621CCA2DC9}"/>
              </a:ext>
            </a:extLst>
          </p:cNvPr>
          <p:cNvCxnSpPr>
            <a:cxnSpLocks/>
          </p:cNvCxnSpPr>
          <p:nvPr/>
        </p:nvCxnSpPr>
        <p:spPr>
          <a:xfrm>
            <a:off x="3893415" y="5278072"/>
            <a:ext cx="13620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DBA1F43B-0857-BB7F-A776-CE7D90EBE8E0}"/>
              </a:ext>
            </a:extLst>
          </p:cNvPr>
          <p:cNvCxnSpPr>
            <a:cxnSpLocks/>
          </p:cNvCxnSpPr>
          <p:nvPr/>
        </p:nvCxnSpPr>
        <p:spPr>
          <a:xfrm>
            <a:off x="3893415" y="5592397"/>
            <a:ext cx="13620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917F883-AFBC-0C40-31BE-DD1554E57B95}"/>
                  </a:ext>
                </a:extLst>
              </p:cNvPr>
              <p:cNvSpPr txBox="1"/>
              <p:nvPr/>
            </p:nvSpPr>
            <p:spPr>
              <a:xfrm>
                <a:off x="8525392" y="3392122"/>
                <a:ext cx="181575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3200" b="1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ko-KR" altLang="en-US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3200" b="1" i="1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ko-KR" alt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32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</m:oMath>
                  </m:oMathPara>
                </a14:m>
                <a:endParaRPr lang="ko-KR" altLang="en-US" sz="3200" dirty="0"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917F883-AFBC-0C40-31BE-DD1554E57B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5392" y="3392122"/>
                <a:ext cx="1815753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878EB0D-8E56-EA3A-9BCE-38E622BAF39F}"/>
                  </a:ext>
                </a:extLst>
              </p:cNvPr>
              <p:cNvSpPr txBox="1"/>
              <p:nvPr/>
            </p:nvSpPr>
            <p:spPr>
              <a:xfrm>
                <a:off x="2486142" y="1626352"/>
                <a:ext cx="6731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3600" b="1" i="1" smtClean="0">
                          <a:latin typeface="Cambria Math" panose="02040503050406030204" pitchFamily="18" charset="0"/>
                        </a:rPr>
                        <m:t>𝑿</m:t>
                      </m:r>
                    </m:oMath>
                  </m:oMathPara>
                </a14:m>
                <a:endParaRPr lang="ko-KR" altLang="en-US" sz="36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878EB0D-8E56-EA3A-9BCE-38E622BAF3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6142" y="1626352"/>
                <a:ext cx="673100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C21C105-F4AA-9B85-D2E7-3A5DC3A28F1D}"/>
                  </a:ext>
                </a:extLst>
              </p:cNvPr>
              <p:cNvSpPr txBox="1"/>
              <p:nvPr/>
            </p:nvSpPr>
            <p:spPr>
              <a:xfrm>
                <a:off x="8525392" y="4107712"/>
                <a:ext cx="257996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400" b="1" dirty="0">
                    <a:latin typeface="D2Coding" panose="020B0609020101020101" pitchFamily="49" charset="-127"/>
                    <a:ea typeface="D2Coding" panose="020B0609020101020101" pitchFamily="49" charset="-127"/>
                    <a:sym typeface="Wingdings" panose="05000000000000000000" pitchFamily="2" charset="2"/>
                  </a:rPr>
                  <a:t> </a:t>
                </a:r>
                <a:r>
                  <a:rPr lang="en-US" altLang="ko-KR" sz="2400" b="1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find</a:t>
                </a: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ko-KR" altLang="en-US" sz="3200" b="1" i="1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ko-KR" alt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/>
                    </m:d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C21C105-F4AA-9B85-D2E7-3A5DC3A28F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5392" y="4107712"/>
                <a:ext cx="2579969" cy="584775"/>
              </a:xfrm>
              <a:prstGeom prst="rect">
                <a:avLst/>
              </a:prstGeom>
              <a:blipFill>
                <a:blip r:embed="rId5"/>
                <a:stretch>
                  <a:fillRect l="-3783" b="-208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래픽 2" descr="물음표 단색으로 채워진">
            <a:extLst>
              <a:ext uri="{FF2B5EF4-FFF2-40B4-BE49-F238E27FC236}">
                <a16:creationId xmlns:a16="http://schemas.microsoft.com/office/drawing/2014/main" id="{5FDE3F48-B6AB-088C-7D12-3FBCB0F39C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40891" y="3726999"/>
            <a:ext cx="673100" cy="673100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D35BAE0B-D1C9-F459-3936-C97746DD4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10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7418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2EE4D-6E12-87F7-561A-94698FFB1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00FF5D95-5569-3784-2FDF-0ADF248D5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108" y="4057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AI</a:t>
            </a:r>
            <a:r>
              <a:rPr lang="ko-KR" altLang="en-US" b="1" cap="none" dirty="0"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는 어떻게 학습하지</a:t>
            </a:r>
            <a:r>
              <a:rPr lang="en-US" altLang="ko-KR" b="1" cap="none" dirty="0"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?</a:t>
            </a:r>
            <a:endParaRPr lang="ko-KR" altLang="en-US" b="1" cap="none" dirty="0">
              <a:latin typeface="D2Coding" panose="020B0609020101020101" pitchFamily="49" charset="-127"/>
              <a:ea typeface="D2Coding" panose="020B0609020101020101" pitchFamily="49" charset="-127"/>
              <a:cs typeface="Times New Roman" panose="02020603050405020304" pitchFamily="18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04EC813-5F61-B734-8C76-BFF514965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0351" y="1483359"/>
            <a:ext cx="7347565" cy="4968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설명선: 굽은 선 2">
                <a:extLst>
                  <a:ext uri="{FF2B5EF4-FFF2-40B4-BE49-F238E27FC236}">
                    <a16:creationId xmlns:a16="http://schemas.microsoft.com/office/drawing/2014/main" id="{48D302B7-282E-9C36-0EFC-3130916FB412}"/>
                  </a:ext>
                </a:extLst>
              </p:cNvPr>
              <p:cNvSpPr/>
              <p:nvPr/>
            </p:nvSpPr>
            <p:spPr>
              <a:xfrm>
                <a:off x="8905875" y="3386762"/>
                <a:ext cx="2563917" cy="581025"/>
              </a:xfrm>
              <a:prstGeom prst="borderCallout2">
                <a:avLst>
                  <a:gd name="adj1" fmla="val 18750"/>
                  <a:gd name="adj2" fmla="val -8333"/>
                  <a:gd name="adj3" fmla="val 18750"/>
                  <a:gd name="adj4" fmla="val -16667"/>
                  <a:gd name="adj5" fmla="val -86413"/>
                  <a:gd name="adj6" fmla="val -35522"/>
                </a:avLst>
              </a:prstGeom>
              <a:solidFill>
                <a:srgbClr val="0070C0"/>
              </a:solidFill>
              <a:ln w="19050">
                <a:solidFill>
                  <a:srgbClr val="002060"/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1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altLang="ko-KR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b="1" i="1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</m:oMath>
                  </m:oMathPara>
                </a14:m>
                <a:endParaRPr lang="en-US" altLang="ko-KR" dirty="0"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  <a:p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 </a:t>
                </a:r>
                <a14:m>
                  <m:oMath xmlns:m="http://schemas.openxmlformats.org/officeDocument/2006/math">
                    <m:r>
                      <a:rPr lang="ko-KR" altLang="en-US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3.37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+ 11.19</a:t>
                </a:r>
                <a:endParaRPr lang="ko-KR" altLang="en-US" dirty="0"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</p:txBody>
          </p:sp>
        </mc:Choice>
        <mc:Fallback xmlns="">
          <p:sp>
            <p:nvSpPr>
              <p:cNvPr id="3" name="설명선: 굽은 선 2">
                <a:extLst>
                  <a:ext uri="{FF2B5EF4-FFF2-40B4-BE49-F238E27FC236}">
                    <a16:creationId xmlns:a16="http://schemas.microsoft.com/office/drawing/2014/main" id="{48D302B7-282E-9C36-0EFC-3130916FB4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5875" y="3386762"/>
                <a:ext cx="2563917" cy="581025"/>
              </a:xfrm>
              <a:prstGeom prst="borderCallout2">
                <a:avLst>
                  <a:gd name="adj1" fmla="val 18750"/>
                  <a:gd name="adj2" fmla="val -8333"/>
                  <a:gd name="adj3" fmla="val 18750"/>
                  <a:gd name="adj4" fmla="val -16667"/>
                  <a:gd name="adj5" fmla="val -86413"/>
                  <a:gd name="adj6" fmla="val -35522"/>
                </a:avLst>
              </a:prstGeom>
              <a:blipFill>
                <a:blip r:embed="rId3"/>
                <a:stretch>
                  <a:fillRect b="-9794"/>
                </a:stretch>
              </a:blipFill>
              <a:ln w="19050">
                <a:solidFill>
                  <a:srgbClr val="002060"/>
                </a:solidFill>
                <a:headEnd type="none" w="med" len="med"/>
                <a:tailEnd type="arrow" w="med" len="me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53F012A-AB9B-8D9A-54C9-DE5C87C1416D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11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7343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06936-C080-0D34-4C7E-58D2F60CB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571DE09-F9FE-74A3-950A-ADAE199E910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What is a deep learning?</a:t>
            </a:r>
          </a:p>
        </p:txBody>
      </p:sp>
      <p:pic>
        <p:nvPicPr>
          <p:cNvPr id="2" name="그림 1">
            <a:hlinkClick r:id="rId2"/>
            <a:extLst>
              <a:ext uri="{FF2B5EF4-FFF2-40B4-BE49-F238E27FC236}">
                <a16:creationId xmlns:a16="http://schemas.microsoft.com/office/drawing/2014/main" id="{38311887-7539-A3E5-9349-9D1B776834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50" y="1348552"/>
            <a:ext cx="8669111" cy="48806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660A78-E863-CDFF-54AA-99809CD5E86C}"/>
              </a:ext>
            </a:extLst>
          </p:cNvPr>
          <p:cNvSpPr txBox="1"/>
          <p:nvPr/>
        </p:nvSpPr>
        <p:spPr>
          <a:xfrm>
            <a:off x="2954387" y="6277467"/>
            <a:ext cx="76393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a neural network?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(start= 3 min, end = 5 min)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C0685187-DFAF-3DF6-551D-6BFE96964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2087" y="1622081"/>
            <a:ext cx="1571309" cy="1538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7734F49-55E6-737D-87D1-EE09CAE9BA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024" y="1348551"/>
            <a:ext cx="3191365" cy="2766249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79571667-B20D-7DA4-45F8-1B7D64FC90FE}"/>
              </a:ext>
            </a:extLst>
          </p:cNvPr>
          <p:cNvSpPr/>
          <p:nvPr/>
        </p:nvSpPr>
        <p:spPr>
          <a:xfrm>
            <a:off x="4252687" y="1728259"/>
            <a:ext cx="768539" cy="62115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2FAE7469-B60E-60E2-36E4-5AA10FA30919}"/>
              </a:ext>
            </a:extLst>
          </p:cNvPr>
          <p:cNvCxnSpPr>
            <a:cxnSpLocks/>
          </p:cNvCxnSpPr>
          <p:nvPr/>
        </p:nvCxnSpPr>
        <p:spPr>
          <a:xfrm flipH="1" flipV="1">
            <a:off x="3630389" y="1307194"/>
            <a:ext cx="1390837" cy="42106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D77B65A1-24EA-48CD-744D-90B01F28E1BA}"/>
              </a:ext>
            </a:extLst>
          </p:cNvPr>
          <p:cNvCxnSpPr>
            <a:cxnSpLocks/>
          </p:cNvCxnSpPr>
          <p:nvPr/>
        </p:nvCxnSpPr>
        <p:spPr>
          <a:xfrm flipH="1">
            <a:off x="3668750" y="2390775"/>
            <a:ext cx="1352476" cy="169922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5458C62-3780-5E53-F202-8348743CDF01}"/>
              </a:ext>
            </a:extLst>
          </p:cNvPr>
          <p:cNvSpPr txBox="1"/>
          <p:nvPr/>
        </p:nvSpPr>
        <p:spPr>
          <a:xfrm>
            <a:off x="4335293" y="3160276"/>
            <a:ext cx="1522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28 x 28 pixel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784 pixel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2" name="슬라이드 번호 개체 틀 3">
            <a:extLst>
              <a:ext uri="{FF2B5EF4-FFF2-40B4-BE49-F238E27FC236}">
                <a16:creationId xmlns:a16="http://schemas.microsoft.com/office/drawing/2014/main" id="{7C96DB4D-CEC1-72A8-8EB5-2A0699CA77DD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12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2219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88E67-964D-BF9B-EF2C-CA14CE24B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7B73370-1ECF-A136-2224-D44EA90FC77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Human Neurons ?</a:t>
            </a:r>
          </a:p>
        </p:txBody>
      </p:sp>
      <p:pic>
        <p:nvPicPr>
          <p:cNvPr id="12" name="그림 11" descr="What Is a Neuron? Diagrams, Types, Function, and More">
            <a:extLst>
              <a:ext uri="{FF2B5EF4-FFF2-40B4-BE49-F238E27FC236}">
                <a16:creationId xmlns:a16="http://schemas.microsoft.com/office/drawing/2014/main" id="{6D05F76D-3C80-4EEE-94EE-740DF57E5E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426" y="1813455"/>
            <a:ext cx="3489665" cy="2571173"/>
          </a:xfrm>
          <a:prstGeom prst="rect">
            <a:avLst/>
          </a:prstGeom>
        </p:spPr>
      </p:pic>
      <p:pic>
        <p:nvPicPr>
          <p:cNvPr id="13" name="그림 12" descr="파란색 배경 위에 빛나는 부분이 있는 파란색 뉴런. 뉴런 인터페이스와 컴퓨터 과학 개념. 3D 렌더링 복사 공간">
            <a:extLst>
              <a:ext uri="{FF2B5EF4-FFF2-40B4-BE49-F238E27FC236}">
                <a16:creationId xmlns:a16="http://schemas.microsoft.com/office/drawing/2014/main" id="{51E4D1CC-6F07-7E35-045C-8DCD0FFB3A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2091" y="1813455"/>
            <a:ext cx="6382242" cy="425482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92C67C8-3D3C-1C29-7B89-FB3AEDAFB5F0}"/>
              </a:ext>
            </a:extLst>
          </p:cNvPr>
          <p:cNvSpPr txBox="1"/>
          <p:nvPr/>
        </p:nvSpPr>
        <p:spPr>
          <a:xfrm>
            <a:off x="4054764" y="6068283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https://unsplash.com/</a:t>
            </a:r>
            <a:r>
              <a:rPr lang="ko-KR" altLang="en-US" sz="12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5E7F59B6-090E-ED6F-D183-B9D12E7386B2}"/>
              </a:ext>
            </a:extLst>
          </p:cNvPr>
          <p:cNvSpPr txBox="1">
            <a:spLocks/>
          </p:cNvSpPr>
          <p:nvPr/>
        </p:nvSpPr>
        <p:spPr>
          <a:xfrm>
            <a:off x="11162487" y="30958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13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78124C34-AEF9-61BD-450B-BB0F33834F1F}"/>
              </a:ext>
            </a:extLst>
          </p:cNvPr>
          <p:cNvSpPr txBox="1">
            <a:spLocks/>
          </p:cNvSpPr>
          <p:nvPr/>
        </p:nvSpPr>
        <p:spPr>
          <a:xfrm>
            <a:off x="11162487" y="30958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13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D6556314-C8F7-D28F-6A79-23DFD53CD37E}"/>
              </a:ext>
            </a:extLst>
          </p:cNvPr>
          <p:cNvSpPr txBox="1">
            <a:spLocks/>
          </p:cNvSpPr>
          <p:nvPr/>
        </p:nvSpPr>
        <p:spPr>
          <a:xfrm>
            <a:off x="11162487" y="30958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13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1D2BBBD2-0794-D6C4-3419-FCB7A7233732}"/>
              </a:ext>
            </a:extLst>
          </p:cNvPr>
          <p:cNvSpPr txBox="1">
            <a:spLocks/>
          </p:cNvSpPr>
          <p:nvPr/>
        </p:nvSpPr>
        <p:spPr>
          <a:xfrm>
            <a:off x="11162487" y="30958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13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3">
            <a:extLst>
              <a:ext uri="{FF2B5EF4-FFF2-40B4-BE49-F238E27FC236}">
                <a16:creationId xmlns:a16="http://schemas.microsoft.com/office/drawing/2014/main" id="{7BDED513-D005-5279-8196-AC7023A5322B}"/>
              </a:ext>
            </a:extLst>
          </p:cNvPr>
          <p:cNvSpPr txBox="1">
            <a:spLocks/>
          </p:cNvSpPr>
          <p:nvPr/>
        </p:nvSpPr>
        <p:spPr>
          <a:xfrm>
            <a:off x="11162487" y="30958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13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슬라이드 번호 개체 틀 3">
            <a:extLst>
              <a:ext uri="{FF2B5EF4-FFF2-40B4-BE49-F238E27FC236}">
                <a16:creationId xmlns:a16="http://schemas.microsoft.com/office/drawing/2014/main" id="{91DAF236-8715-8190-1585-3CAD2272C42C}"/>
              </a:ext>
            </a:extLst>
          </p:cNvPr>
          <p:cNvSpPr txBox="1">
            <a:spLocks/>
          </p:cNvSpPr>
          <p:nvPr/>
        </p:nvSpPr>
        <p:spPr>
          <a:xfrm>
            <a:off x="11162487" y="30958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13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슬라이드 번호 개체 틀 3">
            <a:extLst>
              <a:ext uri="{FF2B5EF4-FFF2-40B4-BE49-F238E27FC236}">
                <a16:creationId xmlns:a16="http://schemas.microsoft.com/office/drawing/2014/main" id="{D1FD698F-9A54-F99D-CCF6-41036FBB81FC}"/>
              </a:ext>
            </a:extLst>
          </p:cNvPr>
          <p:cNvSpPr txBox="1">
            <a:spLocks/>
          </p:cNvSpPr>
          <p:nvPr/>
        </p:nvSpPr>
        <p:spPr>
          <a:xfrm>
            <a:off x="11162487" y="30958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13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9F292496-119B-6EDA-5BF1-F30D33DE8064}"/>
              </a:ext>
            </a:extLst>
          </p:cNvPr>
          <p:cNvSpPr txBox="1">
            <a:spLocks/>
          </p:cNvSpPr>
          <p:nvPr/>
        </p:nvSpPr>
        <p:spPr>
          <a:xfrm>
            <a:off x="11162487" y="30958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13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슬라이드 번호 개체 틀 3">
            <a:extLst>
              <a:ext uri="{FF2B5EF4-FFF2-40B4-BE49-F238E27FC236}">
                <a16:creationId xmlns:a16="http://schemas.microsoft.com/office/drawing/2014/main" id="{7FB1895E-5E84-ACF7-4E72-7CA2EE0E3FA1}"/>
              </a:ext>
            </a:extLst>
          </p:cNvPr>
          <p:cNvSpPr txBox="1">
            <a:spLocks/>
          </p:cNvSpPr>
          <p:nvPr/>
        </p:nvSpPr>
        <p:spPr>
          <a:xfrm>
            <a:off x="11162487" y="30958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13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20618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6E96C-D44D-69EC-5614-BCF39F3CA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9F240A1-8142-C896-0DB3-16008A6D288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실습하기</a:t>
            </a:r>
            <a:endParaRPr lang="en-US" altLang="ko-KR" sz="2800" b="1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19C1E6-6422-40C8-54EC-EEEFA190BA12}"/>
              </a:ext>
            </a:extLst>
          </p:cNvPr>
          <p:cNvSpPr txBox="1"/>
          <p:nvPr/>
        </p:nvSpPr>
        <p:spPr>
          <a:xfrm>
            <a:off x="542925" y="1381125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https://playground.tensorflow.org/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646FD34-3153-CDDD-9C29-E76067C1F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550" y="1883160"/>
            <a:ext cx="8248650" cy="4438412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102466EC-7BD7-D2C1-48D5-7820AFCD7F7A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14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04859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3BD2B-6479-2805-C72C-E63523860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F85B561-D6FE-AC27-A340-8AE1315A6C8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실습하기</a:t>
            </a:r>
            <a:endParaRPr lang="en-US" altLang="ko-KR" sz="2800" b="1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15228DEE-783A-5EBC-8FE7-452CF92844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930" y="1805250"/>
            <a:ext cx="9240460" cy="1731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22FCFC2-22BB-2EF8-0930-D252E05D23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2930" y="4270161"/>
            <a:ext cx="5174880" cy="240771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1E5D308-B54D-E344-1BA5-05FC986C277E}"/>
              </a:ext>
            </a:extLst>
          </p:cNvPr>
          <p:cNvSpPr txBox="1"/>
          <p:nvPr/>
        </p:nvSpPr>
        <p:spPr>
          <a:xfrm>
            <a:off x="1272280" y="138398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Word Embedding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  <a:sym typeface="Wingdings" panose="05000000000000000000" pitchFamily="2" charset="2"/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A34E38-CCCD-422B-AD62-0346A558B8FE}"/>
              </a:ext>
            </a:extLst>
          </p:cNvPr>
          <p:cNvSpPr txBox="1"/>
          <p:nvPr/>
        </p:nvSpPr>
        <p:spPr>
          <a:xfrm>
            <a:off x="1272280" y="3728311"/>
            <a:ext cx="34821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https://word2vec.kr/search/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100749-1381-9AA4-9234-98F5C77377DD}"/>
              </a:ext>
            </a:extLst>
          </p:cNvPr>
          <p:cNvSpPr txBox="1"/>
          <p:nvPr/>
        </p:nvSpPr>
        <p:spPr>
          <a:xfrm>
            <a:off x="6874190" y="4270161"/>
            <a:ext cx="1727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한국-프랑스+파리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354C5F3D-3B92-0544-8648-E4F7A9E9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15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70326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4535C-AEDB-6E14-2E05-66E300B92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5C2D724-0AC7-DE84-2E5B-829B33F7388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실습하기</a:t>
            </a:r>
            <a:endParaRPr lang="en-US" altLang="ko-KR" sz="2800" b="1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96E4CC-780B-2157-8AE3-8B59B1D7F437}"/>
              </a:ext>
            </a:extLst>
          </p:cNvPr>
          <p:cNvSpPr txBox="1"/>
          <p:nvPr/>
        </p:nvSpPr>
        <p:spPr>
          <a:xfrm>
            <a:off x="475645" y="1524395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tensorflow_projector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8210A7A-250D-8F17-3A7C-539977D18A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2115" y="1524395"/>
            <a:ext cx="7363256" cy="4694428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697BCCA-9308-B97A-4EDE-0925D53C0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16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2524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E78D1-139E-DDB7-C0F0-41C6663D5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E013D77-BF1D-8143-53CC-EC8B8D9B3DE6}"/>
              </a:ext>
            </a:extLst>
          </p:cNvPr>
          <p:cNvSpPr/>
          <p:nvPr/>
        </p:nvSpPr>
        <p:spPr>
          <a:xfrm>
            <a:off x="634680" y="3467100"/>
            <a:ext cx="7118670" cy="5810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3C32D1A-E0C3-D69B-D2D1-9865CC78F3F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목차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10E936-5ED4-AFB8-DBA9-C11DC51F1461}"/>
              </a:ext>
            </a:extLst>
          </p:cNvPr>
          <p:cNvSpPr txBox="1"/>
          <p:nvPr/>
        </p:nvSpPr>
        <p:spPr>
          <a:xfrm>
            <a:off x="1085850" y="1829447"/>
            <a:ext cx="8858250" cy="2944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는 왜 똑똑하지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는 어떻게 학습하지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생성형 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LLM agent</a:t>
            </a:r>
          </a:p>
        </p:txBody>
      </p:sp>
    </p:spTree>
    <p:extLst>
      <p:ext uri="{BB962C8B-B14F-4D97-AF65-F5344CB8AC3E}">
        <p14:creationId xmlns:p14="http://schemas.microsoft.com/office/powerpoint/2010/main" val="8844048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FA7E8-3898-1642-FC37-F3EC28839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7DE6F0E-CC28-6D91-BE1E-0137F11B9842}"/>
              </a:ext>
            </a:extLst>
          </p:cNvPr>
          <p:cNvSpPr txBox="1">
            <a:spLocks/>
          </p:cNvSpPr>
          <p:nvPr/>
        </p:nvSpPr>
        <p:spPr>
          <a:xfrm>
            <a:off x="718606" y="2056645"/>
            <a:ext cx="6482087" cy="76643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Batang" panose="02030600000101010101" pitchFamily="18" charset="-127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ko-KR" altLang="en-US" sz="28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블랙       </a:t>
            </a:r>
            <a:r>
              <a:rPr lang="en-US" altLang="ko-KR" sz="28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          ?  </a:t>
            </a:r>
            <a:endParaRPr lang="ko-KR" altLang="en-US" sz="2800" dirty="0">
              <a:solidFill>
                <a:schemeClr val="tx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7" name="화살표: 위로 구부러짐 6">
            <a:extLst>
              <a:ext uri="{FF2B5EF4-FFF2-40B4-BE49-F238E27FC236}">
                <a16:creationId xmlns:a16="http://schemas.microsoft.com/office/drawing/2014/main" id="{046724D1-DF42-06F1-FAF0-29BB8535327B}"/>
              </a:ext>
            </a:extLst>
          </p:cNvPr>
          <p:cNvSpPr/>
          <p:nvPr/>
        </p:nvSpPr>
        <p:spPr>
          <a:xfrm>
            <a:off x="1241773" y="2760525"/>
            <a:ext cx="1901477" cy="400337"/>
          </a:xfrm>
          <a:prstGeom prst="curved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85F735-0A6C-0262-ABC4-C7650839ABEA}"/>
              </a:ext>
            </a:extLst>
          </p:cNvPr>
          <p:cNvSpPr txBox="1"/>
          <p:nvPr/>
        </p:nvSpPr>
        <p:spPr>
          <a:xfrm>
            <a:off x="563430" y="1190610"/>
            <a:ext cx="10990395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데이터를 학습한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딥러닝은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이전 데이터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픽셀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들을 기반으로 다음 데이터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픽셀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확률적으로 예측하여 텍스트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음악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코드 등 새로운 콘텐츠를 생성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(Generative)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하는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E723F44-9B2E-5BDF-A6E4-FC6EB276D266}"/>
              </a:ext>
            </a:extLst>
          </p:cNvPr>
          <p:cNvGrpSpPr/>
          <p:nvPr/>
        </p:nvGrpSpPr>
        <p:grpSpPr>
          <a:xfrm>
            <a:off x="2972265" y="2439864"/>
            <a:ext cx="5020496" cy="3660172"/>
            <a:chOff x="2938879" y="2492978"/>
            <a:chExt cx="5020496" cy="3660172"/>
          </a:xfrm>
        </p:grpSpPr>
        <p:sp>
          <p:nvSpPr>
            <p:cNvPr id="5" name="제목 1">
              <a:extLst>
                <a:ext uri="{FF2B5EF4-FFF2-40B4-BE49-F238E27FC236}">
                  <a16:creationId xmlns:a16="http://schemas.microsoft.com/office/drawing/2014/main" id="{611FA2E5-14CD-9CE6-B4C3-AB709E921D99}"/>
                </a:ext>
              </a:extLst>
            </p:cNvPr>
            <p:cNvSpPr txBox="1">
              <a:spLocks/>
            </p:cNvSpPr>
            <p:nvPr/>
          </p:nvSpPr>
          <p:spPr>
            <a:xfrm>
              <a:off x="2938879" y="2978137"/>
              <a:ext cx="2177317" cy="766439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4572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Batang" panose="02030600000101010101" pitchFamily="18" charset="-127"/>
                  <a:ea typeface="Batang" panose="02030600000101010101" pitchFamily="18" charset="-127"/>
                  <a:cs typeface="Batang" panose="02030600000101010101" pitchFamily="18" charset="-127"/>
                </a:defRPr>
              </a:lvl1pPr>
              <a:lvl2pPr eaLnBrk="1" latinLnBrk="1" hangingPunct="1">
                <a:defRPr>
                  <a:solidFill>
                    <a:schemeClr val="tx2"/>
                  </a:solidFill>
                </a:defRPr>
              </a:lvl2pPr>
              <a:lvl3pPr eaLnBrk="1" latinLnBrk="1" hangingPunct="1">
                <a:defRPr>
                  <a:solidFill>
                    <a:schemeClr val="tx2"/>
                  </a:solidFill>
                </a:defRPr>
              </a:lvl3pPr>
              <a:lvl4pPr eaLnBrk="1" latinLnBrk="1" hangingPunct="1">
                <a:defRPr>
                  <a:solidFill>
                    <a:schemeClr val="tx2"/>
                  </a:solidFill>
                </a:defRPr>
              </a:lvl4pPr>
              <a:lvl5pPr eaLnBrk="1" latinLnBrk="1" hangingPunct="1">
                <a:defRPr>
                  <a:solidFill>
                    <a:schemeClr val="tx2"/>
                  </a:solidFill>
                </a:defRPr>
              </a:lvl5pPr>
              <a:lvl6pPr eaLnBrk="1" latinLnBrk="1" hangingPunct="1">
                <a:defRPr>
                  <a:solidFill>
                    <a:schemeClr val="tx2"/>
                  </a:solidFill>
                </a:defRPr>
              </a:lvl6pPr>
              <a:lvl7pPr eaLnBrk="1" latinLnBrk="1" hangingPunct="1">
                <a:defRPr>
                  <a:solidFill>
                    <a:schemeClr val="tx2"/>
                  </a:solidFill>
                </a:defRPr>
              </a:lvl7pPr>
              <a:lvl8pPr eaLnBrk="1" latinLnBrk="1" hangingPunct="1">
                <a:defRPr>
                  <a:solidFill>
                    <a:schemeClr val="tx2"/>
                  </a:solidFill>
                </a:defRPr>
              </a:lvl8pPr>
              <a:lvl9pPr eaLnBrk="1" latin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algn="l"/>
              <a:r>
                <a:rPr lang="ko-KR" altLang="en-US" sz="2800" dirty="0">
                  <a:solidFill>
                    <a:srgbClr val="FF99FF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핑크</a:t>
              </a:r>
              <a:r>
                <a:rPr lang="en-US" altLang="ko-KR" sz="2800" dirty="0">
                  <a:solidFill>
                    <a:srgbClr val="FF99FF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 </a:t>
              </a:r>
              <a:endParaRPr lang="ko-KR" altLang="en-US" sz="2800" dirty="0">
                <a:solidFill>
                  <a:srgbClr val="FF99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endParaRPr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31669C79-6E12-C653-721F-8A8D0705C0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9796" y="2492978"/>
              <a:ext cx="3379579" cy="3660172"/>
            </a:xfrm>
            <a:prstGeom prst="rect">
              <a:avLst/>
            </a:prstGeom>
          </p:spPr>
        </p:pic>
      </p:grpSp>
      <p:sp>
        <p:nvSpPr>
          <p:cNvPr id="9" name="제목 1">
            <a:extLst>
              <a:ext uri="{FF2B5EF4-FFF2-40B4-BE49-F238E27FC236}">
                <a16:creationId xmlns:a16="http://schemas.microsoft.com/office/drawing/2014/main" id="{990F8DB8-DDC4-EDCB-893F-F3EABAE4EA45}"/>
              </a:ext>
            </a:extLst>
          </p:cNvPr>
          <p:cNvSpPr txBox="1">
            <a:spLocks/>
          </p:cNvSpPr>
          <p:nvPr/>
        </p:nvSpPr>
        <p:spPr>
          <a:xfrm>
            <a:off x="2941695" y="4026310"/>
            <a:ext cx="2177317" cy="76643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Batang" panose="02030600000101010101" pitchFamily="18" charset="-127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ko-KR" altLang="en-US" sz="28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커피</a:t>
            </a:r>
            <a:r>
              <a:rPr lang="en-US" altLang="ko-KR" sz="28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endParaRPr lang="ko-KR" altLang="en-US" sz="2800" dirty="0">
              <a:solidFill>
                <a:schemeClr val="tx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pic>
        <p:nvPicPr>
          <p:cNvPr id="6150" name="Picture 6" descr="커피가 담긴 화이트 세라믹 머그잔">
            <a:extLst>
              <a:ext uri="{FF2B5EF4-FFF2-40B4-BE49-F238E27FC236}">
                <a16:creationId xmlns:a16="http://schemas.microsoft.com/office/drawing/2014/main" id="{A505F6CD-DFF6-B16F-93A7-AEA63D5741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4075" y="2352675"/>
            <a:ext cx="2563707" cy="384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A2BCF9E2-ED44-0CF7-2A28-6C73929297AE}"/>
              </a:ext>
            </a:extLst>
          </p:cNvPr>
          <p:cNvGrpSpPr/>
          <p:nvPr/>
        </p:nvGrpSpPr>
        <p:grpSpPr>
          <a:xfrm>
            <a:off x="3061575" y="3815616"/>
            <a:ext cx="8492250" cy="2742964"/>
            <a:chOff x="2928225" y="3200636"/>
            <a:chExt cx="8852915" cy="3104914"/>
          </a:xfrm>
        </p:grpSpPr>
        <p:sp>
          <p:nvSpPr>
            <p:cNvPr id="11" name="제목 1">
              <a:extLst>
                <a:ext uri="{FF2B5EF4-FFF2-40B4-BE49-F238E27FC236}">
                  <a16:creationId xmlns:a16="http://schemas.microsoft.com/office/drawing/2014/main" id="{C5B4E57A-7758-2A62-A476-E7A95EB53D66}"/>
                </a:ext>
              </a:extLst>
            </p:cNvPr>
            <p:cNvSpPr txBox="1">
              <a:spLocks/>
            </p:cNvSpPr>
            <p:nvPr/>
          </p:nvSpPr>
          <p:spPr>
            <a:xfrm>
              <a:off x="2928225" y="5123393"/>
              <a:ext cx="2177317" cy="766439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4572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Batang" panose="02030600000101010101" pitchFamily="18" charset="-127"/>
                  <a:ea typeface="Batang" panose="02030600000101010101" pitchFamily="18" charset="-127"/>
                  <a:cs typeface="Batang" panose="02030600000101010101" pitchFamily="18" charset="-127"/>
                </a:defRPr>
              </a:lvl1pPr>
              <a:lvl2pPr eaLnBrk="1" latinLnBrk="1" hangingPunct="1">
                <a:defRPr>
                  <a:solidFill>
                    <a:schemeClr val="tx2"/>
                  </a:solidFill>
                </a:defRPr>
              </a:lvl2pPr>
              <a:lvl3pPr eaLnBrk="1" latinLnBrk="1" hangingPunct="1">
                <a:defRPr>
                  <a:solidFill>
                    <a:schemeClr val="tx2"/>
                  </a:solidFill>
                </a:defRPr>
              </a:lvl3pPr>
              <a:lvl4pPr eaLnBrk="1" latinLnBrk="1" hangingPunct="1">
                <a:defRPr>
                  <a:solidFill>
                    <a:schemeClr val="tx2"/>
                  </a:solidFill>
                </a:defRPr>
              </a:lvl4pPr>
              <a:lvl5pPr eaLnBrk="1" latinLnBrk="1" hangingPunct="1">
                <a:defRPr>
                  <a:solidFill>
                    <a:schemeClr val="tx2"/>
                  </a:solidFill>
                </a:defRPr>
              </a:lvl5pPr>
              <a:lvl6pPr eaLnBrk="1" latinLnBrk="1" hangingPunct="1">
                <a:defRPr>
                  <a:solidFill>
                    <a:schemeClr val="tx2"/>
                  </a:solidFill>
                </a:defRPr>
              </a:lvl6pPr>
              <a:lvl7pPr eaLnBrk="1" latinLnBrk="1" hangingPunct="1">
                <a:defRPr>
                  <a:solidFill>
                    <a:schemeClr val="tx2"/>
                  </a:solidFill>
                </a:defRPr>
              </a:lvl7pPr>
              <a:lvl8pPr eaLnBrk="1" latinLnBrk="1" hangingPunct="1">
                <a:defRPr>
                  <a:solidFill>
                    <a:schemeClr val="tx2"/>
                  </a:solidFill>
                </a:defRPr>
              </a:lvl8pPr>
              <a:lvl9pPr eaLnBrk="1" latin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algn="l"/>
              <a:r>
                <a:rPr lang="ko-KR" altLang="en-US" sz="2800" dirty="0">
                  <a:solidFill>
                    <a:srgbClr val="FF0000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홀</a:t>
              </a:r>
              <a:r>
                <a:rPr lang="en-US" altLang="ko-KR" sz="2800" dirty="0">
                  <a:solidFill>
                    <a:schemeClr val="tx1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 </a:t>
              </a:r>
              <a:endParaRPr lang="ko-KR" altLang="en-US" sz="28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endParaRPr>
            </a:p>
          </p:txBody>
        </p:sp>
        <p:pic>
          <p:nvPicPr>
            <p:cNvPr id="6148" name="Picture 4" descr="어둠 속에서 불의 고리가 보인다">
              <a:extLst>
                <a:ext uri="{FF2B5EF4-FFF2-40B4-BE49-F238E27FC236}">
                  <a16:creationId xmlns:a16="http://schemas.microsoft.com/office/drawing/2014/main" id="{E6DD4576-D0D2-F798-B847-A0C25AD5CE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62730" y="3200636"/>
              <a:ext cx="5518410" cy="31049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제목 1">
            <a:extLst>
              <a:ext uri="{FF2B5EF4-FFF2-40B4-BE49-F238E27FC236}">
                <a16:creationId xmlns:a16="http://schemas.microsoft.com/office/drawing/2014/main" id="{12DC4873-8878-1A66-9E65-761AEC1413B3}"/>
              </a:ext>
            </a:extLst>
          </p:cNvPr>
          <p:cNvSpPr txBox="1">
            <a:spLocks/>
          </p:cNvSpPr>
          <p:nvPr/>
        </p:nvSpPr>
        <p:spPr>
          <a:xfrm>
            <a:off x="524690" y="481142"/>
            <a:ext cx="9308471" cy="76643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Batang" panose="02030600000101010101" pitchFamily="18" charset="-127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ko-KR" altLang="en-US" sz="2800" b="1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대규모 언어 모델 </a:t>
            </a:r>
            <a:r>
              <a:rPr lang="en-US" altLang="ko-KR" sz="2800" b="1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(Large Language Model, LLM)</a:t>
            </a:r>
            <a:endParaRPr lang="ko-KR" altLang="en-US" sz="2800" b="1" dirty="0"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  <a:cs typeface="Times New Roman" panose="02020603050405020304" pitchFamily="18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AC9864EF-57DD-0EF8-EEE2-E30A7B31D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18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2782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04049-3842-3F62-B21A-BD6507D0B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274DC582-07A1-80C0-0395-B53ED416E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17" y="2011520"/>
            <a:ext cx="10541521" cy="4335335"/>
          </a:xfrm>
          <a:prstGeom prst="rect">
            <a:avLst/>
          </a:prstGeom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C54FFA66-55FC-DF67-95A8-C264D5C14FCC}"/>
              </a:ext>
            </a:extLst>
          </p:cNvPr>
          <p:cNvSpPr txBox="1">
            <a:spLocks/>
          </p:cNvSpPr>
          <p:nvPr/>
        </p:nvSpPr>
        <p:spPr>
          <a:xfrm>
            <a:off x="524690" y="481142"/>
            <a:ext cx="9308471" cy="76643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Batang" panose="02030600000101010101" pitchFamily="18" charset="-127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ko-KR" altLang="en-US" sz="2800" b="1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대규모 언어 모델 </a:t>
            </a:r>
            <a:r>
              <a:rPr lang="en-US" altLang="ko-KR" sz="2800" b="1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(Large Language Model, LLM)</a:t>
            </a:r>
            <a:endParaRPr lang="ko-KR" altLang="en-US" sz="2800" b="1" dirty="0"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  <a:cs typeface="Times New Roman" panose="02020603050405020304" pitchFamily="18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E4E42228-D343-259C-E33F-2EA9C7BE3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19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95200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891C0-09A2-FBF5-D85B-F929E86B1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62149A-A199-CCC2-90FE-DA283B99BD0E}"/>
              </a:ext>
            </a:extLst>
          </p:cNvPr>
          <p:cNvSpPr txBox="1"/>
          <p:nvPr/>
        </p:nvSpPr>
        <p:spPr>
          <a:xfrm>
            <a:off x="572955" y="1182490"/>
            <a:ext cx="11143400" cy="791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데이터를 학습한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딥러닝은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이전 단어들을 기반으로 다음 단어를 확률적으로 예측하여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말을 이어가는 끝 말 이어가기 끝판 왕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LLM(Large Language Model)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903CC034-95A1-22B6-813A-A9AEF578AA6E}"/>
              </a:ext>
            </a:extLst>
          </p:cNvPr>
          <p:cNvGrpSpPr/>
          <p:nvPr/>
        </p:nvGrpSpPr>
        <p:grpSpPr>
          <a:xfrm>
            <a:off x="630711" y="2050117"/>
            <a:ext cx="8621503" cy="4008020"/>
            <a:chOff x="1159339" y="601426"/>
            <a:chExt cx="8621503" cy="400802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53063706-CD35-9C6A-4CB6-80ED3CE4BE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59339" y="601427"/>
              <a:ext cx="8621503" cy="4008019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36575486-E78F-E443-AA75-0A87FF1774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75880" y="1466342"/>
              <a:ext cx="5366966" cy="2971188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D9D8F261-C778-0BEE-19FF-56F5F5EC48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07302" y="601426"/>
              <a:ext cx="1268392" cy="3836103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6A4B8B2-3F5F-A57F-814F-8B9D867214DC}"/>
              </a:ext>
            </a:extLst>
          </p:cNvPr>
          <p:cNvSpPr txBox="1"/>
          <p:nvPr/>
        </p:nvSpPr>
        <p:spPr>
          <a:xfrm>
            <a:off x="572955" y="6110338"/>
            <a:ext cx="51276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한컴 말랑말랑 Bold" panose="020F0803000000000000" pitchFamily="50" charset="-127"/>
                <a:ea typeface="한컴 말랑말랑 Bold" panose="020F0803000000000000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https://huggingface.co/learn/nlp-course/chapter1/4?fw=pt</a:t>
            </a:r>
            <a:r>
              <a:rPr lang="en-US" altLang="ko-KR" sz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endParaRPr lang="ko-KR" altLang="en-US" sz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6CFBF25-FAF7-113C-B329-3B3290862E74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9494855" y="2073025"/>
            <a:ext cx="2550213" cy="321375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2897CF4-C106-CB2B-772B-10044F9CA7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854" y="2201722"/>
            <a:ext cx="1150720" cy="66299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F0B4B90-10D3-CD96-7F65-13D0D48F66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757" y="3202215"/>
            <a:ext cx="2289316" cy="78467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6CF73849-1994-6CC6-66C1-5F5DC3DEA5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51277" y="3202215"/>
            <a:ext cx="1150720" cy="64775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03B95147-8E14-88F2-AE54-F38A428C296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5795" y="4211009"/>
            <a:ext cx="3380148" cy="784677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B899A1B7-FDA2-A969-7E4F-1596039EF5D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02186" y="4144270"/>
            <a:ext cx="1356478" cy="777307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6E6B3DD4-1580-FB79-A68B-6B0312B8B2B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8774" y="5166032"/>
            <a:ext cx="4696050" cy="854554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35CB67AC-629A-E9B0-4DBA-A87BE860AA2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51277" y="5215876"/>
            <a:ext cx="891617" cy="66299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FFFE5D0-1147-B9EF-DACA-7CFB027D0670}"/>
              </a:ext>
            </a:extLst>
          </p:cNvPr>
          <p:cNvSpPr txBox="1"/>
          <p:nvPr/>
        </p:nvSpPr>
        <p:spPr>
          <a:xfrm>
            <a:off x="10648985" y="3218316"/>
            <a:ext cx="6238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name</a:t>
            </a:r>
            <a:endParaRPr lang="ko-KR" altLang="en-US" sz="14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407F6F-3FB3-E5C9-00C6-FCB477C1A2A1}"/>
              </a:ext>
            </a:extLst>
          </p:cNvPr>
          <p:cNvSpPr txBox="1"/>
          <p:nvPr/>
        </p:nvSpPr>
        <p:spPr>
          <a:xfrm>
            <a:off x="11326175" y="4057120"/>
            <a:ext cx="4315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girl</a:t>
            </a:r>
            <a:endParaRPr lang="ko-KR" altLang="en-US" sz="14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09A9DB-AE7E-4B2B-74F9-74B691C5E350}"/>
              </a:ext>
            </a:extLst>
          </p:cNvPr>
          <p:cNvSpPr txBox="1"/>
          <p:nvPr/>
        </p:nvSpPr>
        <p:spPr>
          <a:xfrm>
            <a:off x="9591150" y="2379331"/>
            <a:ext cx="6559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house</a:t>
            </a:r>
            <a:endParaRPr lang="ko-KR" altLang="en-US" sz="14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0C7E1F-8A86-36B2-6E45-AB7A32DAE995}"/>
              </a:ext>
            </a:extLst>
          </p:cNvPr>
          <p:cNvSpPr txBox="1"/>
          <p:nvPr/>
        </p:nvSpPr>
        <p:spPr>
          <a:xfrm>
            <a:off x="10584158" y="5904248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My</a:t>
            </a:r>
            <a:endParaRPr lang="ko-KR" altLang="en-US" sz="14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C26E32FF-72A5-ECB7-FE1A-1D6180C7DED7}"/>
              </a:ext>
            </a:extLst>
          </p:cNvPr>
          <p:cNvCxnSpPr>
            <a:cxnSpLocks/>
          </p:cNvCxnSpPr>
          <p:nvPr/>
        </p:nvCxnSpPr>
        <p:spPr>
          <a:xfrm flipV="1">
            <a:off x="10816670" y="5424217"/>
            <a:ext cx="0" cy="4620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제목 1">
            <a:extLst>
              <a:ext uri="{FF2B5EF4-FFF2-40B4-BE49-F238E27FC236}">
                <a16:creationId xmlns:a16="http://schemas.microsoft.com/office/drawing/2014/main" id="{3C699B77-FF99-CB64-B75D-7B9921ECC96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확률적 언어모델</a:t>
            </a:r>
          </a:p>
        </p:txBody>
      </p:sp>
      <p:sp>
        <p:nvSpPr>
          <p:cNvPr id="13" name="슬라이드 번호 개체 틀 3">
            <a:extLst>
              <a:ext uri="{FF2B5EF4-FFF2-40B4-BE49-F238E27FC236}">
                <a16:creationId xmlns:a16="http://schemas.microsoft.com/office/drawing/2014/main" id="{20B471C4-A2F3-53E6-397D-2F1C0CF7A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20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1701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2BB82-A826-F26E-33F3-BE58B9BFB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생각 풍선: 구름 모양 11">
            <a:extLst>
              <a:ext uri="{FF2B5EF4-FFF2-40B4-BE49-F238E27FC236}">
                <a16:creationId xmlns:a16="http://schemas.microsoft.com/office/drawing/2014/main" id="{836A0981-B06E-7FA9-3C84-1BEB1DD7D66C}"/>
              </a:ext>
            </a:extLst>
          </p:cNvPr>
          <p:cNvSpPr/>
          <p:nvPr/>
        </p:nvSpPr>
        <p:spPr>
          <a:xfrm>
            <a:off x="666750" y="3972815"/>
            <a:ext cx="1676400" cy="981109"/>
          </a:xfrm>
          <a:prstGeom prst="cloudCallout">
            <a:avLst>
              <a:gd name="adj1" fmla="val 71781"/>
              <a:gd name="adj2" fmla="val -113222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5466065-E699-8505-729C-071D8E4E576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확률적 언어모델을 가진 앵무새</a:t>
            </a: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(Generative AI, LLM)</a:t>
            </a:r>
            <a:endParaRPr lang="ko-KR" altLang="en-US" sz="2800" b="1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E3B534-17F1-16CB-F2B2-D4F954D22BE1}"/>
              </a:ext>
            </a:extLst>
          </p:cNvPr>
          <p:cNvSpPr txBox="1"/>
          <p:nvPr/>
        </p:nvSpPr>
        <p:spPr>
          <a:xfrm>
            <a:off x="5977370" y="2179317"/>
            <a:ext cx="5547880" cy="2958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수십억 개의 단어를 학습하여 사람처럼 자연스럽게 언어를 생성하는 인공지능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신경망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(Neural Network)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기반으로 문맥을 이해하고 논리적 답변 생성 가능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대표 모델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: GPT-4, Claude, Gemini,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LLaMA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등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B3DEC-D9DE-0819-ED6A-4522BD601F7C}"/>
              </a:ext>
            </a:extLst>
          </p:cNvPr>
          <p:cNvSpPr txBox="1"/>
          <p:nvPr/>
        </p:nvSpPr>
        <p:spPr>
          <a:xfrm>
            <a:off x="487615" y="3450219"/>
            <a:ext cx="1338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tokenizer</a:t>
            </a:r>
            <a:endParaRPr lang="ko-KR" altLang="en-US" sz="2000" b="1" dirty="0">
              <a:solidFill>
                <a:srgbClr val="00B0F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A936B0-BF75-16F5-23C6-40015226234C}"/>
              </a:ext>
            </a:extLst>
          </p:cNvPr>
          <p:cNvSpPr txBox="1"/>
          <p:nvPr/>
        </p:nvSpPr>
        <p:spPr>
          <a:xfrm rot="20880952">
            <a:off x="1398868" y="4114632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token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902C82-4BA6-FEDC-2B87-D1CF7DBA6ED8}"/>
              </a:ext>
            </a:extLst>
          </p:cNvPr>
          <p:cNvSpPr txBox="1"/>
          <p:nvPr/>
        </p:nvSpPr>
        <p:spPr>
          <a:xfrm rot="18871284">
            <a:off x="1639303" y="4448377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token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BAB36C-27C3-2D4A-22B2-AC7B1B098554}"/>
              </a:ext>
            </a:extLst>
          </p:cNvPr>
          <p:cNvSpPr txBox="1"/>
          <p:nvPr/>
        </p:nvSpPr>
        <p:spPr>
          <a:xfrm rot="20880952">
            <a:off x="1052470" y="4528427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token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5F040D-97CF-EDFE-B8F0-1019CB16013B}"/>
              </a:ext>
            </a:extLst>
          </p:cNvPr>
          <p:cNvSpPr txBox="1"/>
          <p:nvPr/>
        </p:nvSpPr>
        <p:spPr>
          <a:xfrm rot="899439">
            <a:off x="841799" y="4189064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token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3BF0C6E-FCBC-9280-86ED-228EEE52B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21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3" name="그래픽 12" descr="참새">
            <a:extLst>
              <a:ext uri="{FF2B5EF4-FFF2-40B4-BE49-F238E27FC236}">
                <a16:creationId xmlns:a16="http://schemas.microsoft.com/office/drawing/2014/main" id="{7B6E6159-9E36-E3BC-CAC2-1F1F8699A6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87505" y="2535818"/>
            <a:ext cx="1803569" cy="1803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3237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018F6-1762-C857-F72D-7B1260772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39EF91C-2C02-8C60-5612-69CCB33C3F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119" y="1703682"/>
            <a:ext cx="7629006" cy="3770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Gary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Marcus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"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LLMs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fluent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bullshitters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."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언어적 유창성은 뛰어나나 사실 검증 메커니즘이 없음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Yejin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Choi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"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Commonsense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missing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therefore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bullshit-prone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“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세상에 대한 상식 없이 말하기 때문에 자주 현실과 동떨어짐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코마에서 깨어난 신입사원 아인슈타인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오른쪽 중괄호 4">
            <a:extLst>
              <a:ext uri="{FF2B5EF4-FFF2-40B4-BE49-F238E27FC236}">
                <a16:creationId xmlns:a16="http://schemas.microsoft.com/office/drawing/2014/main" id="{F593159A-2015-62E4-DAC8-9AEED4B360F2}"/>
              </a:ext>
            </a:extLst>
          </p:cNvPr>
          <p:cNvSpPr/>
          <p:nvPr/>
        </p:nvSpPr>
        <p:spPr>
          <a:xfrm>
            <a:off x="8029575" y="1974229"/>
            <a:ext cx="419100" cy="3407396"/>
          </a:xfrm>
          <a:prstGeom prst="rightBrace">
            <a:avLst>
              <a:gd name="adj1" fmla="val 59804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CCA16C-F40C-57FC-E7D3-D8EB93EF3832}"/>
              </a:ext>
            </a:extLst>
          </p:cNvPr>
          <p:cNvSpPr txBox="1"/>
          <p:nvPr/>
        </p:nvSpPr>
        <p:spPr>
          <a:xfrm>
            <a:off x="8580581" y="3107386"/>
            <a:ext cx="3325091" cy="96622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en-US" altLang="ko-K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kumimoji="0" lang="ko-KR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를 두려워하지 말고</a:t>
            </a:r>
            <a:endParaRPr kumimoji="0" lang="en-US" altLang="ko-KR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도구로써 잘 이용하자</a:t>
            </a:r>
            <a:endParaRPr lang="ko-KR" altLang="en-US" sz="2000" dirty="0">
              <a:solidFill>
                <a:schemeClr val="bg1"/>
              </a:solidFill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EEB38553-56E9-EC0D-C397-5A76AA02097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과 인간과 같은 감정으로 소통하진 마라</a:t>
            </a:r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88F19F3A-4991-6D7F-0E56-6C00379BA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22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95852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AEAFC-BE00-BAFE-D0FA-D525C3477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 descr="코드에서 대화로: LLM은 어떻게 작동하나요?">
            <a:extLst>
              <a:ext uri="{FF2B5EF4-FFF2-40B4-BE49-F238E27FC236}">
                <a16:creationId xmlns:a16="http://schemas.microsoft.com/office/drawing/2014/main" id="{1FD4B2C6-0335-9409-DB54-C0E55819C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9683" y="2585739"/>
            <a:ext cx="7307718" cy="3870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1DFEDB0-1965-79D2-75D3-9E3A6282EA84}"/>
              </a:ext>
            </a:extLst>
          </p:cNvPr>
          <p:cNvSpPr txBox="1">
            <a:spLocks/>
          </p:cNvSpPr>
          <p:nvPr/>
        </p:nvSpPr>
        <p:spPr>
          <a:xfrm>
            <a:off x="524690" y="481142"/>
            <a:ext cx="9308471" cy="76643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Batang" panose="02030600000101010101" pitchFamily="18" charset="-127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ko-KR" altLang="en-US" sz="2800" b="1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대규모 언어 모델 </a:t>
            </a:r>
            <a:r>
              <a:rPr lang="en-US" altLang="ko-KR" sz="2800" b="1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(Large Language Model, LLM)</a:t>
            </a:r>
            <a:endParaRPr lang="ko-KR" altLang="en-US" sz="2800" b="1" dirty="0"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B4EC25-E590-3BDF-7682-BBA1C5D7A3FF}"/>
              </a:ext>
            </a:extLst>
          </p:cNvPr>
          <p:cNvSpPr txBox="1"/>
          <p:nvPr/>
        </p:nvSpPr>
        <p:spPr>
          <a:xfrm>
            <a:off x="599571" y="1247581"/>
            <a:ext cx="9308471" cy="1202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a typeface="D2Coding" panose="020B0609020101020101" pitchFamily="49" charset="-127"/>
              </a:rPr>
              <a:t>수십억 개의 단어를 학습하여 사람처럼 자연스럽게 언어를 생성하는 인공지능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a typeface="D2Coding" panose="020B0609020101020101" pitchFamily="49" charset="-127"/>
              </a:rPr>
              <a:t>신경망</a:t>
            </a:r>
            <a:r>
              <a:rPr lang="en-US" altLang="ko-KR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a typeface="D2Coding" panose="020B0609020101020101" pitchFamily="49" charset="-127"/>
              </a:rPr>
              <a:t>(Neural Network) </a:t>
            </a:r>
            <a:r>
              <a:rPr lang="ko-KR" altLang="en-US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a typeface="D2Coding" panose="020B0609020101020101" pitchFamily="49" charset="-127"/>
              </a:rPr>
              <a:t>기반으로 문맥을 이해하고 논리적 답변 생성 가능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a typeface="D2Coding" panose="020B0609020101020101" pitchFamily="49" charset="-127"/>
              </a:rPr>
              <a:t>대표 모델</a:t>
            </a:r>
            <a:r>
              <a:rPr lang="en-US" altLang="ko-KR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a typeface="D2Coding" panose="020B0609020101020101" pitchFamily="49" charset="-127"/>
              </a:rPr>
              <a:t>: GPT-4, Claude, Gemini, </a:t>
            </a:r>
            <a:r>
              <a:rPr lang="en-US" altLang="ko-KR" sz="16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a typeface="D2Coding" panose="020B0609020101020101" pitchFamily="49" charset="-127"/>
              </a:rPr>
              <a:t>LLaMA</a:t>
            </a:r>
            <a:r>
              <a:rPr lang="en-US" altLang="ko-KR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a typeface="D2Coding" panose="020B0609020101020101" pitchFamily="49" charset="-127"/>
              </a:rPr>
              <a:t>등</a:t>
            </a:r>
            <a:endParaRPr lang="en-US" altLang="ko-KR" sz="16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ea typeface="D2Coding" panose="020B0609020101020101" pitchFamily="49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74EE66-6D27-BE42-817E-0B9A49EA2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23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51129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2879C-ADA7-CCED-8D88-051AC31C0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83D097-5E2D-55F0-4935-0E2A94B3F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4F9A9CD-06E8-DF8E-97D7-3AE33949897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실습하기</a:t>
            </a:r>
            <a:endParaRPr lang="en-US" altLang="ko-KR" sz="2800" b="1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A48EA9-9839-49C9-70B3-30C9788433C0}"/>
              </a:ext>
            </a:extLst>
          </p:cNvPr>
          <p:cNvSpPr txBox="1"/>
          <p:nvPr/>
        </p:nvSpPr>
        <p:spPr>
          <a:xfrm>
            <a:off x="475645" y="1841061"/>
            <a:ext cx="4685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제미나이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실습하는 코드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colab_python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C748CCD-11EA-B073-2C13-C514810E7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5619" y="1912898"/>
            <a:ext cx="5108392" cy="34876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640AF9B-B442-980A-C5A4-DC006F03ACC8}"/>
              </a:ext>
            </a:extLst>
          </p:cNvPr>
          <p:cNvSpPr txBox="1"/>
          <p:nvPr/>
        </p:nvSpPr>
        <p:spPr>
          <a:xfrm>
            <a:off x="886027" y="2360031"/>
            <a:ext cx="4259862" cy="199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텍스트 생성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Generate text)</a:t>
            </a:r>
          </a:p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r>
              <a:rPr lang="ko-KR" altLang="en-US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번역하기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(Translate languages)</a:t>
            </a:r>
          </a:p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r>
              <a:rPr lang="ko-KR" altLang="en-US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소설 만들기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(Write creative content)</a:t>
            </a:r>
          </a:p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r>
              <a:rPr lang="ko-KR" altLang="en-US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보이스피싱 탐지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(Categorize text)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71D1F2-1E52-48A8-B34D-CDC25627F90F}"/>
              </a:ext>
            </a:extLst>
          </p:cNvPr>
          <p:cNvSpPr txBox="1"/>
          <p:nvPr/>
        </p:nvSpPr>
        <p:spPr>
          <a:xfrm>
            <a:off x="886026" y="5108169"/>
            <a:ext cx="44678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4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가지 서비스를 친구에게 휴대폰이나 인터넷으로 제시하자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! using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gradio.app</a:t>
            </a:r>
            <a:endParaRPr lang="ko-KR" altLang="en-US" sz="1600" dirty="0"/>
          </a:p>
        </p:txBody>
      </p:sp>
      <p:sp>
        <p:nvSpPr>
          <p:cNvPr id="8" name="왼쪽 중괄호 7">
            <a:extLst>
              <a:ext uri="{FF2B5EF4-FFF2-40B4-BE49-F238E27FC236}">
                <a16:creationId xmlns:a16="http://schemas.microsoft.com/office/drawing/2014/main" id="{146E1227-8063-B6EA-B8B9-BA67E1D2D5CB}"/>
              </a:ext>
            </a:extLst>
          </p:cNvPr>
          <p:cNvSpPr/>
          <p:nvPr/>
        </p:nvSpPr>
        <p:spPr>
          <a:xfrm>
            <a:off x="624448" y="2724150"/>
            <a:ext cx="261578" cy="1343025"/>
          </a:xfrm>
          <a:prstGeom prst="leftBrace">
            <a:avLst>
              <a:gd name="adj1" fmla="val 66461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래픽 12" descr="줄 화살표: 일자형">
            <a:extLst>
              <a:ext uri="{FF2B5EF4-FFF2-40B4-BE49-F238E27FC236}">
                <a16:creationId xmlns:a16="http://schemas.microsoft.com/office/drawing/2014/main" id="{90D4E2EA-0E67-0DED-DBB8-26969C4050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2420072" y="4438459"/>
            <a:ext cx="584775" cy="5847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81DB374-A3B1-F3AE-D2DF-CE088155D4CC}"/>
              </a:ext>
            </a:extLst>
          </p:cNvPr>
          <p:cNvSpPr txBox="1"/>
          <p:nvPr/>
        </p:nvSpPr>
        <p:spPr>
          <a:xfrm>
            <a:off x="1621290" y="5985923"/>
            <a:ext cx="8892721" cy="338554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gradio를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사용하여 4가지 기능을 만들어줘</a:t>
            </a:r>
          </a:p>
        </p:txBody>
      </p:sp>
      <p:pic>
        <p:nvPicPr>
          <p:cNvPr id="15" name="그래픽 14" descr="일러스트레이터 단색으로 채워진">
            <a:extLst>
              <a:ext uri="{FF2B5EF4-FFF2-40B4-BE49-F238E27FC236}">
                <a16:creationId xmlns:a16="http://schemas.microsoft.com/office/drawing/2014/main" id="{6E873D37-2954-7F03-4527-CFCCB44F2CD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7745" y="5856820"/>
            <a:ext cx="683073" cy="683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8442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2E1CF-F1FE-99A4-1845-3ED0A9C8E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19F849-76A8-98A9-DA63-0FC4E7455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E7011D32-7D47-8DF1-4202-5945357D7B8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Claude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611C5A7-2B91-5398-64F7-C472C994F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325" y="1816950"/>
            <a:ext cx="9285402" cy="3876995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34448664-83EE-2642-CBCE-04F1D6DD2B35}"/>
              </a:ext>
            </a:extLst>
          </p:cNvPr>
          <p:cNvSpPr/>
          <p:nvPr/>
        </p:nvSpPr>
        <p:spPr>
          <a:xfrm>
            <a:off x="4396509" y="4530149"/>
            <a:ext cx="6650182" cy="452582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01487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F6BB5-3CE1-EF16-05C4-B635BA55F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BEBC0B-9B1E-F396-B432-5B9FAA031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5978D07-459B-C703-E1EC-FF810A7391E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Antigravity </a:t>
            </a:r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실습하기</a:t>
            </a:r>
            <a:endParaRPr lang="en-US" altLang="ko-KR" sz="2800" b="1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D05AED-A77D-58EC-0032-536ACE833B97}"/>
              </a:ext>
            </a:extLst>
          </p:cNvPr>
          <p:cNvSpPr txBox="1"/>
          <p:nvPr/>
        </p:nvSpPr>
        <p:spPr>
          <a:xfrm>
            <a:off x="1625600" y="3858614"/>
            <a:ext cx="10021454" cy="465320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HTML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로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쳇봇을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만들어줘</a:t>
            </a:r>
          </a:p>
        </p:txBody>
      </p:sp>
      <p:pic>
        <p:nvPicPr>
          <p:cNvPr id="9" name="그래픽 8" descr="일러스트레이터 단색으로 채워진">
            <a:extLst>
              <a:ext uri="{FF2B5EF4-FFF2-40B4-BE49-F238E27FC236}">
                <a16:creationId xmlns:a16="http://schemas.microsoft.com/office/drawing/2014/main" id="{6D7505B9-1756-C0DD-583A-9B2819007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1200" y="3691755"/>
            <a:ext cx="914400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4AD5065-A042-E06E-B322-4A026BC82225}"/>
              </a:ext>
            </a:extLst>
          </p:cNvPr>
          <p:cNvSpPr txBox="1"/>
          <p:nvPr/>
        </p:nvSpPr>
        <p:spPr>
          <a:xfrm>
            <a:off x="628073" y="1415281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Antigravity</a:t>
            </a:r>
            <a:endParaRPr lang="ko-KR" altLang="en-US" sz="20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7E46489-8C49-8F68-B47D-A324ADB314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9313" y="1490142"/>
            <a:ext cx="5498432" cy="21267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3DE038-76C9-055F-75EC-7DB100B80577}"/>
              </a:ext>
            </a:extLst>
          </p:cNvPr>
          <p:cNvSpPr txBox="1"/>
          <p:nvPr/>
        </p:nvSpPr>
        <p:spPr>
          <a:xfrm>
            <a:off x="1625600" y="4665693"/>
            <a:ext cx="8525163" cy="102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Gemini API</a:t>
            </a:r>
            <a:r>
              <a:rPr lang="ko-KR" altLang="en-US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를 사용하면 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Google DeepMind</a:t>
            </a:r>
            <a:r>
              <a:rPr lang="ko-KR" altLang="en-US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에서 만든 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Gemini </a:t>
            </a:r>
            <a:r>
              <a:rPr lang="ko-KR" altLang="en-US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모델에 액세스할 수 있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으며 </a:t>
            </a:r>
            <a:r>
              <a:rPr lang="ko-KR" altLang="en-US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처음부터 </a:t>
            </a:r>
            <a:r>
              <a:rPr lang="ko-KR" altLang="en-US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멀티모달로</a:t>
            </a:r>
            <a:r>
              <a:rPr lang="ko-KR" altLang="en-US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빌드되므로</a:t>
            </a:r>
            <a:r>
              <a:rPr lang="ko-KR" altLang="en-US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텍스트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이미지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코드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오디오 등 다양한 종류의 콘텐츠에서 원활한 추론이 가능</a:t>
            </a:r>
          </a:p>
        </p:txBody>
      </p:sp>
    </p:spTree>
    <p:extLst>
      <p:ext uri="{BB962C8B-B14F-4D97-AF65-F5344CB8AC3E}">
        <p14:creationId xmlns:p14="http://schemas.microsoft.com/office/powerpoint/2010/main" val="39265471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B077B-E28F-73EC-C1D7-B2EA3FEA3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폭발: 14pt 3">
            <a:extLst>
              <a:ext uri="{FF2B5EF4-FFF2-40B4-BE49-F238E27FC236}">
                <a16:creationId xmlns:a16="http://schemas.microsoft.com/office/drawing/2014/main" id="{6C507F63-30BB-25ED-FCC4-A87C1843FCBA}"/>
              </a:ext>
            </a:extLst>
          </p:cNvPr>
          <p:cNvSpPr/>
          <p:nvPr/>
        </p:nvSpPr>
        <p:spPr>
          <a:xfrm>
            <a:off x="339725" y="4129243"/>
            <a:ext cx="2549828" cy="1213467"/>
          </a:xfrm>
          <a:prstGeom prst="irregularSeal2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D1AB300F-7327-F9B0-01A6-A49824467EA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To be or not to be</a:t>
            </a:r>
          </a:p>
        </p:txBody>
      </p:sp>
      <p:pic>
        <p:nvPicPr>
          <p:cNvPr id="5" name="그래픽 4" descr="실행">
            <a:extLst>
              <a:ext uri="{FF2B5EF4-FFF2-40B4-BE49-F238E27FC236}">
                <a16:creationId xmlns:a16="http://schemas.microsoft.com/office/drawing/2014/main" id="{FACF2626-0AD5-43DE-C6BF-A3CEE20C54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65723" y="2635389"/>
            <a:ext cx="1688960" cy="1688960"/>
          </a:xfrm>
          <a:prstGeom prst="rect">
            <a:avLst/>
          </a:prstGeom>
        </p:spPr>
      </p:pic>
      <p:pic>
        <p:nvPicPr>
          <p:cNvPr id="6" name="Picture 2" descr="▲Chatgpt , Gemini 외의 대화형 생성 AI는 생소하다. &quot;한국형 AI&quot;  네이버 Clova X,  카카오 AskUp, 뤼튼 Wrtn도 애정을 가지고 활용해보자..">
            <a:extLst>
              <a:ext uri="{FF2B5EF4-FFF2-40B4-BE49-F238E27FC236}">
                <a16:creationId xmlns:a16="http://schemas.microsoft.com/office/drawing/2014/main" id="{20AF0462-2069-01AD-679D-8F0FB58C1D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5552" y="2716289"/>
            <a:ext cx="4599837" cy="2666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십자형 6">
            <a:extLst>
              <a:ext uri="{FF2B5EF4-FFF2-40B4-BE49-F238E27FC236}">
                <a16:creationId xmlns:a16="http://schemas.microsoft.com/office/drawing/2014/main" id="{62337F4E-0C55-5E40-15C8-26B5A6059991}"/>
              </a:ext>
            </a:extLst>
          </p:cNvPr>
          <p:cNvSpPr/>
          <p:nvPr/>
        </p:nvSpPr>
        <p:spPr>
          <a:xfrm rot="2797774">
            <a:off x="4842629" y="3635798"/>
            <a:ext cx="765592" cy="780974"/>
          </a:xfrm>
          <a:prstGeom prst="plus">
            <a:avLst>
              <a:gd name="adj" fmla="val 39483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래픽 7" descr="기는 아기">
            <a:extLst>
              <a:ext uri="{FF2B5EF4-FFF2-40B4-BE49-F238E27FC236}">
                <a16:creationId xmlns:a16="http://schemas.microsoft.com/office/drawing/2014/main" id="{39A7A2EF-F669-C0FD-B31F-64ED54A8AE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29178" y="4855811"/>
            <a:ext cx="1301680" cy="13016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704013F-4B9D-D69D-B464-F931BDF6776C}"/>
              </a:ext>
            </a:extLst>
          </p:cNvPr>
          <p:cNvSpPr txBox="1"/>
          <p:nvPr/>
        </p:nvSpPr>
        <p:spPr>
          <a:xfrm>
            <a:off x="771845" y="4572703"/>
            <a:ext cx="16067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Intelligence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0BE3E5-8B3D-8D7C-703C-9080779E25D7}"/>
              </a:ext>
            </a:extLst>
          </p:cNvPr>
          <p:cNvSpPr txBox="1"/>
          <p:nvPr/>
        </p:nvSpPr>
        <p:spPr>
          <a:xfrm>
            <a:off x="4253875" y="4572703"/>
            <a:ext cx="1943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Augmentation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96BAF9-6A21-EE8E-196B-604E92A332F1}"/>
              </a:ext>
            </a:extLst>
          </p:cNvPr>
          <p:cNvSpPr txBox="1"/>
          <p:nvPr/>
        </p:nvSpPr>
        <p:spPr>
          <a:xfrm>
            <a:off x="615041" y="1447961"/>
            <a:ext cx="10961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20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AI(Artificial</a:t>
            </a:r>
            <a:r>
              <a:rPr lang="ko-KR" altLang="en-US" sz="20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20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ntelligence)  &lt;   IA (Intelligence Augmentation)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55956FB5-CEA4-AB8C-BDBF-7426B0BC5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27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64110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E1AF2-1DD3-5659-B17A-0DEF204A2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C0A9FA4-39A6-CA9D-A1C0-A004E5F46A82}"/>
              </a:ext>
            </a:extLst>
          </p:cNvPr>
          <p:cNvSpPr/>
          <p:nvPr/>
        </p:nvSpPr>
        <p:spPr>
          <a:xfrm>
            <a:off x="634680" y="4206010"/>
            <a:ext cx="7118670" cy="5810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E5795E06-6F2C-1489-3C35-09C10B71B42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목차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505A42-2B8C-9FF2-55F5-3A2E8E3E904F}"/>
              </a:ext>
            </a:extLst>
          </p:cNvPr>
          <p:cNvSpPr txBox="1"/>
          <p:nvPr/>
        </p:nvSpPr>
        <p:spPr>
          <a:xfrm>
            <a:off x="1085850" y="1829447"/>
            <a:ext cx="8858250" cy="2944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는 왜 똑똑하지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는 어떻게 학습하지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생성형 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LLM agent</a:t>
            </a:r>
          </a:p>
        </p:txBody>
      </p:sp>
    </p:spTree>
    <p:extLst>
      <p:ext uri="{BB962C8B-B14F-4D97-AF65-F5344CB8AC3E}">
        <p14:creationId xmlns:p14="http://schemas.microsoft.com/office/powerpoint/2010/main" val="19228055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2879C-ADA7-CCED-8D88-051AC31C0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4F9A9CD-06E8-DF8E-97D7-3AE33949897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실습하기</a:t>
            </a:r>
            <a:endParaRPr lang="en-US" altLang="ko-KR" sz="2800" b="1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A48EA9-9839-49C9-70B3-30C9788433C0}"/>
              </a:ext>
            </a:extLst>
          </p:cNvPr>
          <p:cNvSpPr txBox="1"/>
          <p:nvPr/>
        </p:nvSpPr>
        <p:spPr>
          <a:xfrm>
            <a:off x="475645" y="1841061"/>
            <a:ext cx="4685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제미나이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실습하는 코드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colab_python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40AF9B-B442-980A-C5A4-DC006F03ACC8}"/>
              </a:ext>
            </a:extLst>
          </p:cNvPr>
          <p:cNvSpPr txBox="1"/>
          <p:nvPr/>
        </p:nvSpPr>
        <p:spPr>
          <a:xfrm>
            <a:off x="886027" y="2360031"/>
            <a:ext cx="4259862" cy="199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텍스트 생성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Generate text)</a:t>
            </a:r>
          </a:p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r>
              <a:rPr lang="ko-KR" altLang="en-US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번역하기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(Translate languages)</a:t>
            </a:r>
          </a:p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r>
              <a:rPr lang="ko-KR" altLang="en-US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소설 만들기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(Write creative content)</a:t>
            </a:r>
          </a:p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r>
              <a:rPr lang="ko-KR" altLang="en-US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보이스피싱 탐지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(Categorize text)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71D1F2-1E52-48A8-B34D-CDC25627F90F}"/>
              </a:ext>
            </a:extLst>
          </p:cNvPr>
          <p:cNvSpPr txBox="1"/>
          <p:nvPr/>
        </p:nvSpPr>
        <p:spPr>
          <a:xfrm>
            <a:off x="886026" y="5108169"/>
            <a:ext cx="44678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4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가지 서비스를 친구에게 휴대폰이나 인터넷으로 제시하자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! using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gradio.app</a:t>
            </a:r>
            <a:endParaRPr lang="ko-KR" altLang="en-US" sz="1600" dirty="0"/>
          </a:p>
        </p:txBody>
      </p:sp>
      <p:sp>
        <p:nvSpPr>
          <p:cNvPr id="8" name="왼쪽 중괄호 7">
            <a:extLst>
              <a:ext uri="{FF2B5EF4-FFF2-40B4-BE49-F238E27FC236}">
                <a16:creationId xmlns:a16="http://schemas.microsoft.com/office/drawing/2014/main" id="{146E1227-8063-B6EA-B8B9-BA67E1D2D5CB}"/>
              </a:ext>
            </a:extLst>
          </p:cNvPr>
          <p:cNvSpPr/>
          <p:nvPr/>
        </p:nvSpPr>
        <p:spPr>
          <a:xfrm>
            <a:off x="624448" y="2724150"/>
            <a:ext cx="261578" cy="1343025"/>
          </a:xfrm>
          <a:prstGeom prst="leftBrace">
            <a:avLst>
              <a:gd name="adj1" fmla="val 66461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래픽 12" descr="줄 화살표: 일자형">
            <a:extLst>
              <a:ext uri="{FF2B5EF4-FFF2-40B4-BE49-F238E27FC236}">
                <a16:creationId xmlns:a16="http://schemas.microsoft.com/office/drawing/2014/main" id="{90D4E2EA-0E67-0DED-DBB8-26969C4050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2420072" y="4438459"/>
            <a:ext cx="584775" cy="5847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81DB374-A3B1-F3AE-D2DF-CE088155D4CC}"/>
              </a:ext>
            </a:extLst>
          </p:cNvPr>
          <p:cNvSpPr txBox="1"/>
          <p:nvPr/>
        </p:nvSpPr>
        <p:spPr>
          <a:xfrm>
            <a:off x="1621290" y="5985923"/>
            <a:ext cx="8892721" cy="338554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gradio를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사용하여 4가지 기능을 만들어줘</a:t>
            </a:r>
          </a:p>
        </p:txBody>
      </p:sp>
      <p:pic>
        <p:nvPicPr>
          <p:cNvPr id="15" name="그래픽 14" descr="일러스트레이터 단색으로 채워진">
            <a:extLst>
              <a:ext uri="{FF2B5EF4-FFF2-40B4-BE49-F238E27FC236}">
                <a16:creationId xmlns:a16="http://schemas.microsoft.com/office/drawing/2014/main" id="{6E873D37-2954-7F03-4527-CFCCB44F2C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7745" y="5856820"/>
            <a:ext cx="683073" cy="683073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E2B71C53-950A-2857-80F1-60BFC0B88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29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27479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A2939-0683-1E1A-1149-44C3483CE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9E6316F-5A71-823A-35F7-AB8F336F8C4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LLM Agent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DE7CF6-EAC9-F13C-DFAC-76A3041A1254}"/>
              </a:ext>
            </a:extLst>
          </p:cNvPr>
          <p:cNvSpPr txBox="1"/>
          <p:nvPr/>
        </p:nvSpPr>
        <p:spPr>
          <a:xfrm>
            <a:off x="537542" y="1248422"/>
            <a:ext cx="11116915" cy="88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로봇청소기는 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Agent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이고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자율주행차는 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AI Agent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이며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사람처럼 대화하며 인터넷 검색을 하고 엑셀을 편집해 보고서를 완성해 주는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는 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LLM Agent (Agent </a:t>
            </a:r>
            <a:r>
              <a:rPr lang="en-US" altLang="ko-KR" b="1" dirty="0">
                <a:latin typeface="나눔고딕" pitchFamily="2" charset="-127"/>
                <a:ea typeface="나눔고딕" pitchFamily="2" charset="-127"/>
              </a:rPr>
              <a:t>⊃ 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AI Agent </a:t>
            </a:r>
            <a:r>
              <a:rPr lang="en-US" altLang="ko-KR" b="1" dirty="0">
                <a:latin typeface="나눔고딕" pitchFamily="2" charset="-127"/>
                <a:ea typeface="나눔고딕" pitchFamily="2" charset="-127"/>
              </a:rPr>
              <a:t>⊃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 LLM Agent)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49253E-76C2-11DA-A8E3-B2DFD8C38099}"/>
              </a:ext>
            </a:extLst>
          </p:cNvPr>
          <p:cNvSpPr txBox="1"/>
          <p:nvPr/>
        </p:nvSpPr>
        <p:spPr>
          <a:xfrm>
            <a:off x="711200" y="2967335"/>
            <a:ext cx="10556356" cy="8808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LLM agent is a large language model embedded in a loop of reasoning, acting, and feedback, where it can call external tools and adapt its behavior based on results.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4" name="슬라이드 번호 개체 틀 3">
            <a:extLst>
              <a:ext uri="{FF2B5EF4-FFF2-40B4-BE49-F238E27FC236}">
                <a16:creationId xmlns:a16="http://schemas.microsoft.com/office/drawing/2014/main" id="{8B9DA25B-1297-D025-EF24-AF3D82D5D2C7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30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17810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A25A0-07BB-CDBB-0F29-43C26D718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8BA978F-02A6-660E-64AA-E1911BB0D58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LLM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682D18-8FD3-0812-16F0-B6F6DFC56DC8}"/>
              </a:ext>
            </a:extLst>
          </p:cNvPr>
          <p:cNvSpPr txBox="1"/>
          <p:nvPr/>
        </p:nvSpPr>
        <p:spPr>
          <a:xfrm>
            <a:off x="628044" y="1248422"/>
            <a:ext cx="10944195" cy="88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언어 모델은 단어 시퀀스에 확률을 할당</a:t>
            </a:r>
            <a:r>
              <a:rPr lang="en-US" altLang="ko-KR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(assign)</a:t>
            </a:r>
            <a:r>
              <a:rPr lang="ko-KR" altLang="en-US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하는 일을 하는 모델로</a:t>
            </a:r>
            <a:r>
              <a:rPr lang="en-US" altLang="ko-KR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가장 자연스러운 단어 시퀀스를 찾아내어</a:t>
            </a:r>
            <a:r>
              <a:rPr lang="en-US" altLang="ko-KR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예측하는</a:t>
            </a:r>
            <a:r>
              <a:rPr lang="en-US" altLang="ko-KR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모델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2B6744-70A3-A987-CBF2-26DB74CC2E7C}"/>
              </a:ext>
            </a:extLst>
          </p:cNvPr>
          <p:cNvSpPr txBox="1"/>
          <p:nvPr/>
        </p:nvSpPr>
        <p:spPr>
          <a:xfrm>
            <a:off x="4381372" y="3752756"/>
            <a:ext cx="7099427" cy="212731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It talks.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	→ you send it a message, it send text back.</a:t>
            </a:r>
          </a:p>
          <a:p>
            <a:pPr>
              <a:lnSpc>
                <a:spcPct val="150000"/>
              </a:lnSpc>
              <a:buNone/>
            </a:pPr>
            <a:endParaRPr lang="en-US" altLang="ko-KR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It just generate text and predict text. (It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can’t check your email or it can’t search the Web…)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416F39-C2AD-CE2E-BB0D-02DC0D5DD1B9}"/>
              </a:ext>
            </a:extLst>
          </p:cNvPr>
          <p:cNvSpPr txBox="1"/>
          <p:nvPr/>
        </p:nvSpPr>
        <p:spPr>
          <a:xfrm>
            <a:off x="6984999" y="2473803"/>
            <a:ext cx="1648332" cy="4616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ko-KR" sz="2400" b="1" dirty="0">
                <a:latin typeface="D2Coding" panose="020B0609020101020101" pitchFamily="49" charset="-127"/>
                <a:ea typeface="D2Coding" panose="020B0609020101020101" pitchFamily="49" charset="-127"/>
              </a:rPr>
              <a:t>LLMs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5A0DDFBE-A135-F144-9FD2-BBED6BB05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020" y="3429000"/>
            <a:ext cx="1897147" cy="234261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5FC361A-1637-52C6-55B1-C887585750A0}"/>
              </a:ext>
            </a:extLst>
          </p:cNvPr>
          <p:cNvSpPr txBox="1"/>
          <p:nvPr/>
        </p:nvSpPr>
        <p:spPr>
          <a:xfrm>
            <a:off x="6219125" y="2998351"/>
            <a:ext cx="3180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(plain language model)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BA74F3-8D76-3506-FCE7-8FE58905214E}"/>
              </a:ext>
            </a:extLst>
          </p:cNvPr>
          <p:cNvSpPr txBox="1"/>
          <p:nvPr/>
        </p:nvSpPr>
        <p:spPr>
          <a:xfrm>
            <a:off x="10749280" y="2524603"/>
            <a:ext cx="84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i="1" dirty="0">
                <a:latin typeface="D2Coding" panose="020B0609020101020101" pitchFamily="49" charset="-127"/>
                <a:ea typeface="D2Coding" panose="020B0609020101020101" pitchFamily="49" charset="-127"/>
              </a:rPr>
              <a:t>Brain</a:t>
            </a:r>
            <a:endParaRPr lang="ko-KR" altLang="en-US" i="1" dirty="0"/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F736D10D-898C-359B-8216-D19DCC919775}"/>
              </a:ext>
            </a:extLst>
          </p:cNvPr>
          <p:cNvCxnSpPr>
            <a:stCxn id="18" idx="3"/>
            <a:endCxn id="23" idx="1"/>
          </p:cNvCxnSpPr>
          <p:nvPr/>
        </p:nvCxnSpPr>
        <p:spPr>
          <a:xfrm>
            <a:off x="8633331" y="2704636"/>
            <a:ext cx="2115949" cy="46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슬라이드 번호 개체 틀 3">
            <a:extLst>
              <a:ext uri="{FF2B5EF4-FFF2-40B4-BE49-F238E27FC236}">
                <a16:creationId xmlns:a16="http://schemas.microsoft.com/office/drawing/2014/main" id="{457A8C32-0E21-D3DB-BCCC-ADFA6AF51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31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55051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1DBB2-2FEE-E7E4-DD55-4DE3ABF7B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3C62A50-EA1F-AEB9-D53C-4BF2DA352CD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AI Agent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0C868A-08A6-599B-4C37-D4B67EF35D2B}"/>
              </a:ext>
            </a:extLst>
          </p:cNvPr>
          <p:cNvSpPr txBox="1"/>
          <p:nvPr/>
        </p:nvSpPr>
        <p:spPr>
          <a:xfrm>
            <a:off x="4381372" y="3752756"/>
            <a:ext cx="7099427" cy="212731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1st Ability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	→ take actions in the real world (Tool-calling)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2nd Ability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	→ to keep going on its own step by step, 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	  instead of stopping after just a single reply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0AA395-74E1-1EBA-D6C0-B1C7936A9879}"/>
              </a:ext>
            </a:extLst>
          </p:cNvPr>
          <p:cNvSpPr txBox="1"/>
          <p:nvPr/>
        </p:nvSpPr>
        <p:spPr>
          <a:xfrm>
            <a:off x="6984999" y="2473803"/>
            <a:ext cx="1648332" cy="4616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ko-KR" sz="2400" b="1" dirty="0">
                <a:latin typeface="D2Coding" panose="020B0609020101020101" pitchFamily="49" charset="-127"/>
                <a:ea typeface="D2Coding" panose="020B0609020101020101" pitchFamily="49" charset="-127"/>
              </a:rPr>
              <a:t>Agent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BC52F5D-86CC-5C17-3A2D-E084EDAA1633}"/>
              </a:ext>
            </a:extLst>
          </p:cNvPr>
          <p:cNvSpPr txBox="1"/>
          <p:nvPr/>
        </p:nvSpPr>
        <p:spPr>
          <a:xfrm>
            <a:off x="5390997" y="2974780"/>
            <a:ext cx="50484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GIVE THIS MODEL 2 NEW ABILITIES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29BD05F-FA83-E30B-2D20-B784E34EE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572" y="3266968"/>
            <a:ext cx="1679269" cy="23426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FF4074F-29AB-BD3B-8F91-DDC5E9026499}"/>
              </a:ext>
            </a:extLst>
          </p:cNvPr>
          <p:cNvSpPr txBox="1"/>
          <p:nvPr/>
        </p:nvSpPr>
        <p:spPr>
          <a:xfrm>
            <a:off x="568959" y="1212954"/>
            <a:ext cx="10911839" cy="88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AI Agent is simply just a language model that can use tools that's running in a loop until it finishes a job.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3F4B96-D41C-A7B5-6E57-20A50867B9E4}"/>
              </a:ext>
            </a:extLst>
          </p:cNvPr>
          <p:cNvSpPr txBox="1"/>
          <p:nvPr/>
        </p:nvSpPr>
        <p:spPr>
          <a:xfrm>
            <a:off x="10749280" y="2524603"/>
            <a:ext cx="84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i="1" dirty="0">
                <a:latin typeface="D2Coding" panose="020B0609020101020101" pitchFamily="49" charset="-127"/>
                <a:ea typeface="D2Coding" panose="020B0609020101020101" pitchFamily="49" charset="-127"/>
              </a:rPr>
              <a:t>Hands</a:t>
            </a:r>
            <a:endParaRPr lang="ko-KR" altLang="en-US" i="1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4F5B99B-9579-E96A-97DE-7E12C7F6E34D}"/>
              </a:ext>
            </a:extLst>
          </p:cNvPr>
          <p:cNvCxnSpPr>
            <a:cxnSpLocks/>
            <a:stCxn id="18" idx="3"/>
            <a:endCxn id="9" idx="1"/>
          </p:cNvCxnSpPr>
          <p:nvPr/>
        </p:nvCxnSpPr>
        <p:spPr>
          <a:xfrm>
            <a:off x="8633331" y="2704636"/>
            <a:ext cx="2115949" cy="46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슬라이드 번호 개체 틀 3">
            <a:extLst>
              <a:ext uri="{FF2B5EF4-FFF2-40B4-BE49-F238E27FC236}">
                <a16:creationId xmlns:a16="http://schemas.microsoft.com/office/drawing/2014/main" id="{ABE83AD7-F521-8928-7B5D-5D517D500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32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94286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0B46F-BCDD-0B3F-1C73-E7ACB9035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화살표: 줄무늬가 있는 오른쪽 10">
            <a:extLst>
              <a:ext uri="{FF2B5EF4-FFF2-40B4-BE49-F238E27FC236}">
                <a16:creationId xmlns:a16="http://schemas.microsoft.com/office/drawing/2014/main" id="{1C5D3267-EF38-3732-36B9-6282B956B1DD}"/>
              </a:ext>
            </a:extLst>
          </p:cNvPr>
          <p:cNvSpPr/>
          <p:nvPr/>
        </p:nvSpPr>
        <p:spPr>
          <a:xfrm>
            <a:off x="600073" y="1694661"/>
            <a:ext cx="9913937" cy="706427"/>
          </a:xfrm>
          <a:prstGeom prst="stripedRightArrow">
            <a:avLst>
              <a:gd name="adj1" fmla="val 76967"/>
              <a:gd name="adj2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5B3236-53F4-0A46-5B21-024FEC29F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B367ED6B-CF71-D88A-B47D-FE7C1E75B7F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endParaRPr lang="en-US" altLang="ko-KR" sz="2800" b="1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5EE6B4-DBF3-6B4A-537C-16AFCAAD70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500" y="1872079"/>
            <a:ext cx="3458583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2026</a:t>
            </a:r>
            <a:r>
              <a:rPr kumimoji="0" lang="ko-KR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년 </a:t>
            </a:r>
            <a:r>
              <a:rPr kumimoji="0" lang="en-US" altLang="ko-KR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AI Agent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B3B5664F-6921-0013-EB99-7BAB434027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1546" y="2578506"/>
            <a:ext cx="5442464" cy="3405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9BE6CD68-D448-37A9-2A53-6F33EDB05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50" y="1872079"/>
            <a:ext cx="3458583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2025</a:t>
            </a:r>
            <a:r>
              <a:rPr kumimoji="0" lang="ko-KR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년 생성형 </a:t>
            </a:r>
            <a:r>
              <a:rPr kumimoji="0" lang="en-US" altLang="ko-KR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</a:p>
        </p:txBody>
      </p:sp>
      <p:pic>
        <p:nvPicPr>
          <p:cNvPr id="10" name="Picture 2" descr="▲Chatgpt , Gemini 외의 대화형 생성 AI는 생소하다. &quot;한국형 AI&quot;  네이버 Clova X,  카카오 AskUp, 뤼튼 Wrtn도 애정을 가지고 활용해보자..">
            <a:extLst>
              <a:ext uri="{FF2B5EF4-FFF2-40B4-BE49-F238E27FC236}">
                <a16:creationId xmlns:a16="http://schemas.microsoft.com/office/drawing/2014/main" id="{115EC27F-0A65-D58F-0FD6-1182E1886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3" y="2645667"/>
            <a:ext cx="3438526" cy="1993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32488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C4A94-8BCA-872D-7423-FE3B12796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0F0001-9411-7C4E-562A-6D52F3C94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2F0FBC7-3D1C-5821-6A59-F4F3C29716C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Agent</a:t>
            </a:r>
            <a:r>
              <a:rPr lang="ko-KR" altLang="en-US" sz="2800" b="1" cap="none" dirty="0">
                <a:latin typeface="Lora" pitchFamily="2" charset="0"/>
              </a:rPr>
              <a:t> </a:t>
            </a:r>
            <a:r>
              <a:rPr lang="en-US" altLang="ko-KR" sz="2800" b="1" cap="none" dirty="0">
                <a:latin typeface="Lora" pitchFamily="2" charset="0"/>
              </a:rPr>
              <a:t>= AI + Harness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0A8C2-C37F-B9A0-44D8-DF747225DB35}"/>
              </a:ext>
            </a:extLst>
          </p:cNvPr>
          <p:cNvSpPr txBox="1"/>
          <p:nvPr/>
        </p:nvSpPr>
        <p:spPr>
          <a:xfrm>
            <a:off x="723295" y="1970605"/>
            <a:ext cx="3061624" cy="2127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목적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(Goal)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예측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(Predict)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조정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(Control)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2F4ADDA-1412-D337-F8BE-3A0C1CF35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200" y="1970605"/>
            <a:ext cx="4302033" cy="3707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9160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8015A-C4D2-0BB3-4BB5-070101321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BDF5B01-D4E2-8EFA-D3B5-B8FAEAA10FB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AI Agent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8C76AF-7EC1-AE08-0F51-AD13883822D2}"/>
              </a:ext>
            </a:extLst>
          </p:cNvPr>
          <p:cNvSpPr txBox="1"/>
          <p:nvPr/>
        </p:nvSpPr>
        <p:spPr>
          <a:xfrm>
            <a:off x="812192" y="3236083"/>
            <a:ext cx="3506515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4 THINK AGAIN</a:t>
            </a:r>
          </a:p>
          <a:p>
            <a:pPr algn="ctr">
              <a:buNone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THE MODEL LOOKS AT THE RESULT AND DECIDES WHAT TO DO NEXT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A37495-F9C6-6EEC-2DF4-3AC7B8658C8E}"/>
              </a:ext>
            </a:extLst>
          </p:cNvPr>
          <p:cNvSpPr txBox="1"/>
          <p:nvPr/>
        </p:nvSpPr>
        <p:spPr>
          <a:xfrm>
            <a:off x="3929389" y="1717942"/>
            <a:ext cx="3428414" cy="6771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1 THINK </a:t>
            </a:r>
          </a:p>
          <a:p>
            <a:pPr algn="ctr">
              <a:buNone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SYSTEM PROMPT &amp; GOAL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E1A010-168B-A642-2473-84A1423982D4}"/>
              </a:ext>
            </a:extLst>
          </p:cNvPr>
          <p:cNvSpPr txBox="1"/>
          <p:nvPr/>
        </p:nvSpPr>
        <p:spPr>
          <a:xfrm>
            <a:off x="7473266" y="3226558"/>
            <a:ext cx="3428414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2 ACT </a:t>
            </a:r>
          </a:p>
          <a:p>
            <a:pPr algn="ctr">
              <a:buNone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MODEL DECIDES TO USE A TOOL AND SENDS THE ACTION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048882-3A89-00A9-1926-7C88EA6E211E}"/>
              </a:ext>
            </a:extLst>
          </p:cNvPr>
          <p:cNvSpPr txBox="1"/>
          <p:nvPr/>
        </p:nvSpPr>
        <p:spPr>
          <a:xfrm>
            <a:off x="3651641" y="5102475"/>
            <a:ext cx="4211320" cy="12311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3 OBSERVE</a:t>
            </a:r>
          </a:p>
          <a:p>
            <a:pPr algn="ctr">
              <a:buNone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CODE RUNS THE TOOL AND RETURN THE RESULT. THE MODEL OBSERVE THE RESULT</a:t>
            </a:r>
          </a:p>
        </p:txBody>
      </p:sp>
      <p:pic>
        <p:nvPicPr>
          <p:cNvPr id="19" name="그래픽 18" descr="원 화살표">
            <a:extLst>
              <a:ext uri="{FF2B5EF4-FFF2-40B4-BE49-F238E27FC236}">
                <a16:creationId xmlns:a16="http://schemas.microsoft.com/office/drawing/2014/main" id="{4CA003BB-5505-2F98-3744-B07AAD5BBA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0635" y="2776298"/>
            <a:ext cx="1939303" cy="193930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A41CF52-B3C0-0019-30EB-4FC0075AB078}"/>
              </a:ext>
            </a:extLst>
          </p:cNvPr>
          <p:cNvSpPr txBox="1"/>
          <p:nvPr/>
        </p:nvSpPr>
        <p:spPr>
          <a:xfrm>
            <a:off x="5273040" y="3494136"/>
            <a:ext cx="11849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Loop</a:t>
            </a:r>
            <a:endParaRPr lang="ko-KR" altLang="en-US" sz="2400" b="1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4" name="슬라이드 번호 개체 틀 3">
            <a:extLst>
              <a:ext uri="{FF2B5EF4-FFF2-40B4-BE49-F238E27FC236}">
                <a16:creationId xmlns:a16="http://schemas.microsoft.com/office/drawing/2014/main" id="{DD2197D5-497D-4164-1A5B-368ED99E1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35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61441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54021-41A2-D9F2-4CF1-1F7B43B8D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E1CF1A7-A61C-70F8-C0CD-650A4708D37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Prompt, Message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B8B519-E629-021B-D2B2-B055D99B6C91}"/>
              </a:ext>
            </a:extLst>
          </p:cNvPr>
          <p:cNvSpPr txBox="1"/>
          <p:nvPr/>
        </p:nvSpPr>
        <p:spPr>
          <a:xfrm>
            <a:off x="1356457" y="2062472"/>
            <a:ext cx="9806030" cy="88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Is where you set the rules. So you tell the agent who it is, how to behave. General rules things that it should do.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D72803-9AED-D2C3-050D-CB71D704A808}"/>
              </a:ext>
            </a:extLst>
          </p:cNvPr>
          <p:cNvSpPr txBox="1"/>
          <p:nvPr/>
        </p:nvSpPr>
        <p:spPr>
          <a:xfrm>
            <a:off x="665480" y="1604295"/>
            <a:ext cx="2992120" cy="50674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System Prompt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6C4373-7377-EE60-3F47-6E1C5F2C2015}"/>
              </a:ext>
            </a:extLst>
          </p:cNvPr>
          <p:cNvSpPr txBox="1"/>
          <p:nvPr/>
        </p:nvSpPr>
        <p:spPr>
          <a:xfrm>
            <a:off x="665480" y="3191813"/>
            <a:ext cx="2992120" cy="50674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User Messages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371AFD-A53B-956F-8F9B-F319A9D2791A}"/>
              </a:ext>
            </a:extLst>
          </p:cNvPr>
          <p:cNvSpPr txBox="1"/>
          <p:nvPr/>
        </p:nvSpPr>
        <p:spPr>
          <a:xfrm>
            <a:off x="665480" y="4779331"/>
            <a:ext cx="2992120" cy="506742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Assistant Messages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7D6057-2F8A-C418-80AB-F3256DE82155}"/>
              </a:ext>
            </a:extLst>
          </p:cNvPr>
          <p:cNvSpPr txBox="1"/>
          <p:nvPr/>
        </p:nvSpPr>
        <p:spPr>
          <a:xfrm>
            <a:off x="1356457" y="3658187"/>
            <a:ext cx="9806030" cy="463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The input from the person or the system.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B9BC75-EEE0-05A0-C83E-EC1F904456D7}"/>
              </a:ext>
            </a:extLst>
          </p:cNvPr>
          <p:cNvSpPr txBox="1"/>
          <p:nvPr/>
        </p:nvSpPr>
        <p:spPr>
          <a:xfrm>
            <a:off x="1356457" y="5219398"/>
            <a:ext cx="9806030" cy="46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What the model says back.</a:t>
            </a:r>
          </a:p>
        </p:txBody>
      </p:sp>
      <p:sp>
        <p:nvSpPr>
          <p:cNvPr id="10" name="슬라이드 번호 개체 틀 3">
            <a:extLst>
              <a:ext uri="{FF2B5EF4-FFF2-40B4-BE49-F238E27FC236}">
                <a16:creationId xmlns:a16="http://schemas.microsoft.com/office/drawing/2014/main" id="{0B494974-FA80-D542-8A1C-7C98908B4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36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10752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9D61D-1779-3F7E-E6A4-C91CA98A1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A64379D-02B3-0B43-6254-D0D2AA1551E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Prompt, Message</a:t>
            </a:r>
          </a:p>
        </p:txBody>
      </p:sp>
      <p:sp>
        <p:nvSpPr>
          <p:cNvPr id="10" name="슬라이드 번호 개체 틀 3">
            <a:extLst>
              <a:ext uri="{FF2B5EF4-FFF2-40B4-BE49-F238E27FC236}">
                <a16:creationId xmlns:a16="http://schemas.microsoft.com/office/drawing/2014/main" id="{857198A5-C0AD-E2AE-2572-531CFEAD3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37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436AA-F905-C23C-D32F-4181FE82D56A}"/>
              </a:ext>
            </a:extLst>
          </p:cNvPr>
          <p:cNvSpPr txBox="1"/>
          <p:nvPr/>
        </p:nvSpPr>
        <p:spPr>
          <a:xfrm>
            <a:off x="600074" y="1577809"/>
            <a:ext cx="10991852" cy="1121461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model = 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ChatGroq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(model="llama-3.1-8b-instant")</a:t>
            </a:r>
          </a:p>
          <a:p>
            <a:pPr>
              <a:lnSpc>
                <a:spcPts val="1575"/>
              </a:lnSpc>
              <a:buNone/>
            </a:pPr>
            <a:endParaRPr lang="en-US" altLang="ko-KR" sz="16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response = 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model.invoke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([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HumanMessage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("What is the capital of France?")])</a:t>
            </a:r>
          </a:p>
          <a:p>
            <a:pPr>
              <a:lnSpc>
                <a:spcPts val="1575"/>
              </a:lnSpc>
              <a:buNone/>
            </a:pPr>
            <a:endParaRPr lang="en-US" altLang="ko-KR" sz="16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print(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response.content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sz="16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CB02BA-4A23-B32E-6E2C-EBB881265B99}"/>
              </a:ext>
            </a:extLst>
          </p:cNvPr>
          <p:cNvSpPr txBox="1"/>
          <p:nvPr/>
        </p:nvSpPr>
        <p:spPr>
          <a:xfrm>
            <a:off x="600074" y="3099472"/>
            <a:ext cx="10991852" cy="3046988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messages = [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SystemMessage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(content="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당신은 유치원 선생님입니다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모든 답변은 아이에게 말하듯 친절하게 하세요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."),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HumanMessage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(content="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달은 왜 밤에만 떠요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?"),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AIMessage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(content="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어두운 밤하늘을 우아하고 예쁘게 비춰주려고 밤에 은밀히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짜잔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하고 나타나는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거란다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!"),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HumanMessage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(content="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그럼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해님은요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?")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response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model.invoke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(messages)</a:t>
            </a:r>
          </a:p>
          <a:p>
            <a:pPr>
              <a:buNone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print(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response.content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450848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4620E-0189-E2B3-E307-FEBD7E146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87F88FF-1317-D062-F803-4B34D60588B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Tool-Calling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0A8FE3-05AE-67DD-EC30-49DDA86B618F}"/>
              </a:ext>
            </a:extLst>
          </p:cNvPr>
          <p:cNvSpPr txBox="1"/>
          <p:nvPr/>
        </p:nvSpPr>
        <p:spPr>
          <a:xfrm>
            <a:off x="1991360" y="3429000"/>
            <a:ext cx="8432800" cy="96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It generates text that tells whatever software it's working inside of to call a tool.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544D93-B460-52EA-3B46-7D7AFA395B5D}"/>
              </a:ext>
            </a:extLst>
          </p:cNvPr>
          <p:cNvSpPr txBox="1"/>
          <p:nvPr/>
        </p:nvSpPr>
        <p:spPr>
          <a:xfrm>
            <a:off x="4048760" y="1926775"/>
            <a:ext cx="3413760" cy="114371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24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TOOL-CALLING</a:t>
            </a:r>
          </a:p>
          <a:p>
            <a:pPr algn="ctr">
              <a:lnSpc>
                <a:spcPct val="150000"/>
              </a:lnSpc>
              <a:buNone/>
            </a:pPr>
            <a:r>
              <a:rPr lang="en-US" altLang="ko-KR" sz="24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(The Hands)</a:t>
            </a:r>
          </a:p>
        </p:txBody>
      </p:sp>
      <p:sp>
        <p:nvSpPr>
          <p:cNvPr id="18" name="슬라이드 번호 개체 틀 3">
            <a:extLst>
              <a:ext uri="{FF2B5EF4-FFF2-40B4-BE49-F238E27FC236}">
                <a16:creationId xmlns:a16="http://schemas.microsoft.com/office/drawing/2014/main" id="{1DC53E3B-EC1D-8118-B90C-2A8E3A43F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38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48582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873C7-9D34-8F25-37CC-A595A95A0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2A1AF8B5-3B3E-3D19-C943-A052DBD3D6A9}"/>
              </a:ext>
            </a:extLst>
          </p:cNvPr>
          <p:cNvSpPr/>
          <p:nvPr/>
        </p:nvSpPr>
        <p:spPr>
          <a:xfrm>
            <a:off x="6810375" y="2430081"/>
            <a:ext cx="2923628" cy="202709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Agent</a:t>
            </a:r>
          </a:p>
          <a:p>
            <a:pPr algn="ctr"/>
            <a:endParaRPr lang="en-US" altLang="ko-KR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endParaRPr lang="en-US" altLang="ko-KR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endParaRPr lang="en-US" altLang="ko-KR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endParaRPr lang="en-US" altLang="ko-KR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endParaRPr lang="en-US" altLang="ko-KR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endParaRPr lang="ko-KR" altLang="en-US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BDE44AB2-CBB3-8AAF-9BB7-C92D77E9EE3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Tool-Calling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16575ED8-3C20-9C2F-8682-FA7FA9C0A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39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948F8D-58C1-25BD-D194-14D08C9E3BD6}"/>
              </a:ext>
            </a:extLst>
          </p:cNvPr>
          <p:cNvSpPr txBox="1"/>
          <p:nvPr/>
        </p:nvSpPr>
        <p:spPr>
          <a:xfrm>
            <a:off x="622253" y="1770790"/>
            <a:ext cx="4410075" cy="4404411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도구를 정의</a:t>
            </a: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endParaRPr lang="ko-KR" altLang="en-US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@tool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def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get_word_length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(word: str) -&gt; int: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"""Returns the length of a word."""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return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len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(word)</a:t>
            </a:r>
            <a:b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@tool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def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add_function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(a: float, b: float) -&gt; float: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"""Adds two numbers together."""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return a + b</a:t>
            </a:r>
            <a:b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tools = [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get_word_length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add_function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b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llm_with_tools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model.bind_tools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(tools)</a:t>
            </a:r>
          </a:p>
          <a:p>
            <a:pPr>
              <a:lnSpc>
                <a:spcPts val="1575"/>
              </a:lnSpc>
              <a:buNone/>
            </a:pP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query = "What is 3 + 12?"</a:t>
            </a:r>
          </a:p>
          <a:p>
            <a:pPr>
              <a:lnSpc>
                <a:spcPts val="1575"/>
              </a:lnSpc>
              <a:buNone/>
            </a:pP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llm_with_tools.invoke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(query)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A6BDC11-43FB-B7C7-8647-6B26BA774160}"/>
              </a:ext>
            </a:extLst>
          </p:cNvPr>
          <p:cNvSpPr/>
          <p:nvPr/>
        </p:nvSpPr>
        <p:spPr>
          <a:xfrm>
            <a:off x="5372100" y="3000374"/>
            <a:ext cx="952500" cy="4476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Task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CA0C469-DBFE-3922-8A5B-C0110ACEFFB7}"/>
              </a:ext>
            </a:extLst>
          </p:cNvPr>
          <p:cNvSpPr/>
          <p:nvPr/>
        </p:nvSpPr>
        <p:spPr>
          <a:xfrm>
            <a:off x="6982099" y="3000374"/>
            <a:ext cx="952500" cy="44767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D875D7E-7D3F-82AC-647D-4E88F6C29E98}"/>
              </a:ext>
            </a:extLst>
          </p:cNvPr>
          <p:cNvSpPr/>
          <p:nvPr/>
        </p:nvSpPr>
        <p:spPr>
          <a:xfrm>
            <a:off x="8506099" y="3000374"/>
            <a:ext cx="952500" cy="44767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Tools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1040BF6-604B-757E-69E9-6DB659CABD94}"/>
              </a:ext>
            </a:extLst>
          </p:cNvPr>
          <p:cNvSpPr/>
          <p:nvPr/>
        </p:nvSpPr>
        <p:spPr>
          <a:xfrm>
            <a:off x="10206434" y="5099990"/>
            <a:ext cx="1599682" cy="4476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Environment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74861E-0313-7D21-10EA-15F0C61D2ECD}"/>
              </a:ext>
            </a:extLst>
          </p:cNvPr>
          <p:cNvSpPr txBox="1"/>
          <p:nvPr/>
        </p:nvSpPr>
        <p:spPr>
          <a:xfrm>
            <a:off x="6939099" y="3972996"/>
            <a:ext cx="11190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Reasoning</a:t>
            </a:r>
            <a:endParaRPr lang="ko-KR" altLang="en-US" sz="1600" dirty="0"/>
          </a:p>
        </p:txBody>
      </p:sp>
      <p:pic>
        <p:nvPicPr>
          <p:cNvPr id="18" name="그래픽 17" descr="원 화살표">
            <a:extLst>
              <a:ext uri="{FF2B5EF4-FFF2-40B4-BE49-F238E27FC236}">
                <a16:creationId xmlns:a16="http://schemas.microsoft.com/office/drawing/2014/main" id="{B487D7E2-084A-2865-6532-24D716846D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0010" y="3476451"/>
            <a:ext cx="685800" cy="6858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AE2188A-D564-3C14-8F1D-4C7B558FF227}"/>
              </a:ext>
            </a:extLst>
          </p:cNvPr>
          <p:cNvSpPr txBox="1"/>
          <p:nvPr/>
        </p:nvSpPr>
        <p:spPr>
          <a:xfrm>
            <a:off x="10043436" y="2831095"/>
            <a:ext cx="11190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Action</a:t>
            </a:r>
            <a:endParaRPr lang="ko-KR" altLang="en-US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D8F571-08EE-57EF-17B4-53246CDD1ABF}"/>
              </a:ext>
            </a:extLst>
          </p:cNvPr>
          <p:cNvSpPr txBox="1"/>
          <p:nvPr/>
        </p:nvSpPr>
        <p:spPr>
          <a:xfrm>
            <a:off x="8899073" y="5348976"/>
            <a:ext cx="11190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Result</a:t>
            </a:r>
            <a:endParaRPr lang="ko-KR" altLang="en-US" sz="1600" dirty="0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F9D049B4-F680-913F-B2E9-27AE13C23A3F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6324600" y="3224212"/>
            <a:ext cx="6574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AF2AE4F9-F062-1A5E-673F-3408320174EC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7934599" y="3224212"/>
            <a:ext cx="571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F1A483CF-D6BA-2F08-4970-911FFBA27AC1}"/>
              </a:ext>
            </a:extLst>
          </p:cNvPr>
          <p:cNvCxnSpPr>
            <a:stCxn id="10" idx="3"/>
            <a:endCxn id="11" idx="0"/>
          </p:cNvCxnSpPr>
          <p:nvPr/>
        </p:nvCxnSpPr>
        <p:spPr>
          <a:xfrm>
            <a:off x="9458599" y="3224212"/>
            <a:ext cx="1547676" cy="187577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FFFE0CA2-418D-546C-82E4-4C4153E8CD76}"/>
              </a:ext>
            </a:extLst>
          </p:cNvPr>
          <p:cNvCxnSpPr>
            <a:cxnSpLocks/>
            <a:stCxn id="11" idx="1"/>
            <a:endCxn id="10" idx="2"/>
          </p:cNvCxnSpPr>
          <p:nvPr/>
        </p:nvCxnSpPr>
        <p:spPr>
          <a:xfrm rot="10800000">
            <a:off x="8982350" y="3448050"/>
            <a:ext cx="1224085" cy="187577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530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A7991-D8FE-A0F6-7994-626AB9D48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D4853E6-B05D-47B8-175C-21A5D611E8E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Tool-Calling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D3B9DE5A-0F51-DCE6-DAC7-CA18C53C3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40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0A1D91-452D-3C39-BE49-1E18E5E3A339}"/>
              </a:ext>
            </a:extLst>
          </p:cNvPr>
          <p:cNvSpPr txBox="1"/>
          <p:nvPr/>
        </p:nvSpPr>
        <p:spPr>
          <a:xfrm>
            <a:off x="604041" y="1352751"/>
            <a:ext cx="10773293" cy="4770537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from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langchain_community.tools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TavilySearchResults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@tool</a:t>
            </a: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def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search_web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query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-&gt;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"""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Searches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internet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information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that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does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not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exist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database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latest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information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"""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tavily_search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TavilySearchResults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max_results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=5,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        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include_domains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=[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                "https://www.tistory.com/", "https://blog.naver.com/",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                "https://www.daum.net/", "https://brunch.co.kr/"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            ])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tavily_search.invoke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query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formatted_docs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"\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---\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".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join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[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'&lt;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Document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href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="{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["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"]}"/&gt;\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["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content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"]}\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Document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&gt;'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)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formatted_docs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58195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B29FD-096E-26F3-8E1A-3A942A513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FB8FD35-4176-5B85-E303-A5EE1B15D1C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Memory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2ABBB4-B3D4-11F6-B68C-099000C1F6C8}"/>
              </a:ext>
            </a:extLst>
          </p:cNvPr>
          <p:cNvSpPr txBox="1"/>
          <p:nvPr/>
        </p:nvSpPr>
        <p:spPr>
          <a:xfrm>
            <a:off x="1991360" y="3429000"/>
            <a:ext cx="9357360" cy="1891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The maximum amount of text it can process and remember at any single time during a conversation.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20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Conversation</a:t>
            </a:r>
            <a:r>
              <a:rPr lang="ko-KR" altLang="en-US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history</a:t>
            </a:r>
            <a:r>
              <a:rPr lang="ko-KR" altLang="en-US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is tracked up to LLM’ Context Window.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30197C-A9BB-16D6-9995-05A127CCDEFE}"/>
              </a:ext>
            </a:extLst>
          </p:cNvPr>
          <p:cNvSpPr txBox="1"/>
          <p:nvPr/>
        </p:nvSpPr>
        <p:spPr>
          <a:xfrm>
            <a:off x="3368040" y="1766855"/>
            <a:ext cx="4749800" cy="114371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24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 Window</a:t>
            </a:r>
          </a:p>
          <a:p>
            <a:pPr algn="ctr">
              <a:lnSpc>
                <a:spcPct val="150000"/>
              </a:lnSpc>
              <a:buNone/>
            </a:pPr>
            <a:r>
              <a:rPr lang="en-US" altLang="ko-KR" sz="24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(Short-term working Memory)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611E549D-9215-D6AD-85F4-555D0047E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41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14371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A7506-FDF3-8410-B207-FF8D65B71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806A8C6-12D8-2400-BFE7-F0DC87822F0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RAG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35E64C-DC09-CBF5-B0C7-FF3EFB0276C4}"/>
              </a:ext>
            </a:extLst>
          </p:cNvPr>
          <p:cNvSpPr txBox="1"/>
          <p:nvPr/>
        </p:nvSpPr>
        <p:spPr>
          <a:xfrm>
            <a:off x="568959" y="1212954"/>
            <a:ext cx="10911839" cy="88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Conversation history can get quite large and it can actually </a:t>
            </a:r>
            <a:r>
              <a:rPr lang="en-US" altLang="ko-KR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not fit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inside of the current </a:t>
            </a:r>
            <a:r>
              <a:rPr lang="en-US" altLang="ko-KR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 window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RAG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EFFFCE8-BBC2-F0BB-B3B9-99253E7A7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4320" y="2926633"/>
            <a:ext cx="4474480" cy="291361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D179436-73B0-679E-17A8-035D6F8C93FE}"/>
              </a:ext>
            </a:extLst>
          </p:cNvPr>
          <p:cNvSpPr txBox="1"/>
          <p:nvPr/>
        </p:nvSpPr>
        <p:spPr>
          <a:xfrm>
            <a:off x="2292080" y="4579562"/>
            <a:ext cx="1412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Embedding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E860DE-2075-5752-E239-5505D10E2390}"/>
              </a:ext>
            </a:extLst>
          </p:cNvPr>
          <p:cNvSpPr txBox="1"/>
          <p:nvPr/>
        </p:nvSpPr>
        <p:spPr>
          <a:xfrm>
            <a:off x="2292080" y="5275714"/>
            <a:ext cx="1412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Vector DB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6" name="슬라이드 번호 개체 틀 3">
            <a:extLst>
              <a:ext uri="{FF2B5EF4-FFF2-40B4-BE49-F238E27FC236}">
                <a16:creationId xmlns:a16="http://schemas.microsoft.com/office/drawing/2014/main" id="{5AC5E3A0-8F05-A7AE-72C4-478A9281D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42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65858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62680-CC3D-7FC6-CFED-E53061388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1678636-CAD9-E919-1319-7ADD0838234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How to build AI Agent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74C26936-4B94-1CA8-4B9A-0280F0377E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2477834"/>
              </p:ext>
            </p:extLst>
          </p:nvPr>
        </p:nvGraphicFramePr>
        <p:xfrm>
          <a:off x="629920" y="1710714"/>
          <a:ext cx="10898115" cy="38942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076">
                  <a:extLst>
                    <a:ext uri="{9D8B030D-6E8A-4147-A177-3AD203B41FA5}">
                      <a16:colId xmlns:a16="http://schemas.microsoft.com/office/drawing/2014/main" val="2445409139"/>
                    </a:ext>
                  </a:extLst>
                </a:gridCol>
                <a:gridCol w="2303022">
                  <a:extLst>
                    <a:ext uri="{9D8B030D-6E8A-4147-A177-3AD203B41FA5}">
                      <a16:colId xmlns:a16="http://schemas.microsoft.com/office/drawing/2014/main" val="2316308487"/>
                    </a:ext>
                  </a:extLst>
                </a:gridCol>
                <a:gridCol w="8304017">
                  <a:extLst>
                    <a:ext uri="{9D8B030D-6E8A-4147-A177-3AD203B41FA5}">
                      <a16:colId xmlns:a16="http://schemas.microsoft.com/office/drawing/2014/main" val="710621275"/>
                    </a:ext>
                  </a:extLst>
                </a:gridCol>
              </a:tblGrid>
              <a:tr h="372086">
                <a:tc gridSpan="2"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en-US" altLang="ko-KR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Level</a:t>
                      </a:r>
                      <a:endParaRPr lang="ko-KR" altLang="en-US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en-US" altLang="ko-KR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Tools</a:t>
                      </a:r>
                      <a:endParaRPr lang="ko-KR" altLang="en-US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702201"/>
                  </a:ext>
                </a:extLst>
              </a:tr>
              <a:tr h="779245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en-US" altLang="ko-KR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endParaRPr lang="ko-KR" altLang="en-US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NO-CODE</a:t>
                      </a:r>
                      <a:endParaRPr lang="ko-KR" altLang="en-US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Build an agent by filling out forms or dragging blocks around.</a:t>
                      </a:r>
                    </a:p>
                    <a:p>
                      <a:pPr marL="0" indent="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endParaRPr lang="en-US" altLang="ko-KR" sz="400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marL="0" indent="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- </a:t>
                      </a:r>
                      <a:r>
                        <a:rPr lang="en-US" altLang="ko-KR" sz="1600" b="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Genspark</a:t>
                      </a:r>
                      <a:r>
                        <a:rPr lang="en-US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Lindi, </a:t>
                      </a:r>
                      <a:r>
                        <a:rPr lang="en-US" altLang="ko-KR" sz="1600" b="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Gumloop</a:t>
                      </a:r>
                      <a:r>
                        <a:rPr lang="en-US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Stack AI, Relevance AI, Botpress, </a:t>
                      </a:r>
                      <a:r>
                        <a:rPr lang="en-US" altLang="ko-KR" sz="1600" b="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Voiceflow</a:t>
                      </a:r>
                      <a:endParaRPr lang="ko-KR" altLang="en-US" sz="1600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741707"/>
                  </a:ext>
                </a:extLst>
              </a:tr>
              <a:tr h="779245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en-US" altLang="ko-KR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2</a:t>
                      </a:r>
                      <a:endParaRPr lang="ko-KR" altLang="en-US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LOW-CODE</a:t>
                      </a:r>
                      <a:endParaRPr lang="ko-KR" altLang="en-US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Write parts of the agent like a visual canvas.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fr-FR" altLang="ko-KR" sz="400" b="0" kern="1200" dirty="0">
                        <a:solidFill>
                          <a:schemeClr val="dk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400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marL="0" indent="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- n8n, make, </a:t>
                      </a:r>
                      <a:r>
                        <a:rPr lang="en-US" altLang="ko-KR" sz="1600" b="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zapier</a:t>
                      </a:r>
                      <a:r>
                        <a:rPr lang="en-US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KNIME, </a:t>
                      </a:r>
                      <a:r>
                        <a:rPr lang="en-US" altLang="ko-KR" sz="1600" b="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Flowise</a:t>
                      </a:r>
                      <a:r>
                        <a:rPr lang="en-US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en-US" altLang="ko-KR" sz="1600" b="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Langflow</a:t>
                      </a:r>
                      <a:r>
                        <a:rPr lang="en-US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en-US" altLang="ko-KR" sz="1600" b="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Dify</a:t>
                      </a:r>
                      <a:r>
                        <a:rPr lang="en-US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en-US" altLang="ko-KR" sz="1600" b="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Activepieces</a:t>
                      </a:r>
                      <a:endParaRPr lang="ko-KR" altLang="en-US" sz="1600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538327"/>
                  </a:ext>
                </a:extLst>
              </a:tr>
              <a:tr h="1224486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en-US" altLang="ko-KR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3</a:t>
                      </a:r>
                      <a:endParaRPr lang="ko-KR" altLang="en-US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AGENT HARNESSES</a:t>
                      </a:r>
                      <a:endParaRPr lang="ko-KR" altLang="en-US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Install a complete powerful agent and customize it.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fr-FR" altLang="ko-KR" sz="400" b="0" kern="1200" dirty="0">
                        <a:solidFill>
                          <a:schemeClr val="dk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fr-FR" altLang="ko-KR" sz="1600" b="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 - Cline, Antigravity, Claude CLI, Codex (</a:t>
                      </a:r>
                      <a:r>
                        <a:rPr lang="en-US" altLang="ko-KR" sz="1600" b="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Coding Agents) </a:t>
                      </a:r>
                    </a:p>
                    <a:p>
                      <a:pPr marL="0" indent="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600" b="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 - </a:t>
                      </a:r>
                      <a:r>
                        <a:rPr lang="en-US" altLang="ko-KR" sz="1600" b="0" kern="1200" dirty="0" err="1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OpenClaw</a:t>
                      </a:r>
                      <a:r>
                        <a:rPr lang="en-US" altLang="ko-KR" sz="1600" b="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, HERMES AGENTS</a:t>
                      </a:r>
                      <a:endParaRPr lang="ko-KR" altLang="en-US" sz="1600" b="0" kern="1200" dirty="0">
                        <a:solidFill>
                          <a:schemeClr val="dk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  <a:cs typeface="+mn-cs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1935827"/>
                  </a:ext>
                </a:extLst>
              </a:tr>
              <a:tr h="739165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en-US" altLang="ko-KR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4</a:t>
                      </a:r>
                      <a:endParaRPr lang="ko-KR" altLang="en-US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FULL CODE</a:t>
                      </a:r>
                      <a:endParaRPr lang="ko-KR" altLang="en-US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Python with </a:t>
                      </a:r>
                      <a:r>
                        <a:rPr lang="en-US" altLang="ko-KR" sz="1800" b="0" kern="1200" dirty="0" err="1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Langchain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, Langgraph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4091450"/>
                  </a:ext>
                </a:extLst>
              </a:tr>
            </a:tbl>
          </a:graphicData>
        </a:graphic>
      </p:graphicFrame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A48FCA6D-CF06-DFC6-CD46-DB18CB0B7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43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49134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BAFE3-4F5B-8D00-D442-CD331EF2D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F9839E01-3599-4D9F-0025-70566856DB19}"/>
              </a:ext>
            </a:extLst>
          </p:cNvPr>
          <p:cNvSpPr/>
          <p:nvPr/>
        </p:nvSpPr>
        <p:spPr>
          <a:xfrm>
            <a:off x="543887" y="1320800"/>
            <a:ext cx="11231553" cy="51714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9BCC5F4-59D6-B599-1D9F-F44FE028030B}"/>
              </a:ext>
            </a:extLst>
          </p:cNvPr>
          <p:cNvSpPr/>
          <p:nvPr/>
        </p:nvSpPr>
        <p:spPr>
          <a:xfrm>
            <a:off x="671878" y="4628294"/>
            <a:ext cx="3989376" cy="1722927"/>
          </a:xfrm>
          <a:prstGeom prst="roundRect">
            <a:avLst>
              <a:gd name="adj" fmla="val 723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2000" b="1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8F58942-9991-9CF5-6CB7-0BC6A3F300A7}"/>
              </a:ext>
            </a:extLst>
          </p:cNvPr>
          <p:cNvSpPr/>
          <p:nvPr/>
        </p:nvSpPr>
        <p:spPr>
          <a:xfrm>
            <a:off x="801546" y="4724344"/>
            <a:ext cx="2165173" cy="1536756"/>
          </a:xfrm>
          <a:prstGeom prst="roundRect">
            <a:avLst>
              <a:gd name="adj" fmla="val 5428"/>
            </a:avLst>
          </a:prstGeom>
          <a:solidFill>
            <a:schemeClr val="accent6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</a:p>
          <a:p>
            <a:r>
              <a:rPr lang="en-US" altLang="ko-KR" sz="16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(Brain)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6EC75EB-1768-B608-DDBA-E83A1116A8B3}"/>
              </a:ext>
            </a:extLst>
          </p:cNvPr>
          <p:cNvSpPr/>
          <p:nvPr/>
        </p:nvSpPr>
        <p:spPr>
          <a:xfrm>
            <a:off x="671878" y="2308694"/>
            <a:ext cx="3989376" cy="88154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0B1C602-E1A9-58F7-454B-127C8A372C2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LLM Agent Architecture</a:t>
            </a:r>
          </a:p>
        </p:txBody>
      </p:sp>
      <p:sp>
        <p:nvSpPr>
          <p:cNvPr id="2" name="AutoShape 2" descr=", AI로 생성">
            <a:extLst>
              <a:ext uri="{FF2B5EF4-FFF2-40B4-BE49-F238E27FC236}">
                <a16:creationId xmlns:a16="http://schemas.microsoft.com/office/drawing/2014/main" id="{6697A9E8-65BE-8DB2-5627-1F9B11C6C0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29680" y="3520440"/>
            <a:ext cx="381704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0883289-5A95-5D3E-3596-8485AB86EE0B}"/>
              </a:ext>
            </a:extLst>
          </p:cNvPr>
          <p:cNvSpPr/>
          <p:nvPr/>
        </p:nvSpPr>
        <p:spPr>
          <a:xfrm>
            <a:off x="805534" y="2463636"/>
            <a:ext cx="1615440" cy="5633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Cline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 VS code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F72D1E5-D311-1826-8312-835EA4A0E098}"/>
              </a:ext>
            </a:extLst>
          </p:cNvPr>
          <p:cNvSpPr/>
          <p:nvPr/>
        </p:nvSpPr>
        <p:spPr>
          <a:xfrm>
            <a:off x="2904538" y="2463635"/>
            <a:ext cx="1615440" cy="5633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HERMES AGENT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B53CCF-980B-E9BE-C68B-7FAA634AC36A}"/>
              </a:ext>
            </a:extLst>
          </p:cNvPr>
          <p:cNvSpPr txBox="1"/>
          <p:nvPr/>
        </p:nvSpPr>
        <p:spPr>
          <a:xfrm>
            <a:off x="753158" y="1339044"/>
            <a:ext cx="3908096" cy="58477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Agent Execution Layer</a:t>
            </a:r>
          </a:p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(CLI / IDE) 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1F84491-CDCE-3C04-3C12-809DBE7305A7}"/>
              </a:ext>
            </a:extLst>
          </p:cNvPr>
          <p:cNvSpPr/>
          <p:nvPr/>
        </p:nvSpPr>
        <p:spPr>
          <a:xfrm>
            <a:off x="1797099" y="4838822"/>
            <a:ext cx="1017222" cy="34052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Thinking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CCC9F89-D43F-987F-C30B-2FEF8A4B666A}"/>
              </a:ext>
            </a:extLst>
          </p:cNvPr>
          <p:cNvSpPr/>
          <p:nvPr/>
        </p:nvSpPr>
        <p:spPr>
          <a:xfrm>
            <a:off x="1797099" y="5347031"/>
            <a:ext cx="1017222" cy="34052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Reasoning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E76A5EF-4483-3C94-0C61-8AF6594A2F83}"/>
              </a:ext>
            </a:extLst>
          </p:cNvPr>
          <p:cNvSpPr/>
          <p:nvPr/>
        </p:nvSpPr>
        <p:spPr>
          <a:xfrm>
            <a:off x="1797099" y="5855241"/>
            <a:ext cx="1017222" cy="34052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Planning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C94A57-C45B-E01D-E2FF-13AD4A955E05}"/>
              </a:ext>
            </a:extLst>
          </p:cNvPr>
          <p:cNvSpPr txBox="1"/>
          <p:nvPr/>
        </p:nvSpPr>
        <p:spPr>
          <a:xfrm>
            <a:off x="1777730" y="4208253"/>
            <a:ext cx="2895857" cy="33855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Agent Core Orchestration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B0639A78-47CA-5F28-3D9C-5D2D7CB246F0}"/>
              </a:ext>
            </a:extLst>
          </p:cNvPr>
          <p:cNvSpPr/>
          <p:nvPr/>
        </p:nvSpPr>
        <p:spPr>
          <a:xfrm>
            <a:off x="3308914" y="4724344"/>
            <a:ext cx="1206468" cy="153675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Planning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&amp;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Execution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Loop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AAD2A589-1B9D-C186-BFA4-5ED62361B611}"/>
              </a:ext>
            </a:extLst>
          </p:cNvPr>
          <p:cNvSpPr/>
          <p:nvPr/>
        </p:nvSpPr>
        <p:spPr>
          <a:xfrm>
            <a:off x="5552086" y="2308694"/>
            <a:ext cx="2712718" cy="2870654"/>
          </a:xfrm>
          <a:prstGeom prst="roundRect">
            <a:avLst>
              <a:gd name="adj" fmla="val 461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2000" b="1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C34E044-4321-BF79-4036-388AA54577F8}"/>
              </a:ext>
            </a:extLst>
          </p:cNvPr>
          <p:cNvSpPr/>
          <p:nvPr/>
        </p:nvSpPr>
        <p:spPr>
          <a:xfrm>
            <a:off x="5552086" y="5405017"/>
            <a:ext cx="2712718" cy="946203"/>
          </a:xfrm>
          <a:prstGeom prst="roundRect">
            <a:avLst>
              <a:gd name="adj" fmla="val 7232"/>
            </a:avLst>
          </a:prstGeom>
          <a:solidFill>
            <a:schemeClr val="accent4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 &amp; Memory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F6D37C73-306C-2000-AE22-88FC222E34C5}"/>
              </a:ext>
            </a:extLst>
          </p:cNvPr>
          <p:cNvSpPr/>
          <p:nvPr/>
        </p:nvSpPr>
        <p:spPr>
          <a:xfrm>
            <a:off x="5692434" y="2556977"/>
            <a:ext cx="2418772" cy="1023869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Skills</a:t>
            </a:r>
          </a:p>
          <a:p>
            <a:pPr algn="ctr"/>
            <a:endParaRPr lang="en-US" altLang="ko-KR" sz="1600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en-US" altLang="ko-KR" sz="16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Skill Repository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2903C940-DA83-7918-271E-15B3A698B049}"/>
              </a:ext>
            </a:extLst>
          </p:cNvPr>
          <p:cNvSpPr/>
          <p:nvPr/>
        </p:nvSpPr>
        <p:spPr>
          <a:xfrm>
            <a:off x="5687837" y="3908201"/>
            <a:ext cx="2418772" cy="102386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RAG</a:t>
            </a:r>
          </a:p>
          <a:p>
            <a:pPr algn="ctr"/>
            <a:endParaRPr lang="en-US" altLang="ko-KR" sz="1600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endParaRPr lang="en-US" altLang="ko-KR" sz="1600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endParaRPr lang="en-US" altLang="ko-KR" sz="1600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9151DEAA-EC5C-3E5B-7D81-307916EBF5D1}"/>
              </a:ext>
            </a:extLst>
          </p:cNvPr>
          <p:cNvSpPr/>
          <p:nvPr/>
        </p:nvSpPr>
        <p:spPr>
          <a:xfrm>
            <a:off x="5779276" y="4330219"/>
            <a:ext cx="1061784" cy="376650"/>
          </a:xfrm>
          <a:prstGeom prst="roundRect">
            <a:avLst/>
          </a:prstGeom>
          <a:solidFill>
            <a:srgbClr val="76E3FF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Pipeline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90C280F6-A7DE-A014-E0F3-EAB00E3905D3}"/>
              </a:ext>
            </a:extLst>
          </p:cNvPr>
          <p:cNvSpPr/>
          <p:nvPr/>
        </p:nvSpPr>
        <p:spPr>
          <a:xfrm>
            <a:off x="6984937" y="4315783"/>
            <a:ext cx="1061784" cy="376650"/>
          </a:xfrm>
          <a:prstGeom prst="roundRect">
            <a:avLst/>
          </a:prstGeom>
          <a:solidFill>
            <a:srgbClr val="76E3FF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Knowledge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7524AAB-BA85-2E8F-4B7D-DECD9FA71F1B}"/>
              </a:ext>
            </a:extLst>
          </p:cNvPr>
          <p:cNvSpPr txBox="1"/>
          <p:nvPr/>
        </p:nvSpPr>
        <p:spPr>
          <a:xfrm>
            <a:off x="5540863" y="1339044"/>
            <a:ext cx="2712720" cy="58477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Capability &amp; </a:t>
            </a:r>
          </a:p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Knowledge Layer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9A7F855-3177-6A5D-C1A1-1929A3528EF2}"/>
              </a:ext>
            </a:extLst>
          </p:cNvPr>
          <p:cNvSpPr txBox="1"/>
          <p:nvPr/>
        </p:nvSpPr>
        <p:spPr>
          <a:xfrm>
            <a:off x="9036464" y="1339044"/>
            <a:ext cx="2583213" cy="58477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MCP Framework &amp;</a:t>
            </a:r>
          </a:p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Tool Access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ECEA3B2A-29D2-CD84-8A60-CF23C3824435}"/>
              </a:ext>
            </a:extLst>
          </p:cNvPr>
          <p:cNvSpPr/>
          <p:nvPr/>
        </p:nvSpPr>
        <p:spPr>
          <a:xfrm>
            <a:off x="9074356" y="5558823"/>
            <a:ext cx="2565755" cy="563223"/>
          </a:xfrm>
          <a:prstGeom prst="roundRect">
            <a:avLst>
              <a:gd name="adj" fmla="val 7232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External Data Sources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(Documents, Databases, WEB)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E3040AA1-F1E4-8F9F-441F-E0ECF3D2D598}"/>
              </a:ext>
            </a:extLst>
          </p:cNvPr>
          <p:cNvSpPr/>
          <p:nvPr/>
        </p:nvSpPr>
        <p:spPr>
          <a:xfrm>
            <a:off x="9053923" y="2432445"/>
            <a:ext cx="2565755" cy="757796"/>
          </a:xfrm>
          <a:prstGeom prst="roundRect">
            <a:avLst/>
          </a:prstGeom>
          <a:solidFill>
            <a:srgbClr val="FF0000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MCP Server</a:t>
            </a: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2815720B-D662-11EB-7540-631E408E8DE8}"/>
              </a:ext>
            </a:extLst>
          </p:cNvPr>
          <p:cNvCxnSpPr>
            <a:cxnSpLocks/>
            <a:stCxn id="34" idx="2"/>
            <a:endCxn id="33" idx="0"/>
          </p:cNvCxnSpPr>
          <p:nvPr/>
        </p:nvCxnSpPr>
        <p:spPr>
          <a:xfrm>
            <a:off x="10336801" y="3190241"/>
            <a:ext cx="20433" cy="236858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연결선: 꺾임 44">
            <a:extLst>
              <a:ext uri="{FF2B5EF4-FFF2-40B4-BE49-F238E27FC236}">
                <a16:creationId xmlns:a16="http://schemas.microsoft.com/office/drawing/2014/main" id="{EB497CA3-3505-A24F-7DF3-A89531606EA8}"/>
              </a:ext>
            </a:extLst>
          </p:cNvPr>
          <p:cNvCxnSpPr>
            <a:cxnSpLocks/>
            <a:stCxn id="20" idx="3"/>
            <a:endCxn id="25" idx="1"/>
          </p:cNvCxnSpPr>
          <p:nvPr/>
        </p:nvCxnSpPr>
        <p:spPr>
          <a:xfrm>
            <a:off x="4515382" y="5492722"/>
            <a:ext cx="1036704" cy="385397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연결선: 꺾임 45">
            <a:extLst>
              <a:ext uri="{FF2B5EF4-FFF2-40B4-BE49-F238E27FC236}">
                <a16:creationId xmlns:a16="http://schemas.microsoft.com/office/drawing/2014/main" id="{1266B15C-2423-90BF-F1B9-9FC429F90222}"/>
              </a:ext>
            </a:extLst>
          </p:cNvPr>
          <p:cNvCxnSpPr>
            <a:cxnSpLocks/>
            <a:stCxn id="27" idx="3"/>
            <a:endCxn id="33" idx="1"/>
          </p:cNvCxnSpPr>
          <p:nvPr/>
        </p:nvCxnSpPr>
        <p:spPr>
          <a:xfrm>
            <a:off x="8106609" y="4420136"/>
            <a:ext cx="967747" cy="1420299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연결선: 꺾임 56">
            <a:extLst>
              <a:ext uri="{FF2B5EF4-FFF2-40B4-BE49-F238E27FC236}">
                <a16:creationId xmlns:a16="http://schemas.microsoft.com/office/drawing/2014/main" id="{F5AD6D8F-CDCF-3A5D-6580-8D2EBE6153F4}"/>
              </a:ext>
            </a:extLst>
          </p:cNvPr>
          <p:cNvCxnSpPr>
            <a:stCxn id="26" idx="3"/>
            <a:endCxn id="34" idx="1"/>
          </p:cNvCxnSpPr>
          <p:nvPr/>
        </p:nvCxnSpPr>
        <p:spPr>
          <a:xfrm flipV="1">
            <a:off x="8111206" y="2811343"/>
            <a:ext cx="942717" cy="25756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연결선: 꺾임 57">
            <a:extLst>
              <a:ext uri="{FF2B5EF4-FFF2-40B4-BE49-F238E27FC236}">
                <a16:creationId xmlns:a16="http://schemas.microsoft.com/office/drawing/2014/main" id="{BA7E112E-5E3F-A1F5-96FE-37D0E566371D}"/>
              </a:ext>
            </a:extLst>
          </p:cNvPr>
          <p:cNvCxnSpPr>
            <a:cxnSpLocks/>
            <a:endCxn id="24" idx="3"/>
          </p:cNvCxnSpPr>
          <p:nvPr/>
        </p:nvCxnSpPr>
        <p:spPr>
          <a:xfrm rot="10800000" flipV="1">
            <a:off x="8264805" y="3068911"/>
            <a:ext cx="771659" cy="67511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연결선: 꺾임 70">
            <a:extLst>
              <a:ext uri="{FF2B5EF4-FFF2-40B4-BE49-F238E27FC236}">
                <a16:creationId xmlns:a16="http://schemas.microsoft.com/office/drawing/2014/main" id="{B1342463-5BF5-BA23-9D32-E6AB9DAABDCC}"/>
              </a:ext>
            </a:extLst>
          </p:cNvPr>
          <p:cNvCxnSpPr>
            <a:cxnSpLocks/>
          </p:cNvCxnSpPr>
          <p:nvPr/>
        </p:nvCxnSpPr>
        <p:spPr>
          <a:xfrm flipV="1">
            <a:off x="4534902" y="4427252"/>
            <a:ext cx="1152935" cy="911516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연결선: 꺾임 77">
            <a:extLst>
              <a:ext uri="{FF2B5EF4-FFF2-40B4-BE49-F238E27FC236}">
                <a16:creationId xmlns:a16="http://schemas.microsoft.com/office/drawing/2014/main" id="{86683250-B0D4-7E81-D3E9-0D4993DE1F31}"/>
              </a:ext>
            </a:extLst>
          </p:cNvPr>
          <p:cNvCxnSpPr>
            <a:cxnSpLocks/>
            <a:stCxn id="10" idx="0"/>
            <a:endCxn id="24" idx="0"/>
          </p:cNvCxnSpPr>
          <p:nvPr/>
        </p:nvCxnSpPr>
        <p:spPr>
          <a:xfrm rot="5400000" flipH="1" flipV="1">
            <a:off x="5232881" y="788072"/>
            <a:ext cx="154941" cy="3196187"/>
          </a:xfrm>
          <a:prstGeom prst="bentConnector3">
            <a:avLst>
              <a:gd name="adj1" fmla="val 24754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C7C58EFD-7AC4-3D7F-1075-2C5970C8BA00}"/>
              </a:ext>
            </a:extLst>
          </p:cNvPr>
          <p:cNvCxnSpPr>
            <a:stCxn id="23" idx="3"/>
            <a:endCxn id="20" idx="1"/>
          </p:cNvCxnSpPr>
          <p:nvPr/>
        </p:nvCxnSpPr>
        <p:spPr>
          <a:xfrm>
            <a:off x="2966719" y="5492722"/>
            <a:ext cx="3421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E64E4CA6-FEB1-F978-FD5A-7122AC0D42B6}"/>
              </a:ext>
            </a:extLst>
          </p:cNvPr>
          <p:cNvCxnSpPr>
            <a:stCxn id="9" idx="2"/>
          </p:cNvCxnSpPr>
          <p:nvPr/>
        </p:nvCxnSpPr>
        <p:spPr>
          <a:xfrm>
            <a:off x="1613254" y="3026970"/>
            <a:ext cx="0" cy="159827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6690DB02-2CAF-189A-91FC-D85BCD520A4F}"/>
              </a:ext>
            </a:extLst>
          </p:cNvPr>
          <p:cNvSpPr txBox="1"/>
          <p:nvPr/>
        </p:nvSpPr>
        <p:spPr>
          <a:xfrm>
            <a:off x="493087" y="3590304"/>
            <a:ext cx="12095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alibri Light" panose="020F0302020204030204" pitchFamily="34" charset="0"/>
              </a:rPr>
              <a:t>User commands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  <a:cs typeface="Calibri Light" panose="020F0302020204030204" pitchFamily="34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B07C67F-CFC7-D42A-CA35-FCD10FCC05C4}"/>
              </a:ext>
            </a:extLst>
          </p:cNvPr>
          <p:cNvSpPr txBox="1"/>
          <p:nvPr/>
        </p:nvSpPr>
        <p:spPr>
          <a:xfrm>
            <a:off x="4498934" y="2073857"/>
            <a:ext cx="12095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alibri Light" panose="020F0302020204030204" pitchFamily="34" charset="0"/>
              </a:rPr>
              <a:t>User commands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  <a:cs typeface="Calibri Light" panose="020F0302020204030204" pitchFamily="34" charset="0"/>
            </a:endParaRPr>
          </a:p>
        </p:txBody>
      </p:sp>
      <p:pic>
        <p:nvPicPr>
          <p:cNvPr id="99" name="그래픽 98" descr="반시계 방향으로 굽은 화살표">
            <a:extLst>
              <a:ext uri="{FF2B5EF4-FFF2-40B4-BE49-F238E27FC236}">
                <a16:creationId xmlns:a16="http://schemas.microsoft.com/office/drawing/2014/main" id="{4255C860-68B6-C5A6-2119-4ECF69C27B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30292" y="3326533"/>
            <a:ext cx="914400" cy="914400"/>
          </a:xfrm>
          <a:prstGeom prst="rect">
            <a:avLst/>
          </a:prstGeom>
        </p:spPr>
      </p:pic>
      <p:pic>
        <p:nvPicPr>
          <p:cNvPr id="101" name="그래픽 100" descr="반시계 방향으로 굽은 화살표">
            <a:extLst>
              <a:ext uri="{FF2B5EF4-FFF2-40B4-BE49-F238E27FC236}">
                <a16:creationId xmlns:a16="http://schemas.microsoft.com/office/drawing/2014/main" id="{0C1E0372-FCA0-2C86-4C09-7265C26791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3414791" y="3197373"/>
            <a:ext cx="914400" cy="914400"/>
          </a:xfrm>
          <a:prstGeom prst="rect">
            <a:avLst/>
          </a:prstGeom>
        </p:spPr>
      </p:pic>
      <p:sp>
        <p:nvSpPr>
          <p:cNvPr id="104" name="TextBox 103">
            <a:extLst>
              <a:ext uri="{FF2B5EF4-FFF2-40B4-BE49-F238E27FC236}">
                <a16:creationId xmlns:a16="http://schemas.microsoft.com/office/drawing/2014/main" id="{92F9E686-8A3D-2F50-7A16-FB06A2B80B6A}"/>
              </a:ext>
            </a:extLst>
          </p:cNvPr>
          <p:cNvSpPr txBox="1"/>
          <p:nvPr/>
        </p:nvSpPr>
        <p:spPr>
          <a:xfrm>
            <a:off x="4498935" y="5893571"/>
            <a:ext cx="12095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alibri Light" panose="020F0302020204030204" pitchFamily="34" charset="0"/>
              </a:rPr>
              <a:t>Retrieval</a:t>
            </a:r>
          </a:p>
          <a:p>
            <a:pPr algn="ctr"/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alibri Light" panose="020F0302020204030204" pitchFamily="34" charset="0"/>
              </a:rPr>
              <a:t>&amp; Storage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  <a:cs typeface="Calibri Light" panose="020F0302020204030204" pitchFamily="34" charset="0"/>
            </a:endParaRPr>
          </a:p>
        </p:txBody>
      </p:sp>
      <p:cxnSp>
        <p:nvCxnSpPr>
          <p:cNvPr id="112" name="연결선: 꺾임 111">
            <a:extLst>
              <a:ext uri="{FF2B5EF4-FFF2-40B4-BE49-F238E27FC236}">
                <a16:creationId xmlns:a16="http://schemas.microsoft.com/office/drawing/2014/main" id="{4B894E90-349E-DFA7-458C-A38A3C8BDC3B}"/>
              </a:ext>
            </a:extLst>
          </p:cNvPr>
          <p:cNvCxnSpPr>
            <a:cxnSpLocks/>
          </p:cNvCxnSpPr>
          <p:nvPr/>
        </p:nvCxnSpPr>
        <p:spPr>
          <a:xfrm flipV="1">
            <a:off x="4535702" y="2733632"/>
            <a:ext cx="1177052" cy="2423810"/>
          </a:xfrm>
          <a:prstGeom prst="bentConnector3">
            <a:avLst>
              <a:gd name="adj1" fmla="val 36189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1A38FE0A-CA3B-16C1-86D1-162B1F503E98}"/>
              </a:ext>
            </a:extLst>
          </p:cNvPr>
          <p:cNvSpPr txBox="1"/>
          <p:nvPr/>
        </p:nvSpPr>
        <p:spPr>
          <a:xfrm>
            <a:off x="7997237" y="2359968"/>
            <a:ext cx="12095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alibri Light" panose="020F0302020204030204" pitchFamily="34" charset="0"/>
              </a:rPr>
              <a:t>Tool Use</a:t>
            </a:r>
          </a:p>
          <a:p>
            <a:pPr algn="ctr"/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alibri Light" panose="020F0302020204030204" pitchFamily="34" charset="0"/>
              </a:rPr>
              <a:t>Request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  <a:cs typeface="Calibri Light" panose="020F0302020204030204" pitchFamily="34" charset="0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95D02A5-A9F4-5676-BF6E-920334FAFDB9}"/>
              </a:ext>
            </a:extLst>
          </p:cNvPr>
          <p:cNvSpPr txBox="1"/>
          <p:nvPr/>
        </p:nvSpPr>
        <p:spPr>
          <a:xfrm>
            <a:off x="8468303" y="3276946"/>
            <a:ext cx="12095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alibri Light" panose="020F0302020204030204" pitchFamily="34" charset="0"/>
              </a:rPr>
              <a:t>Tool Execution Result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  <a:cs typeface="Calibri Light" panose="020F0302020204030204" pitchFamily="34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F157221C-314F-B753-1245-91853A0745D8}"/>
              </a:ext>
            </a:extLst>
          </p:cNvPr>
          <p:cNvSpPr txBox="1"/>
          <p:nvPr/>
        </p:nvSpPr>
        <p:spPr>
          <a:xfrm>
            <a:off x="8374059" y="4999468"/>
            <a:ext cx="13590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alibri Light" panose="020F0302020204030204" pitchFamily="34" charset="0"/>
              </a:rPr>
              <a:t>Knowledge</a:t>
            </a:r>
          </a:p>
          <a:p>
            <a:pPr algn="ctr"/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alibri Light" panose="020F0302020204030204" pitchFamily="34" charset="0"/>
              </a:rPr>
              <a:t>Retrieval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DF89E812-D4BA-F0B1-14EA-69B4FD1987D7}"/>
              </a:ext>
            </a:extLst>
          </p:cNvPr>
          <p:cNvSpPr txBox="1"/>
          <p:nvPr/>
        </p:nvSpPr>
        <p:spPr>
          <a:xfrm>
            <a:off x="10148870" y="4196122"/>
            <a:ext cx="13590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alibri Light" panose="020F0302020204030204" pitchFamily="34" charset="0"/>
              </a:rPr>
              <a:t>Knowledge</a:t>
            </a:r>
          </a:p>
          <a:p>
            <a:pPr algn="ctr"/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alibri Light" panose="020F0302020204030204" pitchFamily="34" charset="0"/>
              </a:rPr>
              <a:t>Retrieval</a:t>
            </a:r>
          </a:p>
        </p:txBody>
      </p:sp>
      <p:sp>
        <p:nvSpPr>
          <p:cNvPr id="124" name="슬라이드 번호 개체 틀 3">
            <a:extLst>
              <a:ext uri="{FF2B5EF4-FFF2-40B4-BE49-F238E27FC236}">
                <a16:creationId xmlns:a16="http://schemas.microsoft.com/office/drawing/2014/main" id="{DF1D2970-C557-F548-8751-581EA3346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44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96500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325E4-3198-9C9E-9F1A-56CDB725F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AA2008C-A1FB-0F1E-24CD-8D5C05F97A1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use case 1 : prompt </a:t>
            </a:r>
            <a:r>
              <a:rPr lang="en-US" altLang="ko-KR" sz="2800" b="1" cap="none" dirty="0">
                <a:latin typeface="Lora" pitchFamily="2" charset="0"/>
                <a:sym typeface="Wingdings" panose="05000000000000000000" pitchFamily="2" charset="2"/>
              </a:rPr>
              <a:t> LLM  </a:t>
            </a:r>
            <a:r>
              <a:rPr lang="en-US" altLang="ko-KR" sz="2800" b="1" cap="none" dirty="0">
                <a:latin typeface="Lora" pitchFamily="2" charset="0"/>
              </a:rPr>
              <a:t>n8n  : Automation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52CF3C-3E3F-21AB-C02C-E6F4A9202B22}"/>
              </a:ext>
            </a:extLst>
          </p:cNvPr>
          <p:cNvSpPr txBox="1"/>
          <p:nvPr/>
        </p:nvSpPr>
        <p:spPr>
          <a:xfrm>
            <a:off x="629920" y="1320727"/>
            <a:ext cx="9601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pt-BR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prompt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만 하면 자동으로</a:t>
            </a:r>
            <a:r>
              <a:rPr lang="pt-BR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 n8n workflow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생성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(L</a:t>
            </a:r>
            <a:r>
              <a:rPr lang="pt-BR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LM Agent+n8n MCP+Local n8n)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D179C66-5FF2-8E9D-F01C-21AB8D0396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1470" y="1899536"/>
            <a:ext cx="9102541" cy="456789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78B9D451-3B42-8013-BAE1-3018D477FB04}"/>
              </a:ext>
            </a:extLst>
          </p:cNvPr>
          <p:cNvSpPr/>
          <p:nvPr/>
        </p:nvSpPr>
        <p:spPr>
          <a:xfrm>
            <a:off x="1686560" y="5740400"/>
            <a:ext cx="3931920" cy="63561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은 </a:t>
            </a:r>
            <a:r>
              <a:rPr lang="en-US" altLang="ko-KR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Gemini</a:t>
            </a:r>
            <a:endParaRPr lang="ko-KR" altLang="en-US" dirty="0">
              <a:solidFill>
                <a:srgbClr val="FF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600BFB8-F8CE-8595-442E-C521AA6F359B}"/>
              </a:ext>
            </a:extLst>
          </p:cNvPr>
          <p:cNvSpPr/>
          <p:nvPr/>
        </p:nvSpPr>
        <p:spPr>
          <a:xfrm>
            <a:off x="5962740" y="2381515"/>
            <a:ext cx="4441100" cy="2302245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FF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 MCP Server</a:t>
            </a:r>
            <a:endParaRPr lang="ko-KR" altLang="en-US" dirty="0">
              <a:solidFill>
                <a:srgbClr val="FFFF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4712870-685D-FA74-8F4A-5CCE1413D0C2}"/>
              </a:ext>
            </a:extLst>
          </p:cNvPr>
          <p:cNvSpPr/>
          <p:nvPr/>
        </p:nvSpPr>
        <p:spPr>
          <a:xfrm>
            <a:off x="1686560" y="4015404"/>
            <a:ext cx="3931920" cy="336154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accent6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Cline coding</a:t>
            </a:r>
            <a:endParaRPr lang="ko-KR" altLang="en-US" dirty="0">
              <a:solidFill>
                <a:schemeClr val="accent6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F6561C-4877-82ED-34EA-ABF9B83D2114}"/>
              </a:ext>
            </a:extLst>
          </p:cNvPr>
          <p:cNvSpPr txBox="1"/>
          <p:nvPr/>
        </p:nvSpPr>
        <p:spPr>
          <a:xfrm>
            <a:off x="6187440" y="6027204"/>
            <a:ext cx="4216400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Bef>
                <a:spcPts val="3000"/>
              </a:spcBef>
              <a:spcAft>
                <a:spcPts val="225"/>
              </a:spcAft>
              <a:buNone/>
            </a:pPr>
            <a:r>
              <a:rPr lang="en-US" altLang="ko-KR" b="0" i="0" u="none" strike="noStrike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IDE + (CLI)+ Agents - Agentic IDE</a:t>
            </a:r>
          </a:p>
        </p:txBody>
      </p:sp>
      <p:sp>
        <p:nvSpPr>
          <p:cNvPr id="20" name="슬라이드 번호 개체 틀 3">
            <a:extLst>
              <a:ext uri="{FF2B5EF4-FFF2-40B4-BE49-F238E27FC236}">
                <a16:creationId xmlns:a16="http://schemas.microsoft.com/office/drawing/2014/main" id="{D54AE67E-78B4-6DFC-7434-4833CD653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45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154654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B9D07-7F43-3035-0B19-B3AFAE568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58F5E3E-0B87-5FFF-1AB7-A044505B3B7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use case 2: Practice with google Agent SDK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AA66E2-FFA7-6F43-0513-0F06393319E0}"/>
              </a:ext>
            </a:extLst>
          </p:cNvPr>
          <p:cNvSpPr txBox="1"/>
          <p:nvPr/>
        </p:nvSpPr>
        <p:spPr>
          <a:xfrm>
            <a:off x="1016000" y="2519680"/>
            <a:ext cx="8138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Gemini API: Getting started with Gemini models</a:t>
            </a:r>
            <a:endParaRPr lang="ko-KR" altLang="en-US" sz="20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81BA22F2-6940-575A-804D-89154BD6E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46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21340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A69F2-E906-E014-040D-6553B77AD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9DF48F8-8E89-8A24-915F-4D9E8A44A3F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use case 3: LLM wiki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073226-6711-E291-48E6-978C3775C966}"/>
              </a:ext>
            </a:extLst>
          </p:cNvPr>
          <p:cNvSpPr txBox="1"/>
          <p:nvPr/>
        </p:nvSpPr>
        <p:spPr>
          <a:xfrm>
            <a:off x="558799" y="2249796"/>
            <a:ext cx="3444240" cy="411247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b="1" dirty="0">
                <a:latin typeface="D2Coding" panose="020B0609020101020101" pitchFamily="49" charset="-127"/>
                <a:ea typeface="D2Coding" panose="020B0609020101020101" pitchFamily="49" charset="-127"/>
              </a:rPr>
              <a:t>노트북</a:t>
            </a:r>
            <a:r>
              <a:rPr lang="en-US" altLang="ko-KR" sz="2400" b="1" dirty="0">
                <a:latin typeface="D2Coding" panose="020B0609020101020101" pitchFamily="49" charset="-127"/>
                <a:ea typeface="D2Coding" panose="020B0609020101020101" pitchFamily="49" charset="-127"/>
              </a:rPr>
              <a:t>LM</a:t>
            </a:r>
          </a:p>
          <a:p>
            <a:pPr algn="ctr"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빠른 리서치에 최적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>
              <a:lnSpc>
                <a:spcPct val="150000"/>
              </a:lnSpc>
            </a:pP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자료 올리면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찾아줌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매번 원본에서 검색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구글 서버에 저장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설정 제로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즉시 사용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무료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 algn="ctr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검색 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(Retrieval)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5356A4-CD98-CF42-5B60-DFF97124228A}"/>
              </a:ext>
            </a:extLst>
          </p:cNvPr>
          <p:cNvSpPr txBox="1"/>
          <p:nvPr/>
        </p:nvSpPr>
        <p:spPr>
          <a:xfrm>
            <a:off x="4424678" y="2249796"/>
            <a:ext cx="3444241" cy="411247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400" b="1" dirty="0">
                <a:latin typeface="D2Coding" panose="020B0609020101020101" pitchFamily="49" charset="-127"/>
                <a:ea typeface="D2Coding" panose="020B0609020101020101" pitchFamily="49" charset="-127"/>
              </a:rPr>
              <a:t>RAG / </a:t>
            </a:r>
            <a:r>
              <a:rPr lang="ko-KR" altLang="en-US" sz="2400" b="1" dirty="0">
                <a:latin typeface="D2Coding" panose="020B0609020101020101" pitchFamily="49" charset="-127"/>
                <a:ea typeface="D2Coding" panose="020B0609020101020101" pitchFamily="49" charset="-127"/>
              </a:rPr>
              <a:t>벡터</a:t>
            </a:r>
            <a:r>
              <a:rPr lang="en-US" altLang="ko-KR" sz="2400" b="1" dirty="0">
                <a:latin typeface="D2Coding" panose="020B0609020101020101" pitchFamily="49" charset="-127"/>
                <a:ea typeface="D2Coding" panose="020B0609020101020101" pitchFamily="49" charset="-127"/>
              </a:rPr>
              <a:t>DB</a:t>
            </a:r>
          </a:p>
          <a:p>
            <a:pPr algn="ctr"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대규모 데이터에 최적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>
              <a:lnSpc>
                <a:spcPct val="150000"/>
              </a:lnSpc>
            </a:pP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자료를 쪼개서 벡터로 저장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유사도 검색으로 조각 가져오기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별도 인프라 필요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개발 지식 필요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인프라 비용 발생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 algn="ctr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검색 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(Retrieval)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209160-1BAF-B419-AE28-13EFABA4C78A}"/>
              </a:ext>
            </a:extLst>
          </p:cNvPr>
          <p:cNvSpPr txBox="1"/>
          <p:nvPr/>
        </p:nvSpPr>
        <p:spPr>
          <a:xfrm>
            <a:off x="8290560" y="2249796"/>
            <a:ext cx="3444240" cy="41124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400" b="1" dirty="0">
                <a:latin typeface="D2Coding" panose="020B0609020101020101" pitchFamily="49" charset="-127"/>
                <a:ea typeface="D2Coding" panose="020B0609020101020101" pitchFamily="49" charset="-127"/>
              </a:rPr>
              <a:t>LLM </a:t>
            </a:r>
            <a:r>
              <a:rPr lang="ko-KR" altLang="en-US" sz="2400" b="1" dirty="0">
                <a:latin typeface="D2Coding" panose="020B0609020101020101" pitchFamily="49" charset="-127"/>
                <a:ea typeface="D2Coding" panose="020B0609020101020101" pitchFamily="49" charset="-127"/>
              </a:rPr>
              <a:t>나무위키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장기 지식 축적에 최적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>
              <a:lnSpc>
                <a:spcPct val="150000"/>
              </a:lnSpc>
            </a:pP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자료 넣으면 정리해줌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한 번 정리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계속 업데이트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내 로컬 마크다운 파일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분 셋업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토큰 비용만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 algn="ctr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축적 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(Compilation)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101824-FF85-7B77-ED58-9327F931B64D}"/>
              </a:ext>
            </a:extLst>
          </p:cNvPr>
          <p:cNvSpPr txBox="1"/>
          <p:nvPr/>
        </p:nvSpPr>
        <p:spPr>
          <a:xfrm>
            <a:off x="558799" y="1275362"/>
            <a:ext cx="7859844" cy="7931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클로드코드가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 내 노하우를 나무위키처럼 정리해줍니다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(feat.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안드레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카파시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)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옵시디언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 하나에 모든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AI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에이전트 연결 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슬라이드 번호 개체 틀 3">
            <a:extLst>
              <a:ext uri="{FF2B5EF4-FFF2-40B4-BE49-F238E27FC236}">
                <a16:creationId xmlns:a16="http://schemas.microsoft.com/office/drawing/2014/main" id="{61DD9A26-A7A8-9C82-0AE3-E70FC3790454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47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66229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54428-76AA-3B3C-B2F9-45F378105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래픽 3" descr="물음표">
            <a:extLst>
              <a:ext uri="{FF2B5EF4-FFF2-40B4-BE49-F238E27FC236}">
                <a16:creationId xmlns:a16="http://schemas.microsoft.com/office/drawing/2014/main" id="{434CF91C-5391-6681-5665-3C1B83A016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6199" y="2228849"/>
            <a:ext cx="2943225" cy="294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787596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13919</TotalTime>
  <Words>1973</Words>
  <Application>Microsoft Office PowerPoint</Application>
  <PresentationFormat>와이드스크린</PresentationFormat>
  <Paragraphs>445</Paragraphs>
  <Slides>48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48</vt:i4>
      </vt:variant>
    </vt:vector>
  </HeadingPairs>
  <TitlesOfParts>
    <vt:vector size="60" baseType="lpstr">
      <vt:lpstr>D2Coding</vt:lpstr>
      <vt:lpstr>나눔고딕</vt:lpstr>
      <vt:lpstr>맑은 고딕</vt:lpstr>
      <vt:lpstr>Batang</vt:lpstr>
      <vt:lpstr>한컴 말랑말랑 Bold</vt:lpstr>
      <vt:lpstr>Arial</vt:lpstr>
      <vt:lpstr>Cambria Math</vt:lpstr>
      <vt:lpstr>Lora</vt:lpstr>
      <vt:lpstr>Tahoma</vt:lpstr>
      <vt:lpstr>Times New Roman</vt:lpstr>
      <vt:lpstr>Wingdings</vt:lpstr>
      <vt:lpstr>WelcomeDoc</vt:lpstr>
      <vt:lpstr>AI Agent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Supervised Learning(지도학습) </vt:lpstr>
      <vt:lpstr>Unsupervised Learning(비지도학습)</vt:lpstr>
      <vt:lpstr>PowerPoint 프레젠테이션</vt:lpstr>
      <vt:lpstr>AI는 어떻게 학습하지?</vt:lpstr>
      <vt:lpstr>AI는 어떻게 학습하지?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202</cp:revision>
  <dcterms:created xsi:type="dcterms:W3CDTF">2026-04-06T01:00:39Z</dcterms:created>
  <dcterms:modified xsi:type="dcterms:W3CDTF">2026-07-31T09:25:50Z</dcterms:modified>
  <cp:version/>
</cp:coreProperties>
</file>