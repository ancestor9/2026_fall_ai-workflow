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2"/>
  </p:notesMasterIdLst>
  <p:handoutMasterIdLst>
    <p:handoutMasterId r:id="rId63"/>
  </p:handoutMasterIdLst>
  <p:sldIdLst>
    <p:sldId id="256" r:id="rId2"/>
    <p:sldId id="1136" r:id="rId3"/>
    <p:sldId id="1137" r:id="rId4"/>
    <p:sldId id="1140" r:id="rId5"/>
    <p:sldId id="1268" r:id="rId6"/>
    <p:sldId id="264" r:id="rId7"/>
    <p:sldId id="1224" r:id="rId8"/>
    <p:sldId id="1153" r:id="rId9"/>
    <p:sldId id="1230" r:id="rId10"/>
    <p:sldId id="1273" r:id="rId11"/>
    <p:sldId id="1142" r:id="rId12"/>
    <p:sldId id="1270" r:id="rId13"/>
    <p:sldId id="1228" r:id="rId14"/>
    <p:sldId id="1229" r:id="rId15"/>
    <p:sldId id="1269" r:id="rId16"/>
    <p:sldId id="1272" r:id="rId17"/>
    <p:sldId id="1274" r:id="rId18"/>
    <p:sldId id="1141" r:id="rId19"/>
    <p:sldId id="1232" r:id="rId20"/>
    <p:sldId id="1233" r:id="rId21"/>
    <p:sldId id="1234" r:id="rId22"/>
    <p:sldId id="1235" r:id="rId23"/>
    <p:sldId id="1239" r:id="rId24"/>
    <p:sldId id="1236" r:id="rId25"/>
    <p:sldId id="1237" r:id="rId26"/>
    <p:sldId id="1238" r:id="rId27"/>
    <p:sldId id="1231" r:id="rId28"/>
    <p:sldId id="1144" r:id="rId29"/>
    <p:sldId id="1241" r:id="rId30"/>
    <p:sldId id="1242" r:id="rId31"/>
    <p:sldId id="1246" r:id="rId32"/>
    <p:sldId id="1243" r:id="rId33"/>
    <p:sldId id="1244" r:id="rId34"/>
    <p:sldId id="1245" r:id="rId35"/>
    <p:sldId id="1247" r:id="rId36"/>
    <p:sldId id="1248" r:id="rId37"/>
    <p:sldId id="1249" r:id="rId38"/>
    <p:sldId id="1250" r:id="rId39"/>
    <p:sldId id="1240" r:id="rId40"/>
    <p:sldId id="1145" r:id="rId41"/>
    <p:sldId id="1252" r:id="rId42"/>
    <p:sldId id="1253" r:id="rId43"/>
    <p:sldId id="1264" r:id="rId44"/>
    <p:sldId id="1266" r:id="rId45"/>
    <p:sldId id="1267" r:id="rId46"/>
    <p:sldId id="1265" r:id="rId47"/>
    <p:sldId id="1263" r:id="rId48"/>
    <p:sldId id="1254" r:id="rId49"/>
    <p:sldId id="1255" r:id="rId50"/>
    <p:sldId id="1261" r:id="rId51"/>
    <p:sldId id="1257" r:id="rId52"/>
    <p:sldId id="1259" r:id="rId53"/>
    <p:sldId id="1258" r:id="rId54"/>
    <p:sldId id="1260" r:id="rId55"/>
    <p:sldId id="1262" r:id="rId56"/>
    <p:sldId id="1256" r:id="rId57"/>
    <p:sldId id="1251" r:id="rId58"/>
    <p:sldId id="1138" r:id="rId59"/>
    <p:sldId id="1143" r:id="rId60"/>
    <p:sldId id="1139" r:id="rId61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7"/>
            <p14:sldId id="1140"/>
            <p14:sldId id="1268"/>
            <p14:sldId id="264"/>
            <p14:sldId id="1224"/>
            <p14:sldId id="1153"/>
            <p14:sldId id="1230"/>
            <p14:sldId id="1273"/>
            <p14:sldId id="1142"/>
            <p14:sldId id="1270"/>
            <p14:sldId id="1228"/>
            <p14:sldId id="1229"/>
            <p14:sldId id="1269"/>
            <p14:sldId id="1272"/>
            <p14:sldId id="1274"/>
            <p14:sldId id="1141"/>
            <p14:sldId id="1232"/>
            <p14:sldId id="1233"/>
            <p14:sldId id="1234"/>
            <p14:sldId id="1235"/>
            <p14:sldId id="1239"/>
            <p14:sldId id="1236"/>
            <p14:sldId id="1237"/>
            <p14:sldId id="1238"/>
            <p14:sldId id="1231"/>
            <p14:sldId id="1144"/>
            <p14:sldId id="1241"/>
            <p14:sldId id="1242"/>
            <p14:sldId id="1246"/>
            <p14:sldId id="1243"/>
            <p14:sldId id="1244"/>
            <p14:sldId id="1245"/>
            <p14:sldId id="1247"/>
            <p14:sldId id="1248"/>
            <p14:sldId id="1249"/>
            <p14:sldId id="1250"/>
            <p14:sldId id="1240"/>
            <p14:sldId id="1145"/>
            <p14:sldId id="1252"/>
            <p14:sldId id="1253"/>
            <p14:sldId id="1264"/>
            <p14:sldId id="1266"/>
            <p14:sldId id="1267"/>
            <p14:sldId id="1265"/>
            <p14:sldId id="1263"/>
            <p14:sldId id="1254"/>
            <p14:sldId id="1255"/>
            <p14:sldId id="1261"/>
            <p14:sldId id="1257"/>
            <p14:sldId id="1259"/>
            <p14:sldId id="1258"/>
            <p14:sldId id="1260"/>
            <p14:sldId id="1262"/>
            <p14:sldId id="1256"/>
            <p14:sldId id="1251"/>
            <p14:sldId id="1138"/>
            <p14:sldId id="1143"/>
            <p14:sldId id="113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462F"/>
    <a:srgbClr val="76E3F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870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-384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handoutMaster" Target="handoutMasters/handoutMaster1.xml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commentAuthors" Target="commentAuthor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2026-09-08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2026-09-08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6D464-31C2-C029-A5BF-92F232522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9FA5761-B988-BCCC-7BC5-C84AABE060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49240A-4FFF-8D87-9DC9-6B66810715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B0160F-F34B-A542-2107-6F57352A40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113614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3068F-4B08-142C-1EB5-1D8DA9F68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79132AC-EB19-D648-6B32-3D5EB194B2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BE2CB05-3A96-52D9-758B-A2281566DC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84B633-4D5D-2A75-A02C-A7217356BE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15952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03469-8505-A8C7-DE1E-E799C4D39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503321-1896-368F-A2B7-23146F270B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EB2A939-EFB1-F250-F544-963340760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A80065-A4D5-E320-0B63-8E58B43411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979075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36E23-77FB-B28A-C76F-C9F9BB881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E19DE97-F164-58D9-0153-46A4A29EC0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2C0ABA-CA65-8C81-AC13-6133E555F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26CAFC-0696-B712-7E1F-DFC13860FA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369074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D851F-9E6E-F736-3EAD-9032C3A12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7216126-02A5-AD0D-6566-3580AAD7CB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087E8DB-6314-F6E3-01E0-BEED3A024F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46588A-EDE2-2AEE-439D-550155F389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373766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DE744-D0AA-F1FD-5C23-F8D6B7926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9D5C429-95E6-9B82-3F10-A0FD2EC1B7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CB7D59-E6AC-3201-8F0B-C3130C2D30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99B407-B524-4067-58BA-A146DB3183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58916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2026-09-08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2026-09-08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desktop/setup/install/windows-install/" TargetMode="External"/><Relationship Id="rId2" Type="http://schemas.openxmlformats.org/officeDocument/2006/relationships/hyperlink" Target="https://learn.microsoft.com/ko-kr/windows/wsl/install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DhuaKAW819s&amp;list=PLhqjU9f_F2T8yuYZxVYzaUq3xKJa6JPvb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www.youtube.com/watch?v=XGmjJUrda2g&amp;t=121s" TargetMode="Externa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7" Type="http://schemas.openxmlformats.org/officeDocument/2006/relationships/image" Target="../media/image16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svg"/><Relationship Id="rId5" Type="http://schemas.openxmlformats.org/officeDocument/2006/relationships/hyperlink" Target="https://ngrok.com/download/windows" TargetMode="External"/><Relationship Id="rId4" Type="http://schemas.openxmlformats.org/officeDocument/2006/relationships/image" Target="../media/image14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ikidocs.net/290921#1-google-sheets-api" TargetMode="Externa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AP9CLEicF1s&amp;list=PLkt-u2nHD3yPD2ZkJuxozyUEnBpLoCrOe&amp;index=4&amp;t=474s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sv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sv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N6Ual_n9SaQ" TargetMode="External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9aS--Zs5ILA&amp;t=813s" TargetMode="External"/><Relationship Id="rId2" Type="http://schemas.openxmlformats.org/officeDocument/2006/relationships/hyperlink" Target="https://www.youtube.com/watch?v=3eDguAZOFsA&amp;t=40s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kKkQCnqWbaU" TargetMode="Externa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Workflow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01801-38E9-1C82-2118-6D8010673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EBE383-5F3B-1B62-8A0E-1EA54A3F7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D27D49A-48A1-ABDE-6217-723B707453A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Local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Server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7ED8AC-21BD-6160-8144-D8DAB7FB4395}"/>
              </a:ext>
            </a:extLst>
          </p:cNvPr>
          <p:cNvSpPr txBox="1"/>
          <p:nvPr/>
        </p:nvSpPr>
        <p:spPr>
          <a:xfrm>
            <a:off x="586857" y="1396220"/>
            <a:ext cx="10680699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local</a:t>
            </a: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설치 방법</a:t>
            </a: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WSL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설치하고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Ubutu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올리시고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docker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desltop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으로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묻고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자동화 </a:t>
            </a:r>
            <a:r>
              <a:rPr lang="ko-KR" altLang="en-US" sz="20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끝판왕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n8n,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이렇게 설치하면 평생 무료입니다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! (</a:t>
            </a:r>
            <a:r>
              <a:rPr lang="ko-KR" altLang="en-US" sz="20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웹훅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설정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,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버전 업데이트 포함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)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보시고 따라해서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로컬에 설치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F8D7AB-7DEB-ABBD-4F69-6ADA02DD30E5}"/>
              </a:ext>
            </a:extLst>
          </p:cNvPr>
          <p:cNvSpPr txBox="1"/>
          <p:nvPr/>
        </p:nvSpPr>
        <p:spPr>
          <a:xfrm>
            <a:off x="663575" y="5158636"/>
            <a:ext cx="1016583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Tip 1 : 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관련 동영상보고 실습을 위해 동영상 화면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(workflow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가 있는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ko-KR" altLang="en-US" sz="18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캡쳐해서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b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Geminin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코드 만들어 달라고 하고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별첨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1)</a:t>
            </a:r>
          </a:p>
          <a:p>
            <a:pPr lvl="1"/>
            <a:endParaRPr lang="en-US" altLang="ko-KR" sz="1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/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Tip 2 :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code + 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MCP(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연결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prompt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Workflow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만들기</a:t>
            </a:r>
            <a:endParaRPr lang="en-US" altLang="ko-KR" sz="1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575062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733D7-230B-7262-0D6B-DD52F849C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8AF520-0DFF-212F-678C-B48B24C30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7AFAEEC-02D8-B680-3598-E4264BEDB88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15D0765-4BF9-5FA8-6FC7-85816E5980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2577" y="1995056"/>
            <a:ext cx="3303423" cy="111544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12CAB3F7-6815-A044-5B6B-EB01B8E219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37" y="1356057"/>
            <a:ext cx="11126005" cy="3508881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506158E0-12AF-DD18-8954-AC40972EB109}"/>
              </a:ext>
            </a:extLst>
          </p:cNvPr>
          <p:cNvSpPr/>
          <p:nvPr/>
        </p:nvSpPr>
        <p:spPr>
          <a:xfrm>
            <a:off x="10631055" y="4239491"/>
            <a:ext cx="461818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AFB6DB94-0760-D513-4A33-42DF94AFFD4D}"/>
              </a:ext>
            </a:extLst>
          </p:cNvPr>
          <p:cNvGrpSpPr/>
          <p:nvPr/>
        </p:nvGrpSpPr>
        <p:grpSpPr>
          <a:xfrm>
            <a:off x="5360882" y="2300173"/>
            <a:ext cx="4770604" cy="4272801"/>
            <a:chOff x="5360882" y="2300173"/>
            <a:chExt cx="4770604" cy="4272801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A4BB6BA5-07D8-A1BE-CADC-FBF415A59D3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60882" y="2300173"/>
              <a:ext cx="4770604" cy="4272801"/>
            </a:xfrm>
            <a:prstGeom prst="rect">
              <a:avLst/>
            </a:prstGeom>
          </p:spPr>
        </p:pic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29A0E03A-38C0-E035-9327-2BEEDB104F24}"/>
                </a:ext>
              </a:extLst>
            </p:cNvPr>
            <p:cNvSpPr/>
            <p:nvPr/>
          </p:nvSpPr>
          <p:spPr>
            <a:xfrm>
              <a:off x="7208708" y="5769037"/>
              <a:ext cx="1316456" cy="31465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10686F73-84AC-7021-77D3-D2851F9611AB}"/>
              </a:ext>
            </a:extLst>
          </p:cNvPr>
          <p:cNvGrpSpPr/>
          <p:nvPr/>
        </p:nvGrpSpPr>
        <p:grpSpPr>
          <a:xfrm>
            <a:off x="973464" y="1577507"/>
            <a:ext cx="4387418" cy="4506185"/>
            <a:chOff x="973464" y="1577507"/>
            <a:chExt cx="4387418" cy="4506185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ACC9D9C9-27C0-32C6-EF73-DE2E0B11A6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73464" y="1577507"/>
              <a:ext cx="4387418" cy="4506185"/>
            </a:xfrm>
            <a:prstGeom prst="rect">
              <a:avLst/>
            </a:prstGeom>
          </p:spPr>
        </p:pic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D66D4954-B045-1C8E-7AD1-D7E5243B2F14}"/>
                </a:ext>
              </a:extLst>
            </p:cNvPr>
            <p:cNvSpPr/>
            <p:nvPr/>
          </p:nvSpPr>
          <p:spPr>
            <a:xfrm>
              <a:off x="4516538" y="5501943"/>
              <a:ext cx="720479" cy="44627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6D1EE80A-0B6C-8A6C-7D61-118F8B98E611}"/>
              </a:ext>
            </a:extLst>
          </p:cNvPr>
          <p:cNvSpPr/>
          <p:nvPr/>
        </p:nvSpPr>
        <p:spPr>
          <a:xfrm>
            <a:off x="4516538" y="4040998"/>
            <a:ext cx="1941528" cy="395575"/>
          </a:xfrm>
          <a:prstGeom prst="borderCallout2">
            <a:avLst>
              <a:gd name="adj1" fmla="val 18750"/>
              <a:gd name="adj2" fmla="val -8333"/>
              <a:gd name="adj3" fmla="val 66157"/>
              <a:gd name="adj4" fmla="val -19488"/>
              <a:gd name="adj5" fmla="val 103993"/>
              <a:gd name="adj6" fmla="val -46652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/home/node/.n8n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92773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2EC8E-4177-A1D9-E2AF-F6DA4AC46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90DFAA-EC9A-1664-AB57-49B6A1BC6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D0B06B7-3F81-EA18-C52D-CDE5E7D367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35C0836-1116-6842-48D6-CD300DDC3B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76" y="1556845"/>
            <a:ext cx="8885400" cy="447941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6602D40-24F3-6A89-7AFA-F39E1A7449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2577" y="1995056"/>
            <a:ext cx="3303423" cy="1115442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5635599C-413A-F418-120B-8122C46D5133}"/>
              </a:ext>
            </a:extLst>
          </p:cNvPr>
          <p:cNvSpPr/>
          <p:nvPr/>
        </p:nvSpPr>
        <p:spPr>
          <a:xfrm>
            <a:off x="8315325" y="2076450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57880"/>
              <a:gd name="adj4" fmla="val -64845"/>
              <a:gd name="adj5" fmla="val 162065"/>
              <a:gd name="adj6" fmla="val -119946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설명선: 굽은 선 9">
            <a:extLst>
              <a:ext uri="{FF2B5EF4-FFF2-40B4-BE49-F238E27FC236}">
                <a16:creationId xmlns:a16="http://schemas.microsoft.com/office/drawing/2014/main" id="{9FF0A8C9-C6E5-5B2F-0190-8A469C6388FF}"/>
              </a:ext>
            </a:extLst>
          </p:cNvPr>
          <p:cNvSpPr/>
          <p:nvPr/>
        </p:nvSpPr>
        <p:spPr>
          <a:xfrm>
            <a:off x="6485731" y="3873792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-41250"/>
              <a:gd name="adj4" fmla="val -68488"/>
              <a:gd name="adj5" fmla="val -302283"/>
              <a:gd name="adj6" fmla="val -9970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20EA4B64-03B5-2B03-E380-B2B5372E6548}"/>
              </a:ext>
            </a:extLst>
          </p:cNvPr>
          <p:cNvSpPr/>
          <p:nvPr/>
        </p:nvSpPr>
        <p:spPr>
          <a:xfrm>
            <a:off x="5003960" y="4238917"/>
            <a:ext cx="1297132" cy="395575"/>
          </a:xfrm>
          <a:prstGeom prst="borderCallout2">
            <a:avLst>
              <a:gd name="adj1" fmla="val 18750"/>
              <a:gd name="adj2" fmla="val -8333"/>
              <a:gd name="adj3" fmla="val -41250"/>
              <a:gd name="adj4" fmla="val -68488"/>
              <a:gd name="adj5" fmla="val -302283"/>
              <a:gd name="adj6" fmla="val -9970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Port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20818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"/>
          <p:cNvSpPr txBox="1">
            <a:spLocks noGrp="1"/>
          </p:cNvSpPr>
          <p:nvPr>
            <p:ph type="title"/>
          </p:nvPr>
        </p:nvSpPr>
        <p:spPr>
          <a:xfrm>
            <a:off x="913795" y="417887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</a:t>
            </a:r>
            <a:endParaRPr dirty="0"/>
          </a:p>
        </p:txBody>
      </p:sp>
      <p:sp>
        <p:nvSpPr>
          <p:cNvPr id="239" name="Google Shape;239;p9"/>
          <p:cNvSpPr txBox="1"/>
          <p:nvPr/>
        </p:nvSpPr>
        <p:spPr>
          <a:xfrm>
            <a:off x="1022458" y="5440756"/>
            <a:ext cx="1944262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1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69A351E-01EE-167F-794F-B8CF36A3DF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72040D3A-1E3E-C294-2608-5088CFBFAFD4}"/>
              </a:ext>
            </a:extLst>
          </p:cNvPr>
          <p:cNvSpPr/>
          <p:nvPr/>
        </p:nvSpPr>
        <p:spPr>
          <a:xfrm>
            <a:off x="5825836" y="2144319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74CBF8C-B088-6B0E-CA10-9FE00F48FAF7}"/>
              </a:ext>
            </a:extLst>
          </p:cNvPr>
          <p:cNvSpPr/>
          <p:nvPr/>
        </p:nvSpPr>
        <p:spPr>
          <a:xfrm>
            <a:off x="1145309" y="5555615"/>
            <a:ext cx="9485746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Window OS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5D1FE3B-B7BD-8429-5043-CBFE095C8105}"/>
              </a:ext>
            </a:extLst>
          </p:cNvPr>
          <p:cNvSpPr/>
          <p:nvPr/>
        </p:nvSpPr>
        <p:spPr>
          <a:xfrm>
            <a:off x="5059217" y="4984702"/>
            <a:ext cx="5571832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WSL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7FF03A7-0BEB-867D-60A5-08422A62D7A2}"/>
              </a:ext>
            </a:extLst>
          </p:cNvPr>
          <p:cNvSpPr/>
          <p:nvPr/>
        </p:nvSpPr>
        <p:spPr>
          <a:xfrm>
            <a:off x="5059217" y="4438770"/>
            <a:ext cx="557183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3220DB1-BD21-94E1-899B-ADC010A1A59A}"/>
              </a:ext>
            </a:extLst>
          </p:cNvPr>
          <p:cNvSpPr/>
          <p:nvPr/>
        </p:nvSpPr>
        <p:spPr>
          <a:xfrm>
            <a:off x="5380177" y="3488858"/>
            <a:ext cx="194887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library, binary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0AB39F8-AEB7-CFB2-07CD-C58CCA7AF997}"/>
              </a:ext>
            </a:extLst>
          </p:cNvPr>
          <p:cNvSpPr/>
          <p:nvPr/>
        </p:nvSpPr>
        <p:spPr>
          <a:xfrm>
            <a:off x="8137232" y="3488858"/>
            <a:ext cx="194887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library, binary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CCCE9BFF-F6DC-D522-F4D5-07D1F33D0BF9}"/>
              </a:ext>
            </a:extLst>
          </p:cNvPr>
          <p:cNvSpPr/>
          <p:nvPr/>
        </p:nvSpPr>
        <p:spPr>
          <a:xfrm>
            <a:off x="1886527" y="2144319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8EC21DC9-0B03-BCA3-A687-439B34BF4D4F}"/>
              </a:ext>
            </a:extLst>
          </p:cNvPr>
          <p:cNvSpPr/>
          <p:nvPr/>
        </p:nvSpPr>
        <p:spPr>
          <a:xfrm>
            <a:off x="8582891" y="2133482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SQL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15B82806-5306-74BA-C17C-822DDB34E02D}"/>
              </a:ext>
            </a:extLst>
          </p:cNvPr>
          <p:cNvSpPr/>
          <p:nvPr/>
        </p:nvSpPr>
        <p:spPr>
          <a:xfrm>
            <a:off x="7897092" y="1968569"/>
            <a:ext cx="2401454" cy="216130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FE78E2EE-FA2C-65B3-929E-C107827C86AF}"/>
              </a:ext>
            </a:extLst>
          </p:cNvPr>
          <p:cNvSpPr/>
          <p:nvPr/>
        </p:nvSpPr>
        <p:spPr>
          <a:xfrm>
            <a:off x="5133109" y="1987516"/>
            <a:ext cx="2401454" cy="216130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DCF7C5-D6CC-3C8E-BEDF-56846A067778}"/>
              </a:ext>
            </a:extLst>
          </p:cNvPr>
          <p:cNvSpPr/>
          <p:nvPr/>
        </p:nvSpPr>
        <p:spPr>
          <a:xfrm>
            <a:off x="885481" y="1659626"/>
            <a:ext cx="10059005" cy="4667288"/>
          </a:xfrm>
          <a:prstGeom prst="roundRect">
            <a:avLst>
              <a:gd name="adj" fmla="val 7564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4BF2F403-210F-7F84-6F8F-969A0F82E715}"/>
              </a:ext>
            </a:extLst>
          </p:cNvPr>
          <p:cNvSpPr/>
          <p:nvPr/>
        </p:nvSpPr>
        <p:spPr>
          <a:xfrm>
            <a:off x="3568843" y="1477063"/>
            <a:ext cx="1250230" cy="365125"/>
          </a:xfrm>
          <a:prstGeom prst="borderCallout2">
            <a:avLst>
              <a:gd name="adj1" fmla="val 18750"/>
              <a:gd name="adj2" fmla="val -8333"/>
              <a:gd name="adj3" fmla="val 55350"/>
              <a:gd name="adj4" fmla="val -41943"/>
              <a:gd name="adj5" fmla="val 151946"/>
              <a:gd name="adj6" fmla="val -74013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Host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설명선: 굽은 선 27">
            <a:extLst>
              <a:ext uri="{FF2B5EF4-FFF2-40B4-BE49-F238E27FC236}">
                <a16:creationId xmlns:a16="http://schemas.microsoft.com/office/drawing/2014/main" id="{51B8BFD0-E78C-A34C-CA4C-ED9BE0DE47E4}"/>
              </a:ext>
            </a:extLst>
          </p:cNvPr>
          <p:cNvSpPr/>
          <p:nvPr/>
        </p:nvSpPr>
        <p:spPr>
          <a:xfrm>
            <a:off x="7534563" y="1528365"/>
            <a:ext cx="1250230" cy="365125"/>
          </a:xfrm>
          <a:prstGeom prst="borderCallout2">
            <a:avLst>
              <a:gd name="adj1" fmla="val 18750"/>
              <a:gd name="adj2" fmla="val -8333"/>
              <a:gd name="adj3" fmla="val 55350"/>
              <a:gd name="adj4" fmla="val -41943"/>
              <a:gd name="adj5" fmla="val 151946"/>
              <a:gd name="adj6" fmla="val -74013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A7906-8422-75FB-B686-8A4918F17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D60E6B-F2EC-3E3D-8197-E2F168C36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7114697-0109-DBB2-4517-DF6A82EC7BF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Core concept of Automation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11F340-3B1E-6BAA-8FFB-064B9D23B4CE}"/>
              </a:ext>
            </a:extLst>
          </p:cNvPr>
          <p:cNvSpPr txBox="1"/>
          <p:nvPr/>
        </p:nvSpPr>
        <p:spPr>
          <a:xfrm>
            <a:off x="751955" y="1718786"/>
            <a:ext cx="10515601" cy="3713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Trigger : what starts an automation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Filter : to allow or block certain types of data from following a path based on certain conditions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Actions (App) : allow you to interact with internal or external applications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789080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F90BD-0B46-D0D6-7007-8D2D1A9A3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EC3FF6-2F84-C946-93A5-E51AE4A97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CB5E933-0C3E-C5BC-19F6-59B973129D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What is a workflow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DEBD1361-E6D8-F37F-7847-3596F9C8C1CB}"/>
              </a:ext>
            </a:extLst>
          </p:cNvPr>
          <p:cNvSpPr/>
          <p:nvPr/>
        </p:nvSpPr>
        <p:spPr>
          <a:xfrm>
            <a:off x="1181100" y="3045780"/>
            <a:ext cx="1943100" cy="766439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F476719A-2740-60E0-0EE8-A30122FF98CE}"/>
              </a:ext>
            </a:extLst>
          </p:cNvPr>
          <p:cNvSpPr/>
          <p:nvPr/>
        </p:nvSpPr>
        <p:spPr>
          <a:xfrm>
            <a:off x="4418408" y="2496659"/>
            <a:ext cx="2858295" cy="186468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81950A9-9B8E-CA1C-5F23-6339A6DBBE98}"/>
              </a:ext>
            </a:extLst>
          </p:cNvPr>
          <p:cNvSpPr/>
          <p:nvPr/>
        </p:nvSpPr>
        <p:spPr>
          <a:xfrm>
            <a:off x="8570911" y="3045780"/>
            <a:ext cx="1943100" cy="7664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1085A7EF-645D-1462-E30A-334FF6445118}"/>
              </a:ext>
            </a:extLst>
          </p:cNvPr>
          <p:cNvCxnSpPr>
            <a:cxnSpLocks/>
          </p:cNvCxnSpPr>
          <p:nvPr/>
        </p:nvCxnSpPr>
        <p:spPr>
          <a:xfrm>
            <a:off x="3124200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6F26E8E8-3AE7-E2B2-8810-782ECCD6FFC8}"/>
              </a:ext>
            </a:extLst>
          </p:cNvPr>
          <p:cNvCxnSpPr>
            <a:cxnSpLocks/>
          </p:cNvCxnSpPr>
          <p:nvPr/>
        </p:nvCxnSpPr>
        <p:spPr>
          <a:xfrm>
            <a:off x="7276703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EE6FB3E-90CB-9372-4351-1825A3EF9036}"/>
              </a:ext>
            </a:extLst>
          </p:cNvPr>
          <p:cNvSpPr txBox="1"/>
          <p:nvPr/>
        </p:nvSpPr>
        <p:spPr>
          <a:xfrm>
            <a:off x="1560113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Trigger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r>
              <a:rPr lang="en-US" altLang="ko-KR" dirty="0"/>
              <a:t>Every day at 8am</a:t>
            </a:r>
          </a:p>
          <a:p>
            <a:pPr>
              <a:buNone/>
            </a:pPr>
            <a:r>
              <a:rPr lang="en-US" altLang="ko-KR" dirty="0"/>
              <a:t>When “this” happens</a:t>
            </a:r>
          </a:p>
          <a:p>
            <a:pPr>
              <a:buNone/>
            </a:pPr>
            <a:r>
              <a:rPr lang="en-US" altLang="ko-KR" dirty="0"/>
              <a:t>When launched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ACD8E9-87A8-78CA-D496-56A7CC739BD2}"/>
              </a:ext>
            </a:extLst>
          </p:cNvPr>
          <p:cNvSpPr txBox="1"/>
          <p:nvPr/>
        </p:nvSpPr>
        <p:spPr>
          <a:xfrm>
            <a:off x="5065512" y="2669739"/>
            <a:ext cx="2858295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Sorting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Filtering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Formatting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Transforming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Segmenting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i="1" dirty="0"/>
              <a:t>(based on different criteria)</a:t>
            </a:r>
            <a:endParaRPr lang="en-US" altLang="ko-KR" dirty="0"/>
          </a:p>
          <a:p>
            <a:pPr>
              <a:buNone/>
            </a:pPr>
            <a:r>
              <a:rPr lang="en-US" altLang="ko-KR" dirty="0"/>
              <a:t>If this then</a:t>
            </a:r>
          </a:p>
          <a:p>
            <a:pPr>
              <a:buNone/>
            </a:pPr>
            <a:r>
              <a:rPr lang="en-US" altLang="ko-KR" dirty="0"/>
              <a:t>Only if this</a:t>
            </a:r>
          </a:p>
          <a:p>
            <a:pPr>
              <a:buNone/>
            </a:pPr>
            <a:r>
              <a:rPr lang="en-US" altLang="ko-KR" dirty="0"/>
              <a:t>Change x to 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2B4A2D4-5284-212A-27F5-69F48B7D85F6}"/>
              </a:ext>
            </a:extLst>
          </p:cNvPr>
          <p:cNvSpPr txBox="1"/>
          <p:nvPr/>
        </p:nvSpPr>
        <p:spPr>
          <a:xfrm>
            <a:off x="8953500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Actions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dirty="0"/>
              <a:t>Update a Google Sheet</a:t>
            </a:r>
          </a:p>
          <a:p>
            <a:pPr>
              <a:buNone/>
            </a:pPr>
            <a:r>
              <a:rPr lang="en-US" altLang="ko-KR" dirty="0"/>
              <a:t>Send an email</a:t>
            </a:r>
          </a:p>
          <a:p>
            <a:pPr>
              <a:buNone/>
            </a:pPr>
            <a:r>
              <a:rPr lang="en-US" altLang="ko-KR" dirty="0"/>
              <a:t>Notify person</a:t>
            </a:r>
          </a:p>
        </p:txBody>
      </p:sp>
    </p:spTree>
    <p:extLst>
      <p:ext uri="{BB962C8B-B14F-4D97-AF65-F5344CB8AC3E}">
        <p14:creationId xmlns:p14="http://schemas.microsoft.com/office/powerpoint/2010/main" val="39134120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45886-F3EB-5C97-035B-53584DA5F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5E7764-79DF-14BB-4042-F31E9B152F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1D1BBEDA-D7B7-3132-2A50-ECC452568AFC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25568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B1F403-F042-D7A9-98BC-CCCB539EB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DD18C4-74C7-FFC7-87DE-6EF7AB211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2CB2ED3-D0D4-CECC-300F-14620A59075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81CD05-E6DB-1D19-ED6F-31C720460E01}"/>
              </a:ext>
            </a:extLst>
          </p:cNvPr>
          <p:cNvSpPr txBox="1"/>
          <p:nvPr/>
        </p:nvSpPr>
        <p:spPr>
          <a:xfrm>
            <a:off x="744020" y="2061712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Trigger Node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C097D1-474D-A21B-07AD-D9D4DD01586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BAB8751-EFE1-69CD-5084-B3CE3C0D49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7978" y="1658966"/>
            <a:ext cx="5105597" cy="4401969"/>
          </a:xfrm>
          <a:prstGeom prst="rect">
            <a:avLst/>
          </a:prstGeom>
        </p:spPr>
      </p:pic>
      <p:sp>
        <p:nvSpPr>
          <p:cNvPr id="5" name="화살표: 줄무늬가 있는 오른쪽 4">
            <a:extLst>
              <a:ext uri="{FF2B5EF4-FFF2-40B4-BE49-F238E27FC236}">
                <a16:creationId xmlns:a16="http://schemas.microsoft.com/office/drawing/2014/main" id="{9603CD35-5B23-779F-3C77-0E29559D3259}"/>
              </a:ext>
            </a:extLst>
          </p:cNvPr>
          <p:cNvSpPr/>
          <p:nvPr/>
        </p:nvSpPr>
        <p:spPr>
          <a:xfrm>
            <a:off x="10706100" y="3324225"/>
            <a:ext cx="952500" cy="96202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83771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1BD86-BE7B-EA6F-92A5-E2F7C6372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C890AB-8690-1021-0C11-E9769F652BA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4910A86-FD3F-F002-5877-E5716AC904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4794" y="1716330"/>
            <a:ext cx="7127133" cy="4300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10324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6830E-8AF9-0E8E-5032-C1EEB11FE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3CFA09-22E4-62FE-1A06-6B831EBB1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9616D07-8A1C-8C7A-09CB-3F723A35CB9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Typeform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trigger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4D0EA3A-7BF6-65EB-CFFD-51531B29E8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43" y="1441051"/>
            <a:ext cx="6017512" cy="33698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506E091-9BCD-467F-A777-C9C6784CF1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6174" y="1441051"/>
            <a:ext cx="4725339" cy="2981709"/>
          </a:xfrm>
          <a:prstGeom prst="rect">
            <a:avLst/>
          </a:prstGeom>
          <a:solidFill>
            <a:srgbClr val="DD462F"/>
          </a:solidFill>
          <a:ln w="28575">
            <a:solidFill>
              <a:srgbClr val="FF0000"/>
            </a:solidFill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2BF5DFC-C927-34B9-5ACD-4B9922D871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588" y="2643536"/>
            <a:ext cx="6022947" cy="325850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2393049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4D1AC-C48D-A42C-9FB0-5AD27899E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A385A8-50F6-51BA-8D1C-11A66B4DF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22965B5-A81A-2008-5062-EB1615BEF70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API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195BCE-20D1-BBC0-F7A6-829398008ADF}"/>
              </a:ext>
            </a:extLst>
          </p:cNvPr>
          <p:cNvSpPr txBox="1"/>
          <p:nvPr/>
        </p:nvSpPr>
        <p:spPr>
          <a:xfrm>
            <a:off x="581024" y="1978410"/>
            <a:ext cx="11229975" cy="29128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en-US" altLang="ko-KR" sz="2800" dirty="0"/>
              <a:t>→ What is an API? </a:t>
            </a:r>
          </a:p>
          <a:p>
            <a:pPr>
              <a:lnSpc>
                <a:spcPct val="200000"/>
              </a:lnSpc>
              <a:buNone/>
            </a:pPr>
            <a:r>
              <a:rPr lang="en-US" altLang="ko-KR" sz="2000" dirty="0"/>
              <a:t>An API (Application Programming interface) exposes a service. Developers write programs to consume it.</a:t>
            </a:r>
          </a:p>
          <a:p>
            <a:pPr>
              <a:lnSpc>
                <a:spcPct val="200000"/>
              </a:lnSpc>
              <a:buNone/>
            </a:pPr>
            <a:r>
              <a:rPr lang="en-US" altLang="ko-KR" sz="2800" dirty="0"/>
              <a:t>→ Definition &amp; Components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256DEA-739D-5B5A-1209-54B0F5E8F1D6}"/>
              </a:ext>
            </a:extLst>
          </p:cNvPr>
          <p:cNvSpPr txBox="1"/>
          <p:nvPr/>
        </p:nvSpPr>
        <p:spPr>
          <a:xfrm>
            <a:off x="3048000" y="3148955"/>
            <a:ext cx="6096000" cy="56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en-US" altLang="ko-KR" sz="1800" dirty="0"/>
              <a:t>→ Webhooks</a:t>
            </a:r>
          </a:p>
        </p:txBody>
      </p:sp>
    </p:spTree>
    <p:extLst>
      <p:ext uri="{BB962C8B-B14F-4D97-AF65-F5344CB8AC3E}">
        <p14:creationId xmlns:p14="http://schemas.microsoft.com/office/powerpoint/2010/main" val="17232688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3E1567-E565-83D2-55B9-C0AC16CFC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58FB2B-9FB4-8243-EA7E-519801251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5C1CD59F-A5F7-D540-0D28-AB7ACE6997C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200" kern="1200" cap="all" baseline="0">
                    <a:solidFill>
                      <a:schemeClr val="tx1"/>
                    </a:solidFill>
                    <a:effectLst/>
                    <a:latin typeface="Batang" panose="02030600000101010101" pitchFamily="18" charset="-127"/>
                    <a:ea typeface="Batang" panose="02030600000101010101" pitchFamily="18" charset="-127"/>
                    <a:cs typeface="+mj-cs"/>
                  </a:defRPr>
                </a:lvl1pPr>
              </a:lstStyle>
              <a:p>
                <a:pPr algn="l"/>
                <a:r>
                  <a:rPr lang="en-US" altLang="ko-KR" sz="2800" b="1" cap="none" dirty="0">
                    <a:latin typeface="Lora" pitchFamily="2" charset="0"/>
                  </a:rPr>
                  <a:t>Webhooks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1" i="1" cap="none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b="1" i="1" cap="none" smtClean="0">
                            <a:latin typeface="Cambria Math" panose="02040503050406030204" pitchFamily="18" charset="0"/>
                          </a:rPr>
                          <m:t>API</m:t>
                        </m:r>
                      </m:e>
                      <m:sup>
                        <m:r>
                          <a:rPr lang="en-US" altLang="ko-KR" b="1" i="1" cap="none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altLang="ko-KR" sz="2800" b="1" cap="none" dirty="0">
                    <a:latin typeface="Lora" pitchFamily="2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5C1CD59F-A5F7-D540-0D28-AB7ACE699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  <a:blipFill>
                <a:blip r:embed="rId2"/>
                <a:stretch>
                  <a:fillRect l="-1178" b="-71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7A293E56-7678-9DC4-C8B7-0A1EABCC4A95}"/>
              </a:ext>
            </a:extLst>
          </p:cNvPr>
          <p:cNvSpPr txBox="1"/>
          <p:nvPr/>
        </p:nvSpPr>
        <p:spPr>
          <a:xfrm>
            <a:off x="581024" y="1978410"/>
            <a:ext cx="11229975" cy="29128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en-US" altLang="ko-KR" sz="2800" dirty="0"/>
              <a:t>→ What is an API? </a:t>
            </a:r>
          </a:p>
          <a:p>
            <a:pPr>
              <a:lnSpc>
                <a:spcPct val="200000"/>
              </a:lnSpc>
              <a:buNone/>
            </a:pPr>
            <a:r>
              <a:rPr lang="en-US" altLang="ko-KR" sz="2000" dirty="0"/>
              <a:t>An API (Application Programming interface) exposes a service. Developers write programs to consume it.</a:t>
            </a:r>
          </a:p>
          <a:p>
            <a:pPr>
              <a:lnSpc>
                <a:spcPct val="200000"/>
              </a:lnSpc>
              <a:buNone/>
            </a:pPr>
            <a:r>
              <a:rPr lang="en-US" altLang="ko-KR" sz="2800" dirty="0"/>
              <a:t>→ Definition &amp; Components</a:t>
            </a:r>
          </a:p>
        </p:txBody>
      </p:sp>
    </p:spTree>
    <p:extLst>
      <p:ext uri="{BB962C8B-B14F-4D97-AF65-F5344CB8AC3E}">
        <p14:creationId xmlns:p14="http://schemas.microsoft.com/office/powerpoint/2010/main" val="19019613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5170B-45A9-696D-55D0-006297AEA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491D0AC-E3C8-AA32-FC37-52712DF06D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6BEF6F0A-52B8-04CB-BEAE-FE43FF3FCA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3911" y="3768056"/>
            <a:ext cx="5597235" cy="2783598"/>
          </a:xfrm>
          <a:prstGeom prst="rect">
            <a:avLst/>
          </a:prstGeom>
        </p:spPr>
      </p:pic>
      <p:sp>
        <p:nvSpPr>
          <p:cNvPr id="17" name="타원 16">
            <a:extLst>
              <a:ext uri="{FF2B5EF4-FFF2-40B4-BE49-F238E27FC236}">
                <a16:creationId xmlns:a16="http://schemas.microsoft.com/office/drawing/2014/main" id="{5CBDAC20-B6FA-2DAF-4DC3-04E59F8F88F1}"/>
              </a:ext>
            </a:extLst>
          </p:cNvPr>
          <p:cNvSpPr/>
          <p:nvPr/>
        </p:nvSpPr>
        <p:spPr>
          <a:xfrm>
            <a:off x="9839331" y="1847129"/>
            <a:ext cx="1937327" cy="663535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CC8CFE2E-2929-11F9-CF75-AA5449D98B57}"/>
              </a:ext>
            </a:extLst>
          </p:cNvPr>
          <p:cNvGrpSpPr/>
          <p:nvPr/>
        </p:nvGrpSpPr>
        <p:grpSpPr>
          <a:xfrm>
            <a:off x="5459902" y="5039837"/>
            <a:ext cx="1090832" cy="717223"/>
            <a:chOff x="1728354" y="2144319"/>
            <a:chExt cx="923636" cy="607291"/>
          </a:xfrm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CF042AB9-7F0D-55DA-53B9-4E25D4A53C5C}"/>
                </a:ext>
              </a:extLst>
            </p:cNvPr>
            <p:cNvSpPr/>
            <p:nvPr/>
          </p:nvSpPr>
          <p:spPr>
            <a:xfrm>
              <a:off x="1886527" y="2144319"/>
              <a:ext cx="607291" cy="607291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391A512-8FEF-7EA6-B354-4D085BAEB54F}"/>
                </a:ext>
              </a:extLst>
            </p:cNvPr>
            <p:cNvSpPr txBox="1"/>
            <p:nvPr/>
          </p:nvSpPr>
          <p:spPr>
            <a:xfrm>
              <a:off x="1728354" y="2311252"/>
              <a:ext cx="923636" cy="26060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postman</a:t>
              </a:r>
              <a:endPara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pic>
        <p:nvPicPr>
          <p:cNvPr id="34" name="그래픽 33" descr="전송 윤곽선">
            <a:extLst>
              <a:ext uri="{FF2B5EF4-FFF2-40B4-BE49-F238E27FC236}">
                <a16:creationId xmlns:a16="http://schemas.microsoft.com/office/drawing/2014/main" id="{92E7E3FB-9781-D6A7-8FD3-1377D001C0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9883309">
            <a:off x="8247129" y="2090183"/>
            <a:ext cx="1341908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36" name="그래픽 35" descr="전송 윤곽선">
            <a:extLst>
              <a:ext uri="{FF2B5EF4-FFF2-40B4-BE49-F238E27FC236}">
                <a16:creationId xmlns:a16="http://schemas.microsoft.com/office/drawing/2014/main" id="{60C91174-6D5E-72E8-3FB3-0758546B58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450357">
            <a:off x="6399923" y="4676653"/>
            <a:ext cx="691944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EA17F4A0-883F-1A3B-9586-EE099E1744CD}"/>
              </a:ext>
            </a:extLst>
          </p:cNvPr>
          <p:cNvSpPr txBox="1"/>
          <p:nvPr/>
        </p:nvSpPr>
        <p:spPr>
          <a:xfrm>
            <a:off x="2238918" y="2729682"/>
            <a:ext cx="6441968" cy="6463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config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add-authtoken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"&lt;YOUR_AUTHTOKEN&gt;“</a:t>
            </a:r>
            <a:endParaRPr lang="en-US" altLang="ko-KR" sz="1200" b="0" i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ko-KR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5678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Forwarding   https://6457-220-90-109-11.ngrok-free.app -&gt; http://localhost:5678</a:t>
            </a:r>
          </a:p>
        </p:txBody>
      </p:sp>
      <p:pic>
        <p:nvPicPr>
          <p:cNvPr id="40" name="그래픽 39" descr="전송 윤곽선">
            <a:extLst>
              <a:ext uri="{FF2B5EF4-FFF2-40B4-BE49-F238E27FC236}">
                <a16:creationId xmlns:a16="http://schemas.microsoft.com/office/drawing/2014/main" id="{36112AE6-ED5C-DAB0-A495-6E33EFED49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3473050">
            <a:off x="7392809" y="3377902"/>
            <a:ext cx="697492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175179B8-D501-A98E-B6D1-AEE48E0D298D}"/>
              </a:ext>
            </a:extLst>
          </p:cNvPr>
          <p:cNvSpPr txBox="1"/>
          <p:nvPr/>
        </p:nvSpPr>
        <p:spPr>
          <a:xfrm>
            <a:off x="2164108" y="3329931"/>
            <a:ext cx="18004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ngrok.com/download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5" name="그래픽 44" descr="배지 단색으로 채워진">
            <a:extLst>
              <a:ext uri="{FF2B5EF4-FFF2-40B4-BE49-F238E27FC236}">
                <a16:creationId xmlns:a16="http://schemas.microsoft.com/office/drawing/2014/main" id="{3E433FD4-0F24-C042-09D0-A598637499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61281" y="1925610"/>
            <a:ext cx="471107" cy="471107"/>
          </a:xfrm>
          <a:prstGeom prst="rect">
            <a:avLst/>
          </a:prstGeom>
        </p:spPr>
      </p:pic>
      <p:pic>
        <p:nvPicPr>
          <p:cNvPr id="47" name="그래픽 46" descr="배지 1 단색으로 채워진">
            <a:extLst>
              <a:ext uri="{FF2B5EF4-FFF2-40B4-BE49-F238E27FC236}">
                <a16:creationId xmlns:a16="http://schemas.microsoft.com/office/drawing/2014/main" id="{E63E1501-96E4-F7B7-2FC0-A1E41A2BBB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227619" y="4371372"/>
            <a:ext cx="471107" cy="471107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F82324E0-310A-F85D-BEB8-0A863966CDA6}"/>
              </a:ext>
            </a:extLst>
          </p:cNvPr>
          <p:cNvSpPr txBox="1"/>
          <p:nvPr/>
        </p:nvSpPr>
        <p:spPr>
          <a:xfrm>
            <a:off x="1148187" y="4963054"/>
            <a:ext cx="3478169" cy="1015663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1번 경로 (로컬 내부 통신):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호스트(Windows/WSL) 내부에서 실행 중인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또는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동일한 로컬 환경(또는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컨테이너) 내의 n8n 서비스(포트 5678)와 직접 통신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1B4446B-FE35-FF0C-9608-D2307617596F}"/>
              </a:ext>
            </a:extLst>
          </p:cNvPr>
          <p:cNvSpPr txBox="1"/>
          <p:nvPr/>
        </p:nvSpPr>
        <p:spPr>
          <a:xfrm>
            <a:off x="634449" y="1419810"/>
            <a:ext cx="7048079" cy="120032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2번 경로 (외부 </a:t>
            </a: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터널링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통신):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실행: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명령어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http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5678을 통해 외부 접근용 공개 URL([https://6457-220-90-109-11.ngrok-free.app](https://6457-220-90-109-11.ngrok-free.app))을 생성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요청: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외부 네트워크에 있는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제공하는 HTTPS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URL로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요청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포워딩: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터널이 이 요청을 전달받아 로컬 컨테이너의 http://localhost:5678(n8n)로 전달</a:t>
            </a:r>
          </a:p>
        </p:txBody>
      </p:sp>
    </p:spTree>
    <p:extLst>
      <p:ext uri="{BB962C8B-B14F-4D97-AF65-F5344CB8AC3E}">
        <p14:creationId xmlns:p14="http://schemas.microsoft.com/office/powerpoint/2010/main" val="5586313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BF7D5-3685-2634-3AD1-7E0FEB1D0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3AD799-27A4-BE11-B2B3-C52828C33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A6494A4-FE30-5F47-7B52-7821854DBC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720EDF4-B783-FA81-CD03-2CAED1BDA5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653" y="1923303"/>
            <a:ext cx="8105912" cy="317302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91BAB7A-33B5-3D4F-8FE7-A6FFB4BA79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402" y="3103418"/>
            <a:ext cx="7315099" cy="3430028"/>
          </a:xfrm>
          <a:prstGeom prst="rect">
            <a:avLst/>
          </a:prstGeom>
          <a:solidFill>
            <a:srgbClr val="DD462F"/>
          </a:solidFill>
          <a:ln w="28575">
            <a:solidFill>
              <a:srgbClr val="FF0000"/>
            </a:solidFill>
          </a:ln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B6ADDA2-7FD9-4D03-5365-EB67D65EFA10}"/>
              </a:ext>
            </a:extLst>
          </p:cNvPr>
          <p:cNvSpPr/>
          <p:nvPr/>
        </p:nvSpPr>
        <p:spPr>
          <a:xfrm>
            <a:off x="6954983" y="3648364"/>
            <a:ext cx="3874424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3BAD9C4-C3E9-F8E4-E911-E6662635151E}"/>
              </a:ext>
            </a:extLst>
          </p:cNvPr>
          <p:cNvSpPr/>
          <p:nvPr/>
        </p:nvSpPr>
        <p:spPr>
          <a:xfrm>
            <a:off x="3459019" y="2611412"/>
            <a:ext cx="2276763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AA104A4-66E3-D126-663D-21C281C0D363}"/>
              </a:ext>
            </a:extLst>
          </p:cNvPr>
          <p:cNvSpPr/>
          <p:nvPr/>
        </p:nvSpPr>
        <p:spPr>
          <a:xfrm>
            <a:off x="6197600" y="3648366"/>
            <a:ext cx="581891" cy="286327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D98FD87-B92E-993A-2D0F-0CD981B7A9C9}"/>
              </a:ext>
            </a:extLst>
          </p:cNvPr>
          <p:cNvSpPr/>
          <p:nvPr/>
        </p:nvSpPr>
        <p:spPr>
          <a:xfrm>
            <a:off x="8173424" y="4060013"/>
            <a:ext cx="581891" cy="286327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80093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CD6E8-0DF5-26B1-BE84-8ACEE22C4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9149A6F-9583-99F7-3A42-BDB0F6728A6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API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63F7C93-4B9F-235F-6973-CB72412FB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5975" y="1868046"/>
            <a:ext cx="3172268" cy="42487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7EB6F7-E102-A295-CA24-31A810D6F073}"/>
              </a:ext>
            </a:extLst>
          </p:cNvPr>
          <p:cNvSpPr txBox="1"/>
          <p:nvPr/>
        </p:nvSpPr>
        <p:spPr>
          <a:xfrm>
            <a:off x="5200073" y="2364509"/>
            <a:ext cx="33650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n8n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노코드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자동화 한글 가이드북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46423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0DF43-542E-B713-600D-EE938B1E6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FB9282F-E781-E4C3-5753-DDF078026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0D94A06-FB59-FE80-BF1B-B4F7DC36BF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6D7252-EC8F-96CC-36F1-EFB4AA57C38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43C54AF-190A-2766-E598-7AE58B51CE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686" y="2708539"/>
            <a:ext cx="9770711" cy="299693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5AF853-4AB5-964A-95DF-9A4AE932FF33}"/>
              </a:ext>
            </a:extLst>
          </p:cNvPr>
          <p:cNvSpPr txBox="1"/>
          <p:nvPr/>
        </p:nvSpPr>
        <p:spPr>
          <a:xfrm>
            <a:off x="475645" y="1418176"/>
            <a:ext cx="3070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Action Node 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rgbClr val="0563C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화살표: 줄무늬가 있는 오른쪽 11">
            <a:extLst>
              <a:ext uri="{FF2B5EF4-FFF2-40B4-BE49-F238E27FC236}">
                <a16:creationId xmlns:a16="http://schemas.microsoft.com/office/drawing/2014/main" id="{E1249FF2-179E-1E91-6030-F4BADC574A96}"/>
              </a:ext>
            </a:extLst>
          </p:cNvPr>
          <p:cNvSpPr/>
          <p:nvPr/>
        </p:nvSpPr>
        <p:spPr>
          <a:xfrm>
            <a:off x="498142" y="3613666"/>
            <a:ext cx="952500" cy="96202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7232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8683D-DB6F-9B13-BAEB-3F0B68724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97D773-8A93-CD5B-3653-C36BA2992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51FE1F8-8A38-3806-6D00-4D146183855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Node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DBDAE2-63D5-A41E-712E-47ADF300EA34}"/>
              </a:ext>
            </a:extLst>
          </p:cNvPr>
          <p:cNvSpPr txBox="1"/>
          <p:nvPr/>
        </p:nvSpPr>
        <p:spPr>
          <a:xfrm>
            <a:off x="924443" y="1580746"/>
            <a:ext cx="10515081" cy="3901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400" dirty="0"/>
              <a:t>• </a:t>
            </a:r>
            <a:r>
              <a:rPr lang="en-US" altLang="ko-KR" sz="2400" b="1" dirty="0"/>
              <a:t>The building block (atom) of n8n</a:t>
            </a:r>
            <a:endParaRPr lang="en-US" altLang="ko-KR" sz="2400" dirty="0"/>
          </a:p>
          <a:p>
            <a:pPr>
              <a:lnSpc>
                <a:spcPct val="150000"/>
              </a:lnSpc>
              <a:buNone/>
            </a:pPr>
            <a:r>
              <a:rPr lang="en-US" altLang="ko-KR" sz="2400" dirty="0"/>
              <a:t>• </a:t>
            </a:r>
            <a:r>
              <a:rPr lang="en-US" altLang="ko-KR" sz="2400" b="1" dirty="0"/>
              <a:t>3 categories of nodes:</a:t>
            </a:r>
            <a:r>
              <a:rPr lang="en-US" altLang="ko-KR" sz="2400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sz="2400" dirty="0"/>
              <a:t>→ Entry point : </a:t>
            </a:r>
            <a:r>
              <a:rPr lang="ko-KR" altLang="en-US" sz="2000" dirty="0"/>
              <a:t>워크플로우 실행을 시작시키는 트리거 노드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en-US" altLang="ko-KR" sz="2400" dirty="0"/>
              <a:t>→ Function : </a:t>
            </a:r>
            <a:r>
              <a:rPr lang="ko-KR" altLang="en-US" sz="2000" dirty="0"/>
              <a:t>전달받은 데이터를 가공하고 제어하는 중간 처리 노드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en-US" altLang="ko-KR" sz="2400" dirty="0"/>
              <a:t>→ Exit point : </a:t>
            </a:r>
            <a:r>
              <a:rPr lang="ko-KR" altLang="en-US" sz="2000" dirty="0"/>
              <a:t>처리 완료된 데이터를 가지고 최종 결과를 만들어내는 액션 노드</a:t>
            </a:r>
            <a:endParaRPr lang="en-US" altLang="ko-KR" sz="2400" dirty="0"/>
          </a:p>
          <a:p>
            <a:pPr>
              <a:lnSpc>
                <a:spcPct val="150000"/>
              </a:lnSpc>
              <a:buNone/>
            </a:pPr>
            <a:r>
              <a:rPr lang="en-US" altLang="ko-KR" sz="2400" dirty="0"/>
              <a:t>• </a:t>
            </a:r>
            <a:r>
              <a:rPr lang="en-US" altLang="ko-KR" sz="2400" b="1" dirty="0"/>
              <a:t>Different types of nodes</a:t>
            </a:r>
            <a:endParaRPr lang="en-US" altLang="ko-KR" sz="2400" dirty="0"/>
          </a:p>
          <a:p>
            <a:pPr>
              <a:lnSpc>
                <a:spcPct val="150000"/>
              </a:lnSpc>
              <a:buNone/>
            </a:pPr>
            <a:r>
              <a:rPr lang="en-US" altLang="ko-KR" sz="2400" dirty="0"/>
              <a:t>Triggers, Actions in app, Data transformation, Flow, Files, and Advanced.</a:t>
            </a:r>
          </a:p>
        </p:txBody>
      </p:sp>
    </p:spTree>
    <p:extLst>
      <p:ext uri="{BB962C8B-B14F-4D97-AF65-F5344CB8AC3E}">
        <p14:creationId xmlns:p14="http://schemas.microsoft.com/office/powerpoint/2010/main" val="31672629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99AED-97C8-C045-2D67-A774BAD01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AD8483-31A6-B916-4F43-BF76E5177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DC5727F-AC68-2BE3-C9CC-D78EB53C6A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Add a Node to canvas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33184EA-0D43-CF4A-10BE-338B2157F5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1855" y="1390360"/>
            <a:ext cx="7556953" cy="4985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61320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CD37E-5F8C-C4BF-14FA-F9112DB9F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E3520C-CAED-3E97-804E-9D1E0C8C10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07DA05A-650F-D33E-2E90-FBDCEC9B287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Node actions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C5E1C3E-E172-DF41-A9B4-688F0ED0A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553" y="1767101"/>
            <a:ext cx="6305454" cy="426916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2F6B9F0-1E03-4F63-A688-E1EFB24C943F}"/>
              </a:ext>
            </a:extLst>
          </p:cNvPr>
          <p:cNvSpPr txBox="1"/>
          <p:nvPr/>
        </p:nvSpPr>
        <p:spPr>
          <a:xfrm>
            <a:off x="790575" y="1767101"/>
            <a:ext cx="3685754" cy="4195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Execute the node (Play)</a:t>
            </a:r>
            <a:endParaRPr lang="en-US" altLang="ko-KR" dirty="0"/>
          </a:p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Additional actions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Open node... (settings)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Execute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Rename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Deactivate node (Pause)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Pin node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Copy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Duplicate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Delete node</a:t>
            </a:r>
          </a:p>
        </p:txBody>
      </p:sp>
    </p:spTree>
    <p:extLst>
      <p:ext uri="{BB962C8B-B14F-4D97-AF65-F5344CB8AC3E}">
        <p14:creationId xmlns:p14="http://schemas.microsoft.com/office/powerpoint/2010/main" val="20042261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7DB83-72FD-D163-0AD6-6C19A7CA8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76BEC1-2B75-D23D-F13F-B9DBB6619E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Parameters &amp; Settings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5491333-EBA7-81A8-C365-C6A1F27606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0172" y="1656598"/>
            <a:ext cx="6867622" cy="461119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6A1306F-B8AB-9607-E9C8-FCBA93A4E165}"/>
              </a:ext>
            </a:extLst>
          </p:cNvPr>
          <p:cNvSpPr txBox="1"/>
          <p:nvPr/>
        </p:nvSpPr>
        <p:spPr>
          <a:xfrm>
            <a:off x="1285875" y="1656598"/>
            <a:ext cx="3171825" cy="461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Parameters: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Credentials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Resource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Operation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Action settings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Settings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Notes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Visual settings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Execution settings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FDD92D36-1C24-E290-AB1A-A87FFB0B3C7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59065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A2CA6-6D61-59E3-16F8-854C6205F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4B02F26-4A4A-13DB-C9B4-CF6A301DD11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Credential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0FFC24A4-D63F-2833-1432-DA2AFE3A00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76C17C-BD76-A2CC-C7E2-ACB31FC9BB47}"/>
              </a:ext>
            </a:extLst>
          </p:cNvPr>
          <p:cNvSpPr txBox="1"/>
          <p:nvPr/>
        </p:nvSpPr>
        <p:spPr>
          <a:xfrm>
            <a:off x="634467" y="1414760"/>
            <a:ext cx="3994683" cy="4807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Accessible from nodes needing to authenticate to services </a:t>
            </a:r>
            <a:r>
              <a:rPr lang="en-US" altLang="ko-KR" sz="1400" dirty="0"/>
              <a:t>(Google, Slack, Notion </a:t>
            </a:r>
            <a:r>
              <a:rPr lang="ko-KR" altLang="en-US" sz="1400" dirty="0"/>
              <a:t>등 외부 서비스 연동이 필요한 모든 노드에서 미리 등록해 둔 계정</a:t>
            </a:r>
            <a:r>
              <a:rPr lang="en-US" altLang="ko-KR" sz="1400" dirty="0"/>
              <a:t>/API </a:t>
            </a:r>
            <a:r>
              <a:rPr lang="ko-KR" altLang="en-US" sz="1400" dirty="0"/>
              <a:t>키를 불러와 재사용</a:t>
            </a:r>
            <a:r>
              <a:rPr lang="en-US" altLang="ko-KR" sz="1400" dirty="0"/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en-US" altLang="ko-KR" sz="1400" dirty="0"/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Saved at an instance-level </a:t>
            </a:r>
            <a:r>
              <a:rPr lang="en-US" altLang="ko-KR" sz="1400" dirty="0"/>
              <a:t>(</a:t>
            </a:r>
            <a:r>
              <a:rPr lang="ko-KR" altLang="en-US" sz="1400" dirty="0"/>
              <a:t>인증 정보가 특정 워크플로우 하나에만 얽매이지 않고</a:t>
            </a:r>
            <a:r>
              <a:rPr lang="en-US" altLang="ko-KR" sz="1400" dirty="0"/>
              <a:t>, n8n </a:t>
            </a:r>
            <a:r>
              <a:rPr lang="ko-KR" altLang="en-US" sz="1400" dirty="0"/>
              <a:t>서버</a:t>
            </a:r>
            <a:r>
              <a:rPr lang="en-US" altLang="ko-KR" sz="1400" dirty="0"/>
              <a:t>(</a:t>
            </a:r>
            <a:r>
              <a:rPr lang="ko-KR" altLang="en-US" sz="1400" dirty="0"/>
              <a:t>인스턴스</a:t>
            </a:r>
            <a:r>
              <a:rPr lang="en-US" altLang="ko-KR" sz="1400" dirty="0"/>
              <a:t>) </a:t>
            </a:r>
            <a:r>
              <a:rPr lang="ko-KR" altLang="en-US" sz="1400" dirty="0"/>
              <a:t>전체에 저장</a:t>
            </a:r>
            <a:r>
              <a:rPr lang="en-US" altLang="ko-KR" sz="1400" dirty="0"/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Different sharing options</a:t>
            </a:r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B4989C1-7F5F-2F6C-A210-0AF553E633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6437" y="1667776"/>
            <a:ext cx="6831096" cy="4237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7575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5FB32-EFFC-3661-DAF3-AC0312F77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AB8855-87FD-D5E1-F80B-E83A4B3F833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Data (Schema)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B67DCA29-CD2B-DD36-3A78-E834B8927FB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0F8BEE5-1BF8-797E-CBDD-0A4DFA2F8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824" y="1470879"/>
            <a:ext cx="9110191" cy="5080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99939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94C88-F55E-E347-89EB-211D632F4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75F3E95-1F73-D684-AC63-BB81F2C1A6B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Data (Table)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121E9F83-125B-8318-514B-628F439C899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5C9C8C5-C56E-BA46-00F6-29DF80464B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279" y="1465982"/>
            <a:ext cx="9156494" cy="5071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61528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EDEF3-3406-31D4-8808-1D9CCC4F2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3CA923E-F38A-FCA4-C73E-433FBDC973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Data (JSON)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2E664C8D-3F7B-FE2E-0113-EA701A2F413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2749E49-1645-608A-9423-80040F392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176" y="1438274"/>
            <a:ext cx="9025172" cy="5033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3294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38E00-8707-B57A-7C2A-5C829C28B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A697E9-7A97-D2B1-1707-442913F933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E5E0F2A-30DE-3D86-612A-26C87202C5B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612622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EA6DC-7AD1-A11C-7700-7106DCD13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>
            <a:extLst>
              <a:ext uri="{FF2B5EF4-FFF2-40B4-BE49-F238E27FC236}">
                <a16:creationId xmlns:a16="http://schemas.microsoft.com/office/drawing/2014/main" id="{C381B5DE-3942-3D64-FCFC-E0D10CE6C4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70" y="1570039"/>
            <a:ext cx="3613011" cy="2579879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FB3301EA-E0D6-FABD-9A4A-C14F3FA402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getting started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2F66EF-8EF4-7B39-893B-8B641041582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4261991-91D2-65FF-0407-AD4F8E154F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2039" y="1559160"/>
            <a:ext cx="6323272" cy="1630819"/>
          </a:xfrm>
          <a:prstGeom prst="rect">
            <a:avLst/>
          </a:prstGeom>
        </p:spPr>
      </p:pic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EE37A33-0CA9-2286-22CA-AC001F3F70F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E6153E80-EDF7-CC05-0CBB-728B098EEE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0754" y="3860859"/>
            <a:ext cx="9067800" cy="2668454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45222F38-D3BC-C153-8CF0-B0648FD4F5BB}"/>
              </a:ext>
            </a:extLst>
          </p:cNvPr>
          <p:cNvCxnSpPr>
            <a:cxnSpLocks/>
            <a:stCxn id="20" idx="3"/>
            <a:endCxn id="10" idx="0"/>
          </p:cNvCxnSpPr>
          <p:nvPr/>
        </p:nvCxnSpPr>
        <p:spPr>
          <a:xfrm>
            <a:off x="4261781" y="2859979"/>
            <a:ext cx="2942873" cy="1000880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075453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A6C16-BF69-BE46-5661-CF320F691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72F3017-12B1-A620-359C-E23C4AC3A2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Data Concept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3AD022-383C-D598-21DF-20D392EB96E0}"/>
              </a:ext>
            </a:extLst>
          </p:cNvPr>
          <p:cNvSpPr txBox="1"/>
          <p:nvPr/>
        </p:nvSpPr>
        <p:spPr>
          <a:xfrm>
            <a:off x="1839395" y="350150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FD0BDA0A-DB01-721D-2F26-FEB253D4415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06BB882-D50D-1A61-FEFF-F4F88A824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3671" y="1896398"/>
            <a:ext cx="3573655" cy="2551777"/>
          </a:xfrm>
          <a:prstGeom prst="rect">
            <a:avLst/>
          </a:prstGeom>
          <a:ln w="28575">
            <a:solidFill>
              <a:srgbClr val="00B0F0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4119BE7-D95B-4815-2F19-F2210AC50E88}"/>
              </a:ext>
            </a:extLst>
          </p:cNvPr>
          <p:cNvSpPr txBox="1"/>
          <p:nvPr/>
        </p:nvSpPr>
        <p:spPr>
          <a:xfrm>
            <a:off x="7986151" y="1639223"/>
            <a:ext cx="3248025" cy="489364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"Harris",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paulharris@gmail.com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Bennet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marcus@quantum.io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Quantum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Rodriguez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sophia@horizon.com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Horizon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Emily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"Johnson",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8DBCC4-05D3-CA69-5B3F-CA568EF8E3F2}"/>
              </a:ext>
            </a:extLst>
          </p:cNvPr>
          <p:cNvSpPr txBox="1"/>
          <p:nvPr/>
        </p:nvSpPr>
        <p:spPr>
          <a:xfrm>
            <a:off x="7905750" y="126989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1C6A82-BC96-D7DE-46E5-E08EBA5CAEF1}"/>
              </a:ext>
            </a:extLst>
          </p:cNvPr>
          <p:cNvSpPr txBox="1"/>
          <p:nvPr/>
        </p:nvSpPr>
        <p:spPr>
          <a:xfrm>
            <a:off x="1667383" y="154468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D6421B7-DD79-09EA-D08D-6882984D04B5}"/>
              </a:ext>
            </a:extLst>
          </p:cNvPr>
          <p:cNvSpPr/>
          <p:nvPr/>
        </p:nvSpPr>
        <p:spPr>
          <a:xfrm>
            <a:off x="2100208" y="3093093"/>
            <a:ext cx="3062341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48CCFC-B9E6-CCF2-0AF9-CC7055EC241E}"/>
              </a:ext>
            </a:extLst>
          </p:cNvPr>
          <p:cNvSpPr txBox="1"/>
          <p:nvPr/>
        </p:nvSpPr>
        <p:spPr>
          <a:xfrm>
            <a:off x="3811118" y="5096151"/>
            <a:ext cx="3831523" cy="785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dirty="0"/>
              <a:t>There is a 1:1 correspondence between lists of JSONs and Tables.</a:t>
            </a:r>
            <a:endParaRPr lang="ko-KR" altLang="en-US" sz="16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75C6018-4F93-DBD7-9E13-2E15640672AE}"/>
              </a:ext>
            </a:extLst>
          </p:cNvPr>
          <p:cNvSpPr/>
          <p:nvPr/>
        </p:nvSpPr>
        <p:spPr>
          <a:xfrm>
            <a:off x="8134350" y="1901393"/>
            <a:ext cx="2943225" cy="10608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4559F9F-A180-D718-5907-C5AF93D78B36}"/>
              </a:ext>
            </a:extLst>
          </p:cNvPr>
          <p:cNvSpPr txBox="1"/>
          <p:nvPr/>
        </p:nvSpPr>
        <p:spPr>
          <a:xfrm>
            <a:off x="5979662" y="2432278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Item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2C09106-1845-9EBB-D3F6-13E0BA7FA30B}"/>
              </a:ext>
            </a:extLst>
          </p:cNvPr>
          <p:cNvSpPr txBox="1"/>
          <p:nvPr/>
        </p:nvSpPr>
        <p:spPr>
          <a:xfrm>
            <a:off x="5979662" y="3687059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00B0F0"/>
                </a:solidFill>
              </a:rPr>
              <a:t>Items</a:t>
            </a:r>
            <a:endParaRPr lang="ko-KR" altLang="en-US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19509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ABB3E-2CFB-CDB3-728A-68477FCDB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A729EFCE-766F-2B59-9ADC-4466672343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596" y="3088474"/>
            <a:ext cx="7482811" cy="2049062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E8F1FDA3-CC76-97F4-23C7-118FBA02D6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20318B4A-5B55-D2CD-4EFC-D40B55CDEEC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76AA8E-54E9-9273-512C-992BE281A66D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B784D4-0FC6-524A-ADB0-397F9FD418F9}"/>
              </a:ext>
            </a:extLst>
          </p:cNvPr>
          <p:cNvSpPr txBox="1"/>
          <p:nvPr/>
        </p:nvSpPr>
        <p:spPr>
          <a:xfrm>
            <a:off x="4095750" y="2044005"/>
            <a:ext cx="46672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{}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E86588-8547-46BC-9111-1B99605FA3F5}"/>
              </a:ext>
            </a:extLst>
          </p:cNvPr>
          <p:cNvSpPr txBox="1"/>
          <p:nvPr/>
        </p:nvSpPr>
        <p:spPr>
          <a:xfrm>
            <a:off x="6419850" y="2044005"/>
            <a:ext cx="107632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JSON1,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JSON2,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JSON3,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JSON4,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7DC499-E2F9-B394-B9B5-3F6C2C9AD6C8}"/>
              </a:ext>
            </a:extLst>
          </p:cNvPr>
          <p:cNvSpPr txBox="1"/>
          <p:nvPr/>
        </p:nvSpPr>
        <p:spPr>
          <a:xfrm>
            <a:off x="8662728" y="2044005"/>
            <a:ext cx="100012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JSON5,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JSON6,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5DD3EC4-6A8E-1980-3D56-2DE19BFE628A}"/>
              </a:ext>
            </a:extLst>
          </p:cNvPr>
          <p:cNvSpPr txBox="1"/>
          <p:nvPr/>
        </p:nvSpPr>
        <p:spPr>
          <a:xfrm>
            <a:off x="3560347" y="5125779"/>
            <a:ext cx="209217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launches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B3DFDC7-DA40-D2F9-C277-95C9EA766228}"/>
              </a:ext>
            </a:extLst>
          </p:cNvPr>
          <p:cNvSpPr txBox="1"/>
          <p:nvPr/>
        </p:nvSpPr>
        <p:spPr>
          <a:xfrm>
            <a:off x="6270771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Sheets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01FB942-A51F-17CB-158C-1E3D71596E04}"/>
              </a:ext>
            </a:extLst>
          </p:cNvPr>
          <p:cNvSpPr txBox="1"/>
          <p:nvPr/>
        </p:nvSpPr>
        <p:spPr>
          <a:xfrm>
            <a:off x="8616763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reads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6096327-2054-DDBB-93E9-3D8861ACC98F}"/>
              </a:ext>
            </a:extLst>
          </p:cNvPr>
          <p:cNvSpPr txBox="1"/>
          <p:nvPr/>
        </p:nvSpPr>
        <p:spPr>
          <a:xfrm>
            <a:off x="907073" y="5223266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What happens?</a:t>
            </a:r>
            <a:endParaRPr lang="ko-KR" altLang="en-US" b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0FDA32-DE58-9F05-DBD4-10D9F2BA9819}"/>
              </a:ext>
            </a:extLst>
          </p:cNvPr>
          <p:cNvSpPr txBox="1"/>
          <p:nvPr/>
        </p:nvSpPr>
        <p:spPr>
          <a:xfrm>
            <a:off x="907073" y="2367170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Output</a:t>
            </a:r>
            <a:endParaRPr lang="ko-KR" altLang="en-US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CD7A47C-F0E0-EF28-8414-E5839FE9EE80}"/>
              </a:ext>
            </a:extLst>
          </p:cNvPr>
          <p:cNvSpPr txBox="1"/>
          <p:nvPr/>
        </p:nvSpPr>
        <p:spPr>
          <a:xfrm>
            <a:off x="907073" y="3795218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Node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7029228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30528-E8CA-5FAC-A679-282185102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B7C9772-1978-BD9C-2C47-51DA37808C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28BFD51-9A74-5DE0-3DAC-D7A8EDA4C5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95AA84-C82F-FC19-662E-8CF2796780F1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755CA4BD-01EA-3255-2CD4-CF6160D1D3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45" y="1720465"/>
            <a:ext cx="2694213" cy="207468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A198E8-D071-2032-9BF0-8C34AB7C7F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6555" y="1823176"/>
            <a:ext cx="8637751" cy="44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6859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ACC63-C3F1-7ED3-B6F1-26C82373B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C295FCA-8123-8833-2C86-572ED5D463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Expressions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E0050E6E-B32E-FCA2-B5D3-4DC889CF82D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5642319-D247-EAD0-7126-1C20EFC28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119" y="2951132"/>
            <a:ext cx="10353762" cy="34728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C338AC4-8F60-C377-F2F5-17D00AD6AB39}"/>
              </a:ext>
            </a:extLst>
          </p:cNvPr>
          <p:cNvSpPr txBox="1"/>
          <p:nvPr/>
        </p:nvSpPr>
        <p:spPr>
          <a:xfrm>
            <a:off x="801530" y="1248422"/>
            <a:ext cx="3429000" cy="1702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/>
              <a:t>Expressions can combine: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Plain text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Item variables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JavaScript</a:t>
            </a:r>
          </a:p>
        </p:txBody>
      </p:sp>
    </p:spTree>
    <p:extLst>
      <p:ext uri="{BB962C8B-B14F-4D97-AF65-F5344CB8AC3E}">
        <p14:creationId xmlns:p14="http://schemas.microsoft.com/office/powerpoint/2010/main" val="80858933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E7A8E-4621-6242-1C10-EE351E343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D71E8A-97C5-E091-6B68-41666E5E49A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Node : Edit Fields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672A883-FEB8-A1A7-BBBB-807B78BB61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4772606-C9D7-6B86-5AB9-B0110F6B7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39" y="1545817"/>
            <a:ext cx="7791411" cy="131223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CD8186A-C649-F1B5-CF1C-A7F304D941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9158" y="2858055"/>
            <a:ext cx="7271603" cy="3817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935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70640-950E-154F-8352-1766A5675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B9B9EB-E8AE-6E05-6EA9-D739E27064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7CC5C5B8-72FD-C796-026E-F84C33FEAB2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8C094BB-37CB-3BF2-B33D-A3AD657879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100" y="2244301"/>
            <a:ext cx="7196384" cy="422155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71EB72F-9724-4726-99ED-2FE8324638B7}"/>
              </a:ext>
            </a:extLst>
          </p:cNvPr>
          <p:cNvSpPr txBox="1"/>
          <p:nvPr/>
        </p:nvSpPr>
        <p:spPr>
          <a:xfrm>
            <a:off x="608995" y="1494562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/>
              <a:t>List of all the workflows of the </a:t>
            </a:r>
            <a:r>
              <a:rPr lang="en-US" altLang="ko-KR" b="1" dirty="0"/>
              <a:t>n8n instance</a:t>
            </a:r>
            <a:r>
              <a:rPr lang="en-US" altLang="ko-KR" dirty="0"/>
              <a:t>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Names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Tags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Owners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Last updated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US" altLang="ko-KR" dirty="0"/>
          </a:p>
          <a:p>
            <a:pPr>
              <a:buNone/>
            </a:pPr>
            <a:r>
              <a:rPr lang="en-US" altLang="ko-KR" b="1" dirty="0"/>
              <a:t>My workflows</a:t>
            </a:r>
            <a:r>
              <a:rPr lang="en-US" altLang="ko-KR" dirty="0"/>
              <a:t> filter.</a:t>
            </a:r>
          </a:p>
        </p:txBody>
      </p:sp>
    </p:spTree>
    <p:extLst>
      <p:ext uri="{BB962C8B-B14F-4D97-AF65-F5344CB8AC3E}">
        <p14:creationId xmlns:p14="http://schemas.microsoft.com/office/powerpoint/2010/main" val="203098695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A1FFF-BC0D-017D-B707-AAFF4FD4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58A80D2-CD6D-F138-AA8E-D1E23EAA80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0CE914E-ADA6-3EC2-F06F-3CF9C28034E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5A70C03-752A-5037-9C8C-A566F9E729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272" y="3658338"/>
            <a:ext cx="7115654" cy="290024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4AD9F42-F5D6-42C9-D149-C93202745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395" y="1248422"/>
            <a:ext cx="7369179" cy="226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15342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B31B4-2EC0-443F-A43B-558D86390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46F2522-D584-AD09-384E-F349D54B2C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Useful nodes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1E36BB3-862B-1CAF-7F2F-5F845B6DB7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3683503-4CAE-FEC7-75A8-715BAD498F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3626" y="2619308"/>
            <a:ext cx="9354308" cy="187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8807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40574-8EAD-7EEB-3303-7D481A82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3466FE8-56F6-226A-8E9C-49EAD7981E5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Others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08B307F7-5BA1-45FF-3BFD-0F6C95AA07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679E8B-8F1B-B884-F899-9837A427E08F}"/>
              </a:ext>
            </a:extLst>
          </p:cNvPr>
          <p:cNvSpPr txBox="1"/>
          <p:nvPr/>
        </p:nvSpPr>
        <p:spPr>
          <a:xfrm>
            <a:off x="1752600" y="2348984"/>
            <a:ext cx="687705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Error handling</a:t>
            </a:r>
            <a:endParaRPr lang="en-US" altLang="ko-KR" sz="2000" b="1" i="0" dirty="0">
              <a:solidFill>
                <a:srgbClr val="0F0F0F"/>
              </a:solidFill>
              <a:effectLst/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rgbClr val="0F0F0F"/>
                </a:solidFill>
                <a:latin typeface="Roboto" panose="02000000000000000000" pitchFamily="2" charset="0"/>
              </a:rPr>
              <a:t>Execution Logs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Debugging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Workflow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Credential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n8n API</a:t>
            </a:r>
          </a:p>
        </p:txBody>
      </p:sp>
    </p:spTree>
    <p:extLst>
      <p:ext uri="{BB962C8B-B14F-4D97-AF65-F5344CB8AC3E}">
        <p14:creationId xmlns:p14="http://schemas.microsoft.com/office/powerpoint/2010/main" val="13251007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8F6CF-1580-AA40-EFE8-EE6DE86D3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1E9547-7D2E-602A-BCAE-CB5904A932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Homework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715101B-F95F-F5D9-8C37-423458301BA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91020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CBD6D-BF4A-65C2-992E-99A556BBC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4DB9F5D-17CF-2C48-F8CD-E12C2AAC5D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5F7129-3A08-6F5D-4FE3-373FBE89C49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C681CD-DFEA-1306-8138-057EF9E8BE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095" y="2516363"/>
            <a:ext cx="7318240" cy="36463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0D6F175-6527-D67F-B12D-03D4C7CC9759}"/>
              </a:ext>
            </a:extLst>
          </p:cNvPr>
          <p:cNvSpPr txBox="1"/>
          <p:nvPr/>
        </p:nvSpPr>
        <p:spPr>
          <a:xfrm>
            <a:off x="542320" y="1248422"/>
            <a:ext cx="10916255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과제를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깃허브의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파이썬코드로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upload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구글시트에 이름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(name)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github_url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입력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학생들의 코드를 몇 가지 기준에 따라 점수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평가내용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(comments)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자동입력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5302DB2-A13E-CD42-6255-28C18E3B48C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710488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824F6-E5EB-EF43-685C-2DDB88C30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5962D8-E163-A2E1-AA4F-0380E0BF809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49BDF9-74B9-B0E3-5E88-CCFABA2E20B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88B5EEFA-6922-97B2-24CE-991B6A744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480" y="2044210"/>
            <a:ext cx="10849040" cy="3317945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EE45BD8-D869-0E65-2C62-C5EB3405CF0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77414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5B53E-9D55-3CF4-4E1B-ED8FFC429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6B7A2C-8A54-FBB6-A0C3-771CD89412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Homework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E16AB047-CE98-D525-7654-BD21D1B0C6A0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1939797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C3D9D-ED45-4A43-F676-077B497D1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46CA17B-88CB-A9F6-4F1A-51E8BEF6D4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Gemini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무료 사용량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541130-FC1D-4B28-64D8-712C1F853D5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9B5D769-8FF5-3395-7346-8ABE69512E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B2F529-CE7E-B1FB-E0F8-01C804C3C722}"/>
              </a:ext>
            </a:extLst>
          </p:cNvPr>
          <p:cNvSpPr txBox="1"/>
          <p:nvPr/>
        </p:nvSpPr>
        <p:spPr>
          <a:xfrm>
            <a:off x="572035" y="1641961"/>
            <a:ext cx="11047930" cy="36999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RPM (Requests Per Minute)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분당 요청 횟수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 1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 안에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를 몇 번 부를 수 있는가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TPM (Tokens Per Minute) :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분당 토큰 처리량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 1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 안에 주고받을 수 있는 총 토큰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글자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단어 조각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RPD (Requests Per Day) :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하루 총 요청 횟수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6850690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F97BC-B79E-E98F-8FAB-1DDB14B1B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CAA2F8-8EF8-2E01-1E55-08122E029A2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Gemini-flash-3.5-lite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099681-6C4F-71C4-5706-224067E80B4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F57B2D8-3F5F-2B58-9217-639F176E859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365453C-B288-2A54-4981-7233B35C2B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111" y="1694077"/>
            <a:ext cx="8893215" cy="4338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502840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1D4C9-BE75-86A2-1287-D0BECFBD2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826516D-765C-4C46-AA64-D2BBC057BC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장학금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수여자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명단 만들고 메일 보내기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3411AF-5E8D-657A-7B11-679F15CD99A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98EC546-3232-ECD7-E9D8-FE6DBB54F3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8E0C152-F34F-49A9-7377-A054B2FD85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3" y="2225930"/>
            <a:ext cx="10966714" cy="2406140"/>
          </a:xfrm>
          <a:prstGeom prst="rect">
            <a:avLst/>
          </a:prstGeom>
        </p:spPr>
      </p:pic>
      <p:pic>
        <p:nvPicPr>
          <p:cNvPr id="9" name="그래픽 8" descr="수영">
            <a:extLst>
              <a:ext uri="{FF2B5EF4-FFF2-40B4-BE49-F238E27FC236}">
                <a16:creationId xmlns:a16="http://schemas.microsoft.com/office/drawing/2014/main" id="{91168B10-3F37-2814-D41C-BAB3856F52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6495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593608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FF8D9-AF21-E066-114C-B815179CC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55AACB-CCCC-6EAD-393E-D0F8D0DE65A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키워드 검색하고 감성분석 후 메일 보내기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BBDF2C-2917-94E1-BD11-4D79BA4BAB88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4FDA6C3-0CBB-2A83-D25D-FFD4D542DAA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1466755-A539-5A16-D6BE-2689534300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245" y="1840092"/>
            <a:ext cx="11179509" cy="3177815"/>
          </a:xfrm>
          <a:prstGeom prst="rect">
            <a:avLst/>
          </a:prstGeom>
        </p:spPr>
      </p:pic>
      <p:pic>
        <p:nvPicPr>
          <p:cNvPr id="7" name="그래픽 6" descr="수영">
            <a:extLst>
              <a:ext uri="{FF2B5EF4-FFF2-40B4-BE49-F238E27FC236}">
                <a16:creationId xmlns:a16="http://schemas.microsoft.com/office/drawing/2014/main" id="{BFEB97F5-49B4-8677-23D4-2B12A2C889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6495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18237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0704A-288B-64CD-FC6A-62025851E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1CE130-EB31-D962-CADE-E4B8F73C2E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Homework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E430C6CD-538B-C383-C35C-9DA52B5E2D6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386594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AD688-81BD-A730-FB4D-15578BA58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FE2DB-C78A-59C3-AE94-56541135D3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: Vector DB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9C719-70DA-E335-6E30-7EA20CACB26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BACB0A-609D-1358-139D-925052A0D9B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084553-1240-F4AB-5C9A-FF6A74293622}"/>
              </a:ext>
            </a:extLst>
          </p:cNvPr>
          <p:cNvSpPr txBox="1"/>
          <p:nvPr/>
        </p:nvSpPr>
        <p:spPr>
          <a:xfrm>
            <a:off x="591620" y="1248422"/>
            <a:ext cx="1104793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드라이브의 문서 변경을 감지하여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검색할 수 있는 형태로 변환한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데이터베이스에 자동 저장하는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 변환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9D0A025-AAB3-C105-25D8-069F81D5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277" y="2533272"/>
            <a:ext cx="7284009" cy="384274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C876AC8-0AFF-2428-3645-F744C9895B54}"/>
              </a:ext>
            </a:extLst>
          </p:cNvPr>
          <p:cNvSpPr txBox="1"/>
          <p:nvPr/>
        </p:nvSpPr>
        <p:spPr>
          <a:xfrm>
            <a:off x="8134901" y="5940590"/>
            <a:ext cx="3799405" cy="617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with RAG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구글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드라이브에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파일을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update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하고 실습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1948371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74DE0-5AE2-C7D2-DA90-13130142D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A4BAA1-80DE-772A-5E24-1BCA04AC9E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Vector DB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C2F1F0-02D3-D963-8609-179340A9C17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2430B21-2557-10AD-3750-0990B8354A5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4F2C78-D453-32DB-20A9-29FA0B387519}"/>
              </a:ext>
            </a:extLst>
          </p:cNvPr>
          <p:cNvSpPr txBox="1"/>
          <p:nvPr/>
        </p:nvSpPr>
        <p:spPr>
          <a:xfrm>
            <a:off x="576262" y="1404784"/>
            <a:ext cx="11039476" cy="4971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 감지 및 다운로드 (Google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Drive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드라이브에서 대상 파일(PDF 등)이 추가되거나 수정되면 트리거가 동작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노드가 감지된 파일의 실제 원본 바이너리 데이터를 받아오기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추출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청킹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Default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Data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Data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다운로드한 파일 바이너리에서 문맥(텍스트)을 읽기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읽어온 긴 텍스트를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검색하기 적합한 크기의 조각(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잘라내기(문서가 총 11개의 조각으로 분할)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잘라낸 11개의 텍스트 조각을 구글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모델로 보내기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의미를 계산할 수 있도록 각 텍스트를 3,072차원의 수치 데이터(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)로 변환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WordEmbedding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 저장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생성된 벡터 데이터와 원본 텍스트 조각을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테이블에 최종 저장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작업이 완료되면 AI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이 PDF 내용을 기반으로 질문에 답변을 제공</a:t>
            </a:r>
          </a:p>
        </p:txBody>
      </p:sp>
    </p:spTree>
    <p:extLst>
      <p:ext uri="{BB962C8B-B14F-4D97-AF65-F5344CB8AC3E}">
        <p14:creationId xmlns:p14="http://schemas.microsoft.com/office/powerpoint/2010/main" val="385837488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B6EF5-03ED-9F77-ADCA-C54D1A3E0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2704C1-4B64-A764-6B61-98D2A05105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A5A31B-7B04-C85B-D89A-7227056A997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AE4F0D1-013B-4AC7-73AA-93C18678FC5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A035BF-DEB8-5698-AF31-1E4C029C0F42}"/>
              </a:ext>
            </a:extLst>
          </p:cNvPr>
          <p:cNvSpPr txBox="1"/>
          <p:nvPr/>
        </p:nvSpPr>
        <p:spPr>
          <a:xfrm>
            <a:off x="591620" y="1248422"/>
            <a:ext cx="11047930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질문을 받으면 대화 맥락과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지식베이스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함께 참조하여 정확하게 답변하는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대화 에이전트 워크플로우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FF301A2-EBB8-CBF8-1D3B-5533F3951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7763" y="2214308"/>
            <a:ext cx="6463277" cy="4282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05858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6561E-A4F5-DCE5-D371-2920F5D81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20AAD03-9A68-CE1F-6EF0-23AD7A420C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2FC08B-9E6A-8817-4D7A-A47549386AC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4D8A310-A54D-1E82-A4BB-2E4E9A9E446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0F05E5-FF67-99FC-304A-9872DE54355B}"/>
              </a:ext>
            </a:extLst>
          </p:cNvPr>
          <p:cNvSpPr txBox="1"/>
          <p:nvPr/>
        </p:nvSpPr>
        <p:spPr>
          <a:xfrm>
            <a:off x="576262" y="1404784"/>
            <a:ext cx="11039476" cy="3614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When chat message received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창에 메시지를 전송하면 작동을 시작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AI Agent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두뇌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제어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입력받은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질문을 분석하고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기억과 지식 검색 도구를 활용하여 최종 답변 생성을 총괄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Chat Model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추론 모델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AI Agent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빠르게 문맥을 이해하고 자연스러운 답변 언어를 생성하도록 초고속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제공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Postgres Chat Memory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 이전 대화 내역을 저장하고 읽어와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연속적인 질의응답 시 이전 문맥을 유지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Vector Store1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지식 검색 도구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외부 문서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(PDF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데이터가 저장되어 있는 벡터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AI Agent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답변에 필요한 자료를 직접 찾아볼 수 있는 도구 역할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Google Gemini1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변환기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3,072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차원의 벡터 수치로 변환하여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수치적으로 가장 연관성이 높은 문서 조각을 찾기</a:t>
            </a:r>
          </a:p>
        </p:txBody>
      </p:sp>
    </p:spTree>
    <p:extLst>
      <p:ext uri="{BB962C8B-B14F-4D97-AF65-F5344CB8AC3E}">
        <p14:creationId xmlns:p14="http://schemas.microsoft.com/office/powerpoint/2010/main" val="16113707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764E0-0A98-1FD6-4FFA-A2E64157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C5E85E1-5F8A-624F-1AAE-B2E60D4777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DC2FF6-79C0-151A-2F03-225A7F60619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1BB9700-3DCE-925A-A93A-E72A36E9A05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3AEF7BB-2CBD-5358-053C-7C8C4A18D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69" y="1761954"/>
            <a:ext cx="7761149" cy="3876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21220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9D34D-0A21-41AD-064D-27658C9D7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A04655-F73F-C692-DA20-228FBED4E0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0758F3-0A33-C8BA-EB4E-5FC35B12E3FF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DC0102E-1733-08D1-7FD2-1BC3C9FEAB0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51A40CA-E54E-3283-851B-7CE4FFFAD5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276" y="1865788"/>
            <a:ext cx="11062340" cy="3830161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AFD99DCE-8C94-5492-6201-6B001FC473BA}"/>
              </a:ext>
            </a:extLst>
          </p:cNvPr>
          <p:cNvSpPr/>
          <p:nvPr/>
        </p:nvSpPr>
        <p:spPr>
          <a:xfrm>
            <a:off x="629720" y="31644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4541957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A2EE0-7B72-4636-10DC-B8C3D1A3C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182C5E-A618-FBDF-99A3-BB6BFA0BF9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D3D47D-BCDE-46D7-2CB8-47AE6F48570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126CBDC-323D-F49A-AF4C-D176A51EA62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D29E0AA-A989-EAB0-2C5E-63DBFB967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720" y="1374854"/>
            <a:ext cx="10437746" cy="5197396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01F6310F-BB0B-1EFC-0B01-18AC25CE8631}"/>
              </a:ext>
            </a:extLst>
          </p:cNvPr>
          <p:cNvSpPr/>
          <p:nvPr/>
        </p:nvSpPr>
        <p:spPr>
          <a:xfrm>
            <a:off x="7038976" y="1489154"/>
            <a:ext cx="4904856" cy="1010835"/>
          </a:xfrm>
          <a:prstGeom prst="borderCallout2">
            <a:avLst>
              <a:gd name="adj1" fmla="val 68691"/>
              <a:gd name="adj2" fmla="val -3909"/>
              <a:gd name="adj3" fmla="val 92249"/>
              <a:gd name="adj4" fmla="val -18142"/>
              <a:gd name="adj5" fmla="val 157915"/>
              <a:gd name="adj6" fmla="val -24298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"from": 1, "to": 92: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 문서의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줄부터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92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줄까지의 내용을 잘라 만든 첫 번째 조각의　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 Vector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endParaRPr lang="en-US" altLang="ko-KR" sz="11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"from": 94, "to": 136: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두 번째 조각으로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원본의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94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줄부터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136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줄까지의 내용　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 Vector</a:t>
            </a:r>
            <a:endParaRPr lang="ko-KR" altLang="en-US" sz="11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AB68D60-EE25-462B-3992-8FB006ACC1FB}"/>
              </a:ext>
            </a:extLst>
          </p:cNvPr>
          <p:cNvSpPr/>
          <p:nvPr/>
        </p:nvSpPr>
        <p:spPr>
          <a:xfrm>
            <a:off x="3409950" y="3095625"/>
            <a:ext cx="7343775" cy="58102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E293A09-3E6F-2D86-64AE-21C28F4A5DF4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764730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76B9F-574C-EE14-73F7-02933FAB3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009BBE8-1146-6EFB-21CB-012CF33E868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FF41F08-EE80-0F5D-6FFF-1F166729CBE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96D8616-7EAD-BC0D-27E6-864312F395AA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B1D54BD-0A9D-544E-9DF7-186759537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01" y="1749597"/>
            <a:ext cx="1109784" cy="36611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4E176A6-D1F5-72F5-8582-E8DD20496E9F}"/>
              </a:ext>
            </a:extLst>
          </p:cNvPr>
          <p:cNvSpPr txBox="1"/>
          <p:nvPr/>
        </p:nvSpPr>
        <p:spPr>
          <a:xfrm>
            <a:off x="436492" y="2089487"/>
            <a:ext cx="1156193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click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한 후 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3860CF18-5253-FD30-11F6-AE7761E5E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6602" y="133350"/>
            <a:ext cx="4433216" cy="3912274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DD2A207C-F724-7A34-02CF-2C66B8624B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6600" y="4000501"/>
            <a:ext cx="4433217" cy="2724149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581A2DBE-5A3B-09ED-4948-8D1FBB96B5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0941" y="254670"/>
            <a:ext cx="4841326" cy="3104515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75F4F371-1475-2E5F-27D6-2812D0B862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76813" y="3387907"/>
            <a:ext cx="4828844" cy="3067354"/>
          </a:xfrm>
          <a:prstGeom prst="rect">
            <a:avLst/>
          </a:prstGeom>
        </p:spPr>
      </p:pic>
      <p:sp>
        <p:nvSpPr>
          <p:cNvPr id="23" name="직사각형 22">
            <a:extLst>
              <a:ext uri="{FF2B5EF4-FFF2-40B4-BE49-F238E27FC236}">
                <a16:creationId xmlns:a16="http://schemas.microsoft.com/office/drawing/2014/main" id="{2FD1F0CE-1F2C-8EDA-083A-BC36C8D703E7}"/>
              </a:ext>
            </a:extLst>
          </p:cNvPr>
          <p:cNvSpPr/>
          <p:nvPr/>
        </p:nvSpPr>
        <p:spPr>
          <a:xfrm>
            <a:off x="8432800" y="5462905"/>
            <a:ext cx="2636377" cy="1151255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D5EC47B9-B087-66DE-71FB-5CE86CFEA2CA}"/>
              </a:ext>
            </a:extLst>
          </p:cNvPr>
          <p:cNvSpPr/>
          <p:nvPr/>
        </p:nvSpPr>
        <p:spPr>
          <a:xfrm>
            <a:off x="2873046" y="1646664"/>
            <a:ext cx="3517594" cy="25798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0AB69AF-71F2-2B2B-8356-365E649610DC}"/>
              </a:ext>
            </a:extLst>
          </p:cNvPr>
          <p:cNvSpPr/>
          <p:nvPr/>
        </p:nvSpPr>
        <p:spPr>
          <a:xfrm>
            <a:off x="2873046" y="4471144"/>
            <a:ext cx="3517594" cy="1147410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05B8230-0240-DC71-7076-638318D4D2F2}"/>
              </a:ext>
            </a:extLst>
          </p:cNvPr>
          <p:cNvSpPr txBox="1"/>
          <p:nvPr/>
        </p:nvSpPr>
        <p:spPr>
          <a:xfrm>
            <a:off x="9318954" y="1272543"/>
            <a:ext cx="2517446" cy="95410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Direct Connection (IPv6)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Session pooler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IPv4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전용 주소라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연결이 가능</a:t>
            </a:r>
          </a:p>
        </p:txBody>
      </p:sp>
    </p:spTree>
    <p:extLst>
      <p:ext uri="{BB962C8B-B14F-4D97-AF65-F5344CB8AC3E}">
        <p14:creationId xmlns:p14="http://schemas.microsoft.com/office/powerpoint/2010/main" val="37565634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7A363-5FED-428C-6290-6EED4CC2C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AC73F0B-606A-E00C-794E-9E183E55F9F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F479436-D4C1-57EC-8ED7-30475606A4E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F733321-85CC-5EE8-DE07-60144C55A11E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12B3FF5-F713-F0B3-FA46-D55F5946CD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847" y="3235034"/>
            <a:ext cx="9101459" cy="317847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2403445-FF91-DA3B-6EEE-713E920CF7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20" y="1330727"/>
            <a:ext cx="4094197" cy="339632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4492FBF-0924-E4B3-6DAF-022FAC5720B3}"/>
              </a:ext>
            </a:extLst>
          </p:cNvPr>
          <p:cNvSpPr txBox="1"/>
          <p:nvPr/>
        </p:nvSpPr>
        <p:spPr>
          <a:xfrm>
            <a:off x="4838217" y="1400175"/>
            <a:ext cx="6887057" cy="1296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Postgres memory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대화 내용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(history)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저장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paramete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확인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은 현재에 태어난 과학자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뉴톤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154BD8EB-4A17-86B9-4593-CDD416C982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Postgres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Chat Memory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995352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DF2AF-F63C-9014-C256-E0B1E8573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3C722C3-A681-42C5-1727-0EC1D6A355D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DFF02E-9E6D-5478-8A71-D7BFFE7FE87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08F3617-13F4-36A0-1AD9-CDE5773261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A44C99D-E3F4-C9EF-E472-66EAF5F381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751" y="1832299"/>
            <a:ext cx="10085387" cy="481792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36EB8FE-A25E-0173-6E47-BEE4A975E663}"/>
              </a:ext>
            </a:extLst>
          </p:cNvPr>
          <p:cNvSpPr txBox="1"/>
          <p:nvPr/>
        </p:nvSpPr>
        <p:spPr>
          <a:xfrm>
            <a:off x="591620" y="1248422"/>
            <a:ext cx="11342686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강의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(pdf)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Vector 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저장하고 조상구에 대해 질문하면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검색하여 답변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(Vetor DB +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질문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= Prompt)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22367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29B48-DF83-6993-3705-1D9B3C177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CCD212-3BE7-85E9-2C6F-7925BADC30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Homework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5CF0B80-F916-532F-D25B-79DB2A66CED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183642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F34D7-3C96-6A8C-1F23-24373A19E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EAD5ABA-B1EE-AE18-52A7-D72CEB07C16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1EFB21-72BA-1B62-A292-BC6F2B1B35ED}"/>
              </a:ext>
            </a:extLst>
          </p:cNvPr>
          <p:cNvSpPr txBox="1"/>
          <p:nvPr/>
        </p:nvSpPr>
        <p:spPr>
          <a:xfrm>
            <a:off x="582095" y="2684810"/>
            <a:ext cx="11066980" cy="3345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LLM(Gemini,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Chatgpt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Claude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원하는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정의하여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코드로 생성하라고 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동영상의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화면캡쳐하여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생성 요청한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desktop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AI "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딸깍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"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으로 만드는 슈퍼자동화 시나리오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! </a:t>
            </a:r>
            <a:r>
              <a:rPr lang="ko-KR" altLang="en-US" sz="14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클로드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4+MCP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가 미쳤습니다</a:t>
            </a:r>
            <a:endParaRPr lang="en-US" altLang="ko-KR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노가다 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클로드로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 워크플로우 자동 생성하는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단계 프롬프트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+ MCP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세팅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성공률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 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연결하는 것도 귀찮다면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,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Workflow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직접 만들기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~~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이걸로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자동화의 판도가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구글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안티그래비티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)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80D5E0-C6FF-6BBF-600F-FAA66AF19197}"/>
              </a:ext>
            </a:extLst>
          </p:cNvPr>
          <p:cNvSpPr txBox="1"/>
          <p:nvPr/>
        </p:nvSpPr>
        <p:spPr>
          <a:xfrm>
            <a:off x="582095" y="1400175"/>
            <a:ext cx="111431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부탁해서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부탁하면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24DF526-22AF-8A39-2A37-F74A286214C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594780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E7401-AD49-931E-5629-866E258F7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1DF8B59-661E-605A-CFC9-9B1A7684FE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5F3050-E51F-C7FB-58C2-E1F5336796F0}"/>
              </a:ext>
            </a:extLst>
          </p:cNvPr>
          <p:cNvSpPr txBox="1"/>
          <p:nvPr/>
        </p:nvSpPr>
        <p:spPr>
          <a:xfrm>
            <a:off x="524410" y="1281868"/>
            <a:ext cx="11143180" cy="25337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요청해서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요청하고 나의 로컬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직접 작동시키기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VS Code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cline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Local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URL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주소와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API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키를 복사하기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MCP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서버 연결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/>
              <a:t>cline_mcp_settings.json</a:t>
            </a:r>
            <a:r>
              <a:rPr lang="en-US" altLang="ko-KR" dirty="0"/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/>
              <a:t>Prompt :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10C70F6-E1E3-8AB0-49C2-177A8137DC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5241" y="2339439"/>
            <a:ext cx="5208630" cy="361141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1E72FFB-4C0B-0F25-E1B2-125863277F75}"/>
              </a:ext>
            </a:extLst>
          </p:cNvPr>
          <p:cNvSpPr txBox="1"/>
          <p:nvPr/>
        </p:nvSpPr>
        <p:spPr>
          <a:xfrm>
            <a:off x="1796026" y="3706146"/>
            <a:ext cx="44904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매일 아침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9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시에 특정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웹훅으로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요청을 보내는 워크플로우를 만들고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생성해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JSON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워크플로우를 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임포트하고 실행해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8B57DDC-BF91-8CD6-8CF7-734D2DFB6F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020920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90780-D962-F205-381A-9EC36E3B8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C785D48-E001-C56F-D44C-7E2D938F8C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435" y="1540912"/>
            <a:ext cx="3624765" cy="4553841"/>
          </a:xfrm>
          <a:prstGeom prst="rect">
            <a:avLst/>
          </a:prstGeom>
        </p:spPr>
      </p:pic>
      <p:sp>
        <p:nvSpPr>
          <p:cNvPr id="9" name="제목 1">
            <a:extLst>
              <a:ext uri="{FF2B5EF4-FFF2-40B4-BE49-F238E27FC236}">
                <a16:creationId xmlns:a16="http://schemas.microsoft.com/office/drawing/2014/main" id="{260178FD-69B6-47EA-0380-87D02BE4066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cline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3568671-CF62-BA73-B18E-DB0F6F09FE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0656" y="4640605"/>
            <a:ext cx="6801294" cy="1395656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1BD2C6D-2FFD-AC68-6F0D-547FAB757C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EAF5E0-5318-CEE6-477F-E98B74D644E1}"/>
              </a:ext>
            </a:extLst>
          </p:cNvPr>
          <p:cNvSpPr txBox="1"/>
          <p:nvPr/>
        </p:nvSpPr>
        <p:spPr>
          <a:xfrm>
            <a:off x="5084761" y="2144294"/>
            <a:ext cx="6096000" cy="16004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다음 조건에 맞는 n8n 워크플로를 생성하고 로컬 n8n에 등록해줘.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트리거: [예: Schedule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매일 오전 9시]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작업 단계: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1. [예: HTTP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Request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날씨 API 호출]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2.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속성(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Property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구조에 맞게 데이터 가공]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3.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특정 데이터베이스에 새 페이지 생성]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88D05D-8F33-5695-ED2A-3612090429FB}"/>
              </a:ext>
            </a:extLst>
          </p:cNvPr>
          <p:cNvSpPr txBox="1"/>
          <p:nvPr/>
        </p:nvSpPr>
        <p:spPr>
          <a:xfrm>
            <a:off x="4990656" y="174690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dirty="0"/>
          </a:p>
        </p:txBody>
      </p:sp>
      <p:cxnSp>
        <p:nvCxnSpPr>
          <p:cNvPr id="14" name="연결선: 구부러짐 13">
            <a:extLst>
              <a:ext uri="{FF2B5EF4-FFF2-40B4-BE49-F238E27FC236}">
                <a16:creationId xmlns:a16="http://schemas.microsoft.com/office/drawing/2014/main" id="{BB490C65-C2E1-B342-7A51-9B143853B83F}"/>
              </a:ext>
            </a:extLst>
          </p:cNvPr>
          <p:cNvCxnSpPr/>
          <p:nvPr/>
        </p:nvCxnSpPr>
        <p:spPr>
          <a:xfrm rot="5400000" flipH="1" flipV="1">
            <a:off x="3109913" y="3652838"/>
            <a:ext cx="2143125" cy="196215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화살표: 아래쪽 14">
            <a:extLst>
              <a:ext uri="{FF2B5EF4-FFF2-40B4-BE49-F238E27FC236}">
                <a16:creationId xmlns:a16="http://schemas.microsoft.com/office/drawing/2014/main" id="{EE9364EE-5534-F05D-F208-399CAE94BFD9}"/>
              </a:ext>
            </a:extLst>
          </p:cNvPr>
          <p:cNvSpPr/>
          <p:nvPr/>
        </p:nvSpPr>
        <p:spPr>
          <a:xfrm>
            <a:off x="7629525" y="4010025"/>
            <a:ext cx="723900" cy="54292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038903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17858</TotalTime>
  <Words>2033</Words>
  <Application>Microsoft Office PowerPoint</Application>
  <PresentationFormat>와이드스크린</PresentationFormat>
  <Paragraphs>375</Paragraphs>
  <Slides>60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60</vt:i4>
      </vt:variant>
    </vt:vector>
  </HeadingPairs>
  <TitlesOfParts>
    <vt:vector size="72" baseType="lpstr">
      <vt:lpstr>MS Gothic</vt:lpstr>
      <vt:lpstr>Sorts Mill Goudy</vt:lpstr>
      <vt:lpstr>Batang</vt:lpstr>
      <vt:lpstr>Arial</vt:lpstr>
      <vt:lpstr>Cambria Math</vt:lpstr>
      <vt:lpstr>D2Coding</vt:lpstr>
      <vt:lpstr>Lora</vt:lpstr>
      <vt:lpstr>Roboto</vt:lpstr>
      <vt:lpstr>Segoe UI Emoji</vt:lpstr>
      <vt:lpstr>Wingdings</vt:lpstr>
      <vt:lpstr>맑은 고딕</vt:lpstr>
      <vt:lpstr>WelcomeDoc</vt:lpstr>
      <vt:lpstr>n8n AI Workflow</vt:lpstr>
      <vt:lpstr>PowerPoint 프레젠테이션</vt:lpstr>
      <vt:lpstr>PowerPoint 프레젠테이션</vt:lpstr>
      <vt:lpstr>PowerPoint 프레젠테이션</vt:lpstr>
      <vt:lpstr>PowerPoint 프레젠테이션</vt:lpstr>
      <vt:lpstr>Docker</vt:lpstr>
      <vt:lpstr>PowerPoint 프레젠테이션</vt:lpstr>
      <vt:lpstr>PowerPoint 프레젠테이션</vt:lpstr>
      <vt:lpstr>n8n Tutorials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Beginner Tutorials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Homework</vt:lpstr>
      <vt:lpstr>PowerPoint 프레젠테이션</vt:lpstr>
      <vt:lpstr>PowerPoint 프레젠테이션</vt:lpstr>
      <vt:lpstr>n8n Homework</vt:lpstr>
      <vt:lpstr>PowerPoint 프레젠테이션</vt:lpstr>
      <vt:lpstr>PowerPoint 프레젠테이션</vt:lpstr>
      <vt:lpstr>PowerPoint 프레젠테이션</vt:lpstr>
      <vt:lpstr>PowerPoint 프레젠테이션</vt:lpstr>
      <vt:lpstr>n8n Homework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Homework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237</cp:revision>
  <dcterms:created xsi:type="dcterms:W3CDTF">2026-04-06T01:00:39Z</dcterms:created>
  <dcterms:modified xsi:type="dcterms:W3CDTF">2026-09-08T06:47:56Z</dcterms:modified>
  <cp:version/>
</cp:coreProperties>
</file>