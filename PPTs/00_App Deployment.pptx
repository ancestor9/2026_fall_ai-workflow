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2"/>
  </p:notesMasterIdLst>
  <p:handoutMasterIdLst>
    <p:handoutMasterId r:id="rId93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1304" r:id="rId64"/>
    <p:sldId id="1272" r:id="rId65"/>
    <p:sldId id="1279" r:id="rId66"/>
    <p:sldId id="1292" r:id="rId67"/>
    <p:sldId id="1340" r:id="rId68"/>
    <p:sldId id="1321" r:id="rId69"/>
    <p:sldId id="1322" r:id="rId70"/>
    <p:sldId id="1320" r:id="rId71"/>
    <p:sldId id="1341" r:id="rId72"/>
    <p:sldId id="1347" r:id="rId73"/>
    <p:sldId id="1275" r:id="rId74"/>
    <p:sldId id="266" r:id="rId75"/>
    <p:sldId id="269" r:id="rId76"/>
    <p:sldId id="265" r:id="rId77"/>
    <p:sldId id="1356" r:id="rId78"/>
    <p:sldId id="1348" r:id="rId79"/>
    <p:sldId id="1350" r:id="rId80"/>
    <p:sldId id="1349" r:id="rId81"/>
    <p:sldId id="1351" r:id="rId82"/>
    <p:sldId id="1353" r:id="rId83"/>
    <p:sldId id="1354" r:id="rId84"/>
    <p:sldId id="1355" r:id="rId85"/>
    <p:sldId id="1357" r:id="rId86"/>
    <p:sldId id="1352" r:id="rId87"/>
    <p:sldId id="1342" r:id="rId88"/>
    <p:sldId id="1344" r:id="rId89"/>
    <p:sldId id="1346" r:id="rId90"/>
    <p:sldId id="1345" r:id="rId9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  <p14:sldId id="1341"/>
            <p14:sldId id="1347"/>
            <p14:sldId id="1275"/>
            <p14:sldId id="266"/>
            <p14:sldId id="269"/>
            <p14:sldId id="265"/>
            <p14:sldId id="1356"/>
            <p14:sldId id="1348"/>
            <p14:sldId id="1350"/>
            <p14:sldId id="1349"/>
            <p14:sldId id="1351"/>
            <p14:sldId id="1353"/>
            <p14:sldId id="1354"/>
            <p14:sldId id="1355"/>
            <p14:sldId id="1357"/>
            <p14:sldId id="1352"/>
            <p14:sldId id="1342"/>
            <p14:sldId id="1344"/>
            <p14:sldId id="1346"/>
            <p14:sldId id="13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>
        <p:scale>
          <a:sx n="125" d="100"/>
          <a:sy n="125" d="100"/>
        </p:scale>
        <p:origin x="24" y="-63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229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Relationship Id="rId98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14FC-DBA9-3792-4CDB-1D13A7D3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916CD6-8827-44F7-4FB3-4F357E95D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0DE58-F8B5-3137-693E-22A72796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B1820B-5682-C218-0773-BAF62776D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7266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A6920DFC-5393-3943-5700-A4CF1402F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BDC6E477-AC2B-EC5B-F17D-8E5456E878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5C43721-2C33-3EC5-4C28-F6B9833030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4209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32237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74311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38192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D1E2-4CC0-FF48-329B-09ADDA0E6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F9481-94F8-75EA-C6C2-4D979CD6F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DA85B3-6E1D-4829-E19A-0067373B0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360848-B0B1-C1C2-8A7E-7ABA03E1D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8889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8BD3910-BACA-BAE9-85BC-4C30273C5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51611513-9969-A4E8-0ADA-06DCD13CBD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244A8A78-82F2-E35B-6596-B273687E9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858811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D135FB98-7F0C-37C1-BC61-4B077FD4A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AFA4B463-F63D-7A7A-6D83-BBA44058F6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62848CA8-6DA2-D5E6-86D1-2DC8095AE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602792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3C3302C-3CB7-107D-F559-FB54C178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173B644E-8737-BF8C-6C0F-571876E727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402B120E-3316-0FF8-DEC6-44A9B92244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65788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A02AA77-5136-147C-DAD6-D8C0E007C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906C8CE6-22AE-D735-4613-8221649814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7D0EAB31-AD98-8C3E-C287-9FB0A5450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45249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91113C7D-8097-D9F3-A197-9DBD314E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E0705D92-48F0-AB72-454D-895878275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EE71D320-F00D-00D9-ADD6-E9E72006D3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53684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6CBB0416-D6B4-DE31-4F28-B529DA99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D4A0ACF0-68BE-5575-D220-D1E4B35049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CAE50D9F-7C7A-C5B4-A29F-773124080B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20154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216B9F9B-AAE1-FE2E-1A3D-EB74E0A59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B6F5038A-CF63-1363-635F-F43E65607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2DA0FBA2-3582-6656-AFF8-59F962FB1B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35913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2B3BC-ECD9-B9AF-7DA0-CABE9417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97EA32-59BB-C464-142A-D2B9598D5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7D9496-C57E-F033-8E12-7DC873AD5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18796-1E84-8B6D-AF2E-FA093DAAD8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21485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3BF06A12-F7DD-C32F-2F71-631DF411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268B3CCC-4739-5A24-FE0B-707D6894D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DAF2388-2B7B-5644-7A43-D360658934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084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localhost:8080/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jpe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6.png"/><Relationship Id="rId4" Type="http://schemas.openxmlformats.org/officeDocument/2006/relationships/image" Target="../media/image52.jpe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910049" y="1672717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5BC59-D54E-264E-5A23-5EC65A7F9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912680-EBEF-D463-3076-ABE05DFE0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7A44FF9-2975-B402-1E01-B382452291B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42645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218B5659-BB76-2E3E-A5A7-C42DF701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1B0B7104-BF03-322B-2DE6-1CB7DFEE5A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23B72557-BA42-28EB-76B1-86A8B073DAD0}"/>
              </a:ext>
            </a:extLst>
          </p:cNvPr>
          <p:cNvSpPr/>
          <p:nvPr/>
        </p:nvSpPr>
        <p:spPr>
          <a:xfrm>
            <a:off x="5440218" y="3812219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49E23A8-8949-7CC2-CAAA-336492AAF5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E8C34E9D-FFF2-9010-CE14-5900654870D6}"/>
              </a:ext>
            </a:extLst>
          </p:cNvPr>
          <p:cNvSpPr/>
          <p:nvPr/>
        </p:nvSpPr>
        <p:spPr>
          <a:xfrm>
            <a:off x="2365595" y="5506505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022040FF-1AD3-3DBE-045A-E9168C103CD9}"/>
              </a:ext>
            </a:extLst>
          </p:cNvPr>
          <p:cNvSpPr/>
          <p:nvPr/>
        </p:nvSpPr>
        <p:spPr>
          <a:xfrm>
            <a:off x="2365595" y="4663866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96;p14">
            <a:extLst>
              <a:ext uri="{FF2B5EF4-FFF2-40B4-BE49-F238E27FC236}">
                <a16:creationId xmlns:a16="http://schemas.microsoft.com/office/drawing/2014/main" id="{37F2D2BA-E277-9025-3416-8F782AFA9F30}"/>
              </a:ext>
            </a:extLst>
          </p:cNvPr>
          <p:cNvSpPr/>
          <p:nvPr/>
        </p:nvSpPr>
        <p:spPr>
          <a:xfrm>
            <a:off x="2344024" y="3812219"/>
            <a:ext cx="7169429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4AA2B0A0-AC95-9E3F-B674-D1890589E2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7380" y="3916498"/>
            <a:ext cx="766292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D810340E-F137-3B9C-102E-E7B2BC26F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595" y="2747404"/>
            <a:ext cx="1977229" cy="98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6332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3909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347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038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4729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E8D8A-D0CA-E549-64D6-6286DB8BF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9096FB-20E1-4E2B-9563-7AC89F1FB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 Image &amp; Run Container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B704A21-5906-C804-6CA8-754DE8C7CB82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F4EB5-85C1-714F-9719-E0A5219558FB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on WSL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desktop on WSL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78121D-7276-FE5D-C8E9-D0CC4AC04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732" y="3268555"/>
            <a:ext cx="1128844" cy="32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83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A29BC958-F9CA-DE1B-D4A1-204B89C9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56492582-1857-C323-659D-CF67E9BA9C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94B1CD12-F44B-D2A2-A9F8-79B339BADF5B}"/>
              </a:ext>
            </a:extLst>
          </p:cNvPr>
          <p:cNvSpPr/>
          <p:nvPr/>
        </p:nvSpPr>
        <p:spPr>
          <a:xfrm>
            <a:off x="6049818" y="439881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1E1BE8-F01A-4681-25E2-751F52F7F8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30088D7-54BA-4AA1-0737-AA431805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71" y="2350065"/>
            <a:ext cx="10916620" cy="3020341"/>
          </a:xfrm>
          <a:prstGeom prst="rect">
            <a:avLst/>
          </a:prstGeom>
        </p:spPr>
      </p:pic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0061F77A-268B-FC4D-2A13-5E0A99AE95BF}"/>
              </a:ext>
            </a:extLst>
          </p:cNvPr>
          <p:cNvSpPr/>
          <p:nvPr/>
        </p:nvSpPr>
        <p:spPr>
          <a:xfrm>
            <a:off x="8123525" y="1294227"/>
            <a:ext cx="3057236" cy="85514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18349"/>
              <a:gd name="adj6" fmla="val -73857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끄면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연결이 끊기니 당연히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도 오류가 나는 거고요.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다시 켜면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이 올라오고 CLI 가 다시 연결돼서 명령이 정상 동작</a:t>
            </a: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7CDEA-F7D3-6FFA-1065-8D0F3EA37A9F}"/>
              </a:ext>
            </a:extLst>
          </p:cNvPr>
          <p:cNvSpPr txBox="1"/>
          <p:nvPr/>
        </p:nvSpPr>
        <p:spPr>
          <a:xfrm>
            <a:off x="536471" y="4074164"/>
            <a:ext cx="5282438" cy="11719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C:\&gt;D: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D:\&gt;mkdir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&amp;&amp; cd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D:\my-docker-test&gt;notepad app.py</a:t>
            </a:r>
          </a:p>
        </p:txBody>
      </p:sp>
    </p:spTree>
    <p:extLst>
      <p:ext uri="{BB962C8B-B14F-4D97-AF65-F5344CB8AC3E}">
        <p14:creationId xmlns:p14="http://schemas.microsoft.com/office/powerpoint/2010/main" val="23040692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54C15C5C-B78C-7558-D99F-EF079DB5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9098E3DF-9168-C2F7-F865-2D8102E43F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507AAEB9-E493-6DFB-CD53-8ECB308D3EF5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6EF9626-86A5-B10D-EF42-77BDBFBBAD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6C3CC-0D52-7164-FB3D-C7BBD01AD0DC}"/>
              </a:ext>
            </a:extLst>
          </p:cNvPr>
          <p:cNvSpPr txBox="1"/>
          <p:nvPr/>
        </p:nvSpPr>
        <p:spPr>
          <a:xfrm>
            <a:off x="692071" y="2315456"/>
            <a:ext cx="6955637" cy="29263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FROM python:3.12-slim 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WORKDIR 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COPY app.py .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CMD ["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D:\my-docker-test&gt;type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/app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["python", "app.py"]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DF120B2-A1EA-86A3-1B8A-1CFFC6701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755" y="4247206"/>
            <a:ext cx="2625134" cy="2154180"/>
          </a:xfrm>
          <a:prstGeom prst="rect">
            <a:avLst/>
          </a:prstGeom>
        </p:spPr>
      </p:pic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B41A3A9-449D-0E94-CF38-1ACCFB8EB950}"/>
              </a:ext>
            </a:extLst>
          </p:cNvPr>
          <p:cNvSpPr/>
          <p:nvPr/>
        </p:nvSpPr>
        <p:spPr>
          <a:xfrm>
            <a:off x="6330763" y="2851927"/>
            <a:ext cx="5643801" cy="2623127"/>
          </a:xfrm>
          <a:prstGeom prst="borderCallout2">
            <a:avLst>
              <a:gd name="adj1" fmla="val 42694"/>
              <a:gd name="adj2" fmla="val -1460"/>
              <a:gd name="adj3" fmla="val 81074"/>
              <a:gd name="adj4" fmla="val -14048"/>
              <a:gd name="adj5" fmla="val 84090"/>
              <a:gd name="adj6" fmla="val -2937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베이스 이미지 지정: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컨테이너의 기본 바탕이 될 환경을 불러옵니다. 파이썬 3.12 버전이 미리 설치된 경량화(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slim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리눅스 환경을 사용하겠다는 의미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작업 디렉토리 설정: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 내부에서 명령어가 실행될 기본 폴더를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지정합니다. (폴더가 없으면 자동 생성)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파일 복사: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내 컴퓨터(호스트)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있는 app.py 파일을 컨테이너 내부의 현재 작업 디렉토리(., 즉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)로 복사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실행 명령어: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컨테이너를 시작할 때 자동으로 실행할 명령을 정의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컨테이너가 켜지자마자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app.py를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실행하도록 설정한 것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FA4E9B-5E47-8BE4-3E3C-324C41593809}"/>
              </a:ext>
            </a:extLst>
          </p:cNvPr>
          <p:cNvSpPr txBox="1"/>
          <p:nvPr/>
        </p:nvSpPr>
        <p:spPr>
          <a:xfrm>
            <a:off x="665016" y="1197380"/>
            <a:ext cx="1100974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컨테이너가 어떻게 생성되고 작동해야 하는지 정의한 설계도(스크립트) 파일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여기에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적힌 명령어를 순서대로 실행하여 애플리케이션 실행에 필요한 환경(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이미지)을 자동으로 구축</a:t>
            </a:r>
          </a:p>
        </p:txBody>
      </p:sp>
    </p:spTree>
    <p:extLst>
      <p:ext uri="{BB962C8B-B14F-4D97-AF65-F5344CB8AC3E}">
        <p14:creationId xmlns:p14="http://schemas.microsoft.com/office/powerpoint/2010/main" val="33156656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990711EE-6EE9-B6F6-3702-A2FDA4CBF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16120FF-6F69-7221-0403-A28C6E71ED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DC1BE15-0084-D012-A94C-61952D2E520D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95027DA-93C6-A3DF-B633-D864A54253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ECB19-E9D8-0B23-A391-C0A9FF5993AF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빌드 후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명령어로 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실행하고 테스트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FD0897-6BCE-07C7-1598-CA28A1D4C0A4}"/>
              </a:ext>
            </a:extLst>
          </p:cNvPr>
          <p:cNvSpPr txBox="1"/>
          <p:nvPr/>
        </p:nvSpPr>
        <p:spPr>
          <a:xfrm>
            <a:off x="665019" y="2035666"/>
            <a:ext cx="442036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2B79D8C-DA77-1ACD-C7BA-7E7687DD4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19" y="2369678"/>
            <a:ext cx="4436365" cy="335686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6" name="설명선: 굽은 선 15">
            <a:extLst>
              <a:ext uri="{FF2B5EF4-FFF2-40B4-BE49-F238E27FC236}">
                <a16:creationId xmlns:a16="http://schemas.microsoft.com/office/drawing/2014/main" id="{39D826A0-5AF1-8363-C6A9-E9F15AA76ADD}"/>
              </a:ext>
            </a:extLst>
          </p:cNvPr>
          <p:cNvSpPr/>
          <p:nvPr/>
        </p:nvSpPr>
        <p:spPr>
          <a:xfrm>
            <a:off x="6666376" y="2003034"/>
            <a:ext cx="5267930" cy="553287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44723"/>
              <a:gd name="adj6" fmla="val -26818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현재 디렉터리의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myapp이라는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이름(태그)의 이미지를 생성합니다. 명령어 끝의 점(.)을 반드시 포함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AEB568-7029-2310-CC5D-1BC0DEA22C21}"/>
              </a:ext>
            </a:extLst>
          </p:cNvPr>
          <p:cNvSpPr txBox="1"/>
          <p:nvPr/>
        </p:nvSpPr>
        <p:spPr>
          <a:xfrm>
            <a:off x="665019" y="3904432"/>
            <a:ext cx="10715107" cy="267765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CREATED   STATUS    PORTS     NAMES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        CREATED         STATUS                     PORTS     NAMES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32924fcbf737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3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Exited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(0) 2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hardcore_varahamihira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설명선: 굽은 선 19">
            <a:extLst>
              <a:ext uri="{FF2B5EF4-FFF2-40B4-BE49-F238E27FC236}">
                <a16:creationId xmlns:a16="http://schemas.microsoft.com/office/drawing/2014/main" id="{D06E19A6-1627-2D76-1832-3CD50C919EC2}"/>
              </a:ext>
            </a:extLst>
          </p:cNvPr>
          <p:cNvSpPr/>
          <p:nvPr/>
        </p:nvSpPr>
        <p:spPr>
          <a:xfrm>
            <a:off x="6666375" y="2875713"/>
            <a:ext cx="5267931" cy="553287"/>
          </a:xfrm>
          <a:prstGeom prst="borderCallout2">
            <a:avLst>
              <a:gd name="adj1" fmla="val 42694"/>
              <a:gd name="adj2" fmla="val -1460"/>
              <a:gd name="adj3" fmla="val 54475"/>
              <a:gd name="adj4" fmla="val -14783"/>
              <a:gd name="adj5" fmla="val 159874"/>
              <a:gd name="adj6" fmla="val -2801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실행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삭제할 때는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먼저 삭제하고 이미지를 삭제하기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D0440F1C-D1E0-1279-3A0B-A9B8519C1930}"/>
              </a:ext>
            </a:extLst>
          </p:cNvPr>
          <p:cNvSpPr/>
          <p:nvPr/>
        </p:nvSpPr>
        <p:spPr>
          <a:xfrm>
            <a:off x="6666375" y="3883409"/>
            <a:ext cx="5267930" cy="801931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94804"/>
              <a:gd name="adj6" fmla="val -21207"/>
            </a:avLst>
          </a:prstGeom>
          <a:solidFill>
            <a:schemeClr val="bg1">
              <a:lumMod val="85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app.py가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(FASTAPI) 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 서버라면, 내 컴퓨터(호스트)의 포트와 컨테이너 내부 포트를 연결해 주어야 브라우저에서 접근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8000:8000 --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my-container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983846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E5E5D54F-867C-FFC1-A9A7-ABE5A6CA2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CE04CB7-FA4C-131A-12B2-B6D663D5AC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5776597-EFA5-F09F-1E6C-A5D0638F07F2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CB368E6-241C-229F-EA98-B3F6EF30D3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586AFE-D5EF-C7D0-2108-364CE79233B1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85BEFF-BD5E-E90C-3624-48322EEB5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8" y="1808549"/>
            <a:ext cx="5741155" cy="44051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B676DBF-3D55-D637-7A1A-8D1488872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674" y="2361424"/>
            <a:ext cx="5671832" cy="41971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4A606A49-C253-2D42-3ADB-6FC5B01B0605}"/>
              </a:ext>
            </a:extLst>
          </p:cNvPr>
          <p:cNvSpPr/>
          <p:nvPr/>
        </p:nvSpPr>
        <p:spPr>
          <a:xfrm>
            <a:off x="885194" y="4589312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97F6F5-31C2-052A-F9FC-7AB2D7467B11}"/>
              </a:ext>
            </a:extLst>
          </p:cNvPr>
          <p:cNvSpPr/>
          <p:nvPr/>
        </p:nvSpPr>
        <p:spPr>
          <a:xfrm>
            <a:off x="6612525" y="4958644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7ED871-6FDD-0FFE-B347-F0E97739B987}"/>
              </a:ext>
            </a:extLst>
          </p:cNvPr>
          <p:cNvSpPr txBox="1"/>
          <p:nvPr/>
        </p:nvSpPr>
        <p:spPr>
          <a:xfrm>
            <a:off x="589608" y="6316205"/>
            <a:ext cx="5367847" cy="2616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D:\my-docker-test\welcome-to-docker&gt;taskkill /</a:t>
            </a:r>
            <a:r>
              <a:rPr lang="ko-KR" altLang="en-US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/IM "</a:t>
            </a:r>
            <a:r>
              <a:rPr lang="ko-KR" altLang="en-US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com.docker.backend.exe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5617303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05044629-6066-B7AE-69B4-8830B482B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026A10C8-40D5-EC1D-4B6E-2D5D87C6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08" y="1380247"/>
            <a:ext cx="10893759" cy="4669571"/>
          </a:xfrm>
          <a:prstGeom prst="rect">
            <a:avLst/>
          </a:prstGeom>
        </p:spPr>
      </p:pic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9F706F0C-53CC-B2F9-4BC1-528935583C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63673CEC-0C1B-62D4-7BE0-BE8779458E7E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C099F67-688D-488A-41F9-3644D27D0B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9C81623-5C45-1420-A22F-0462FAB5A28C}"/>
              </a:ext>
            </a:extLst>
          </p:cNvPr>
          <p:cNvSpPr/>
          <p:nvPr/>
        </p:nvSpPr>
        <p:spPr>
          <a:xfrm>
            <a:off x="4127159" y="4275276"/>
            <a:ext cx="2273642" cy="703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60CA8A5-395F-C5C2-685D-4654A969C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8291" y="1833161"/>
            <a:ext cx="9638001" cy="493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38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12BBEC31-3591-E7F1-2DEB-AD61C1523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648498CD-6245-AF16-97B0-46C1F12CF9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28BDF9AF-5B98-282F-2549-849C47B009F2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0312211-374B-46EC-1479-FD22313715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9DD2A98-2EB7-270A-51CC-5333CC26F843}"/>
              </a:ext>
            </a:extLst>
          </p:cNvPr>
          <p:cNvGrpSpPr/>
          <p:nvPr/>
        </p:nvGrpSpPr>
        <p:grpSpPr>
          <a:xfrm>
            <a:off x="516631" y="1553275"/>
            <a:ext cx="11388035" cy="4456396"/>
            <a:chOff x="2122359" y="2059709"/>
            <a:chExt cx="11388035" cy="4456396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90FB8CF-1CDE-A362-54FE-06F8C860D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2359" y="2059709"/>
              <a:ext cx="8721608" cy="4456396"/>
            </a:xfrm>
            <a:prstGeom prst="rect">
              <a:avLst/>
            </a:prstGeom>
          </p:spPr>
        </p:pic>
        <p:sp>
          <p:nvSpPr>
            <p:cNvPr id="17" name="설명선: 굽은 선 16">
              <a:extLst>
                <a:ext uri="{FF2B5EF4-FFF2-40B4-BE49-F238E27FC236}">
                  <a16:creationId xmlns:a16="http://schemas.microsoft.com/office/drawing/2014/main" id="{41D26986-E669-DACD-CCAE-F73BB59845B1}"/>
                </a:ext>
              </a:extLst>
            </p:cNvPr>
            <p:cNvSpPr/>
            <p:nvPr/>
          </p:nvSpPr>
          <p:spPr>
            <a:xfrm>
              <a:off x="8559946" y="2478791"/>
              <a:ext cx="4950448" cy="766439"/>
            </a:xfrm>
            <a:prstGeom prst="borderCallout2">
              <a:avLst>
                <a:gd name="adj1" fmla="val 50083"/>
                <a:gd name="adj2" fmla="val -5567"/>
                <a:gd name="adj3" fmla="val 124799"/>
                <a:gd name="adj4" fmla="val -30569"/>
                <a:gd name="adj5" fmla="val 249682"/>
                <a:gd name="adj6" fmla="val -62103"/>
              </a:avLst>
            </a:prstGeom>
            <a:solidFill>
              <a:schemeClr val="tx1"/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ko-KR" sz="12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Host </a:t>
              </a:r>
              <a:r>
                <a:rPr lang="ko-KR" altLang="ko-KR" sz="1200" dirty="0" err="1">
                  <a:latin typeface="D2Coding" panose="020B0609020101020101" pitchFamily="49" charset="-127"/>
                  <a:ea typeface="D2Coding" panose="020B0609020101020101" pitchFamily="49" charset="-127"/>
                </a:rPr>
                <a:t>port에</a:t>
              </a:r>
              <a:r>
                <a:rPr lang="ko-KR" altLang="ko-KR" sz="12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8089를 입력했다면, 내 컴퓨터의 8089번 포트와 컨테이너의 3000번 포트가 서로 연결(포트 포워딩)된 것</a:t>
              </a:r>
              <a:endPara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4" name="Google Shape;241;p9">
            <a:extLst>
              <a:ext uri="{FF2B5EF4-FFF2-40B4-BE49-F238E27FC236}">
                <a16:creationId xmlns:a16="http://schemas.microsoft.com/office/drawing/2014/main" id="{27EE0FB7-C32B-8B6D-0578-13A7044D0C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4218" y="2738796"/>
            <a:ext cx="4980088" cy="191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E1FF3A-E454-9193-69C0-33D346B319CC}"/>
              </a:ext>
            </a:extLst>
          </p:cNvPr>
          <p:cNvSpPr txBox="1"/>
          <p:nvPr/>
        </p:nvSpPr>
        <p:spPr>
          <a:xfrm>
            <a:off x="7509164" y="3278983"/>
            <a:ext cx="517236" cy="261610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8089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3ACFE-9895-1F3D-096E-A4C24B13D5C1}"/>
              </a:ext>
            </a:extLst>
          </p:cNvPr>
          <p:cNvSpPr txBox="1"/>
          <p:nvPr/>
        </p:nvSpPr>
        <p:spPr>
          <a:xfrm>
            <a:off x="8777722" y="3278983"/>
            <a:ext cx="554182" cy="261610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3000</a:t>
            </a:r>
            <a:endParaRPr lang="ko-KR" altLang="en-US" sz="1600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AA8DD4F-0A7F-DE2A-0C45-9A5921F2468B}"/>
              </a:ext>
            </a:extLst>
          </p:cNvPr>
          <p:cNvCxnSpPr/>
          <p:nvPr/>
        </p:nvCxnSpPr>
        <p:spPr>
          <a:xfrm>
            <a:off x="8164945" y="3429000"/>
            <a:ext cx="517237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2046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E4A74025-7CE9-367C-8F7E-65139388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06243251-8F0B-FFCA-1E49-61A17061F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B2C22F3E-EA37-B20E-71F1-76D4AE8CCEE1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2DB3439-4AEC-2DB9-CFAA-BE9615BFD86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7F309F71-A98F-201A-B695-5B3F89F97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84" y="1380246"/>
            <a:ext cx="10081634" cy="505671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881A7077-742B-8063-4BAC-1735054B75FE}"/>
              </a:ext>
            </a:extLst>
          </p:cNvPr>
          <p:cNvSpPr/>
          <p:nvPr/>
        </p:nvSpPr>
        <p:spPr>
          <a:xfrm>
            <a:off x="2434595" y="3032303"/>
            <a:ext cx="1756406" cy="1934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44BA7F7-F0F3-72AE-9487-B53C57ED0B7B}"/>
              </a:ext>
            </a:extLst>
          </p:cNvPr>
          <p:cNvSpPr/>
          <p:nvPr/>
        </p:nvSpPr>
        <p:spPr>
          <a:xfrm>
            <a:off x="1151894" y="2321103"/>
            <a:ext cx="2848605" cy="4601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70D5FFC-80C5-6ED0-129E-84CF17A81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8695" y="1735890"/>
            <a:ext cx="9766245" cy="489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7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90E09-D25C-F6B1-9B5F-1F1274869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194C33-B617-B41E-1C8B-E70C9929A1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(Virtual Environment + Jupyter notebook)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F2C36E4-1711-3E1D-51CD-97366C09763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42DC35-4811-C4D1-3A58-3C735B58FA8B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 on WSL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Wirtual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Enviroment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Jupyter Notebook on WSL</a:t>
            </a:r>
          </a:p>
        </p:txBody>
      </p:sp>
    </p:spTree>
    <p:extLst>
      <p:ext uri="{BB962C8B-B14F-4D97-AF65-F5344CB8AC3E}">
        <p14:creationId xmlns:p14="http://schemas.microsoft.com/office/powerpoint/2010/main" val="34464848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B2BAFF31-4189-D723-F796-3D3182762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E903F8B5-71CF-0A5F-77A8-516EBBE2D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4ECFE30C-EAAC-02B9-1DD7-27A6E835A5DD}"/>
              </a:ext>
            </a:extLst>
          </p:cNvPr>
          <p:cNvSpPr/>
          <p:nvPr/>
        </p:nvSpPr>
        <p:spPr>
          <a:xfrm>
            <a:off x="5440218" y="3812219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02186EE-6EC1-365A-CFF1-509449BDE6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5896F119-4DD4-BF2F-4A52-4665F92E1B96}"/>
              </a:ext>
            </a:extLst>
          </p:cNvPr>
          <p:cNvSpPr/>
          <p:nvPr/>
        </p:nvSpPr>
        <p:spPr>
          <a:xfrm>
            <a:off x="2365595" y="5506505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EF799439-D4CB-617D-A242-00F62438CEA6}"/>
              </a:ext>
            </a:extLst>
          </p:cNvPr>
          <p:cNvSpPr/>
          <p:nvPr/>
        </p:nvSpPr>
        <p:spPr>
          <a:xfrm>
            <a:off x="2365595" y="4663866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96;p14">
            <a:extLst>
              <a:ext uri="{FF2B5EF4-FFF2-40B4-BE49-F238E27FC236}">
                <a16:creationId xmlns:a16="http://schemas.microsoft.com/office/drawing/2014/main" id="{E86F6476-E16D-8834-6DE5-CC19049EB226}"/>
              </a:ext>
            </a:extLst>
          </p:cNvPr>
          <p:cNvSpPr/>
          <p:nvPr/>
        </p:nvSpPr>
        <p:spPr>
          <a:xfrm>
            <a:off x="2344024" y="3812219"/>
            <a:ext cx="7169429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B53D07AA-C05E-B096-CB79-3E0E8D26AC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7380" y="3916498"/>
            <a:ext cx="766292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9BF7EA30-4F5A-8F76-FE25-03931B93D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595" y="2747404"/>
            <a:ext cx="1977229" cy="9886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0E2E75-C783-B69C-A293-008A99B6BD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1688" y="2747404"/>
            <a:ext cx="1357925" cy="98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6620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41DFE-ADCB-8390-3A1D-DB14DC89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F68F42-E515-4A96-D7E9-9246B3AE79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WSL,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77EDE-8835-4628-7AC8-ECBE6F70F2F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81565B-514E-66EF-A29D-4BC7730BA3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80D92BE-4F88-1665-7685-9E3775DD00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410ABF9-52B4-C90E-30FA-30F42B734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759" y="1231970"/>
            <a:ext cx="11353281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클라이언트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아키텍처를 통해 작동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(UI Client):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에디터의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(UI),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렌더링 등 사용자가 조작하는 영역 담당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 (VS Code Server):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입력하는 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Server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33DDD9B3-45C3-841F-FF91-D7D5EC3E84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19C3AA-F7B6-DFEB-356A-9839AA030E4A}"/>
              </a:ext>
            </a:extLst>
          </p:cNvPr>
          <p:cNvSpPr txBox="1"/>
          <p:nvPr/>
        </p:nvSpPr>
        <p:spPr>
          <a:xfrm>
            <a:off x="624017" y="2668615"/>
            <a:ext cx="4209791" cy="3818866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통신 및 작업 처리 방식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실시간 통신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내부 소켓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통신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네이티브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코드의 확장 기능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(Python, Node.js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검색 등 모든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내부에서 리눅스 바이너리로 직접 동작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액세스 속도 최적화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시스템을 거쳐 리눅스 파일을 읽는 대신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해당 파일 시스템에 직접 접근하므로 속도가 매우 빠르고 권한 문제가 발생하지 않음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편리한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유지하면서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완전한 리눅스 개발 환경의 이점을 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Google Shape;294;p14">
            <a:extLst>
              <a:ext uri="{FF2B5EF4-FFF2-40B4-BE49-F238E27FC236}">
                <a16:creationId xmlns:a16="http://schemas.microsoft.com/office/drawing/2014/main" id="{75AC0761-96EF-8DB6-FC1F-95F3E005B83A}"/>
              </a:ext>
            </a:extLst>
          </p:cNvPr>
          <p:cNvSpPr/>
          <p:nvPr/>
        </p:nvSpPr>
        <p:spPr>
          <a:xfrm>
            <a:off x="6113650" y="536917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Window H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ost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19" name="Google Shape;295;p14">
            <a:extLst>
              <a:ext uri="{FF2B5EF4-FFF2-40B4-BE49-F238E27FC236}">
                <a16:creationId xmlns:a16="http://schemas.microsoft.com/office/drawing/2014/main" id="{01855198-2F50-BBE5-E1BD-1B2E5D4E525A}"/>
              </a:ext>
            </a:extLst>
          </p:cNvPr>
          <p:cNvSpPr/>
          <p:nvPr/>
        </p:nvSpPr>
        <p:spPr>
          <a:xfrm>
            <a:off x="6113650" y="479349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WSL2(Linux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가상환경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)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0" name="Google Shape;296;p14">
            <a:extLst>
              <a:ext uri="{FF2B5EF4-FFF2-40B4-BE49-F238E27FC236}">
                <a16:creationId xmlns:a16="http://schemas.microsoft.com/office/drawing/2014/main" id="{CBDD4233-AC71-FD46-A10C-53ECEB06D405}"/>
              </a:ext>
            </a:extLst>
          </p:cNvPr>
          <p:cNvSpPr/>
          <p:nvPr/>
        </p:nvSpPr>
        <p:spPr>
          <a:xfrm>
            <a:off x="6092079" y="4217811"/>
            <a:ext cx="4623545" cy="479178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Ubuntu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1" name="Google Shape;296;p14">
            <a:extLst>
              <a:ext uri="{FF2B5EF4-FFF2-40B4-BE49-F238E27FC236}">
                <a16:creationId xmlns:a16="http://schemas.microsoft.com/office/drawing/2014/main" id="{9D2A7F7B-6613-2C20-CF98-71FFF0109191}"/>
              </a:ext>
            </a:extLst>
          </p:cNvPr>
          <p:cNvSpPr/>
          <p:nvPr/>
        </p:nvSpPr>
        <p:spPr>
          <a:xfrm>
            <a:off x="60920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96;p14">
            <a:extLst>
              <a:ext uri="{FF2B5EF4-FFF2-40B4-BE49-F238E27FC236}">
                <a16:creationId xmlns:a16="http://schemas.microsoft.com/office/drawing/2014/main" id="{2010E48F-F16B-3566-34E7-A997517133A3}"/>
              </a:ext>
            </a:extLst>
          </p:cNvPr>
          <p:cNvSpPr/>
          <p:nvPr/>
        </p:nvSpPr>
        <p:spPr>
          <a:xfrm>
            <a:off x="90257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Docker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D1556FB4-6DE3-5A67-6FFF-D69BC88A1BE3}"/>
              </a:ext>
            </a:extLst>
          </p:cNvPr>
          <p:cNvCxnSpPr>
            <a:cxnSpLocks/>
            <a:stCxn id="18" idx="1"/>
            <a:endCxn id="21" idx="1"/>
          </p:cNvCxnSpPr>
          <p:nvPr/>
        </p:nvCxnSpPr>
        <p:spPr>
          <a:xfrm rot="10800000">
            <a:off x="6092080" y="3803311"/>
            <a:ext cx="21571" cy="1805450"/>
          </a:xfrm>
          <a:prstGeom prst="bentConnector3">
            <a:avLst>
              <a:gd name="adj1" fmla="val 11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AAB798F7-4E5D-EBD1-BAB6-E056D74EEAC1}"/>
              </a:ext>
            </a:extLst>
          </p:cNvPr>
          <p:cNvCxnSpPr>
            <a:cxnSpLocks/>
            <a:stCxn id="18" idx="3"/>
            <a:endCxn id="22" idx="3"/>
          </p:cNvCxnSpPr>
          <p:nvPr/>
        </p:nvCxnSpPr>
        <p:spPr>
          <a:xfrm flipH="1" flipV="1">
            <a:off x="10715624" y="3803311"/>
            <a:ext cx="21571" cy="1805450"/>
          </a:xfrm>
          <a:prstGeom prst="bentConnector3">
            <a:avLst>
              <a:gd name="adj1" fmla="val -10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6E4AD5-ECD4-3EB1-F65C-78262F1AE35B}"/>
              </a:ext>
            </a:extLst>
          </p:cNvPr>
          <p:cNvSpPr txBox="1"/>
          <p:nvPr/>
        </p:nvSpPr>
        <p:spPr>
          <a:xfrm>
            <a:off x="5029899" y="4362605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9DDD8A-C3BF-B293-DC4F-D903ED061B6C}"/>
              </a:ext>
            </a:extLst>
          </p:cNvPr>
          <p:cNvSpPr txBox="1"/>
          <p:nvPr/>
        </p:nvSpPr>
        <p:spPr>
          <a:xfrm>
            <a:off x="10997614" y="4266102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641148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CD719-B81F-0F52-9078-3D5F522DB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97515E-6A96-4B95-7417-A18D21E8AB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C5F6C23-2A26-B3FA-118D-7116027BA8D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1E2B88A-3104-6F36-B459-66AEED336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E33FC50F-546D-4900-E871-4AE5CCD7A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977" y="1451592"/>
            <a:ext cx="5379403" cy="42919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6D5E62F-14A4-355A-E273-77C1F99C8077}"/>
              </a:ext>
            </a:extLst>
          </p:cNvPr>
          <p:cNvSpPr/>
          <p:nvPr/>
        </p:nvSpPr>
        <p:spPr>
          <a:xfrm>
            <a:off x="6515610" y="2338911"/>
            <a:ext cx="1177758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590B61-4EA1-4513-D789-68129DE88234}"/>
              </a:ext>
            </a:extLst>
          </p:cNvPr>
          <p:cNvSpPr/>
          <p:nvPr/>
        </p:nvSpPr>
        <p:spPr>
          <a:xfrm>
            <a:off x="9872142" y="4562475"/>
            <a:ext cx="1294865" cy="3453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8203C8-A11D-AC18-CAE3-0BBB33E4FB5E}"/>
              </a:ext>
            </a:extLst>
          </p:cNvPr>
          <p:cNvSpPr/>
          <p:nvPr/>
        </p:nvSpPr>
        <p:spPr>
          <a:xfrm>
            <a:off x="7981317" y="2200277"/>
            <a:ext cx="2658108" cy="619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5F170E-0CF4-3217-C149-A4852281CC79}"/>
              </a:ext>
            </a:extLst>
          </p:cNvPr>
          <p:cNvSpPr txBox="1"/>
          <p:nvPr/>
        </p:nvSpPr>
        <p:spPr>
          <a:xfrm>
            <a:off x="599470" y="1250379"/>
            <a:ext cx="5564786" cy="538609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준비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Windows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플러그인 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열고 왼쪽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Extensions(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Ctrl+Shift+X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탭에서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(Microsoft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프로그램을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WSL(Ubuntu)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접속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(CMD)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Ubuntu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디렉토리 생성 및 이동</a:t>
            </a:r>
          </a:p>
          <a:p>
            <a:pPr lvl="2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내에서 작업할 폴더를 생성하고 해당 이동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/c/, 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/d/)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리눅스 홈 경로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(~)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작업할 때 성능 및 파일 읽기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쓰기 속도가 훨씬 빠름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8A7981-A94A-B728-48CE-4284034A6907}"/>
              </a:ext>
            </a:extLst>
          </p:cNvPr>
          <p:cNvSpPr/>
          <p:nvPr/>
        </p:nvSpPr>
        <p:spPr>
          <a:xfrm>
            <a:off x="9749616" y="1934622"/>
            <a:ext cx="1719636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124892-1DCC-3B9C-348F-7255A8E973BA}"/>
              </a:ext>
            </a:extLst>
          </p:cNvPr>
          <p:cNvSpPr txBox="1"/>
          <p:nvPr/>
        </p:nvSpPr>
        <p:spPr>
          <a:xfrm>
            <a:off x="1028700" y="3083577"/>
            <a:ext cx="498217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-d Ubuntu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8B057E-2AD5-2D7E-D089-0DB59BEE0249}"/>
              </a:ext>
            </a:extLst>
          </p:cNvPr>
          <p:cNvSpPr txBox="1"/>
          <p:nvPr/>
        </p:nvSpPr>
        <p:spPr>
          <a:xfrm>
            <a:off x="1055687" y="4958745"/>
            <a:ext cx="495518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D:\&gt;wsl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~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:~#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my-project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:~#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:~/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14519831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AF781-9BE2-4D60-D1BF-BA5ECC4FE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8EFB78-3722-F05B-4FFF-164E1749B8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717C55-56D0-8554-0485-4637F108B54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F55DA21E-10BE-5B49-00B4-4DF98D99EB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359FDB-7E87-CA9A-B082-8BD247C61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94812"/>
              </p:ext>
            </p:extLst>
          </p:nvPr>
        </p:nvGraphicFramePr>
        <p:xfrm>
          <a:off x="1380105" y="1900610"/>
          <a:ext cx="9964170" cy="4072308"/>
        </p:xfrm>
        <a:graphic>
          <a:graphicData uri="http://schemas.openxmlformats.org/drawingml/2006/table">
            <a:tbl>
              <a:tblPr/>
              <a:tblGrid>
                <a:gridCol w="2848995">
                  <a:extLst>
                    <a:ext uri="{9D8B030D-6E8A-4147-A177-3AD203B41FA5}">
                      <a16:colId xmlns:a16="http://schemas.microsoft.com/office/drawing/2014/main" val="2571242239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1497785675"/>
                    </a:ext>
                  </a:extLst>
                </a:gridCol>
                <a:gridCol w="4914900">
                  <a:extLst>
                    <a:ext uri="{9D8B030D-6E8A-4147-A177-3AD203B41FA5}">
                      <a16:colId xmlns:a16="http://schemas.microsoft.com/office/drawing/2014/main" val="4109236800"/>
                    </a:ext>
                  </a:extLst>
                </a:gridCol>
              </a:tblGrid>
              <a:tr h="2163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명령어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8106979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CMD/PowerShell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-l -v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설치된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</a:t>
                      </a:r>
                      <a:r>
                        <a:rPr lang="ko-KR" altLang="en-US" sz="16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목록 및 버전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622478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-d Ubuntu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Ubuntu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배포판으로 터미널 진입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723460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(Ubuntu)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터미널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~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리눅스 사용자 홈 디렉토리로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54350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/</a:t>
                      </a: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mnt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D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드라이브 경로로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26048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pwd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위치한 디렉토리 경로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779983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ls -l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 파일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폴더 목록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9780964"/>
                  </a:ext>
                </a:extLst>
              </a:tr>
              <a:tr h="665820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 .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디렉토리를 작업 공간으로 하여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VS Code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259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46077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CB15-5ED0-DADC-0DEC-008B6B9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E828A-C8DA-2A4A-77AA-47FAAB632E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WSL VS Code + .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venv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+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ipkernel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8A869B8-07C4-4DFE-4DA3-01DD36C4F8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26CD73C7-5FAD-D77A-2BC2-0F99CAB091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D26759-0827-6FD9-3062-8A42A33F1478}"/>
              </a:ext>
            </a:extLst>
          </p:cNvPr>
          <p:cNvSpPr txBox="1"/>
          <p:nvPr/>
        </p:nvSpPr>
        <p:spPr>
          <a:xfrm>
            <a:off x="581025" y="1475210"/>
            <a:ext cx="905827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python3-pip python3-venv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DD78B7-4DE5-4D2B-2E99-B0EA9B15DF9E}"/>
              </a:ext>
            </a:extLst>
          </p:cNvPr>
          <p:cNvSpPr txBox="1"/>
          <p:nvPr/>
        </p:nvSpPr>
        <p:spPr>
          <a:xfrm>
            <a:off x="581025" y="2215693"/>
            <a:ext cx="905827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프로젝트 폴더 생성 및 이동 (홈 디렉토리 권장)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~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'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venv'라는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가상환경 생성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python3 -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가상환경 활성화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E7811-0899-56EF-A9B5-2E2106190875}"/>
              </a:ext>
            </a:extLst>
          </p:cNvPr>
          <p:cNvSpPr txBox="1"/>
          <p:nvPr/>
        </p:nvSpPr>
        <p:spPr>
          <a:xfrm>
            <a:off x="581025" y="4267888"/>
            <a:ext cx="9058275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업그레이드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upgrade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VS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가상환경을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커널로 인식하도록 등록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display-name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9329F6-39D0-11E4-CFC3-E7433C85F41F}"/>
              </a:ext>
            </a:extLst>
          </p:cNvPr>
          <p:cNvSpPr txBox="1"/>
          <p:nvPr/>
        </p:nvSpPr>
        <p:spPr>
          <a:xfrm>
            <a:off x="581025" y="5682061"/>
            <a:ext cx="8801100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오른쪽 상단의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버전 표시) 버튼을 클릭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Environments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 선택 후 방금 만든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커널을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선택후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125401306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19103</TotalTime>
  <Words>5949</Words>
  <Application>Microsoft Office PowerPoint</Application>
  <PresentationFormat>와이드스크린</PresentationFormat>
  <Paragraphs>1100</Paragraphs>
  <Slides>90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90</vt:i4>
      </vt:variant>
    </vt:vector>
  </HeadingPairs>
  <TitlesOfParts>
    <vt:vector size="102" baseType="lpstr">
      <vt:lpstr>D2Coding</vt:lpstr>
      <vt:lpstr>Noto Sans Symbols</vt:lpstr>
      <vt:lpstr>Sorts Mill Goudy</vt:lpstr>
      <vt:lpstr>Malgun Gothic</vt:lpstr>
      <vt:lpstr>Malgun Gothic</vt:lpstr>
      <vt:lpstr>Batang</vt:lpstr>
      <vt:lpstr>Arial</vt:lpstr>
      <vt:lpstr>Courier New</vt:lpstr>
      <vt:lpstr>Segoe UI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WSL 설치 </vt:lpstr>
      <vt:lpstr>Docker 설치(WSL)</vt:lpstr>
      <vt:lpstr>PowerPoint 프레젠테이션</vt:lpstr>
      <vt:lpstr>Windows PowerShell</vt:lpstr>
      <vt:lpstr>WSL2 Installation</vt:lpstr>
      <vt:lpstr>Docker 설치(WSL)</vt:lpstr>
      <vt:lpstr>Build Image &amp; Run Container </vt:lpstr>
      <vt:lpstr>Dockerfile 실습</vt:lpstr>
      <vt:lpstr>Dockerfile 실습</vt:lpstr>
      <vt:lpstr>Dockerfile 실습</vt:lpstr>
      <vt:lpstr>Dockerfile 실습</vt:lpstr>
      <vt:lpstr>Dockerdesktop에서 Dockerfile 실습</vt:lpstr>
      <vt:lpstr>Dockerdesktop에서 Dockerfile 실습</vt:lpstr>
      <vt:lpstr>Dockerdesktop에서 Dockerfile 실습</vt:lpstr>
      <vt:lpstr>VS code (Virtual Environment + Jupyter notebook)</vt:lpstr>
      <vt:lpstr>Docker 설치(WSL)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277</cp:revision>
  <dcterms:created xsi:type="dcterms:W3CDTF">2026-04-06T01:00:39Z</dcterms:created>
  <dcterms:modified xsi:type="dcterms:W3CDTF">2026-09-14T05:41:37Z</dcterms:modified>
  <cp:version/>
</cp:coreProperties>
</file>