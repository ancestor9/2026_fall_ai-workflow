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1151" r:id="rId2"/>
    <p:sldId id="1149" r:id="rId3"/>
    <p:sldId id="1176" r:id="rId4"/>
    <p:sldId id="1223" r:id="rId5"/>
    <p:sldId id="1224" r:id="rId6"/>
    <p:sldId id="1222" r:id="rId7"/>
    <p:sldId id="1153" r:id="rId8"/>
    <p:sldId id="1226" r:id="rId9"/>
    <p:sldId id="1225" r:id="rId10"/>
    <p:sldId id="1154" r:id="rId11"/>
    <p:sldId id="1155" r:id="rId12"/>
    <p:sldId id="1156" r:id="rId13"/>
    <p:sldId id="1179" r:id="rId14"/>
    <p:sldId id="1171" r:id="rId15"/>
    <p:sldId id="1173" r:id="rId16"/>
    <p:sldId id="1172" r:id="rId17"/>
    <p:sldId id="1177" r:id="rId18"/>
    <p:sldId id="401" r:id="rId19"/>
    <p:sldId id="433" r:id="rId20"/>
    <p:sldId id="432" r:id="rId21"/>
    <p:sldId id="1182" r:id="rId22"/>
    <p:sldId id="382" r:id="rId23"/>
    <p:sldId id="1220" r:id="rId24"/>
    <p:sldId id="1196" r:id="rId25"/>
    <p:sldId id="1178" r:id="rId26"/>
    <p:sldId id="1146" r:id="rId27"/>
    <p:sldId id="1145" r:id="rId28"/>
    <p:sldId id="1168" r:id="rId29"/>
    <p:sldId id="1167" r:id="rId30"/>
    <p:sldId id="1169" r:id="rId31"/>
    <p:sldId id="1170" r:id="rId32"/>
    <p:sldId id="1147" r:id="rId33"/>
    <p:sldId id="1161" r:id="rId34"/>
    <p:sldId id="1164" r:id="rId35"/>
    <p:sldId id="1180" r:id="rId36"/>
    <p:sldId id="1228" r:id="rId37"/>
    <p:sldId id="1229" r:id="rId38"/>
    <p:sldId id="1181" r:id="rId39"/>
    <p:sldId id="1227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76"/>
            <p14:sldId id="1223"/>
            <p14:sldId id="1224"/>
            <p14:sldId id="1222"/>
            <p14:sldId id="1153"/>
            <p14:sldId id="1226"/>
            <p14:sldId id="1225"/>
            <p14:sldId id="1154"/>
            <p14:sldId id="1155"/>
            <p14:sldId id="1156"/>
            <p14:sldId id="1179"/>
            <p14:sldId id="1171"/>
            <p14:sldId id="1173"/>
            <p14:sldId id="1172"/>
            <p14:sldId id="1177"/>
            <p14:sldId id="401"/>
            <p14:sldId id="433"/>
            <p14:sldId id="432"/>
            <p14:sldId id="1182"/>
            <p14:sldId id="382"/>
            <p14:sldId id="1220"/>
            <p14:sldId id="1196"/>
            <p14:sldId id="1178"/>
            <p14:sldId id="1146"/>
            <p14:sldId id="1145"/>
            <p14:sldId id="1168"/>
            <p14:sldId id="1167"/>
            <p14:sldId id="1169"/>
            <p14:sldId id="1170"/>
            <p14:sldId id="1147"/>
            <p14:sldId id="1161"/>
            <p14:sldId id="1164"/>
            <p14:sldId id="1180"/>
            <p14:sldId id="1228"/>
            <p14:sldId id="1229"/>
            <p14:sldId id="1181"/>
            <p14:sldId id="122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1415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A2362-49C8-3613-71B3-4AB14F834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B3F229-4D2B-9C76-B7BC-09DB5E08D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EF9BD-3B03-4C4D-3966-0C97B3DE0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41E02-0EA3-463F-A5BA-D664E0C51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3333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C0289-D123-DD35-D4D8-4614510D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68140-1DFC-31B7-5287-8A4D53B16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D87B3D-F089-B1E5-BD52-CE965CF17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9E9936-FC3C-1356-9700-DCFAA4A895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8825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FC302-C04D-8312-7A83-4FED4F30B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210E6C-18CE-44AA-192F-B7F1CA5C8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A5CB12-4ED8-271E-A70D-B10A40F83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F19BE-F39E-32E0-72F3-7D6D8C1CB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7539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asu.edu/datascience/workflow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hsh/series/prefect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sv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radio.app/" TargetMode="External"/><Relationship Id="rId7" Type="http://schemas.openxmlformats.org/officeDocument/2006/relationships/image" Target="../media/image27.svg"/><Relationship Id="rId2" Type="http://schemas.openxmlformats.org/officeDocument/2006/relationships/hyperlink" Target="https://github.com/ancestor9/Special_note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ntigravity.google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?hl=ko#scrollTo=-sdyeRMXPvU_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20530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19470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book/1809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What is AI Workflow?  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4421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Orchestration Framework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Chatbot : LLM(Large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Model)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Coding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Agent</a:t>
            </a: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8BA7F-73F0-82DE-3AFA-1DE2BE1C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4FB44-F38B-8E0C-EE0F-1F690C0B1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Automation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590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9D45-A906-9EE7-B319-15B784A4C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56691-C8EF-AB34-C478-9181C846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F8DFEC-2EC1-8EE0-3F56-982A444CE4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6D29B-27BE-40A9-A98D-2CAED053D668}"/>
              </a:ext>
            </a:extLst>
          </p:cNvPr>
          <p:cNvSpPr txBox="1"/>
          <p:nvPr/>
        </p:nvSpPr>
        <p:spPr>
          <a:xfrm>
            <a:off x="751955" y="1718786"/>
            <a:ext cx="10515601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Feeling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(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Intuition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)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vs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 Data-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key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being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is 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predictable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set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predetermined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actions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that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transfers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from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one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point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another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0897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2790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6C9E3-F66F-7BF7-D744-3CD24874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379E75-3188-AC9E-B5A7-62FF41D05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3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7F52-F3F8-E0D2-03C4-B1F161DB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4A42-D40B-CC26-F592-E0D96BEFD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C76A262-E7C2-FBE8-B1B3-9679D95EAF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Modeling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6572B1-140A-3C3F-1EDE-B2D5437645B4}"/>
              </a:ext>
            </a:extLst>
          </p:cNvPr>
          <p:cNvSpPr txBox="1"/>
          <p:nvPr/>
        </p:nvSpPr>
        <p:spPr>
          <a:xfrm>
            <a:off x="1081087" y="1961066"/>
            <a:ext cx="10029825" cy="335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MS Gothic" panose="020B0609070205080204" pitchFamily="49" charset="-128"/>
                <a:ea typeface="MS Gothic" panose="020B0609070205080204" pitchFamily="49" charset="-128"/>
              </a:rPr>
              <a:t>Mapping is the first step to any good automation.</a:t>
            </a: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Correctly mapping a process before automation will ensure you have visibility on the: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Understanding of the task (understand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biz process &amp; data)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Tools that will be used (JAVA,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 err="1">
                <a:latin typeface="MS Gothic" panose="020B0609070205080204" pitchFamily="49" charset="-128"/>
                <a:ea typeface="MS Gothic" panose="020B0609070205080204" pitchFamily="49" charset="-128"/>
              </a:rPr>
              <a:t>puthon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, n8n,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…)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Feasibility of the automation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Estimation of work load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(Sometimes) need for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3097388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159E-35AD-9476-972C-80774C22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33320-8994-E01F-EB3D-4C7FD8F0D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313E1B7-DB80-1CB6-5921-BD79EC645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>
                <a:latin typeface="Lora" pitchFamily="2" charset="0"/>
              </a:rPr>
              <a:t>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FE7D41C-8083-8B29-211B-0A92F55F3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137" y="1761079"/>
            <a:ext cx="5692633" cy="41532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F1D875-7D57-A414-92AB-D0E42A6287F4}"/>
              </a:ext>
            </a:extLst>
          </p:cNvPr>
          <p:cNvSpPr txBox="1"/>
          <p:nvPr/>
        </p:nvSpPr>
        <p:spPr>
          <a:xfrm>
            <a:off x="2603137" y="6218823"/>
            <a:ext cx="3614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https://math.asu.edu/datascience/workflow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9004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204B-E244-99B3-34B7-EEDB50DF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75648-4026-87A2-1E7D-D50D1AA4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44180C-87C2-5DB1-94D1-6F903346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94F62-7060-F457-BB09-8CDFA2D7E7F4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8" name="그림 7" descr="Orchestrate a Data Science Project in Python With Prefect">
            <a:extLst>
              <a:ext uri="{FF2B5EF4-FFF2-40B4-BE49-F238E27FC236}">
                <a16:creationId xmlns:a16="http://schemas.microsoft.com/office/drawing/2014/main" id="{BAB35102-7A6D-E82D-69A8-5728B6458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63" y="1667389"/>
            <a:ext cx="6275173" cy="1184439"/>
          </a:xfrm>
          <a:prstGeom prst="rect">
            <a:avLst/>
          </a:prstGeom>
        </p:spPr>
      </p:pic>
      <p:pic>
        <p:nvPicPr>
          <p:cNvPr id="10" name="그림 9" descr="Orchestrate a Data Science Project in Python With Prefect">
            <a:extLst>
              <a:ext uri="{FF2B5EF4-FFF2-40B4-BE49-F238E27FC236}">
                <a16:creationId xmlns:a16="http://schemas.microsoft.com/office/drawing/2014/main" id="{B77324CF-0ED1-B05F-052A-B45F4768B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365" y="3270796"/>
            <a:ext cx="7045768" cy="27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0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B04ED-2915-0FD5-7414-0117E08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47" y="2421937"/>
            <a:ext cx="5354461" cy="2724082"/>
          </a:xfrm>
          <a:prstGeom prst="rect">
            <a:avLst/>
          </a:prstGeom>
        </p:spPr>
      </p:pic>
      <p:pic>
        <p:nvPicPr>
          <p:cNvPr id="2" name="그림 1" descr="Orchestrate a Data Science Project in Python With Prefect">
            <a:extLst>
              <a:ext uri="{FF2B5EF4-FFF2-40B4-BE49-F238E27FC236}">
                <a16:creationId xmlns:a16="http://schemas.microsoft.com/office/drawing/2014/main" id="{5C84935F-2D7D-69FA-59BE-E2D260932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21" y="1773032"/>
            <a:ext cx="5350179" cy="405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5B68-13BC-82A8-E69A-EBF63686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02455A-6684-4AFE-7F70-D243495C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394978-3A88-4C9F-19C4-6B402CF98A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Homework 01_machine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5E77B-3B3E-CE13-A28F-177623F536B2}"/>
              </a:ext>
            </a:extLst>
          </p:cNvPr>
          <p:cNvSpPr txBox="1"/>
          <p:nvPr/>
        </p:nvSpPr>
        <p:spPr>
          <a:xfrm>
            <a:off x="740527" y="1631367"/>
            <a:ext cx="10088880" cy="3096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 +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0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AI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applications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Open-source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foundations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production-ready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platforms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Prefect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기초부터 활용까지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2059E3DA-7196-C207-109D-6D0F9F2D9E1C}"/>
              </a:ext>
            </a:extLst>
          </p:cNvPr>
          <p:cNvSpPr/>
          <p:nvPr/>
        </p:nvSpPr>
        <p:spPr>
          <a:xfrm>
            <a:off x="7707457" y="2228427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1710055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Workflow Orchestration Framework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02_workflow orchestration framework.pptx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78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BF7A9-D1E9-9872-6D87-ACEC8B2A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A39791-8485-7449-EBF2-09179946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EC0FBD-AE36-9A56-09B4-A72511AB17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CEDA6A-1D38-FA5D-2186-C1A3183B2D11}"/>
              </a:ext>
            </a:extLst>
          </p:cNvPr>
          <p:cNvSpPr txBox="1"/>
          <p:nvPr/>
        </p:nvSpPr>
        <p:spPr>
          <a:xfrm>
            <a:off x="638174" y="1659285"/>
            <a:ext cx="9496425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contextlib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asynccontextmanager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apscheduler.schedulers.background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백그라운드 스케줄러 및 로그 저장소 세팅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타이머가 울릴 때마다 실행할 함수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datetime.datetime.now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strftime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"⏰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- 백그라운드 자동화 작업 완료!"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 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터미널 콘솔에 즉시 출력됨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job_logs.append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59530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34BF4-B6D9-6A36-1039-2C2428ED2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23713-2600-6AF0-4C78-1CB9E9914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8FF3D3-349A-BA1B-C7AE-A5AF08AA3E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F927E8-8746-9750-A152-D776B908D86A}"/>
              </a:ext>
            </a:extLst>
          </p:cNvPr>
          <p:cNvSpPr txBox="1"/>
          <p:nvPr/>
        </p:nvSpPr>
        <p:spPr>
          <a:xfrm>
            <a:off x="638175" y="1543925"/>
            <a:ext cx="1019123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(시작과 종료를 한 번에 관리)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@asynccontextmanager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[STARTUP] 서버가 켜질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10초 주기(*/10)로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작업을 등록하고 스케줄러를 시작합니다.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scheduler.add_job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='*/10')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scheduler.start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("🚀 백그라운드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스케줄러가 성공적으로 시작되었습니다! (10초 주기)")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 # 💻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기점으로 서버가 정상 구동되며 대기합니다.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[SHUTDOWN] 서버가 꺼질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scheduler.shutdown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    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누르면 이 아랫줄이 실행됩니다.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("🛑 스케줄러가 안전하게 종료되었습니다.")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(lifespan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app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title="Hermes Agent Cron Server",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description="Lifespan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적용한 에이전트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lifespan=lifespan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설명선: 굽은 선(테두리 및 강조선) 5">
            <a:extLst>
              <a:ext uri="{FF2B5EF4-FFF2-40B4-BE49-F238E27FC236}">
                <a16:creationId xmlns:a16="http://schemas.microsoft.com/office/drawing/2014/main" id="{E47BCDE6-3759-A338-C072-B0DF567296BB}"/>
              </a:ext>
            </a:extLst>
          </p:cNvPr>
          <p:cNvSpPr/>
          <p:nvPr/>
        </p:nvSpPr>
        <p:spPr>
          <a:xfrm>
            <a:off x="8029662" y="619124"/>
            <a:ext cx="3752850" cy="2371726"/>
          </a:xfrm>
          <a:prstGeom prst="accentBorderCallout2">
            <a:avLst>
              <a:gd name="adj1" fmla="val 18750"/>
              <a:gd name="adj2" fmla="val -3257"/>
              <a:gd name="adj3" fmla="val 47666"/>
              <a:gd name="adj4" fmla="val -36210"/>
              <a:gd name="adj5" fmla="val 62573"/>
              <a:gd name="adj6" fmla="val -14489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contextmanager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open("test.txt", "w") as f: </a:t>
            </a: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f.write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("hello") </a:t>
            </a: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블록을 나가는 순간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f.close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자동 실행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일반 함수에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yield 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비동기 방식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 자원을 낭비 없이 쥐어짜서 웹 서버와 백그라운드 자동화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(Cron)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 끊김 없이 동시에 돌리기 위해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async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사용</a:t>
            </a:r>
          </a:p>
        </p:txBody>
      </p:sp>
    </p:spTree>
    <p:extLst>
      <p:ext uri="{BB962C8B-B14F-4D97-AF65-F5344CB8AC3E}">
        <p14:creationId xmlns:p14="http://schemas.microsoft.com/office/powerpoint/2010/main" val="1954403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B75E-F94E-CBF6-1E8E-27C8BE2C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6F5344-A2CB-E682-10FF-590DD5D5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304A5-FC66-397D-9069-C83D363136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F21189-BE23-6266-EBE5-30E58362F9D8}"/>
              </a:ext>
            </a:extLst>
          </p:cNvPr>
          <p:cNvSpPr txBox="1"/>
          <p:nvPr/>
        </p:nvSpPr>
        <p:spPr>
          <a:xfrm>
            <a:off x="628649" y="1400017"/>
            <a:ext cx="9496425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API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엔드포인트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read_root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"status": "running",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"message": "VS Code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로컬 서버가 정상 작동 중입니다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(Lifespan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완료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@app.get("/logs")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작업이 실행된 기록을 확인하는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total_runs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"history":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@app.post("/trigger")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trigger_now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예약된 시간과 별개로 사용자가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즉시 작업을 트리거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{"message": "⚡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작업을 즉시 강제 실행했습니다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5. VS 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직접 실행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진입점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if __name__ == "__main__":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uvicorn.run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main:app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host="127.0.0.1", port=8000, reload=True)</a:t>
            </a:r>
          </a:p>
        </p:txBody>
      </p:sp>
    </p:spTree>
    <p:extLst>
      <p:ext uri="{BB962C8B-B14F-4D97-AF65-F5344CB8AC3E}">
        <p14:creationId xmlns:p14="http://schemas.microsoft.com/office/powerpoint/2010/main" val="3513810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A6FDC-7223-DD81-8C76-9DD825E9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8E5FC7-1A88-E64D-FA75-866F06B59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LLM(Large Language Model)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63430" y="1190610"/>
            <a:ext cx="1099039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기반으로 다음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확률적으로 예측하여 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72265" y="2439864"/>
            <a:ext cx="5020496" cy="3660172"/>
            <a:chOff x="2938879" y="2492978"/>
            <a:chExt cx="5020496" cy="3660172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rgbClr val="FF99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9796" y="2492978"/>
              <a:ext cx="3379579" cy="3660172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563707" cy="3845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3061575" y="3815616"/>
            <a:ext cx="8492250" cy="274296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5123393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12DC4873-8878-1A66-9E65-761AEC1413B3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9864EF-57DD-0EF8-EEE2-E30A7B3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54FFA66-55FC-DF67-95A8-C264D5C14FCC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E42228-D343-259C-E33F-2EA9C7BE3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1182490"/>
            <a:ext cx="11143400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말을 이어가는 끝 말 이어가기 끝판 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LLM(Large Language Model)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3C699B77-FF99-CB64-B75D-7B9921ECC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</a:t>
            </a:r>
          </a:p>
        </p:txBody>
      </p:sp>
      <p:sp>
        <p:nvSpPr>
          <p:cNvPr id="13" name="슬라이드 번호 개체 틀 3">
            <a:extLst>
              <a:ext uri="{FF2B5EF4-FFF2-40B4-BE49-F238E27FC236}">
                <a16:creationId xmlns:a16="http://schemas.microsoft.com/office/drawing/2014/main" id="{20B471C4-A2F3-53E6-397D-2F1C0CF7A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BB82-A826-F26E-33F3-BE58B9BF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생각 풍선: 구름 모양 11">
            <a:extLst>
              <a:ext uri="{FF2B5EF4-FFF2-40B4-BE49-F238E27FC236}">
                <a16:creationId xmlns:a16="http://schemas.microsoft.com/office/drawing/2014/main" id="{836A0981-B06E-7FA9-3C84-1BEB1DD7D66C}"/>
              </a:ext>
            </a:extLst>
          </p:cNvPr>
          <p:cNvSpPr/>
          <p:nvPr/>
        </p:nvSpPr>
        <p:spPr>
          <a:xfrm>
            <a:off x="9114907" y="4441971"/>
            <a:ext cx="1676400" cy="981109"/>
          </a:xfrm>
          <a:prstGeom prst="cloudCallout">
            <a:avLst>
              <a:gd name="adj1" fmla="val -64014"/>
              <a:gd name="adj2" fmla="val -11807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5466065-E699-8505-729C-071D8E4E57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AI, LLM)</a:t>
            </a:r>
            <a:endParaRPr lang="ko-KR" altLang="en-US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E3B534-17F1-16CB-F2B2-D4F954D22BE1}"/>
              </a:ext>
            </a:extLst>
          </p:cNvPr>
          <p:cNvSpPr txBox="1"/>
          <p:nvPr/>
        </p:nvSpPr>
        <p:spPr>
          <a:xfrm>
            <a:off x="640703" y="2212211"/>
            <a:ext cx="6906500" cy="2958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7B3DEC-D9DE-0819-ED6A-4522BD601F7C}"/>
              </a:ext>
            </a:extLst>
          </p:cNvPr>
          <p:cNvSpPr txBox="1"/>
          <p:nvPr/>
        </p:nvSpPr>
        <p:spPr>
          <a:xfrm>
            <a:off x="9925614" y="3590676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tokenizer</a:t>
            </a:r>
            <a:endParaRPr lang="ko-KR" altLang="en-US" sz="2000" b="1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936B0-BF75-16F5-23C6-40015226234C}"/>
              </a:ext>
            </a:extLst>
          </p:cNvPr>
          <p:cNvSpPr txBox="1"/>
          <p:nvPr/>
        </p:nvSpPr>
        <p:spPr>
          <a:xfrm rot="20880952">
            <a:off x="9847025" y="4583788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902C82-4BA6-FEDC-2B87-D1CF7DBA6ED8}"/>
              </a:ext>
            </a:extLst>
          </p:cNvPr>
          <p:cNvSpPr txBox="1"/>
          <p:nvPr/>
        </p:nvSpPr>
        <p:spPr>
          <a:xfrm rot="18871284">
            <a:off x="10087460" y="491753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AB36C-27C3-2D4A-22B2-AC7B1B098554}"/>
              </a:ext>
            </a:extLst>
          </p:cNvPr>
          <p:cNvSpPr txBox="1"/>
          <p:nvPr/>
        </p:nvSpPr>
        <p:spPr>
          <a:xfrm rot="20880952">
            <a:off x="9500627" y="499758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F040D-97CF-EDFE-B8F0-1019CB16013B}"/>
              </a:ext>
            </a:extLst>
          </p:cNvPr>
          <p:cNvSpPr txBox="1"/>
          <p:nvPr/>
        </p:nvSpPr>
        <p:spPr>
          <a:xfrm rot="899439">
            <a:off x="9289956" y="465822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BF0C6E-FCBC-9280-86ED-228EEE52B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참새">
            <a:extLst>
              <a:ext uri="{FF2B5EF4-FFF2-40B4-BE49-F238E27FC236}">
                <a16:creationId xmlns:a16="http://schemas.microsoft.com/office/drawing/2014/main" id="{BBDD8201-6555-92B7-5E35-4BE0D3251D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67106" y="2514599"/>
            <a:ext cx="1593823" cy="159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323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9683" y="2585739"/>
            <a:ext cx="7307718" cy="3870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599571" y="1247581"/>
            <a:ext cx="9308471" cy="1202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등</a:t>
            </a:r>
            <a:endParaRPr lang="en-US" altLang="ko-KR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74EE66-6D27-BE42-817E-0B9A49EA2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2879C-ADA7-CCED-8D88-051AC31C0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3D097-5E2D-55F0-4935-0E2A94B3F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4F9A9CD-06E8-DF8E-97D7-3AE3394989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A48EA9-9839-49C9-70B3-30C9788433C0}"/>
              </a:ext>
            </a:extLst>
          </p:cNvPr>
          <p:cNvSpPr txBox="1"/>
          <p:nvPr/>
        </p:nvSpPr>
        <p:spPr>
          <a:xfrm>
            <a:off x="3266470" y="1841060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제미나이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실습하는 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colab_python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40AF9B-B442-980A-C5A4-DC006F03ACC8}"/>
              </a:ext>
            </a:extLst>
          </p:cNvPr>
          <p:cNvSpPr txBox="1"/>
          <p:nvPr/>
        </p:nvSpPr>
        <p:spPr>
          <a:xfrm>
            <a:off x="3676852" y="2360030"/>
            <a:ext cx="4259862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 text)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번역하기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(Translate languages)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소설 만들기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(Write creative content)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보이스피싱 탐지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(Categorize text)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71D1F2-1E52-48A8-B34D-CDC25627F90F}"/>
              </a:ext>
            </a:extLst>
          </p:cNvPr>
          <p:cNvSpPr txBox="1"/>
          <p:nvPr/>
        </p:nvSpPr>
        <p:spPr>
          <a:xfrm>
            <a:off x="3862085" y="5172872"/>
            <a:ext cx="44678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서비스를 친구에게 휴대폰이나 인터넷으로 제시하자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 using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gradio.app</a:t>
            </a:r>
            <a:endParaRPr lang="ko-KR" altLang="en-US" sz="160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146E1227-8063-B6EA-B8B9-BA67E1D2D5CB}"/>
              </a:ext>
            </a:extLst>
          </p:cNvPr>
          <p:cNvSpPr/>
          <p:nvPr/>
        </p:nvSpPr>
        <p:spPr>
          <a:xfrm>
            <a:off x="3415273" y="2724149"/>
            <a:ext cx="261578" cy="1343025"/>
          </a:xfrm>
          <a:prstGeom prst="leftBrace">
            <a:avLst>
              <a:gd name="adj1" fmla="val 6646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90D4E2EA-0E67-0DED-DBB8-26969C4050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5396131" y="4503162"/>
            <a:ext cx="584775" cy="5847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1DB374-A3B1-F3AE-D2DF-CE088155D4CC}"/>
              </a:ext>
            </a:extLst>
          </p:cNvPr>
          <p:cNvSpPr txBox="1"/>
          <p:nvPr/>
        </p:nvSpPr>
        <p:spPr>
          <a:xfrm>
            <a:off x="1621290" y="5985923"/>
            <a:ext cx="8892721" cy="33855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4가지 기능을 만들어줘</a:t>
            </a:r>
          </a:p>
        </p:txBody>
      </p:sp>
      <p:pic>
        <p:nvPicPr>
          <p:cNvPr id="15" name="그래픽 14" descr="일러스트레이터 단색으로 채워진">
            <a:extLst>
              <a:ext uri="{FF2B5EF4-FFF2-40B4-BE49-F238E27FC236}">
                <a16:creationId xmlns:a16="http://schemas.microsoft.com/office/drawing/2014/main" id="{6E873D37-2954-7F03-4527-CFCCB44F2C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7745" y="5856820"/>
            <a:ext cx="683073" cy="68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8442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F6BB5-3CE1-EF16-05C4-B635BA55F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EBC0B-9B1E-F396-B432-5B9FAA031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978D07-459B-C703-E1EC-FF810A7391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Antigravity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D05AED-A77D-58EC-0032-536ACE833B97}"/>
              </a:ext>
            </a:extLst>
          </p:cNvPr>
          <p:cNvSpPr txBox="1"/>
          <p:nvPr/>
        </p:nvSpPr>
        <p:spPr>
          <a:xfrm>
            <a:off x="1625600" y="3858614"/>
            <a:ext cx="10021454" cy="46532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쳇봇을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만들어줘</a:t>
            </a:r>
          </a:p>
        </p:txBody>
      </p:sp>
      <p:pic>
        <p:nvPicPr>
          <p:cNvPr id="9" name="그래픽 8" descr="일러스트레이터 단색으로 채워진">
            <a:extLst>
              <a:ext uri="{FF2B5EF4-FFF2-40B4-BE49-F238E27FC236}">
                <a16:creationId xmlns:a16="http://schemas.microsoft.com/office/drawing/2014/main" id="{6D7505B9-1756-C0DD-583A-9B2819007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200" y="3691755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AD5065-A042-E06E-B322-4A026BC82225}"/>
              </a:ext>
            </a:extLst>
          </p:cNvPr>
          <p:cNvSpPr txBox="1"/>
          <p:nvPr/>
        </p:nvSpPr>
        <p:spPr>
          <a:xfrm>
            <a:off x="628073" y="1415281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Antigravity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DE038-76C9-055F-75EC-7DB100B80577}"/>
              </a:ext>
            </a:extLst>
          </p:cNvPr>
          <p:cNvSpPr txBox="1"/>
          <p:nvPr/>
        </p:nvSpPr>
        <p:spPr>
          <a:xfrm>
            <a:off x="1625600" y="4665693"/>
            <a:ext cx="8525163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API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사용하면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Google DeepMind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만든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모델에 액세스할 수 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으며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처음부터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멀티모달로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빌드되므로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텍스트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코드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오디오 등 다양한 종류의 콘텐츠에서 원활한 추론이 가능</a:t>
            </a:r>
          </a:p>
        </p:txBody>
      </p:sp>
    </p:spTree>
    <p:extLst>
      <p:ext uri="{BB962C8B-B14F-4D97-AF65-F5344CB8AC3E}">
        <p14:creationId xmlns:p14="http://schemas.microsoft.com/office/powerpoint/2010/main" val="39265471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 Coding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it-IT" altLang="ko-KR" sz="2400" dirty="0">
                <a:solidFill>
                  <a:schemeClr val="bg1"/>
                </a:solidFill>
              </a:rPr>
              <a:t>03_AI Agent Coding.pptx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364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100888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2382520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DA31-192E-5E9F-B13A-4898674DC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8CC0FF-C594-64E3-D030-284FC8D50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016194-4469-88E7-BBD2-413D936BCE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B50DF-1463-023A-FA74-17F95F99F0F7}"/>
              </a:ext>
            </a:extLst>
          </p:cNvPr>
          <p:cNvSpPr txBox="1"/>
          <p:nvPr/>
        </p:nvSpPr>
        <p:spPr>
          <a:xfrm>
            <a:off x="549563" y="1352316"/>
            <a:ext cx="1109287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코딩 지식을 가진 상담원, 에이전트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내 컴퓨터 권한을 넘겨받아 대신 일해주는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발자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52348-2241-2DB8-A0AC-41BFE067DFB4}"/>
              </a:ext>
            </a:extLst>
          </p:cNvPr>
          <p:cNvSpPr txBox="1"/>
          <p:nvPr/>
        </p:nvSpPr>
        <p:spPr>
          <a:xfrm>
            <a:off x="858980" y="2231103"/>
            <a:ext cx="10474037" cy="29783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자율적 계획 수립: "이 기능을 구현하려면 어떤 파일들을 수정해야 하지?" 분석하고 계획을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파일 조작: 프로젝트 폴더 내의 여러 코드를 직접 읽고, 수정하고, 새 파일을 생성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및 명령어 실행: 터미널에서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pytest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테스트 명령어를 직접 실행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 및 피드백 루프: 테스트를 돌려보고 에러가 나면, 사람이 개입하지 않아도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에러 로그를 보고 코드를 다시 수정하여 통과할 때까지 반복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연동: 작업이 끝나면 변경 사항을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스테이징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)하고, 적절한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커밋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메시지까지 작성</a:t>
            </a:r>
          </a:p>
        </p:txBody>
      </p:sp>
    </p:spTree>
    <p:extLst>
      <p:ext uri="{BB962C8B-B14F-4D97-AF65-F5344CB8AC3E}">
        <p14:creationId xmlns:p14="http://schemas.microsoft.com/office/powerpoint/2010/main" val="28711917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8515D-CD48-6D90-B34C-C9DD81045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CEB32-62BA-FEF5-8CD4-F47AF0C08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224926-1656-BC2D-D28F-2F89F07FA4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A6C08-DF9D-A5D3-944A-EE31C64E3FC4}"/>
              </a:ext>
            </a:extLst>
          </p:cNvPr>
          <p:cNvSpPr txBox="1"/>
          <p:nvPr/>
        </p:nvSpPr>
        <p:spPr>
          <a:xfrm>
            <a:off x="544944" y="1510391"/>
            <a:ext cx="11028219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시장에서 돈을 벌고 있는 서비스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IDE(Integrated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Developmenr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서비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(GPT-4o, GPT-3.5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Cloud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Vertex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AI /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3.5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Sonnet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CLI(Command Line Interface)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명령어를 입력하는 형태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동영상등을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제작하는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Midjourney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Runway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Gen-3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 유료 구독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Copilot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Cursor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48524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30CD-4BA5-FF9A-FA8A-248DEC96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44ABC-6593-04C2-44B8-E560E96A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DD2B8E-3F9B-9F4E-4BCD-CD2A128F52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BB9A3-B4CC-6D56-9BCC-D79C476B62E4}"/>
              </a:ext>
            </a:extLst>
          </p:cNvPr>
          <p:cNvSpPr txBox="1"/>
          <p:nvPr/>
        </p:nvSpPr>
        <p:spPr>
          <a:xfrm>
            <a:off x="544944" y="1510391"/>
            <a:ext cx="11028219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Microsoft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플러그인으로 설치하는 오픈 소스 AI 개발 어시스턴트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IDE인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LLM(대규모 언어 모델) 연동 기능을 제공하고,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코드를 작성/수정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기능을 확장하여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대화하고, 코드를 생성하거나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리팩토링하는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개발 워크플로우에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통합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터미널(CLI)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IDE(통합개발환경) 환경을 결합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기능을 쓸 수 있게 만든 도구</a:t>
            </a:r>
          </a:p>
        </p:txBody>
      </p:sp>
    </p:spTree>
    <p:extLst>
      <p:ext uri="{BB962C8B-B14F-4D97-AF65-F5344CB8AC3E}">
        <p14:creationId xmlns:p14="http://schemas.microsoft.com/office/powerpoint/2010/main" val="6291849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C4B3-3BBC-1CC5-8F0A-9151144B9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24DF-5630-1D26-2697-A17613036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8327ECC-9959-5AFE-7237-F43E91A0F2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 </a:t>
            </a:r>
            <a:r>
              <a:rPr lang="ko-KR" altLang="en-US" sz="2800" b="1" cap="none" dirty="0">
                <a:latin typeface="Lora" pitchFamily="2" charset="0"/>
              </a:rPr>
              <a:t>주요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기능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및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특징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818D7-538E-939A-40B0-74D19780A209}"/>
              </a:ext>
            </a:extLst>
          </p:cNvPr>
          <p:cNvSpPr txBox="1"/>
          <p:nvPr/>
        </p:nvSpPr>
        <p:spPr>
          <a:xfrm>
            <a:off x="544944" y="1510391"/>
            <a:ext cx="11028219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개발 지원: 컨텍스트를 인식하는 코드 제안, 자동 완성 및 지능적인 권장 사항을 제공하여 개발 시간을 단축하고 코딩 오류를 최소화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작업 수행: 파일 읽기/쓰기, 명령 실행, 웹 브라우저 사용 등 다양한 시스템 수준 작업을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유연성: 다양한 AI 모델의 강점을 활용하는 정교한 워크플로우를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피로 감소: 프롬프트 피로를 줄이고 상호 작용을 더욱 자연스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러움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확장성 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MCP):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사용자 정의 도구 및 워크플로우와 통합할 수 있어 특정 요구 사항에 맞게 조정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시스템에 적합: 제어, 유연성 및 시스템 수준 통합이 중요한 복잡한 시스템을 구축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13911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4B57-93D9-0468-7551-29306C63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08D50B-4B99-DF47-3BF4-F81FFA20E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DB069D-FCC4-495B-B505-098B57F27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google </a:t>
            </a:r>
            <a:r>
              <a:rPr lang="en-US" altLang="ko-KR" sz="2800" b="1" cap="none" dirty="0" err="1">
                <a:latin typeface="Lora" pitchFamily="2" charset="0"/>
              </a:rPr>
              <a:t>gemini</a:t>
            </a:r>
            <a:r>
              <a:rPr lang="en-US" altLang="ko-KR" sz="2800" b="1" cap="none" dirty="0">
                <a:latin typeface="Lora" pitchFamily="2" charset="0"/>
              </a:rPr>
              <a:t> SDK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E448FD-C14E-92DF-BCEC-2802271E4081}"/>
              </a:ext>
            </a:extLst>
          </p:cNvPr>
          <p:cNvSpPr txBox="1"/>
          <p:nvPr/>
        </p:nvSpPr>
        <p:spPr>
          <a:xfrm>
            <a:off x="685800" y="1857375"/>
            <a:ext cx="2145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google </a:t>
            </a:r>
            <a:r>
              <a:rPr lang="en-US" altLang="ko-KR" dirty="0" err="1">
                <a:hlinkClick r:id="rId2"/>
              </a:rPr>
              <a:t>gemini</a:t>
            </a:r>
            <a:r>
              <a:rPr lang="en-US" altLang="ko-KR" dirty="0">
                <a:hlinkClick r:id="rId2"/>
              </a:rPr>
              <a:t> SDK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00965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8BD28-DB95-62F9-8D53-79638B353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2F9EC-F032-0F7E-ED31-C7237DDB3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7161F7-4E40-9AA5-77DB-5C9C8F8DB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Harness Engineering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C134482-2CD9-E3B3-133A-BC9B2BE35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182823"/>
              </p:ext>
            </p:extLst>
          </p:nvPr>
        </p:nvGraphicFramePr>
        <p:xfrm>
          <a:off x="638885" y="1543208"/>
          <a:ext cx="11114964" cy="4043092"/>
        </p:xfrm>
        <a:graphic>
          <a:graphicData uri="http://schemas.openxmlformats.org/drawingml/2006/table">
            <a:tbl>
              <a:tblPr/>
              <a:tblGrid>
                <a:gridCol w="2675815">
                  <a:extLst>
                    <a:ext uri="{9D8B030D-6E8A-4147-A177-3AD203B41FA5}">
                      <a16:colId xmlns:a16="http://schemas.microsoft.com/office/drawing/2014/main" val="569965403"/>
                    </a:ext>
                  </a:extLst>
                </a:gridCol>
                <a:gridCol w="3724275">
                  <a:extLst>
                    <a:ext uri="{9D8B030D-6E8A-4147-A177-3AD203B41FA5}">
                      <a16:colId xmlns:a16="http://schemas.microsoft.com/office/drawing/2014/main" val="296715999"/>
                    </a:ext>
                  </a:extLst>
                </a:gridCol>
                <a:gridCol w="4714874">
                  <a:extLst>
                    <a:ext uri="{9D8B030D-6E8A-4147-A177-3AD203B41FA5}">
                      <a16:colId xmlns:a16="http://schemas.microsoft.com/office/drawing/2014/main" val="3804051023"/>
                    </a:ext>
                  </a:extLst>
                </a:gridCol>
              </a:tblGrid>
              <a:tr h="25858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요즘 말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떠올리면 되는 고전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한 줄 요약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522137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바이브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코딩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vibe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프로토타이핑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(prototyping)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느낌 가는 대로 빠르게 만들어 던져보는 스케치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맘에 안 들면 버리는 게 당연한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회용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223978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스펙 코딩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spec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요구공학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requirements engineering)·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코딩하기 전에 무엇을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왜 만들어야 하는지 텍스트로 확실히 못 박고 들어가기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97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루프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loop)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스파이럴 모델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spiral model)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목표 설정 → 측정 → 실행 → 교정의 무한 루프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측정이 불가능하면 루프도 멈춘다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674535"/>
                  </a:ext>
                </a:extLst>
              </a:tr>
              <a:tr h="79565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harness)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테스트 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(test harness)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 위의 전부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모든 규칙을 기계적으로 강제하는 안전하고 견고한 그릇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9205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CFFC055-AD74-D401-E12F-0C7E68F52296}"/>
              </a:ext>
            </a:extLst>
          </p:cNvPr>
          <p:cNvSpPr txBox="1"/>
          <p:nvPr/>
        </p:nvSpPr>
        <p:spPr>
          <a:xfrm>
            <a:off x="771525" y="6036261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hlinkClick r:id="rId2"/>
              </a:rPr>
              <a:t>하네스</a:t>
            </a:r>
            <a:r>
              <a:rPr lang="ko-KR" altLang="en-US" dirty="0">
                <a:hlinkClick r:id="rId2"/>
              </a:rPr>
              <a:t> 엔지니어링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89390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628D1-CD1B-B414-7BD1-3AADA5389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483BB4-6E97-931D-4C9F-976E16EFD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62F479A-2AFD-A960-36F9-B5D575BD3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Vibe Coding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D9FF4-0686-1D09-48A6-6B02B02256ED}"/>
              </a:ext>
            </a:extLst>
          </p:cNvPr>
          <p:cNvSpPr txBox="1"/>
          <p:nvPr/>
        </p:nvSpPr>
        <p:spPr>
          <a:xfrm>
            <a:off x="733425" y="2019300"/>
            <a:ext cx="2387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2"/>
              </a:rPr>
              <a:t>함께해요 </a:t>
            </a:r>
            <a:r>
              <a:rPr lang="ko-KR" altLang="en-US" dirty="0" err="1">
                <a:hlinkClick r:id="rId2"/>
              </a:rPr>
              <a:t>바이브</a:t>
            </a:r>
            <a:r>
              <a:rPr lang="ko-KR" altLang="en-US" dirty="0">
                <a:hlinkClick r:id="rId2"/>
              </a:rPr>
              <a:t> 코딩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53276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b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04_AI Workflow_n8n.pptx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FA708D-6FDE-3C03-9B19-8B1D1B23914F}"/>
              </a:ext>
            </a:extLst>
          </p:cNvPr>
          <p:cNvSpPr txBox="1"/>
          <p:nvPr/>
        </p:nvSpPr>
        <p:spPr>
          <a:xfrm>
            <a:off x="838199" y="3869237"/>
            <a:ext cx="3589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 </a:t>
            </a:r>
            <a:r>
              <a:rPr lang="ko-KR" altLang="en-US" dirty="0" err="1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노코드</a:t>
            </a:r>
            <a:r>
              <a:rPr lang="ko-KR" alt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자동화 한글 가이드북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3641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-1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05_AI Agents.pptx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84195" y="4456327"/>
            <a:ext cx="9582736" cy="12373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교수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64794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179A9-7D40-2A4C-A41C-5B1562F78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A1FDEA-01EC-149E-594B-FAD349A3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9DFD731-12C3-888E-640E-7C6AF199DC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Langchain</a:t>
            </a:r>
            <a:endParaRPr lang="en-US" altLang="ko-KR" sz="2800" b="1" cap="none" dirty="0"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34211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9879</TotalTime>
  <Words>1870</Words>
  <Application>Microsoft Office PowerPoint</Application>
  <PresentationFormat>와이드스크린</PresentationFormat>
  <Paragraphs>333</Paragraphs>
  <Slides>39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1" baseType="lpstr">
      <vt:lpstr>D2Coding</vt:lpstr>
      <vt:lpstr>MS Gothic</vt:lpstr>
      <vt:lpstr>맑은 고딕</vt:lpstr>
      <vt:lpstr>바탕</vt:lpstr>
      <vt:lpstr>한컴 말랑말랑 Bold</vt:lpstr>
      <vt:lpstr>Arial</vt:lpstr>
      <vt:lpstr>Cambria Math</vt:lpstr>
      <vt:lpstr>Lora</vt:lpstr>
      <vt:lpstr>Tahoma</vt:lpstr>
      <vt:lpstr>Times New Roman</vt:lpstr>
      <vt:lpstr>Wingdings</vt:lpstr>
      <vt:lpstr>WelcomeDoc</vt:lpstr>
      <vt:lpstr>What is AI Workflow?  </vt:lpstr>
      <vt:lpstr>PowerPoint 프레젠테이션</vt:lpstr>
      <vt:lpstr>Automation</vt:lpstr>
      <vt:lpstr>PowerPoint 프레젠테이션</vt:lpstr>
      <vt:lpstr>PowerPoint 프레젠테이션</vt:lpstr>
      <vt:lpstr>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Workflow Orchestration Framework 02_workflow orchestration framework.pptx</vt:lpstr>
      <vt:lpstr>PowerPoint 프레젠테이션</vt:lpstr>
      <vt:lpstr>PowerPoint 프레젠테이션</vt:lpstr>
      <vt:lpstr>PowerPoint 프레젠테이션</vt:lpstr>
      <vt:lpstr>LLM(Large Language Model)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Agent Coding 03_AI Agent Coding.pptx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AI Workflow 04_AI Workflow_n8n.pptx</vt:lpstr>
      <vt:lpstr>PowerPoint 프레젠테이션</vt:lpstr>
      <vt:lpstr>PowerPoint 프레젠테이션</vt:lpstr>
      <vt:lpstr>AI Agent 05_AI Agents.pptx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181</cp:revision>
  <dcterms:created xsi:type="dcterms:W3CDTF">2026-04-06T01:00:39Z</dcterms:created>
  <dcterms:modified xsi:type="dcterms:W3CDTF">2026-08-05T06:54:45Z</dcterms:modified>
  <cp:version/>
</cp:coreProperties>
</file>