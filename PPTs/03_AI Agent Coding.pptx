
<file path=[Content_Types].xml><?xml version="1.0" encoding="utf-8"?>
<Types xmlns="http://schemas.openxmlformats.org/package/2006/content-types">
  <Default Extension="0&amp;ixid=M3wxMjA3fDB8MHxzZWFyY2h8MTB8fHVzJTIwZG9sbGFyfGVufDB8fDB8fHww" ContentType="image/jpeg"/>
  <Default Extension="0&amp;ixid=M3wxMjA3fDB8MHxzZWFyY2h8MXx8aHVtYW4lMjBuZXVyb258ZW58MHx8MHx8fDA" ContentType="image/jpeg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6"/>
  </p:notesMasterIdLst>
  <p:handoutMasterIdLst>
    <p:handoutMasterId r:id="rId87"/>
  </p:handoutMasterIdLst>
  <p:sldIdLst>
    <p:sldId id="1177" r:id="rId2"/>
    <p:sldId id="401" r:id="rId3"/>
    <p:sldId id="433" r:id="rId4"/>
    <p:sldId id="432" r:id="rId5"/>
    <p:sldId id="1182" r:id="rId6"/>
    <p:sldId id="382" r:id="rId7"/>
    <p:sldId id="1220" r:id="rId8"/>
    <p:sldId id="1196" r:id="rId9"/>
    <p:sldId id="1178" r:id="rId10"/>
    <p:sldId id="1146" r:id="rId11"/>
    <p:sldId id="1145" r:id="rId12"/>
    <p:sldId id="1168" r:id="rId13"/>
    <p:sldId id="1167" r:id="rId14"/>
    <p:sldId id="1147" r:id="rId15"/>
    <p:sldId id="1161" r:id="rId16"/>
    <p:sldId id="1164" r:id="rId17"/>
    <p:sldId id="1342" r:id="rId18"/>
    <p:sldId id="1343" r:id="rId19"/>
    <p:sldId id="1188" r:id="rId20"/>
    <p:sldId id="1344" r:id="rId21"/>
    <p:sldId id="1314" r:id="rId22"/>
    <p:sldId id="1341" r:id="rId23"/>
    <p:sldId id="1345" r:id="rId24"/>
    <p:sldId id="1346" r:id="rId25"/>
    <p:sldId id="1347" r:id="rId26"/>
    <p:sldId id="1186" r:id="rId27"/>
    <p:sldId id="1187" r:id="rId28"/>
    <p:sldId id="1340" r:id="rId29"/>
    <p:sldId id="1170" r:id="rId30"/>
    <p:sldId id="1315" r:id="rId31"/>
    <p:sldId id="1316" r:id="rId32"/>
    <p:sldId id="1255" r:id="rId33"/>
    <p:sldId id="1339" r:id="rId34"/>
    <p:sldId id="1185" r:id="rId35"/>
    <p:sldId id="1348" r:id="rId36"/>
    <p:sldId id="1349" r:id="rId37"/>
    <p:sldId id="1350" r:id="rId38"/>
    <p:sldId id="256" r:id="rId39"/>
    <p:sldId id="1351" r:id="rId40"/>
    <p:sldId id="1352" r:id="rId41"/>
    <p:sldId id="1353" r:id="rId42"/>
    <p:sldId id="1354" r:id="rId43"/>
    <p:sldId id="1355" r:id="rId44"/>
    <p:sldId id="388" r:id="rId45"/>
    <p:sldId id="389" r:id="rId46"/>
    <p:sldId id="1193" r:id="rId47"/>
    <p:sldId id="1197" r:id="rId48"/>
    <p:sldId id="1198" r:id="rId49"/>
    <p:sldId id="1356" r:id="rId50"/>
    <p:sldId id="1199" r:id="rId51"/>
    <p:sldId id="1357" r:id="rId52"/>
    <p:sldId id="1358" r:id="rId53"/>
    <p:sldId id="1359" r:id="rId54"/>
    <p:sldId id="1194" r:id="rId55"/>
    <p:sldId id="1360" r:id="rId56"/>
    <p:sldId id="1361" r:id="rId57"/>
    <p:sldId id="1362" r:id="rId58"/>
    <p:sldId id="1363" r:id="rId59"/>
    <p:sldId id="1364" r:id="rId60"/>
    <p:sldId id="1365" r:id="rId61"/>
    <p:sldId id="1366" r:id="rId62"/>
    <p:sldId id="1201" r:id="rId63"/>
    <p:sldId id="1367" r:id="rId64"/>
    <p:sldId id="1368" r:id="rId65"/>
    <p:sldId id="1195" r:id="rId66"/>
    <p:sldId id="1202" r:id="rId67"/>
    <p:sldId id="1212" r:id="rId68"/>
    <p:sldId id="1144" r:id="rId69"/>
    <p:sldId id="1204" r:id="rId70"/>
    <p:sldId id="1190" r:id="rId71"/>
    <p:sldId id="1369" r:id="rId72"/>
    <p:sldId id="1208" r:id="rId73"/>
    <p:sldId id="1206" r:id="rId74"/>
    <p:sldId id="1217" r:id="rId75"/>
    <p:sldId id="1203" r:id="rId76"/>
    <p:sldId id="1218" r:id="rId77"/>
    <p:sldId id="1219" r:id="rId78"/>
    <p:sldId id="1205" r:id="rId79"/>
    <p:sldId id="1207" r:id="rId80"/>
    <p:sldId id="1214" r:id="rId81"/>
    <p:sldId id="1213" r:id="rId82"/>
    <p:sldId id="1211" r:id="rId83"/>
    <p:sldId id="1215" r:id="rId84"/>
    <p:sldId id="1216" r:id="rId8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177"/>
            <p14:sldId id="401"/>
            <p14:sldId id="433"/>
            <p14:sldId id="432"/>
            <p14:sldId id="1182"/>
            <p14:sldId id="382"/>
            <p14:sldId id="1220"/>
            <p14:sldId id="1196"/>
            <p14:sldId id="1178"/>
            <p14:sldId id="1146"/>
            <p14:sldId id="1145"/>
            <p14:sldId id="1168"/>
            <p14:sldId id="1167"/>
            <p14:sldId id="1147"/>
            <p14:sldId id="1161"/>
            <p14:sldId id="1164"/>
            <p14:sldId id="1342"/>
            <p14:sldId id="1343"/>
            <p14:sldId id="1188"/>
            <p14:sldId id="1344"/>
            <p14:sldId id="1314"/>
            <p14:sldId id="1341"/>
            <p14:sldId id="1345"/>
            <p14:sldId id="1346"/>
            <p14:sldId id="1347"/>
            <p14:sldId id="1186"/>
            <p14:sldId id="1187"/>
            <p14:sldId id="1340"/>
            <p14:sldId id="1170"/>
            <p14:sldId id="1315"/>
            <p14:sldId id="1316"/>
            <p14:sldId id="1255"/>
            <p14:sldId id="1339"/>
            <p14:sldId id="1185"/>
            <p14:sldId id="1348"/>
            <p14:sldId id="1349"/>
            <p14:sldId id="1350"/>
            <p14:sldId id="256"/>
            <p14:sldId id="1351"/>
            <p14:sldId id="1352"/>
            <p14:sldId id="1353"/>
            <p14:sldId id="1354"/>
            <p14:sldId id="1355"/>
            <p14:sldId id="388"/>
            <p14:sldId id="389"/>
            <p14:sldId id="1193"/>
            <p14:sldId id="1197"/>
            <p14:sldId id="1198"/>
            <p14:sldId id="1356"/>
            <p14:sldId id="1199"/>
            <p14:sldId id="1357"/>
            <p14:sldId id="1358"/>
            <p14:sldId id="1359"/>
            <p14:sldId id="1194"/>
            <p14:sldId id="1360"/>
            <p14:sldId id="1361"/>
            <p14:sldId id="1362"/>
            <p14:sldId id="1363"/>
            <p14:sldId id="1364"/>
            <p14:sldId id="1365"/>
            <p14:sldId id="1366"/>
            <p14:sldId id="1201"/>
            <p14:sldId id="1367"/>
            <p14:sldId id="1368"/>
            <p14:sldId id="1195"/>
            <p14:sldId id="1202"/>
            <p14:sldId id="1212"/>
            <p14:sldId id="1144"/>
            <p14:sldId id="1204"/>
            <p14:sldId id="1190"/>
            <p14:sldId id="1369"/>
            <p14:sldId id="1208"/>
            <p14:sldId id="1206"/>
            <p14:sldId id="1217"/>
            <p14:sldId id="1203"/>
            <p14:sldId id="1218"/>
            <p14:sldId id="1219"/>
            <p14:sldId id="1205"/>
            <p14:sldId id="1207"/>
            <p14:sldId id="1214"/>
            <p14:sldId id="1213"/>
            <p14:sldId id="1211"/>
            <p14:sldId id="1215"/>
            <p14:sldId id="121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44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2026-09-21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C302-C04D-8312-7A83-4FED4F30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210E6C-18CE-44AA-192F-B7F1CA5C8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A5CB12-4ED8-271E-A70D-B10A40F83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AF19BE-F39E-32E0-72F3-7D6D8C1CB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539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0A5D-1ADD-3EC0-7D34-B8642E2A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16BE7-6AAF-0944-7C9A-1B6040B81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ED179B-CBDD-E9FC-C26B-66000AB08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40047-BA13-502C-17B4-7190E3AEB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6140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1CF54406-D1D4-1B90-D6CA-029A35BD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6F9FE9AF-0439-2FA1-D31B-B8EC5A2FA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D8EE195D-DD64-EF7C-D5A1-BB675BFF9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650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4D713CEB-9DC0-D65F-28F8-0C2D6083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21623570-21F3-0416-C31C-FC7621C236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AE6504AE-C2C1-2FE9-138D-8CF6B3186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184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82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2347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24FB-1428-7997-5A13-DA41CC40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48CA06-686A-8D0C-812C-7733E1246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F8BB19-A187-F931-E674-5BB8FB8F4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78189-8A00-1617-8345-37103702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83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84146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29BF-7BA8-A483-2A6A-E617340C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F25285-D9D4-E03B-A2AA-CADED504E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48FBC3-2055-DFBC-6643-8D1A30FE9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74E24-57F2-EE5B-5799-07F4C78AF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84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3691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2026-09-21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2026-09-21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radio.app/" TargetMode="External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ntigravity.google/" TargetMode="External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olab.research.google.com/github/google-gemini/cookbook/blob/main/quickstarts/Get_started.ipynb#scrollTo=eVmFDcYOSNiV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book/20530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book/19470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0&amp;ixid=M3wxMjA3fDB8MHxzZWFyY2h8MTB8fHVzJTIwZG9sbGFyfGVufDB8fDB8fHww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hyperlink" Target="https://www.google.com/url?q=https%3A%2F%2Faistudio.google.com%2Fapp%2Fapikey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anthropic.com/news/model-context-protoco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mithery.ai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sv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hyperlink" Target="https://www.youtube.com/watch?v=aircAruvnKk&amp;list=PLZHQObOWTQDNU6R1_67000Dx_ZCJB-3pi?start=190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0&amp;ixid=M3wxMjA3fDB8MHxzZWFyY2h8MXx8aHVtYW4lMjBuZXVyb258ZW58MHx8MHx8fDA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unsplash.com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ord2vec.kr/search/" TargetMode="External"/><Relationship Id="rId4" Type="http://schemas.openxmlformats.org/officeDocument/2006/relationships/hyperlink" Target="https://www.101ai.net/text/word-embed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hyperlink" Target="https://gradio.app/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ntigravity.google/" TargetMode="External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sv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radio.app/" TargetMode="External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sv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KOuAt7uUcg&amp;t=858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google.com/aclk?sa=L&amp;pf=1&amp;ai=DChsSEwj0kZnRofaVAxUc5BYFHVO8DF4YACICCAEQABoCdGw&amp;co=1&amp;ase=2&amp;gclid=CjwKCAjwpqHTBhAcEiwAj2Aful-y9Dh0rehkhku17HPYHW471ICRfaPzaNVJ6WffleNmv_mxG2O9VxoCDQYQAvD_BwE&amp;ei=-hdpap3HKYa-vr0PhfPBwQk&amp;cid=CAAS0wHkaDmWtQwVzcfyvm-YOaBM-4vZlWp0ZgvZHM1mupQ1Da0SMjd4vVP7mO4kjV6eqhRLmd0yLwaamx11ZqpAyCXSk5Gdy_L-7aAgRcaFJkC66ZIIEz_xKG_tJHrrPeJR8Lc93fBy3HW7yhKJ7GieJEody6brXzzn_xkDR2cij-F0D6xuS0GinN1LT-lLrLLJ_VAVRkF7MDdv7_ijd-F3CcW6CiVu-lJ3u53oc18b37-5jOGD-SE8qRS8VUr5WjCFRVDkI32qro2pzsK3tLN-ruk0n_zp&amp;cce=2&amp;category=acrcp_v1_32&amp;sig=AOD64_0ZsvARYv0DwslxqfxQzh3toEWb2g&amp;q&amp;sqi=2&amp;nis=4&amp;adurl=https://kiro.dev?trk%3Db49338ba-9c4b-4632-8663-3c92e0b1dd3f%26sc_channel%3Dps%26trk%3Db49338ba-9c4b-4632-8663-3c92e0b1dd3f%26sc_channel%3Dps%26ef_id%3DCjwKCAjwpqHTBhAcEiwAj2Aful-y9Dh0rehkhku17HPYHW471ICRfaPzaNVJ6WffleNmv_mxG2O9VxoCDQYQAvD_BwE:G:s%26s_kwcid%3DAL!4422!3!808827549821!p!!g!!cline!23846236691!198027731442%26gad_source%3D1%26gad_campaignid%3D23846236691%26gbraid%3D0AAAAADjHtp_VxAvJgEl1lxoOGmXPiwPyi%26gclid%3DCjwKCAjwpqHTBhAcEiwAj2Aful-y9Dh0rehkhku17HPYHW471ICRfaPzaNVJ6WffleNmv_mxG2O9VxoCDQYQAvD_BwE&amp;ved=2ahUKEwidrJPRofaVAxUGn68BHYV5MJgQ0Qx6BAgMEAE" TargetMode="External"/><Relationship Id="rId4" Type="http://schemas.openxmlformats.org/officeDocument/2006/relationships/image" Target="../media/image7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google-gemini/cookbook/blob/main/quickstarts/Get_started.ipynb#scrollTo=eVmFDcYOSNiV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Xc7-vFSd5U&amp;t=82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WcmQPMrCYV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A6FDC-7223-DD81-8C76-9DD825E9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E5FC7-1A88-E64D-FA75-866F06B59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LLM(Large Language Model)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63430" y="1190610"/>
            <a:ext cx="1099039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기반으로 다음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확률적으로 예측하여 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72265" y="2439864"/>
            <a:ext cx="5020496" cy="3660172"/>
            <a:chOff x="2938879" y="2492978"/>
            <a:chExt cx="5020496" cy="3660172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rgbClr val="FF99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796" y="2492978"/>
              <a:ext cx="3379579" cy="3660172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563707" cy="38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3061575" y="3815616"/>
            <a:ext cx="8492250" cy="274296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5123393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12DC4873-8878-1A66-9E65-761AEC1413B3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9864EF-57DD-0EF8-EEE2-E30A7B31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54FFA66-55FC-DF67-95A8-C264D5C14FCC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E42228-D343-259C-E33F-2EA9C7B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1182490"/>
            <a:ext cx="11143400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말을 이어가는 끝 말 이어가기 끝판 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LLM(Large Language Model)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3C699B77-FF99-CB64-B75D-7B9921ECC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0B471C4-A2F3-53E6-397D-2F1C0CF7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BB82-A826-F26E-33F3-BE58B9BF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836A0981-B06E-7FA9-3C84-1BEB1DD7D66C}"/>
              </a:ext>
            </a:extLst>
          </p:cNvPr>
          <p:cNvSpPr/>
          <p:nvPr/>
        </p:nvSpPr>
        <p:spPr>
          <a:xfrm>
            <a:off x="9114907" y="4441971"/>
            <a:ext cx="1676400" cy="981109"/>
          </a:xfrm>
          <a:prstGeom prst="cloudCallout">
            <a:avLst>
              <a:gd name="adj1" fmla="val -64014"/>
              <a:gd name="adj2" fmla="val -11807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466065-E699-8505-729C-071D8E4E57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3B534-17F1-16CB-F2B2-D4F954D22BE1}"/>
              </a:ext>
            </a:extLst>
          </p:cNvPr>
          <p:cNvSpPr txBox="1"/>
          <p:nvPr/>
        </p:nvSpPr>
        <p:spPr>
          <a:xfrm>
            <a:off x="640703" y="2212211"/>
            <a:ext cx="6906500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B3DEC-D9DE-0819-ED6A-4522BD601F7C}"/>
              </a:ext>
            </a:extLst>
          </p:cNvPr>
          <p:cNvSpPr txBox="1"/>
          <p:nvPr/>
        </p:nvSpPr>
        <p:spPr>
          <a:xfrm>
            <a:off x="9925614" y="3590676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tokenizer</a:t>
            </a:r>
            <a:endParaRPr lang="ko-KR" altLang="en-US" sz="2000" b="1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936B0-BF75-16F5-23C6-40015226234C}"/>
              </a:ext>
            </a:extLst>
          </p:cNvPr>
          <p:cNvSpPr txBox="1"/>
          <p:nvPr/>
        </p:nvSpPr>
        <p:spPr>
          <a:xfrm rot="20880952">
            <a:off x="9847025" y="4583788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02C82-4BA6-FEDC-2B87-D1CF7DBA6ED8}"/>
              </a:ext>
            </a:extLst>
          </p:cNvPr>
          <p:cNvSpPr txBox="1"/>
          <p:nvPr/>
        </p:nvSpPr>
        <p:spPr>
          <a:xfrm rot="18871284">
            <a:off x="10087460" y="491753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AB36C-27C3-2D4A-22B2-AC7B1B098554}"/>
              </a:ext>
            </a:extLst>
          </p:cNvPr>
          <p:cNvSpPr txBox="1"/>
          <p:nvPr/>
        </p:nvSpPr>
        <p:spPr>
          <a:xfrm rot="20880952">
            <a:off x="9500627" y="499758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F040D-97CF-EDFE-B8F0-1019CB16013B}"/>
              </a:ext>
            </a:extLst>
          </p:cNvPr>
          <p:cNvSpPr txBox="1"/>
          <p:nvPr/>
        </p:nvSpPr>
        <p:spPr>
          <a:xfrm rot="899439">
            <a:off x="9289956" y="465822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BF0C6E-FCBC-9280-86ED-228EEE52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참새">
            <a:extLst>
              <a:ext uri="{FF2B5EF4-FFF2-40B4-BE49-F238E27FC236}">
                <a16:creationId xmlns:a16="http://schemas.microsoft.com/office/drawing/2014/main" id="{BBDD8201-6555-92B7-5E35-4BE0D3251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7106" y="2514599"/>
            <a:ext cx="1593823" cy="159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2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683" y="2585739"/>
            <a:ext cx="7307718" cy="38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599571" y="1247581"/>
            <a:ext cx="9308471" cy="120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등</a:t>
            </a:r>
            <a:endParaRPr lang="en-US" altLang="ko-KR" sz="16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4EE66-6D27-BE42-817E-0B9A49EA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3D097-5E2D-55F0-4935-0E2A94B3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538618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3676852" y="2360030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3862085" y="5172872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3415273" y="2724149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5396131" y="4503162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6BB5-3CE1-EF16-05C4-B635BA55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EBC0B-9B1E-F396-B432-5B9FAA03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978D07-459B-C703-E1EC-FF810A7391E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5AED-A77D-58EC-0032-536ACE833B97}"/>
              </a:ext>
            </a:extLst>
          </p:cNvPr>
          <p:cNvSpPr txBox="1"/>
          <p:nvPr/>
        </p:nvSpPr>
        <p:spPr>
          <a:xfrm>
            <a:off x="1625600" y="3858614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쳇봇을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만들어줘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6D7505B9-1756-C0DD-583A-9B28190070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369175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D5065-A042-E06E-B322-4A026BC82225}"/>
              </a:ext>
            </a:extLst>
          </p:cNvPr>
          <p:cNvSpPr txBox="1"/>
          <p:nvPr/>
        </p:nvSpPr>
        <p:spPr>
          <a:xfrm>
            <a:off x="628073" y="141528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endParaRPr lang="ko-KR" altLang="en-US" sz="2000" b="1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DE038-76C9-055F-75EC-7DB100B80577}"/>
              </a:ext>
            </a:extLst>
          </p:cNvPr>
          <p:cNvSpPr txBox="1"/>
          <p:nvPr/>
        </p:nvSpPr>
        <p:spPr>
          <a:xfrm>
            <a:off x="1625600" y="4665693"/>
            <a:ext cx="9938327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API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사용하면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Google DeepMind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만든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모델에 액세스할 수 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으며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처음부터 </a:t>
            </a:r>
            <a:r>
              <a:rPr lang="ko-KR" altLang="en-US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멀티모달로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빌드되므로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오디오 등 다양한 종류의 콘텐츠에서 원활한 추론이 가능</a:t>
            </a:r>
          </a:p>
        </p:txBody>
      </p:sp>
    </p:spTree>
    <p:extLst>
      <p:ext uri="{BB962C8B-B14F-4D97-AF65-F5344CB8AC3E}">
        <p14:creationId xmlns:p14="http://schemas.microsoft.com/office/powerpoint/2010/main" val="392654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</a:rPr>
              <a:t>AI Agent Coding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364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94-8BCA-872D-7423-FE3B127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F0001-9411-7C4E-562A-6D52F3C9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2F0FBC7-3D1C-5821-6A59-F4F3C29716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= AI + Harness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0A8C2-C37F-B9A0-44D8-DF747225DB35}"/>
              </a:ext>
            </a:extLst>
          </p:cNvPr>
          <p:cNvSpPr txBox="1"/>
          <p:nvPr/>
        </p:nvSpPr>
        <p:spPr>
          <a:xfrm>
            <a:off x="7161876" y="2081988"/>
            <a:ext cx="3061624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(Goal)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(Predict)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(Control)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8" name="Picture 4" descr="말을 타는 사람">
            <a:extLst>
              <a:ext uri="{FF2B5EF4-FFF2-40B4-BE49-F238E27FC236}">
                <a16:creationId xmlns:a16="http://schemas.microsoft.com/office/drawing/2014/main" id="{2AD0284C-07B6-C81F-3E9C-68A18AD39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479" y="2081988"/>
            <a:ext cx="4906962" cy="357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916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FC5E-E5B2-C51D-B5D1-2FC22240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19EC0-6330-20E9-A1AF-CEDE65FC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481E3E-0CDE-9F85-9CC8-DCB1C387C25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26A99-3ED1-DD5C-2C9B-97C1CDC02DEF}"/>
              </a:ext>
            </a:extLst>
          </p:cNvPr>
          <p:cNvSpPr txBox="1"/>
          <p:nvPr/>
        </p:nvSpPr>
        <p:spPr>
          <a:xfrm>
            <a:off x="1422400" y="1640603"/>
            <a:ext cx="4821382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① Workflow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n8n, Prefect,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Airflow….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endParaRPr lang="en-US" altLang="ko-KR" sz="18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② Agent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LangGraph, </a:t>
            </a:r>
            <a:r>
              <a:rPr lang="en-US" altLang="ko-KR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 Agents SDK,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CrewAI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…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③ Agent Platform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-------------------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LangSmith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Fleet, Google Agent Engine, Microsoft Copilot Studio, Amazon Bedrock Agents</a:t>
            </a:r>
            <a:endParaRPr lang="en-US" altLang="ko-KR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래픽 7" descr="화살표가 있는 원">
            <a:extLst>
              <a:ext uri="{FF2B5EF4-FFF2-40B4-BE49-F238E27FC236}">
                <a16:creationId xmlns:a16="http://schemas.microsoft.com/office/drawing/2014/main" id="{259331E3-58B1-19AC-856F-3155A3D5D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7746" y="1745211"/>
            <a:ext cx="2092960" cy="209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0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DA31-192E-5E9F-B13A-4898674D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CC0FF-C594-64E3-D030-284FC8D5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A016194-4469-88E7-BBD2-413D936BCE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B50DF-1463-023A-FA74-17F95F99F0F7}"/>
              </a:ext>
            </a:extLst>
          </p:cNvPr>
          <p:cNvSpPr txBox="1"/>
          <p:nvPr/>
        </p:nvSpPr>
        <p:spPr>
          <a:xfrm>
            <a:off x="549563" y="1352316"/>
            <a:ext cx="1109287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코딩 지식을 가진 상담원, 에이전트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내 컴퓨터 권한을 넘겨받아 대신 일해주는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발자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2348-2241-2DB8-A0AC-41BFE067DFB4}"/>
              </a:ext>
            </a:extLst>
          </p:cNvPr>
          <p:cNvSpPr txBox="1"/>
          <p:nvPr/>
        </p:nvSpPr>
        <p:spPr>
          <a:xfrm>
            <a:off x="858980" y="2231103"/>
            <a:ext cx="10474037" cy="29783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자율적 계획 수립: "이 기능을 구현하려면 어떤 파일들을 수정해야 하지?" 분석하고 계획을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직접 파일 조작: 프로젝트 폴더 내의 여러 코드를 직접 읽고, 수정하고, 새 파일을 생성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 및 명령어 실행: 터미널에서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테스트 명령어를 직접 실행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디버깅 및 피드백 루프: 테스트를 돌려보고 에러가 나면, 사람이 개입하지 않아도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에러 로그를 보고 코드를 다시 수정하여 통과할 때까지 반복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연동: 작업이 끝나면 변경 사항을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스테이징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)하고, 적절한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커밋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메시지까지 작성</a:t>
            </a:r>
          </a:p>
        </p:txBody>
      </p:sp>
    </p:spTree>
    <p:extLst>
      <p:ext uri="{BB962C8B-B14F-4D97-AF65-F5344CB8AC3E}">
        <p14:creationId xmlns:p14="http://schemas.microsoft.com/office/powerpoint/2010/main" val="287119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515D-CD48-6D90-B34C-C9DD8104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CEB32-62BA-FEF5-8CD4-F47AF0C0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8224926-1656-BC2D-D28F-2F89F07FA4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A6C08-DF9D-A5D3-944A-EE31C64E3FC4}"/>
              </a:ext>
            </a:extLst>
          </p:cNvPr>
          <p:cNvSpPr txBox="1"/>
          <p:nvPr/>
        </p:nvSpPr>
        <p:spPr>
          <a:xfrm>
            <a:off x="544944" y="1510391"/>
            <a:ext cx="11028219" cy="4722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시장에서 돈을 벌고 있는 서비스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IDE(Integrated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Developmenr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서비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(GPT-4o, GPT-3.5 등)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Cloud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Vertex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AI /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3.5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Sonnet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CLI(Command Line Interface)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환경에서 명령어를 입력하는 형태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동영상등을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제작하는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Midjourney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Sora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Runway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Gen-3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 유료 구독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Copilot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Cursor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485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4B57-93D9-0468-7551-29306C63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08D50B-4B99-DF47-3BF4-F81FFA20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7DB069D-FCC4-495B-B505-098B57F27B2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google </a:t>
            </a:r>
            <a:r>
              <a:rPr lang="en-US" altLang="ko-KR" sz="2800" b="1" cap="none" dirty="0" err="1">
                <a:latin typeface="Lora" pitchFamily="2" charset="0"/>
              </a:rPr>
              <a:t>gemini</a:t>
            </a:r>
            <a:r>
              <a:rPr lang="en-US" altLang="ko-KR" sz="2800" b="1" cap="none" dirty="0">
                <a:latin typeface="Lora" pitchFamily="2" charset="0"/>
              </a:rPr>
              <a:t> SDK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DC89F-5EA4-AC3B-85CE-98F40FC4AD0B}"/>
              </a:ext>
            </a:extLst>
          </p:cNvPr>
          <p:cNvSpPr txBox="1"/>
          <p:nvPr/>
        </p:nvSpPr>
        <p:spPr>
          <a:xfrm>
            <a:off x="475645" y="1487842"/>
            <a:ext cx="6289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Gemini API: Getting started with Gemini models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5F4CA2-54FD-8B3E-4974-F83EE3A15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144" y="1939576"/>
            <a:ext cx="8381686" cy="443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9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BD28-DB95-62F9-8D53-79638B35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2F9EC-F032-0F7E-ED31-C7237DDB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47161F7-4E40-9AA5-77DB-5C9C8F8DB0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Harness Engineering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134482-2CD9-E3B3-133A-BC9B2BE35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182823"/>
              </p:ext>
            </p:extLst>
          </p:nvPr>
        </p:nvGraphicFramePr>
        <p:xfrm>
          <a:off x="638885" y="1543208"/>
          <a:ext cx="11114964" cy="4043092"/>
        </p:xfrm>
        <a:graphic>
          <a:graphicData uri="http://schemas.openxmlformats.org/drawingml/2006/table">
            <a:tbl>
              <a:tblPr/>
              <a:tblGrid>
                <a:gridCol w="2675815">
                  <a:extLst>
                    <a:ext uri="{9D8B030D-6E8A-4147-A177-3AD203B41FA5}">
                      <a16:colId xmlns:a16="http://schemas.microsoft.com/office/drawing/2014/main" val="569965403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296715999"/>
                    </a:ext>
                  </a:extLst>
                </a:gridCol>
                <a:gridCol w="4714874">
                  <a:extLst>
                    <a:ext uri="{9D8B030D-6E8A-4147-A177-3AD203B41FA5}">
                      <a16:colId xmlns:a16="http://schemas.microsoft.com/office/drawing/2014/main" val="3804051023"/>
                    </a:ext>
                  </a:extLst>
                </a:gridCol>
              </a:tblGrid>
              <a:tr h="2585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요즘 말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떠올리면 되는 고전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B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한 줄 요약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70B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70B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22137"/>
                  </a:ext>
                </a:extLst>
              </a:tr>
              <a:tr h="9746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바이브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코딩 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vibe coding)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프로토타이핑 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(prototyping)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느낌 가는 대로 빠르게 만들어 던져보는 스케치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 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맘에 안 들면 버리는 게 당연한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회용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90B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39784"/>
                  </a:ext>
                </a:extLst>
              </a:tr>
              <a:tr h="9746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스펙 코딩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spec coding)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요구공학 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requirements engineering)·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분석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설계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코딩하기 전에 무엇을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왜 만들어야 하는지 텍스트로 확실히 못 박고 들어가기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50B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417974"/>
                  </a:ext>
                </a:extLst>
              </a:tr>
              <a:tr h="9746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루프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loop)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스파이럴 모델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spiral model)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목표 설정 → 측정 → 실행 → 교정의 무한 루프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 </a:t>
                      </a: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측정이 불가능하면 루프도 멈춘다</a:t>
                      </a:r>
                      <a:r>
                        <a:rPr lang="en-US" altLang="ko-KR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60C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674535"/>
                  </a:ext>
                </a:extLst>
              </a:tr>
              <a:tr h="79565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하네스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harness)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테스트 하네스 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(test harness)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</a:t>
                      </a:r>
                      <a:r>
                        <a:rPr lang="en-US" altLang="ko-KR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</a:t>
                      </a:r>
                      <a:r>
                        <a:rPr lang="ko-KR" altLang="en-US" sz="1600" b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그 위의 전부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모든 규칙을 기계적으로 강제하는 안전하고 견고한 그릇</a:t>
                      </a:r>
                    </a:p>
                  </a:txBody>
                  <a:tcPr marL="59674" marR="59674" marT="39783" marB="39783">
                    <a:lnL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9205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FFC055-AD74-D401-E12F-0C7E68F52296}"/>
              </a:ext>
            </a:extLst>
          </p:cNvPr>
          <p:cNvSpPr txBox="1"/>
          <p:nvPr/>
        </p:nvSpPr>
        <p:spPr>
          <a:xfrm>
            <a:off x="771525" y="6036261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hlinkClick r:id="rId2"/>
              </a:rPr>
              <a:t>하네스</a:t>
            </a:r>
            <a:r>
              <a:rPr lang="ko-KR" altLang="en-US" dirty="0">
                <a:hlinkClick r:id="rId2"/>
              </a:rPr>
              <a:t> 엔지니어링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8939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28D1-CD1B-B414-7BD1-3AADA538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483BB4-6E97-931D-4C9F-976E16EF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62F479A-2AFD-A960-36F9-B5D575BD3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Vibe Coding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5D9FF4-0686-1D09-48A6-6B02B02256ED}"/>
              </a:ext>
            </a:extLst>
          </p:cNvPr>
          <p:cNvSpPr txBox="1"/>
          <p:nvPr/>
        </p:nvSpPr>
        <p:spPr>
          <a:xfrm>
            <a:off x="733425" y="2019300"/>
            <a:ext cx="238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linkClick r:id="rId2"/>
              </a:rPr>
              <a:t>함께해요 </a:t>
            </a:r>
            <a:r>
              <a:rPr lang="ko-KR" altLang="en-US" dirty="0" err="1">
                <a:hlinkClick r:id="rId2"/>
              </a:rPr>
              <a:t>바이브</a:t>
            </a:r>
            <a:r>
              <a:rPr lang="ko-KR" altLang="en-US" dirty="0">
                <a:hlinkClick r:id="rId2"/>
              </a:rPr>
              <a:t> 코딩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32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DA31-192E-5E9F-B13A-4898674D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CC0FF-C594-64E3-D030-284FC8D5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A016194-4469-88E7-BBD2-413D936BCE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B50DF-1463-023A-FA74-17F95F99F0F7}"/>
              </a:ext>
            </a:extLst>
          </p:cNvPr>
          <p:cNvSpPr txBox="1"/>
          <p:nvPr/>
        </p:nvSpPr>
        <p:spPr>
          <a:xfrm>
            <a:off x="549563" y="1352316"/>
            <a:ext cx="1109287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코딩 지식을 가진 상담원, 에이전트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내 컴퓨터 권한을 넘겨받아 대신 일해주는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발자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2348-2241-2DB8-A0AC-41BFE067DFB4}"/>
              </a:ext>
            </a:extLst>
          </p:cNvPr>
          <p:cNvSpPr txBox="1"/>
          <p:nvPr/>
        </p:nvSpPr>
        <p:spPr>
          <a:xfrm>
            <a:off x="858980" y="2231103"/>
            <a:ext cx="10474037" cy="29783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자율적 계획 수립: "이 기능을 구현하려면 어떤 파일들을 수정해야 하지?" 분석하고 계획을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직접 파일 조작: 프로젝트 폴더 내의 여러 코드를 직접 읽고, 수정하고, 새 파일을 생성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 및 명령어 실행: 터미널에서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pytest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테스트 명령어를 직접 실행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디버깅 및 피드백 루프: 테스트를 돌려보고 에러가 나면, 사람이 개입하지 않아도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에러 로그를 보고 코드를 다시 수정하여 통과할 때까지 반복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연동: 작업이 끝나면 변경 사항을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스테이징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)하고, 적절한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커밋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메시지까지 작성</a:t>
            </a:r>
          </a:p>
        </p:txBody>
      </p:sp>
    </p:spTree>
    <p:extLst>
      <p:ext uri="{BB962C8B-B14F-4D97-AF65-F5344CB8AC3E}">
        <p14:creationId xmlns:p14="http://schemas.microsoft.com/office/powerpoint/2010/main" val="2456173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515D-CD48-6D90-B34C-C9DD8104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CEB32-62BA-FEF5-8CD4-F47AF0C0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8224926-1656-BC2D-D28F-2F89F07FA4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coding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A6C08-DF9D-A5D3-944A-EE31C64E3FC4}"/>
              </a:ext>
            </a:extLst>
          </p:cNvPr>
          <p:cNvSpPr txBox="1"/>
          <p:nvPr/>
        </p:nvSpPr>
        <p:spPr>
          <a:xfrm>
            <a:off x="544944" y="1510391"/>
            <a:ext cx="11028219" cy="4814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시장에서 돈을 벌고 있는 서비스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IDE(Integrated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Developmenr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서비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(GPT-4o, GPT-3.5 등)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Cloud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Vertex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AI /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3.5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Sonnet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CLI(Command Line Interface)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환경에서 명령어를 입력하는 형태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Anthropic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Google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>
                <a:solidFill>
                  <a:srgbClr val="0F0F0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ko-KR" sz="1400" dirty="0" err="1">
                <a:solidFill>
                  <a:srgbClr val="0F0F0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sz="1400" dirty="0">
                <a:solidFill>
                  <a:srgbClr val="0F0F0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Codex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CLI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동영상등을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제작하는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Midjourney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Sora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Runway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Gen-3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코딩 에이전트 유료 구독 서비스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Copilot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Cursor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 descr="20달러짜리 지폐 더미가 서로 겹쳐져 있습니다.">
            <a:extLst>
              <a:ext uri="{FF2B5EF4-FFF2-40B4-BE49-F238E27FC236}">
                <a16:creationId xmlns:a16="http://schemas.microsoft.com/office/drawing/2014/main" id="{A6114E40-011B-83EE-934F-9BC77DCE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995" y="4387098"/>
            <a:ext cx="2792412" cy="20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FAAE-FE09-C2C4-B526-E8BABE3B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B015B-0F25-A5A4-C281-A379737B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43C7CC2-6621-78C7-B87B-C1897C46FB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Gemini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CLI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B2835-98A2-D88B-41DF-FE57F147DD89}"/>
              </a:ext>
            </a:extLst>
          </p:cNvPr>
          <p:cNvSpPr txBox="1"/>
          <p:nvPr/>
        </p:nvSpPr>
        <p:spPr>
          <a:xfrm>
            <a:off x="757380" y="1747688"/>
            <a:ext cx="5514111" cy="4357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가볍고 빠른 실행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환경 기반의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UI로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설치가 간편하고 동작이 빠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르고 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프로젝트에 연결하거나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Cursor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등에서 사용할 때 터미널 환경에서 쉽게 구동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Flash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계열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gemini-2.5-flash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은 매우 넉넉한 무료 쿼리(기본 분당 30회 내외)를 코딩 능력과 속도가 매우 균형 잡혀 있어,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자율형 에이전트가 코드를 탐색하고 수정 명령을 빠르게 반복 수행하기에 가장 적합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높은 확장성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아파치 2.0 라이선스 기반의 완전한 오픈소스로 제공되어, 개발자들이 코드를 이해하고 검토하며 작동방식과 보안을 검증하기 용이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Google의 다양한 AI 툴(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Veo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3, 딥 리서치 등)과 연동하여 활용 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10B50-B4F8-6DF6-7E5E-355693994063}"/>
              </a:ext>
            </a:extLst>
          </p:cNvPr>
          <p:cNvSpPr txBox="1"/>
          <p:nvPr/>
        </p:nvSpPr>
        <p:spPr>
          <a:xfrm>
            <a:off x="7979410" y="3179679"/>
            <a:ext cx="328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ko-KR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구글 </a:t>
            </a:r>
            <a:r>
              <a:rPr lang="ko-KR" altLang="ko-KR" i="0" dirty="0" err="1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안티그래비티</a:t>
            </a:r>
            <a:r>
              <a:rPr lang="ko-KR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2.0 (Google </a:t>
            </a:r>
            <a:r>
              <a:rPr lang="ko-KR" altLang="ko-KR" i="0" dirty="0" err="1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2.0)</a:t>
            </a:r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143E0DDF-73CD-5508-DDC6-0C567D1F8B62}"/>
              </a:ext>
            </a:extLst>
          </p:cNvPr>
          <p:cNvSpPr/>
          <p:nvPr/>
        </p:nvSpPr>
        <p:spPr>
          <a:xfrm>
            <a:off x="6604000" y="2948662"/>
            <a:ext cx="932872" cy="1108364"/>
          </a:xfrm>
          <a:prstGeom prst="stripedRightArrow">
            <a:avLst>
              <a:gd name="adj1" fmla="val 68333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55B64-6918-BCBA-0186-3FD1A24A95B2}"/>
              </a:ext>
            </a:extLst>
          </p:cNvPr>
          <p:cNvSpPr txBox="1"/>
          <p:nvPr/>
        </p:nvSpPr>
        <p:spPr>
          <a:xfrm>
            <a:off x="8192655" y="4155526"/>
            <a:ext cx="38053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IDE (단독 프로그램): 구글이 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오픈소스를 기반으로 직접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커스텀하여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만든 독립된 AI 전용 에디터 프로그램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확장 프로그램 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Extension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): 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마켓플레이스에서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"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VS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 공식 확장 프로그램을 설치</a:t>
            </a:r>
          </a:p>
        </p:txBody>
      </p:sp>
    </p:spTree>
    <p:extLst>
      <p:ext uri="{BB962C8B-B14F-4D97-AF65-F5344CB8AC3E}">
        <p14:creationId xmlns:p14="http://schemas.microsoft.com/office/powerpoint/2010/main" val="3473694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3F12-6CD5-2FEF-3978-2E5F7582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F9F05-0394-80CD-DCD6-D64CCCC1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BBDFFD6-563A-CCCE-1327-041086DB677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Google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345787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C7F9-B026-8955-6B75-7620DAEA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C5FE9-92EC-0A83-41EE-3A4F83C42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4789684-9C5F-4555-0AF7-2A64A3BC57DF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40AF7-ACDE-D7B9-1122-9BC7F6C3E52F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code agent</a:t>
            </a:r>
          </a:p>
        </p:txBody>
      </p:sp>
    </p:spTree>
    <p:extLst>
      <p:ext uri="{BB962C8B-B14F-4D97-AF65-F5344CB8AC3E}">
        <p14:creationId xmlns:p14="http://schemas.microsoft.com/office/powerpoint/2010/main" val="2459211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402039" y="1248422"/>
            <a:ext cx="11233469" cy="4315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실행하기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바이브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코딩 활용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웹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구조화 및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CSS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기초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피그마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MCP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활용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웹 디자인 고도화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596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0CD-4BA5-FF9A-FA8A-248DEC96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44ABC-6593-04C2-44B8-E560E96A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DD2B8E-3F9B-9F4E-4BCD-CD2A128F52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BB9A3-B4CC-6D56-9BCC-D79C476B62E4}"/>
              </a:ext>
            </a:extLst>
          </p:cNvPr>
          <p:cNvSpPr txBox="1"/>
          <p:nvPr/>
        </p:nvSpPr>
        <p:spPr>
          <a:xfrm>
            <a:off x="1487054" y="2163221"/>
            <a:ext cx="10067638" cy="337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Microsoft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플러그인으로 설치하는 오픈 소스 AI 개발 어시스턴트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IDE인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LLM(대규모 언어 모델) 연동 기능을 제공하고,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코드를 작성/수정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기능을 확장하여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대화하고, 코드를 생성하거나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리팩토링하는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 개발 워크플로우에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통합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터미널(CLI)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IDE(통합개발환경) 환경을 결합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기능을 쓸 수 있게 만든 도구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90C59-FD01-F4FC-77F8-1A9AC498910F}"/>
              </a:ext>
            </a:extLst>
          </p:cNvPr>
          <p:cNvSpPr txBox="1"/>
          <p:nvPr/>
        </p:nvSpPr>
        <p:spPr>
          <a:xfrm>
            <a:off x="655780" y="1316290"/>
            <a:ext cx="5089238" cy="4616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Cline = </a:t>
            </a:r>
            <a:r>
              <a:rPr lang="ko-KR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IDE + CLI + </a:t>
            </a:r>
            <a:r>
              <a:rPr lang="ko-KR" altLang="ko-KR" sz="2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Agentic</a:t>
            </a:r>
            <a:r>
              <a:rPr lang="ko-KR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IDE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58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C4B3-3BBC-1CC5-8F0A-9151144B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224DF-5630-1D26-2697-A1761303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8327ECC-9959-5AFE-7237-F43E91A0F2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 </a:t>
            </a:r>
            <a:r>
              <a:rPr lang="ko-KR" altLang="en-US" sz="2800" b="1" cap="none" dirty="0">
                <a:latin typeface="Lora" pitchFamily="2" charset="0"/>
              </a:rPr>
              <a:t>주요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기능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및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특징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818D7-538E-939A-40B0-74D19780A209}"/>
              </a:ext>
            </a:extLst>
          </p:cNvPr>
          <p:cNvSpPr txBox="1"/>
          <p:nvPr/>
        </p:nvSpPr>
        <p:spPr>
          <a:xfrm>
            <a:off x="544944" y="1510391"/>
            <a:ext cx="11028219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개발 지원: 컨텍스트를 인식하는 코드 제안, 자동 완성 및 지능적인 권장 사항을 제공하여 개발 시간을 단축하고 코딩 오류를 최소화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작업 수행: 파일 읽기/쓰기, 명령 실행, 웹 브라우저 사용 등 다양한 시스템 수준 작업을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유연성: 다양한 AI 모델의 강점을 활용하는 정교한 워크플로우를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피로 감소: 프롬프트 피로를 줄이고 상호 작용을 더욱 자연스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러움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확장성 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MCP):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사용자 정의 도구 및 워크플로우와 통합할 수 있어 특정 요구 사항에 맞게 조정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시스템에 적합: 제어, 유연성 및 시스템 수준 통합이 중요한 복잡한 시스템을 구축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적합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6473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A13E-757C-EB38-242F-6334F5F5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AF17F0-EACD-C4BB-99BE-88309DFD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D44AF6E-B744-1485-C4BA-1409615C96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8BA53-38CE-73B8-6782-7F5A37F4DE95}"/>
              </a:ext>
            </a:extLst>
          </p:cNvPr>
          <p:cNvSpPr txBox="1"/>
          <p:nvPr/>
        </p:nvSpPr>
        <p:spPr>
          <a:xfrm>
            <a:off x="628073" y="1708728"/>
            <a:ext cx="10935854" cy="22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Gemini 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생성하기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AI Studio </a:t>
            </a:r>
            <a:r>
              <a:rPr lang="en-US" altLang="ko-KR" dirty="0"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 A</a:t>
            </a:r>
            <a:r>
              <a:rPr lang="ko-KR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 키를 </a:t>
            </a:r>
            <a:r>
              <a:rPr lang="ko-KR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생성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확장팩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– 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(Live Sever(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Ritwick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Prettier(Prettier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 설치 권장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선택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– gemini-2.5-flash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VS Code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실습파일 생성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–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폴더 생성하고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파일을 만든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endParaRPr lang="en-US" altLang="ko-KR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6D2F7-0868-75C8-C94D-1E44653A22AD}"/>
              </a:ext>
            </a:extLst>
          </p:cNvPr>
          <p:cNvSpPr txBox="1"/>
          <p:nvPr/>
        </p:nvSpPr>
        <p:spPr>
          <a:xfrm>
            <a:off x="1542473" y="4858931"/>
            <a:ext cx="10021454" cy="88081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HTML5 웹페이지를 만들어줘. 페이지 제목은 "나의 AI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Coding"로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하고 가장 큰 제목은 "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Hello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Vibe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World"라고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표시해줘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0994FAC6-F241-C4A7-06B2-5967A9E62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73" y="46920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70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2F3-2534-4A60-3001-36299A8D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F05F7-E26A-5D0F-95C8-E9D7F345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D04CA6B-D14C-C3AF-F44A-E164A33314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F56B7C-D5F6-EC22-BAA3-30E84B752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17" y="1464749"/>
            <a:ext cx="6578278" cy="43551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052AB5-B4CF-2CA5-07C3-D52B71D2E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217" y="2083555"/>
            <a:ext cx="5558717" cy="330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08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7F4D-833C-E49E-ED48-8734F380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ED740-5759-7186-4AEC-B819E0FF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6B1BC4A-159A-8433-8A64-A0B245F077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93E9F-DA92-39C2-3513-F222FD08B975}"/>
              </a:ext>
            </a:extLst>
          </p:cNvPr>
          <p:cNvSpPr txBox="1"/>
          <p:nvPr/>
        </p:nvSpPr>
        <p:spPr>
          <a:xfrm>
            <a:off x="402039" y="1248422"/>
            <a:ext cx="11233469" cy="3084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실행하기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웹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구조화 및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CSS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기초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705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0CD-4BA5-FF9A-FA8A-248DEC96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44ABC-6593-04C2-44B8-E560E96A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DD2B8E-3F9B-9F4E-4BCD-CD2A128F52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BB9A3-B4CC-6D56-9BCC-D79C476B62E4}"/>
              </a:ext>
            </a:extLst>
          </p:cNvPr>
          <p:cNvSpPr txBox="1"/>
          <p:nvPr/>
        </p:nvSpPr>
        <p:spPr>
          <a:xfrm>
            <a:off x="544944" y="1510391"/>
            <a:ext cx="11028219" cy="337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Microsoft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플러그인으로 설치하는 오픈 소스 AI 개발 어시스턴트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IDE인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LLM(대규모 언어 모델) 연동 기능을 제공하고,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코드를 작성/수정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기능을 확장하여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대화하고, 코드를 생성하거나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리팩토링하는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 개발 워크플로우에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통합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터미널(CLI)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IDE(통합개발환경) 환경을 결합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기능을 쓸 수 있게 만든 도구</a:t>
            </a:r>
          </a:p>
        </p:txBody>
      </p:sp>
    </p:spTree>
    <p:extLst>
      <p:ext uri="{BB962C8B-B14F-4D97-AF65-F5344CB8AC3E}">
        <p14:creationId xmlns:p14="http://schemas.microsoft.com/office/powerpoint/2010/main" val="2439653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C4B3-3BBC-1CC5-8F0A-9151144B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224DF-5630-1D26-2697-A1761303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8327ECC-9959-5AFE-7237-F43E91A0F2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 </a:t>
            </a:r>
            <a:r>
              <a:rPr lang="ko-KR" altLang="en-US" sz="2800" b="1" cap="none" dirty="0">
                <a:latin typeface="Lora" pitchFamily="2" charset="0"/>
              </a:rPr>
              <a:t>주요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기능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및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특징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818D7-538E-939A-40B0-74D19780A209}"/>
              </a:ext>
            </a:extLst>
          </p:cNvPr>
          <p:cNvSpPr txBox="1"/>
          <p:nvPr/>
        </p:nvSpPr>
        <p:spPr>
          <a:xfrm>
            <a:off x="544944" y="1510391"/>
            <a:ext cx="11028219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개발 지원: 컨텍스트를 인식하는 코드 제안, 자동 완성 및 지능적인 권장 사항을 제공하여 개발 시간을 단축하고 코딩 오류를 최소화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작업 수행: 파일 읽기/쓰기, 명령 실행, 웹 브라우저 사용 등 다양한 시스템 수준 작업을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유연성: 다양한 AI 모델의 강점을 활용하는 정교한 워크플로우를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피로 감소: 프롬프트 피로를 줄이고 상호 작용을 더욱 자연스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러움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확장성 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MCP):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사용자 정의 도구 및 워크플로우와 통합할 수 있어 특정 요구 사항에 맞게 조정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시스템에 적합: 제어, 유연성 및 시스템 수준 통합이 중요한 복잡한 시스템을 구축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적합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405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ECC790E4-E527-233C-1627-584E612B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D60D4B1-2808-E0A2-D7F4-1B94B8A7504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Cline + 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MCP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58047B5-BE33-13D4-0F42-4C22076FB73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14E2666D-8BEF-C7A1-C80A-5F84ED6F0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C0CD91-65FE-7FE2-DF5D-40D2B9422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642" y="1288330"/>
            <a:ext cx="6073666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17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B4692720-7E30-E23C-FADC-042BC58E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CAF1F18-D3DB-DD5E-AAC0-DB84A0DA84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Cline Prompts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8541F1B-1BD9-1DAD-A98B-8E518160869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8E6C2AFC-343E-B42C-EDB7-328DB0659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70F5205-E54E-18E4-3ADC-AAB510B50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29" y="1356475"/>
            <a:ext cx="8215313" cy="52387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7846DFA-67B3-7847-B910-04ED35E6CFE3}"/>
              </a:ext>
            </a:extLst>
          </p:cNvPr>
          <p:cNvSpPr/>
          <p:nvPr/>
        </p:nvSpPr>
        <p:spPr>
          <a:xfrm>
            <a:off x="1285875" y="2828925"/>
            <a:ext cx="3857625" cy="1590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69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Cline + n8n MCP + prompt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AI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F301A2-EBB8-CBF8-1D3B-5533F395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63" y="2214308"/>
            <a:ext cx="6463277" cy="42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50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B2FB-9A3C-76E5-3B6A-C7E4715A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96B0CDC-E7BD-09FB-C672-985F0C0C674F}"/>
              </a:ext>
            </a:extLst>
          </p:cNvPr>
          <p:cNvSpPr txBox="1">
            <a:spLocks/>
          </p:cNvSpPr>
          <p:nvPr/>
        </p:nvSpPr>
        <p:spPr>
          <a:xfrm>
            <a:off x="475644" y="481983"/>
            <a:ext cx="11346901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Vison 3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Docker-based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AI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 Architecture(</a:t>
            </a:r>
            <a:r>
              <a:rPr lang="en-US" altLang="ko-KR" sz="20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VSCode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Cline, n8n MCP)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15C46-D644-C30B-1F58-9479DCC9A5C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A45A236-78A8-8E99-16F3-C7752B4ACE8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BDE77E-3089-89C2-CBD0-A1BB1C7E4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19" y="1624393"/>
            <a:ext cx="9846888" cy="489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03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DD12-CA82-2CD3-07A8-0854B53C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5482E-5AD4-2F79-DEBF-84989033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E71C0E2-8DEB-7437-A676-CEE60B2AF29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활용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78EFD-4230-1B7B-2D44-9F9219A0F9AC}"/>
              </a:ext>
            </a:extLst>
          </p:cNvPr>
          <p:cNvSpPr txBox="1"/>
          <p:nvPr/>
        </p:nvSpPr>
        <p:spPr>
          <a:xfrm>
            <a:off x="1473173" y="2457476"/>
            <a:ext cx="10021454" cy="880819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파일안에 기본적인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HTML5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문서구조를 만들어줘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페이지 제목은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나의 취미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UTF-8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인코딩을 사용해줘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그리고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style.css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파일을 연결해줘</a:t>
            </a:r>
          </a:p>
        </p:txBody>
      </p:sp>
      <p:pic>
        <p:nvPicPr>
          <p:cNvPr id="7" name="그래픽 6" descr="일러스트레이터 단색으로 채워진">
            <a:extLst>
              <a:ext uri="{FF2B5EF4-FFF2-40B4-BE49-F238E27FC236}">
                <a16:creationId xmlns:a16="http://schemas.microsoft.com/office/drawing/2014/main" id="{8653C24D-0B11-A0B9-4667-88A477AD77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773" y="229061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A1F347-C372-799B-2B6B-FCFF283606CE}"/>
              </a:ext>
            </a:extLst>
          </p:cNvPr>
          <p:cNvSpPr txBox="1"/>
          <p:nvPr/>
        </p:nvSpPr>
        <p:spPr>
          <a:xfrm>
            <a:off x="628073" y="1421151"/>
            <a:ext cx="10935854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Index.html, style.css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빈 파일을 만든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316BF-B325-715A-74BA-B96B776DA694}"/>
              </a:ext>
            </a:extLst>
          </p:cNvPr>
          <p:cNvSpPr txBox="1"/>
          <p:nvPr/>
        </p:nvSpPr>
        <p:spPr>
          <a:xfrm>
            <a:off x="1473173" y="3946388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body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태그 안에 가장 큰 제목으로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내가 가장 좋아하는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바이브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코딩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넣어주라</a:t>
            </a:r>
          </a:p>
        </p:txBody>
      </p:sp>
      <p:pic>
        <p:nvPicPr>
          <p:cNvPr id="13" name="그래픽 12" descr="일러스트레이터 단색으로 채워진">
            <a:extLst>
              <a:ext uri="{FF2B5EF4-FFF2-40B4-BE49-F238E27FC236}">
                <a16:creationId xmlns:a16="http://schemas.microsoft.com/office/drawing/2014/main" id="{1F7E7D95-1D18-29FC-B4B2-535C1909B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773" y="3779529"/>
            <a:ext cx="914400" cy="914400"/>
          </a:xfrm>
          <a:prstGeom prst="rect">
            <a:avLst/>
          </a:prstGeom>
        </p:spPr>
      </p:pic>
      <p:pic>
        <p:nvPicPr>
          <p:cNvPr id="15" name="그래픽 14" descr="오른쪽 화살표 단색으로 채워진">
            <a:extLst>
              <a:ext uri="{FF2B5EF4-FFF2-40B4-BE49-F238E27FC236}">
                <a16:creationId xmlns:a16="http://schemas.microsoft.com/office/drawing/2014/main" id="{3567504E-BD9F-B6B8-AAEB-A51FC6E8B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1745" y="5197763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D8BBE6-5601-B752-05AF-D3429D28C0C8}"/>
              </a:ext>
            </a:extLst>
          </p:cNvPr>
          <p:cNvSpPr txBox="1"/>
          <p:nvPr/>
        </p:nvSpPr>
        <p:spPr>
          <a:xfrm>
            <a:off x="2830946" y="5197763"/>
            <a:ext cx="7596909" cy="129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&lt;p&gt;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태그도 수정해 보고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파일도 넣어서 웹페이지를 만들고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style.css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파일에 스타일을 적용해 보자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2514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125D-B2FE-BF3F-2EED-D59FA760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692535-60BC-9239-5876-D52B8F35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445EE6C-AC3B-7A90-2709-9F153168EA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+ gemini-2.5-flash + Browser use MCP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559ABF-B52A-9641-C69D-4FA43D42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70632"/>
            <a:ext cx="2942177" cy="42656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E9B02A-A74C-5696-08FC-1FBD4B6815F5}"/>
              </a:ext>
            </a:extLst>
          </p:cNvPr>
          <p:cNvSpPr/>
          <p:nvPr/>
        </p:nvSpPr>
        <p:spPr>
          <a:xfrm>
            <a:off x="599845" y="3984002"/>
            <a:ext cx="2693775" cy="117854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621D88-7DA6-31EC-22BF-A7EDF6E78081}"/>
              </a:ext>
            </a:extLst>
          </p:cNvPr>
          <p:cNvSpPr/>
          <p:nvPr/>
        </p:nvSpPr>
        <p:spPr>
          <a:xfrm>
            <a:off x="2390545" y="1803657"/>
            <a:ext cx="183651" cy="329943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023D7-DAB6-A606-BFCB-922B53034CD3}"/>
              </a:ext>
            </a:extLst>
          </p:cNvPr>
          <p:cNvSpPr txBox="1"/>
          <p:nvPr/>
        </p:nvSpPr>
        <p:spPr>
          <a:xfrm>
            <a:off x="3576720" y="3068781"/>
            <a:ext cx="8341940" cy="229293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mcpServers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github.com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/Saik0s/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mcp-browser-use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streamable-http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"http://localhost:8383/mcp",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command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"C:\\Users\\SG\\Documents\\Cline\\MCP\\mcp-browser-use\\.venv\\Scripts\\mcp-server-browser-use.exe",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["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"],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": {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"GEMINI_API_KEY": "AQ.Ab8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???????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HcHkxQ-0jXr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??????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41Hg83Pyny5poQSQ"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}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  }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  }</a:t>
            </a:r>
          </a:p>
          <a:p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024DF-91AC-E86F-2430-6A21D05FDBFB}"/>
              </a:ext>
            </a:extLst>
          </p:cNvPr>
          <p:cNvSpPr txBox="1"/>
          <p:nvPr/>
        </p:nvSpPr>
        <p:spPr>
          <a:xfrm>
            <a:off x="3576720" y="1803657"/>
            <a:ext cx="8272544" cy="107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서버를 설정하는 JSON 설정 파일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에이전트(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)가 브라우저를 직접 제어할 수 있도록 해주는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mcp-browser-use라는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외부 도구(서버)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등록하는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json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파일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C42EEB-65D4-A373-AAD8-3DFD00492ABD}"/>
              </a:ext>
            </a:extLst>
          </p:cNvPr>
          <p:cNvSpPr txBox="1"/>
          <p:nvPr/>
        </p:nvSpPr>
        <p:spPr>
          <a:xfrm>
            <a:off x="5652526" y="12915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https://venturebeat.com/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9D6E4F-3249-BE18-5A5B-10DE62B692A3}"/>
              </a:ext>
            </a:extLst>
          </p:cNvPr>
          <p:cNvSpPr txBox="1"/>
          <p:nvPr/>
        </p:nvSpPr>
        <p:spPr>
          <a:xfrm>
            <a:off x="4027133" y="5782959"/>
            <a:ext cx="7904689" cy="61799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https://venturebeat.com/ 에서 최신 정보를 정리하고 한글로 번역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마크다운 형태로 정리한 후 참고할 만한 사이트를 제공하라</a:t>
            </a:r>
          </a:p>
        </p:txBody>
      </p:sp>
      <p:pic>
        <p:nvPicPr>
          <p:cNvPr id="19" name="그래픽 18" descr="일러스트레이터 단색으로 채워진">
            <a:extLst>
              <a:ext uri="{FF2B5EF4-FFF2-40B4-BE49-F238E27FC236}">
                <a16:creationId xmlns:a16="http://schemas.microsoft.com/office/drawing/2014/main" id="{C132DA55-C760-BA6B-7715-FFC3B4AAA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777" y="5677629"/>
            <a:ext cx="541194" cy="54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67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D21C-85FE-5FCC-D0E0-F04E676A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B474F-539F-25FE-0062-E33618FE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97348B0-8737-F227-11A3-93006A616B8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vs.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model-context-protocol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39BBF-102C-5493-9428-BF5065F2FC8B}"/>
              </a:ext>
            </a:extLst>
          </p:cNvPr>
          <p:cNvSpPr txBox="1"/>
          <p:nvPr/>
        </p:nvSpPr>
        <p:spPr>
          <a:xfrm>
            <a:off x="623454" y="1248422"/>
            <a:ext cx="10945091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b="1" u="none" strike="noStrike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'애플리케이션 간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통신'을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위한 규칙이며, </a:t>
            </a:r>
            <a:r>
              <a:rPr lang="ko-KR" altLang="ko-KR" b="1" u="none" strike="noStrike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'AI 에이전트와 외부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도구·데이터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간의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연결'에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특화된 프로토콜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 descr="출처: norahsakal 블로그">
            <a:extLst>
              <a:ext uri="{FF2B5EF4-FFF2-40B4-BE49-F238E27FC236}">
                <a16:creationId xmlns:a16="http://schemas.microsoft.com/office/drawing/2014/main" id="{E0AEAF15-D26B-771C-5D0E-EB478E86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8" y="2722716"/>
            <a:ext cx="6022109" cy="33874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7DF3F4-C5CB-A697-EF70-0FB0AFDA9885}"/>
              </a:ext>
            </a:extLst>
          </p:cNvPr>
          <p:cNvSpPr txBox="1"/>
          <p:nvPr/>
        </p:nvSpPr>
        <p:spPr>
          <a:xfrm>
            <a:off x="8422755" y="3244334"/>
            <a:ext cx="259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https://smithery.ai/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4749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8888-8A8A-E49F-896A-E26D2FC5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5B8E59-261B-1B8D-D2F2-4961B1E9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51CDBE2-2D31-FDDC-A5CE-7CBD9657FC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MCP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직접 만들기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6F66A-2642-9215-95C1-BCCE15E4A89B}"/>
              </a:ext>
            </a:extLst>
          </p:cNvPr>
          <p:cNvSpPr txBox="1"/>
          <p:nvPr/>
        </p:nvSpPr>
        <p:spPr>
          <a:xfrm>
            <a:off x="1454700" y="1415281"/>
            <a:ext cx="10021454" cy="878446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V</a:t>
            </a:r>
            <a:r>
              <a:rPr lang="ko-KR" altLang="ko-KR" dirty="0" err="1"/>
              <a:t>scode에서</a:t>
            </a:r>
            <a:r>
              <a:rPr lang="ko-KR" altLang="ko-KR" dirty="0"/>
              <a:t> </a:t>
            </a:r>
            <a:r>
              <a:rPr lang="ko-KR" altLang="ko-KR" dirty="0" err="1"/>
              <a:t>cline을</a:t>
            </a:r>
            <a:r>
              <a:rPr lang="ko-KR" altLang="ko-KR" dirty="0"/>
              <a:t> 설치하였다. MCP 를 실습하기 위해 아주 간단한 </a:t>
            </a:r>
            <a:r>
              <a:rPr lang="ko-KR" altLang="ko-KR" dirty="0" err="1"/>
              <a:t>MCP서버를</a:t>
            </a:r>
            <a:r>
              <a:rPr lang="ko-KR" altLang="ko-KR" dirty="0"/>
              <a:t> 만들고 세팅하는 코드</a:t>
            </a:r>
            <a:r>
              <a:rPr lang="ko-KR" altLang="en-US" dirty="0"/>
              <a:t>와 방법을</a:t>
            </a:r>
            <a:r>
              <a:rPr lang="ko-KR" altLang="ko-KR" dirty="0"/>
              <a:t> 주라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일러스트레이터 단색으로 채워진">
            <a:extLst>
              <a:ext uri="{FF2B5EF4-FFF2-40B4-BE49-F238E27FC236}">
                <a16:creationId xmlns:a16="http://schemas.microsoft.com/office/drawing/2014/main" id="{EA7E4E4E-5A28-7BB8-25CF-1BBB255BA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00" y="124842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754D34-0B02-9FF8-6E21-A64E939ABECB}"/>
              </a:ext>
            </a:extLst>
          </p:cNvPr>
          <p:cNvSpPr txBox="1"/>
          <p:nvPr/>
        </p:nvSpPr>
        <p:spPr>
          <a:xfrm>
            <a:off x="1454700" y="2380766"/>
            <a:ext cx="6096000" cy="33855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0051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ko-KR" sz="160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600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</a:t>
            </a:r>
            <a:r>
              <a:rPr lang="ko-KR" altLang="ko-KR" sz="1600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6C464-58E7-5492-15E3-8FDD6EA37B08}"/>
              </a:ext>
            </a:extLst>
          </p:cNvPr>
          <p:cNvSpPr txBox="1"/>
          <p:nvPr/>
        </p:nvSpPr>
        <p:spPr>
          <a:xfrm>
            <a:off x="1454700" y="2973218"/>
            <a:ext cx="10021454" cy="46294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Inspector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UI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보여주는 명령어를 제시하라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C5A2E348-25C7-63FB-4A71-F595CA773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00" y="2806359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F7D174-BE53-63E1-2829-CF294670A59A}"/>
              </a:ext>
            </a:extLst>
          </p:cNvPr>
          <p:cNvSpPr txBox="1"/>
          <p:nvPr/>
        </p:nvSpPr>
        <p:spPr>
          <a:xfrm>
            <a:off x="1366982" y="3498979"/>
            <a:ext cx="10109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CP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inspector를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실행해서 브라우저에서 도구를 바로 테스트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6E3FAA-DE36-D4F3-65A7-5870447DDE49}"/>
              </a:ext>
            </a:extLst>
          </p:cNvPr>
          <p:cNvSpPr txBox="1"/>
          <p:nvPr/>
        </p:nvSpPr>
        <p:spPr>
          <a:xfrm>
            <a:off x="1454700" y="3885225"/>
            <a:ext cx="6096000" cy="33855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dev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server.py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DC8AD79-4E6C-537F-32FE-EF020DA6E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17" y="3885225"/>
            <a:ext cx="4867564" cy="268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16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AI Agent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84195" y="4456327"/>
            <a:ext cx="9582736" cy="1237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교수</a:t>
            </a:r>
            <a:endParaRPr lang="en-US" altLang="ko-KR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00685D-02FD-BF8B-B109-17CCFF94EC24}"/>
              </a:ext>
            </a:extLst>
          </p:cNvPr>
          <p:cNvSpPr/>
          <p:nvPr/>
        </p:nvSpPr>
        <p:spPr>
          <a:xfrm>
            <a:off x="634680" y="201930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1913263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2CCE-9E22-C556-7CE6-6699F2E8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21050-6C32-8CE4-726B-F2263E90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925D974-B59F-BC6E-A852-008B7BED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사람이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규칙을 직접 찾기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487E541-C596-3AD9-D2C4-466D32D5B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40" y="1248421"/>
            <a:ext cx="10886520" cy="949833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  <a:buClr>
                <a:srgbClr val="FFC000"/>
              </a:buClr>
            </a:pP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머신러닝이전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시대에는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관측된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0BC085A-BB1A-1BED-274C-AAD6FA62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297" y="3287863"/>
            <a:ext cx="6307110" cy="304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생각 풍선: 구름 모양 4">
            <a:extLst>
              <a:ext uri="{FF2B5EF4-FFF2-40B4-BE49-F238E27FC236}">
                <a16:creationId xmlns:a16="http://schemas.microsoft.com/office/drawing/2014/main" id="{93D8FD33-93EE-688B-10FA-17B086B8F883}"/>
              </a:ext>
            </a:extLst>
          </p:cNvPr>
          <p:cNvSpPr/>
          <p:nvPr/>
        </p:nvSpPr>
        <p:spPr>
          <a:xfrm>
            <a:off x="267856" y="2410691"/>
            <a:ext cx="3260435" cy="1856510"/>
          </a:xfrm>
          <a:prstGeom prst="cloudCallout">
            <a:avLst>
              <a:gd name="adj1" fmla="val 75056"/>
              <a:gd name="adj2" fmla="val 2648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방대한 데이터들을 직접 수년간 궁리하고 계산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(Compute)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한 끝에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행성의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공전궤도는 원이 아닌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타원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이라는  사실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규칙성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패턴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발견</a:t>
            </a:r>
          </a:p>
        </p:txBody>
      </p:sp>
    </p:spTree>
    <p:extLst>
      <p:ext uri="{BB962C8B-B14F-4D97-AF65-F5344CB8AC3E}">
        <p14:creationId xmlns:p14="http://schemas.microsoft.com/office/powerpoint/2010/main" val="2359150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8A06-4F59-A189-4D58-D447F8CD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D31A90-A090-FF32-8FDF-9608161D9F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30137-F5E6-8F4A-FD2A-F5EE5C9BE80B}"/>
              </a:ext>
            </a:extLst>
          </p:cNvPr>
          <p:cNvSpPr txBox="1"/>
          <p:nvPr/>
        </p:nvSpPr>
        <p:spPr>
          <a:xfrm>
            <a:off x="552449" y="1248422"/>
            <a:ext cx="11001376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</a:pP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ko-KR" altLang="en-US" sz="1800" dirty="0" err="1">
                <a:latin typeface="+mn-lt"/>
                <a:ea typeface="D2Coding" panose="020B0609020101020101" pitchFamily="49" charset="-127"/>
              </a:rPr>
              <a:t>머신러닝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(Machine Learning)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dirty="0"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New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Paradigm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4665AD-7B35-C5FC-9EC1-E7A307943170}"/>
              </a:ext>
            </a:extLst>
          </p:cNvPr>
          <p:cNvSpPr/>
          <p:nvPr/>
        </p:nvSpPr>
        <p:spPr>
          <a:xfrm>
            <a:off x="4340860" y="2637089"/>
            <a:ext cx="2641600" cy="11887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8B2E9C-E853-7BDA-629C-3E96758506F4}"/>
              </a:ext>
            </a:extLst>
          </p:cNvPr>
          <p:cNvSpPr/>
          <p:nvPr/>
        </p:nvSpPr>
        <p:spPr>
          <a:xfrm>
            <a:off x="4340860" y="4730684"/>
            <a:ext cx="2641600" cy="1188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sz="20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래픽 7" descr="줄 화살표: 일자형">
            <a:extLst>
              <a:ext uri="{FF2B5EF4-FFF2-40B4-BE49-F238E27FC236}">
                <a16:creationId xmlns:a16="http://schemas.microsoft.com/office/drawing/2014/main" id="{D7DBF5B4-C0EB-790C-0371-CED90C1720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322001" y="2616769"/>
            <a:ext cx="701040" cy="701040"/>
          </a:xfrm>
          <a:prstGeom prst="rect">
            <a:avLst/>
          </a:prstGeom>
        </p:spPr>
      </p:pic>
      <p:pic>
        <p:nvPicPr>
          <p:cNvPr id="9" name="그래픽 8" descr="줄 화살표: 일자형">
            <a:extLst>
              <a:ext uri="{FF2B5EF4-FFF2-40B4-BE49-F238E27FC236}">
                <a16:creationId xmlns:a16="http://schemas.microsoft.com/office/drawing/2014/main" id="{0333DC92-2A05-5E3F-4123-42B058440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322001" y="3185730"/>
            <a:ext cx="701040" cy="701040"/>
          </a:xfrm>
          <a:prstGeom prst="rect">
            <a:avLst/>
          </a:prstGeom>
        </p:spPr>
      </p:pic>
      <p:pic>
        <p:nvPicPr>
          <p:cNvPr id="10" name="그래픽 9" descr="줄 화살표: 일자형">
            <a:extLst>
              <a:ext uri="{FF2B5EF4-FFF2-40B4-BE49-F238E27FC236}">
                <a16:creationId xmlns:a16="http://schemas.microsoft.com/office/drawing/2014/main" id="{9F0B3507-87E7-5D79-75F6-9640F758B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300279" y="2847379"/>
            <a:ext cx="701040" cy="701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FBAC10-E999-5756-60F3-D8E76AB97D81}"/>
              </a:ext>
            </a:extLst>
          </p:cNvPr>
          <p:cNvSpPr txBox="1"/>
          <p:nvPr/>
        </p:nvSpPr>
        <p:spPr>
          <a:xfrm>
            <a:off x="2124083" y="271658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Rules</a:t>
            </a:r>
            <a:endParaRPr lang="ko-KR" altLang="en-US" sz="20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58E61-F2FE-4B7A-EF0D-83C41A6A46A3}"/>
              </a:ext>
            </a:extLst>
          </p:cNvPr>
          <p:cNvSpPr txBox="1"/>
          <p:nvPr/>
        </p:nvSpPr>
        <p:spPr>
          <a:xfrm>
            <a:off x="2124083" y="335487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A6DCF-B2FE-F4C7-DD87-9B2DBA331FC6}"/>
              </a:ext>
            </a:extLst>
          </p:cNvPr>
          <p:cNvSpPr txBox="1"/>
          <p:nvPr/>
        </p:nvSpPr>
        <p:spPr>
          <a:xfrm>
            <a:off x="8306600" y="2972372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래픽 13" descr="줄 화살표: 일자형">
            <a:extLst>
              <a:ext uri="{FF2B5EF4-FFF2-40B4-BE49-F238E27FC236}">
                <a16:creationId xmlns:a16="http://schemas.microsoft.com/office/drawing/2014/main" id="{E838EE3C-D05B-076B-D0F8-99BC76179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322001" y="4700204"/>
            <a:ext cx="701040" cy="701040"/>
          </a:xfrm>
          <a:prstGeom prst="rect">
            <a:avLst/>
          </a:prstGeom>
        </p:spPr>
      </p:pic>
      <p:pic>
        <p:nvPicPr>
          <p:cNvPr id="15" name="그래픽 14" descr="줄 화살표: 일자형">
            <a:extLst>
              <a:ext uri="{FF2B5EF4-FFF2-40B4-BE49-F238E27FC236}">
                <a16:creationId xmlns:a16="http://schemas.microsoft.com/office/drawing/2014/main" id="{6E0A3722-6E85-ACD4-B488-2E2C68C0C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322001" y="5269165"/>
            <a:ext cx="701040" cy="701040"/>
          </a:xfrm>
          <a:prstGeom prst="rect">
            <a:avLst/>
          </a:prstGeom>
        </p:spPr>
      </p:pic>
      <p:pic>
        <p:nvPicPr>
          <p:cNvPr id="16" name="그래픽 15" descr="줄 화살표: 일자형">
            <a:extLst>
              <a:ext uri="{FF2B5EF4-FFF2-40B4-BE49-F238E27FC236}">
                <a16:creationId xmlns:a16="http://schemas.microsoft.com/office/drawing/2014/main" id="{AA8F17DC-BCA7-080A-2619-540F4917A5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300279" y="4930814"/>
            <a:ext cx="701040" cy="7010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CE61B6-A156-11AB-E24D-E2BF572677B5}"/>
              </a:ext>
            </a:extLst>
          </p:cNvPr>
          <p:cNvSpPr txBox="1"/>
          <p:nvPr/>
        </p:nvSpPr>
        <p:spPr>
          <a:xfrm>
            <a:off x="2124083" y="480001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FBD98-CA29-E99F-209D-03B8DED80F4A}"/>
              </a:ext>
            </a:extLst>
          </p:cNvPr>
          <p:cNvSpPr txBox="1"/>
          <p:nvPr/>
        </p:nvSpPr>
        <p:spPr>
          <a:xfrm>
            <a:off x="2124083" y="543831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48910-FBEF-9698-E753-B62BE4D44C15}"/>
              </a:ext>
            </a:extLst>
          </p:cNvPr>
          <p:cNvSpPr txBox="1"/>
          <p:nvPr/>
        </p:nvSpPr>
        <p:spPr>
          <a:xfrm>
            <a:off x="8306600" y="5055807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Rules</a:t>
            </a:r>
            <a:endParaRPr lang="ko-KR" altLang="en-US" sz="20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9F3E01C-276C-F67D-E749-A3CA4F9E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281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44BF-486E-CF55-333D-077990DD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60DF4-4F71-F6BE-C5F9-A496011E33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577F4F-3E3E-FB6A-7D3A-40B3DC62FDFA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20269B-01B1-0716-A10B-84E6C4741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90" y="1469766"/>
            <a:ext cx="9968619" cy="4655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09C25-95D1-4C3B-F268-661322A0D0A4}"/>
              </a:ext>
            </a:extLst>
          </p:cNvPr>
          <p:cNvSpPr txBox="1"/>
          <p:nvPr/>
        </p:nvSpPr>
        <p:spPr>
          <a:xfrm>
            <a:off x="1034776" y="6237517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E0553-FCB6-9211-B623-8555364E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550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534B-08E1-8419-3857-356E0F61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B8B7C1-764D-22ED-9281-151CA8F4D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1823A-459C-E3E3-1588-6E0DCECAECFE}"/>
              </a:ext>
            </a:extLst>
          </p:cNvPr>
          <p:cNvSpPr txBox="1"/>
          <p:nvPr/>
        </p:nvSpPr>
        <p:spPr>
          <a:xfrm>
            <a:off x="542925" y="1248422"/>
            <a:ext cx="1130617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이유는 엄청난 양의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사운드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초고속 컴퓨터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밤낮없이 읽으면서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모든 데이터의 패턴을 찾아냈기 때문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수능 만점자가 기출문제를 완벽하게 마스터해서 어떤 변형 문제가 나와도 맞히는 것과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비슷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 descr="A Blog on &quot;Understanding Deep Learning&quot;​ by Kalyan Mohanty - Intern (CoE- AI Lab)">
            <a:extLst>
              <a:ext uri="{FF2B5EF4-FFF2-40B4-BE49-F238E27FC236}">
                <a16:creationId xmlns:a16="http://schemas.microsoft.com/office/drawing/2014/main" id="{69601DCC-AE13-5655-6FCA-34EEF3DD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94" y="2507566"/>
            <a:ext cx="6535612" cy="403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래픽 6" descr="고속도로 장면">
            <a:extLst>
              <a:ext uri="{FF2B5EF4-FFF2-40B4-BE49-F238E27FC236}">
                <a16:creationId xmlns:a16="http://schemas.microsoft.com/office/drawing/2014/main" id="{5AF5882A-65A1-2DEB-5801-918D3C3C1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8284" y="3501607"/>
            <a:ext cx="580403" cy="580403"/>
          </a:xfrm>
          <a:prstGeom prst="rect">
            <a:avLst/>
          </a:prstGeom>
        </p:spPr>
      </p:pic>
      <p:pic>
        <p:nvPicPr>
          <p:cNvPr id="9" name="그래픽 8" descr="봉투 열기">
            <a:extLst>
              <a:ext uri="{FF2B5EF4-FFF2-40B4-BE49-F238E27FC236}">
                <a16:creationId xmlns:a16="http://schemas.microsoft.com/office/drawing/2014/main" id="{97BFBBE8-4C60-A151-E375-169FEE8D7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6205" y="4082010"/>
            <a:ext cx="580403" cy="580403"/>
          </a:xfrm>
          <a:prstGeom prst="rect">
            <a:avLst/>
          </a:prstGeom>
        </p:spPr>
      </p:pic>
      <p:pic>
        <p:nvPicPr>
          <p:cNvPr id="11" name="그래픽 10" descr="팟캐스트">
            <a:extLst>
              <a:ext uri="{FF2B5EF4-FFF2-40B4-BE49-F238E27FC236}">
                <a16:creationId xmlns:a16="http://schemas.microsoft.com/office/drawing/2014/main" id="{84E2B080-9A0B-091C-9565-D7C4B0546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05497" y="4831462"/>
            <a:ext cx="580403" cy="5804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3F3519-D0F6-4D31-E9C0-E0AF5A640E77}"/>
              </a:ext>
            </a:extLst>
          </p:cNvPr>
          <p:cNvSpPr txBox="1"/>
          <p:nvPr/>
        </p:nvSpPr>
        <p:spPr>
          <a:xfrm>
            <a:off x="9646501" y="4690777"/>
            <a:ext cx="22624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Big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Computing power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Algorithm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25B7FF9-8432-EB94-D532-CA81EDD3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335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400182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343566"/>
            <a:ext cx="5800377" cy="46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9200620" y="1343566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9306530" y="388844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30F44-5F9D-1CF1-6475-3DCD2B29F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4" y="1343566"/>
            <a:ext cx="5537631" cy="4697617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0586-3065-34CB-E356-1E7377D5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399196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852294"/>
            <a:ext cx="5698068" cy="45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2353280" y="1318246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76D564-A2B8-4E91-EFC8-558B1506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68" y="1852294"/>
            <a:ext cx="5475257" cy="458481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77057D25-D20A-36CB-6B01-6CF77FBE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80E2-7EAE-0863-8D8D-175C83D7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B676623-DC5C-27B1-6E94-D5934094FACF}"/>
              </a:ext>
            </a:extLst>
          </p:cNvPr>
          <p:cNvSpPr/>
          <p:nvPr/>
        </p:nvSpPr>
        <p:spPr>
          <a:xfrm>
            <a:off x="634680" y="2752725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89F832-A593-B8AE-635F-A7F1E1AAA44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E9DCC-AB41-959D-5E20-0D98CD06BFA5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34170581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965E-0BA2-2F6C-DA02-CE91EDCC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6527A5B-F142-4D17-F622-C794CAA8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8" y="4057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AI</a:t>
            </a:r>
            <a:r>
              <a:rPr lang="ko-KR" altLang="en-US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는 어떻게 학습하지</a:t>
            </a:r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?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04610D4-AA7C-03B3-F07B-210F893F5541}"/>
              </a:ext>
            </a:extLst>
          </p:cNvPr>
          <p:cNvSpPr/>
          <p:nvPr/>
        </p:nvSpPr>
        <p:spPr>
          <a:xfrm>
            <a:off x="1853682" y="2357376"/>
            <a:ext cx="1815752" cy="394100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8375850-26DC-9B59-678E-D468D0067068}"/>
              </a:ext>
            </a:extLst>
          </p:cNvPr>
          <p:cNvSpPr/>
          <p:nvPr/>
        </p:nvSpPr>
        <p:spPr>
          <a:xfrm>
            <a:off x="5565083" y="2398583"/>
            <a:ext cx="1815752" cy="394100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AAE8DC-A708-8796-64DF-86B8D4DB3275}"/>
              </a:ext>
            </a:extLst>
          </p:cNvPr>
          <p:cNvGraphicFramePr>
            <a:graphicFrameLocks noGrp="1"/>
          </p:cNvGraphicFramePr>
          <p:nvPr/>
        </p:nvGraphicFramePr>
        <p:xfrm>
          <a:off x="2428660" y="2911543"/>
          <a:ext cx="673100" cy="2819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8829946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38843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6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1853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9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55628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6389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434112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24086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89011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33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522450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38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13068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41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936162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DE1CD5F-94A1-AB9B-E690-D65813C0A4A3}"/>
              </a:ext>
            </a:extLst>
          </p:cNvPr>
          <p:cNvGraphicFramePr>
            <a:graphicFrameLocks noGrp="1"/>
          </p:cNvGraphicFramePr>
          <p:nvPr/>
        </p:nvGraphicFramePr>
        <p:xfrm>
          <a:off x="6098309" y="2959386"/>
          <a:ext cx="749300" cy="28194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392927314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92219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30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15310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41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55709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74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67333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87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07753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102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7855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608088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137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52493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124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28227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152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4119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E49EA0-62B9-36D1-C354-62D026481A22}"/>
                  </a:ext>
                </a:extLst>
              </p:cNvPr>
              <p:cNvSpPr txBox="1"/>
              <p:nvPr/>
            </p:nvSpPr>
            <p:spPr>
              <a:xfrm>
                <a:off x="6193876" y="1749463"/>
                <a:ext cx="5581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ko-KR" altLang="en-US" sz="2800" b="1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E49EA0-62B9-36D1-C354-62D02648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876" y="1749463"/>
                <a:ext cx="55816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210D353-F3EA-E247-2CE1-4C9C9C0F6192}"/>
              </a:ext>
            </a:extLst>
          </p:cNvPr>
          <p:cNvCxnSpPr>
            <a:cxnSpLocks/>
          </p:cNvCxnSpPr>
          <p:nvPr/>
        </p:nvCxnSpPr>
        <p:spPr>
          <a:xfrm>
            <a:off x="3893415" y="30777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D056597-1A4C-4AD3-E434-9C3216346CE8}"/>
              </a:ext>
            </a:extLst>
          </p:cNvPr>
          <p:cNvCxnSpPr>
            <a:cxnSpLocks/>
          </p:cNvCxnSpPr>
          <p:nvPr/>
        </p:nvCxnSpPr>
        <p:spPr>
          <a:xfrm>
            <a:off x="3893415" y="33921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92B4F2-E324-02AE-CB30-96EE6B90729E}"/>
              </a:ext>
            </a:extLst>
          </p:cNvPr>
          <p:cNvCxnSpPr>
            <a:cxnSpLocks/>
          </p:cNvCxnSpPr>
          <p:nvPr/>
        </p:nvCxnSpPr>
        <p:spPr>
          <a:xfrm>
            <a:off x="3893415" y="37064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02E11FB-A99F-A026-C5F0-E6385ACDED5D}"/>
              </a:ext>
            </a:extLst>
          </p:cNvPr>
          <p:cNvCxnSpPr>
            <a:cxnSpLocks/>
          </p:cNvCxnSpPr>
          <p:nvPr/>
        </p:nvCxnSpPr>
        <p:spPr>
          <a:xfrm>
            <a:off x="3893415" y="40207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7431F94-EA51-86AE-4D5E-730AD004E870}"/>
              </a:ext>
            </a:extLst>
          </p:cNvPr>
          <p:cNvCxnSpPr>
            <a:cxnSpLocks/>
          </p:cNvCxnSpPr>
          <p:nvPr/>
        </p:nvCxnSpPr>
        <p:spPr>
          <a:xfrm>
            <a:off x="3893415" y="43350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5DA01DD-1F6A-3D9C-4E44-6730C90D1A23}"/>
              </a:ext>
            </a:extLst>
          </p:cNvPr>
          <p:cNvCxnSpPr>
            <a:cxnSpLocks/>
          </p:cNvCxnSpPr>
          <p:nvPr/>
        </p:nvCxnSpPr>
        <p:spPr>
          <a:xfrm>
            <a:off x="3893415" y="46494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71175BD-DC36-90AC-DB3A-86BFDCDEEE71}"/>
              </a:ext>
            </a:extLst>
          </p:cNvPr>
          <p:cNvCxnSpPr>
            <a:cxnSpLocks/>
          </p:cNvCxnSpPr>
          <p:nvPr/>
        </p:nvCxnSpPr>
        <p:spPr>
          <a:xfrm>
            <a:off x="3893415" y="49637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776C68E-2C46-6816-1EED-AD621CCA2DC9}"/>
              </a:ext>
            </a:extLst>
          </p:cNvPr>
          <p:cNvCxnSpPr>
            <a:cxnSpLocks/>
          </p:cNvCxnSpPr>
          <p:nvPr/>
        </p:nvCxnSpPr>
        <p:spPr>
          <a:xfrm>
            <a:off x="3893415" y="52780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BA1F43B-0857-BB7F-A776-CE7D90EBE8E0}"/>
              </a:ext>
            </a:extLst>
          </p:cNvPr>
          <p:cNvCxnSpPr>
            <a:cxnSpLocks/>
          </p:cNvCxnSpPr>
          <p:nvPr/>
        </p:nvCxnSpPr>
        <p:spPr>
          <a:xfrm>
            <a:off x="3893415" y="55923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17F883-AFBC-0C40-31BE-DD1554E57B95}"/>
                  </a:ext>
                </a:extLst>
              </p:cNvPr>
              <p:cNvSpPr txBox="1"/>
              <p:nvPr/>
            </p:nvSpPr>
            <p:spPr>
              <a:xfrm>
                <a:off x="8525392" y="3392122"/>
                <a:ext cx="181575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3200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ko-KR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2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ko-KR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17F883-AFBC-0C40-31BE-DD1554E5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392" y="3392122"/>
                <a:ext cx="181575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EB0D-8E56-EA3A-9BCE-38E622BAF39F}"/>
                  </a:ext>
                </a:extLst>
              </p:cNvPr>
              <p:cNvSpPr txBox="1"/>
              <p:nvPr/>
            </p:nvSpPr>
            <p:spPr>
              <a:xfrm>
                <a:off x="2486142" y="1626352"/>
                <a:ext cx="673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36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EB0D-8E56-EA3A-9BCE-38E622BAF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42" y="1626352"/>
                <a:ext cx="673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1C105-F4AA-9B85-D2E7-3A5DC3A28F1D}"/>
                  </a:ext>
                </a:extLst>
              </p:cNvPr>
              <p:cNvSpPr txBox="1"/>
              <p:nvPr/>
            </p:nvSpPr>
            <p:spPr>
              <a:xfrm>
                <a:off x="8525392" y="4107712"/>
                <a:ext cx="25799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4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find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en-US" sz="32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1C105-F4AA-9B85-D2E7-3A5DC3A28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392" y="4107712"/>
                <a:ext cx="2579969" cy="584775"/>
              </a:xfrm>
              <a:prstGeom prst="rect">
                <a:avLst/>
              </a:prstGeom>
              <a:blipFill>
                <a:blip r:embed="rId5"/>
                <a:stretch>
                  <a:fillRect l="-3783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래픽 2" descr="물음표 단색으로 채워진">
            <a:extLst>
              <a:ext uri="{FF2B5EF4-FFF2-40B4-BE49-F238E27FC236}">
                <a16:creationId xmlns:a16="http://schemas.microsoft.com/office/drawing/2014/main" id="{5FDE3F48-B6AB-088C-7D12-3FBCB0F39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0891" y="3726999"/>
            <a:ext cx="673100" cy="6731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35BAE0B-D1C9-F459-3936-C97746DD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418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EE4D-6E12-87F7-561A-94698FFB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FF5D95-5569-3784-2FDF-0ADF248D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8" y="4057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AI</a:t>
            </a:r>
            <a:r>
              <a:rPr lang="ko-KR" altLang="en-US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는 어떻게 학습하지</a:t>
            </a:r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?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4EC813-5F61-B734-8C76-BFF51496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51" y="1483359"/>
            <a:ext cx="7347565" cy="496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설명선: 굽은 선 2">
                <a:extLst>
                  <a:ext uri="{FF2B5EF4-FFF2-40B4-BE49-F238E27FC236}">
                    <a16:creationId xmlns:a16="http://schemas.microsoft.com/office/drawing/2014/main" id="{48D302B7-282E-9C36-0EFC-3130916FB412}"/>
                  </a:ext>
                </a:extLst>
              </p:cNvPr>
              <p:cNvSpPr/>
              <p:nvPr/>
            </p:nvSpPr>
            <p:spPr>
              <a:xfrm>
                <a:off x="8905875" y="3386762"/>
                <a:ext cx="2563917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86413"/>
                  <a:gd name="adj6" fmla="val -35522"/>
                </a:avLst>
              </a:prstGeom>
              <a:solidFill>
                <a:srgbClr val="0070C0"/>
              </a:solid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ko-K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3.37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+ 11.19</a:t>
                </a:r>
                <a:endPara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3" name="설명선: 굽은 선 2">
                <a:extLst>
                  <a:ext uri="{FF2B5EF4-FFF2-40B4-BE49-F238E27FC236}">
                    <a16:creationId xmlns:a16="http://schemas.microsoft.com/office/drawing/2014/main" id="{48D302B7-282E-9C36-0EFC-3130916FB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875" y="3386762"/>
                <a:ext cx="2563917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86413"/>
                  <a:gd name="adj6" fmla="val -35522"/>
                </a:avLst>
              </a:prstGeom>
              <a:blipFill>
                <a:blip r:embed="rId3"/>
                <a:stretch>
                  <a:fillRect b="-9794"/>
                </a:stretch>
              </a:blip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3F012A-AB9B-8D9A-54C9-DE5C87C1416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343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6936-C080-0D34-4C7E-58D2F60C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571DE09-F9FE-74A3-950A-ADAE199E91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deep learning?</a:t>
            </a: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38311887-7539-A3E5-9349-9D1B77683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348552"/>
            <a:ext cx="8669111" cy="4880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60A78-E863-CDFF-54AA-99809CD5E86C}"/>
              </a:ext>
            </a:extLst>
          </p:cNvPr>
          <p:cNvSpPr txBox="1"/>
          <p:nvPr/>
        </p:nvSpPr>
        <p:spPr>
          <a:xfrm>
            <a:off x="2954387" y="6277467"/>
            <a:ext cx="7639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neural network?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(start= 3 min, end = 5 min)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0685187-DFAF-3DF6-551D-6BFE9696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87" y="1622081"/>
            <a:ext cx="1571309" cy="15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734F49-55E6-737D-87D1-EE09CAE9B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24" y="1348551"/>
            <a:ext cx="3191365" cy="276624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9571667-B20D-7DA4-45F8-1B7D64FC90FE}"/>
              </a:ext>
            </a:extLst>
          </p:cNvPr>
          <p:cNvSpPr/>
          <p:nvPr/>
        </p:nvSpPr>
        <p:spPr>
          <a:xfrm>
            <a:off x="4252687" y="1728259"/>
            <a:ext cx="768539" cy="621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AE7469-B60E-60E2-36E4-5AA10FA30919}"/>
              </a:ext>
            </a:extLst>
          </p:cNvPr>
          <p:cNvCxnSpPr>
            <a:cxnSpLocks/>
          </p:cNvCxnSpPr>
          <p:nvPr/>
        </p:nvCxnSpPr>
        <p:spPr>
          <a:xfrm flipH="1" flipV="1">
            <a:off x="3630389" y="1307194"/>
            <a:ext cx="1390837" cy="4210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77B65A1-24EA-48CD-744D-90B01F28E1BA}"/>
              </a:ext>
            </a:extLst>
          </p:cNvPr>
          <p:cNvCxnSpPr>
            <a:cxnSpLocks/>
          </p:cNvCxnSpPr>
          <p:nvPr/>
        </p:nvCxnSpPr>
        <p:spPr>
          <a:xfrm flipH="1">
            <a:off x="3668750" y="2390775"/>
            <a:ext cx="1352476" cy="169922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458C62-3780-5E53-F202-8348743CDF01}"/>
              </a:ext>
            </a:extLst>
          </p:cNvPr>
          <p:cNvSpPr txBox="1"/>
          <p:nvPr/>
        </p:nvSpPr>
        <p:spPr>
          <a:xfrm>
            <a:off x="4335293" y="3160276"/>
            <a:ext cx="1522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x 28 pixel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7C96DB4D-CEC1-72A8-8EB5-2A0699CA77D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1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8E67-964D-BF9B-EF2C-CA14CE24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B73370-1ECF-A136-2224-D44EA90FC7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Human Neurons ?</a:t>
            </a:r>
          </a:p>
        </p:txBody>
      </p:sp>
      <p:pic>
        <p:nvPicPr>
          <p:cNvPr id="12" name="그림 11" descr="What Is a Neuron? Diagrams, Types, Function, and More">
            <a:extLst>
              <a:ext uri="{FF2B5EF4-FFF2-40B4-BE49-F238E27FC236}">
                <a16:creationId xmlns:a16="http://schemas.microsoft.com/office/drawing/2014/main" id="{6D05F76D-3C80-4EEE-94EE-740DF57E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6" y="1813455"/>
            <a:ext cx="3489665" cy="2571173"/>
          </a:xfrm>
          <a:prstGeom prst="rect">
            <a:avLst/>
          </a:prstGeom>
        </p:spPr>
      </p:pic>
      <p:pic>
        <p:nvPicPr>
          <p:cNvPr id="13" name="그림 12" descr="파란색 배경 위에 빛나는 부분이 있는 파란색 뉴런. 뉴런 인터페이스와 컴퓨터 과학 개념. 3D 렌더링 복사 공간">
            <a:extLst>
              <a:ext uri="{FF2B5EF4-FFF2-40B4-BE49-F238E27FC236}">
                <a16:creationId xmlns:a16="http://schemas.microsoft.com/office/drawing/2014/main" id="{51E4D1CC-6F07-7E35-045C-8DCD0FFB3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91" y="1813455"/>
            <a:ext cx="6382242" cy="42548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2C67C8-3D3C-1C29-7B89-FB3AEDAFB5F0}"/>
              </a:ext>
            </a:extLst>
          </p:cNvPr>
          <p:cNvSpPr txBox="1"/>
          <p:nvPr/>
        </p:nvSpPr>
        <p:spPr>
          <a:xfrm>
            <a:off x="4054764" y="606828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https://unsplash.com/</a:t>
            </a:r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7F59B6-090E-ED6F-D183-B9D12E7386B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124C34-AEF9-61BD-450B-BB0F33834F1F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6556314-C8F7-D28F-6A79-23DFD53CD37E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D2BBBD2-0794-D6C4-3419-FCB7A723373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BDED513-D005-5279-8196-AC7023A5322B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91DAF236-8715-8190-1585-3CAD2272C42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D1FD698F-9A54-F99D-CCF6-41036FBB81F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F292496-119B-6EDA-5BF1-F30D33DE8064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7FB1895E-5E84-ACF7-4E72-7CA2EE0E3FA1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61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E96C-D44D-69EC-5614-BCF39F3C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9F240A1-8142-C896-0DB3-16008A6D28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9C1E6-6422-40C8-54EC-EEEFA190BA12}"/>
              </a:ext>
            </a:extLst>
          </p:cNvPr>
          <p:cNvSpPr txBox="1"/>
          <p:nvPr/>
        </p:nvSpPr>
        <p:spPr>
          <a:xfrm>
            <a:off x="542925" y="138112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https://playground.tensorflow.org/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6FD34-3153-CDDD-9C29-E76067C1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883160"/>
            <a:ext cx="8248650" cy="4438412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02466EC-7BD7-D2C1-48D5-7820AFCD7F7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485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BD2B-6479-2805-C72C-E6352386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85B561-D6FE-AC27-A340-8AE1315A6C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5228DEE-783A-5EBC-8FE7-452CF928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30" y="1805250"/>
            <a:ext cx="9240460" cy="173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2FCFC2-22BB-2EF8-0930-D252E05D2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30" y="4270161"/>
            <a:ext cx="5174880" cy="24077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5D308-B54D-E344-1BA5-05FC986C277E}"/>
              </a:ext>
            </a:extLst>
          </p:cNvPr>
          <p:cNvSpPr txBox="1"/>
          <p:nvPr/>
        </p:nvSpPr>
        <p:spPr>
          <a:xfrm>
            <a:off x="1272280" y="1383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34E38-CCCD-422B-AD62-0346A558B8FE}"/>
              </a:ext>
            </a:extLst>
          </p:cNvPr>
          <p:cNvSpPr txBox="1"/>
          <p:nvPr/>
        </p:nvSpPr>
        <p:spPr>
          <a:xfrm>
            <a:off x="1272280" y="3728311"/>
            <a:ext cx="348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0749-1381-9AA4-9234-98F5C77377DD}"/>
              </a:ext>
            </a:extLst>
          </p:cNvPr>
          <p:cNvSpPr txBox="1"/>
          <p:nvPr/>
        </p:nvSpPr>
        <p:spPr>
          <a:xfrm>
            <a:off x="6874190" y="4270161"/>
            <a:ext cx="172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한국-프랑스+파리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54C5F3D-3B92-0544-8648-E4F7A9E9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32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535C-AEDB-6E14-2E05-66E300B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C2D724-0AC7-DE84-2E5B-829B33F738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6E4CC-780B-2157-8AE3-8B59B1D7F437}"/>
              </a:ext>
            </a:extLst>
          </p:cNvPr>
          <p:cNvSpPr txBox="1"/>
          <p:nvPr/>
        </p:nvSpPr>
        <p:spPr>
          <a:xfrm>
            <a:off x="475645" y="15243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tensorflow_projector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210A7A-250D-8F17-3A7C-539977D1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115" y="1524395"/>
            <a:ext cx="7363256" cy="469442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97BCCA-9308-B97A-4EDE-0925D53C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24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78D1-139E-DDB7-C0F0-41C6663D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013D77-BF1D-8143-53CC-EC8B8D9B3DE6}"/>
              </a:ext>
            </a:extLst>
          </p:cNvPr>
          <p:cNvSpPr/>
          <p:nvPr/>
        </p:nvSpPr>
        <p:spPr>
          <a:xfrm>
            <a:off x="634680" y="346710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3C32D1A-E0C3-D69B-D2D1-9865CC78F3F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0E936-5ED4-AFB8-DBA9-C11DC51F1461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884404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63430" y="1190610"/>
            <a:ext cx="1099039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기반으로 다음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확률적으로 예측하여 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72265" y="2439864"/>
            <a:ext cx="5020496" cy="3660172"/>
            <a:chOff x="2938879" y="2492978"/>
            <a:chExt cx="5020496" cy="3660172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rgbClr val="FF99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796" y="2492978"/>
              <a:ext cx="3379579" cy="3660172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563707" cy="38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3061575" y="3815616"/>
            <a:ext cx="8492250" cy="274296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5123393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12DC4873-8878-1A66-9E65-761AEC1413B3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9864EF-57DD-0EF8-EEE2-E30A7B31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31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54FFA66-55FC-DF67-95A8-C264D5C14FCC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E42228-D343-259C-E33F-2EA9C7B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686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1182490"/>
            <a:ext cx="11143400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말을 이어가는 끝 말 이어가기 끝판 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LLM(Large Language Model)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3C699B77-FF99-CB64-B75D-7B9921ECC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0B471C4-A2F3-53E6-397D-2F1C0CF7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12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BB82-A826-F26E-33F3-BE58B9BF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836A0981-B06E-7FA9-3C84-1BEB1DD7D66C}"/>
              </a:ext>
            </a:extLst>
          </p:cNvPr>
          <p:cNvSpPr/>
          <p:nvPr/>
        </p:nvSpPr>
        <p:spPr>
          <a:xfrm>
            <a:off x="666750" y="3972815"/>
            <a:ext cx="1676400" cy="981109"/>
          </a:xfrm>
          <a:prstGeom prst="cloudCallout">
            <a:avLst>
              <a:gd name="adj1" fmla="val 71781"/>
              <a:gd name="adj2" fmla="val -11322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466065-E699-8505-729C-071D8E4E57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3B534-17F1-16CB-F2B2-D4F954D22BE1}"/>
              </a:ext>
            </a:extLst>
          </p:cNvPr>
          <p:cNvSpPr txBox="1"/>
          <p:nvPr/>
        </p:nvSpPr>
        <p:spPr>
          <a:xfrm>
            <a:off x="5977370" y="2179317"/>
            <a:ext cx="5547880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B3DEC-D9DE-0819-ED6A-4522BD601F7C}"/>
              </a:ext>
            </a:extLst>
          </p:cNvPr>
          <p:cNvSpPr txBox="1"/>
          <p:nvPr/>
        </p:nvSpPr>
        <p:spPr>
          <a:xfrm>
            <a:off x="487615" y="3450219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tokenizer</a:t>
            </a:r>
            <a:endParaRPr lang="ko-KR" altLang="en-US" sz="2000" b="1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936B0-BF75-16F5-23C6-40015226234C}"/>
              </a:ext>
            </a:extLst>
          </p:cNvPr>
          <p:cNvSpPr txBox="1"/>
          <p:nvPr/>
        </p:nvSpPr>
        <p:spPr>
          <a:xfrm rot="20880952">
            <a:off x="1398868" y="4114632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02C82-4BA6-FEDC-2B87-D1CF7DBA6ED8}"/>
              </a:ext>
            </a:extLst>
          </p:cNvPr>
          <p:cNvSpPr txBox="1"/>
          <p:nvPr/>
        </p:nvSpPr>
        <p:spPr>
          <a:xfrm rot="18871284">
            <a:off x="1639303" y="444837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AB36C-27C3-2D4A-22B2-AC7B1B098554}"/>
              </a:ext>
            </a:extLst>
          </p:cNvPr>
          <p:cNvSpPr txBox="1"/>
          <p:nvPr/>
        </p:nvSpPr>
        <p:spPr>
          <a:xfrm rot="20880952">
            <a:off x="1052470" y="45284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F040D-97CF-EDFE-B8F0-1019CB16013B}"/>
              </a:ext>
            </a:extLst>
          </p:cNvPr>
          <p:cNvSpPr txBox="1"/>
          <p:nvPr/>
        </p:nvSpPr>
        <p:spPr>
          <a:xfrm rot="899439">
            <a:off x="841799" y="418906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BF0C6E-FCBC-9280-86ED-228EEE52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참새">
            <a:extLst>
              <a:ext uri="{FF2B5EF4-FFF2-40B4-BE49-F238E27FC236}">
                <a16:creationId xmlns:a16="http://schemas.microsoft.com/office/drawing/2014/main" id="{7B6E6159-9E36-E3BC-CAC2-1F1F8699A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7505" y="2535818"/>
            <a:ext cx="1803569" cy="180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698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18F6-1762-C857-F72D-7B126077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9EF91C-2C02-8C60-5612-69CCB33C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19" y="1703682"/>
            <a:ext cx="7629006" cy="377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Gary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fluent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bullshitters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언어적 유창성은 뛰어나나 사실 검증 메커니즘이 없음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Yejin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Choi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Commonsense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therefore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bullshit-prone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세상에 대한 상식 없이 말하기 때문에 자주 현실과 동떨어짐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코마에서 깨어난 신입사원 아인슈타인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오른쪽 중괄호 4">
            <a:extLst>
              <a:ext uri="{FF2B5EF4-FFF2-40B4-BE49-F238E27FC236}">
                <a16:creationId xmlns:a16="http://schemas.microsoft.com/office/drawing/2014/main" id="{F593159A-2015-62E4-DAC8-9AEED4B360F2}"/>
              </a:ext>
            </a:extLst>
          </p:cNvPr>
          <p:cNvSpPr/>
          <p:nvPr/>
        </p:nvSpPr>
        <p:spPr>
          <a:xfrm>
            <a:off x="8029575" y="1974229"/>
            <a:ext cx="419100" cy="3407396"/>
          </a:xfrm>
          <a:prstGeom prst="rightBrace">
            <a:avLst>
              <a:gd name="adj1" fmla="val 59804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CA16C-F40C-57FC-E7D3-D8EB93EF3832}"/>
              </a:ext>
            </a:extLst>
          </p:cNvPr>
          <p:cNvSpPr txBox="1"/>
          <p:nvPr/>
        </p:nvSpPr>
        <p:spPr>
          <a:xfrm>
            <a:off x="8580581" y="3107386"/>
            <a:ext cx="3325091" cy="9662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두려워하지 말고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도구로써 잘 이용하자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EB38553-56E9-EC0D-C397-5A76AA0209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과 인간과 같은 감정으로 소통하진 마라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8F19F3A-4991-6D7F-0E56-6C00379B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852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683" y="2585739"/>
            <a:ext cx="7307718" cy="38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599571" y="1247581"/>
            <a:ext cx="9308471" cy="120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등</a:t>
            </a:r>
            <a:endParaRPr lang="en-US" altLang="ko-KR" sz="16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4EE66-6D27-BE42-817E-0B9A49EA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78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3D097-5E2D-55F0-4935-0E2A94B3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841061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748CCD-11EA-B073-2C13-C514810E7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619" y="1912898"/>
            <a:ext cx="5108392" cy="3487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886027" y="2360031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886026" y="5108169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624448" y="2724150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420072" y="4438459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713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E1CF-F1FE-99A4-1845-3ED0A9C8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9F849-76A8-98A9-DA63-0FC4E745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7011D32-7D47-8DF1-4202-5945357D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Claude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611C5A7-2B91-5398-64F7-C472C994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25" y="1816950"/>
            <a:ext cx="9285402" cy="387699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448664-83EE-2642-CBCE-04F1D6DD2B35}"/>
              </a:ext>
            </a:extLst>
          </p:cNvPr>
          <p:cNvSpPr/>
          <p:nvPr/>
        </p:nvSpPr>
        <p:spPr>
          <a:xfrm>
            <a:off x="4396509" y="4530149"/>
            <a:ext cx="6650182" cy="45258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1487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6BB5-3CE1-EF16-05C4-B635BA55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EBC0B-9B1E-F396-B432-5B9FAA03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978D07-459B-C703-E1EC-FF810A7391E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5AED-A77D-58EC-0032-536ACE833B97}"/>
              </a:ext>
            </a:extLst>
          </p:cNvPr>
          <p:cNvSpPr txBox="1"/>
          <p:nvPr/>
        </p:nvSpPr>
        <p:spPr>
          <a:xfrm>
            <a:off x="1625600" y="3858614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쳇봇을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만들어줘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6D7505B9-1756-C0DD-583A-9B28190070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369175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D5065-A042-E06E-B322-4A026BC82225}"/>
              </a:ext>
            </a:extLst>
          </p:cNvPr>
          <p:cNvSpPr txBox="1"/>
          <p:nvPr/>
        </p:nvSpPr>
        <p:spPr>
          <a:xfrm>
            <a:off x="628073" y="141528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7E46489-8C49-8F68-B47D-A324ADB31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313" y="1490142"/>
            <a:ext cx="5498432" cy="2126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DE038-76C9-055F-75EC-7DB100B80577}"/>
              </a:ext>
            </a:extLst>
          </p:cNvPr>
          <p:cNvSpPr txBox="1"/>
          <p:nvPr/>
        </p:nvSpPr>
        <p:spPr>
          <a:xfrm>
            <a:off x="1625600" y="4665693"/>
            <a:ext cx="8525163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API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사용하면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Google DeepMind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만든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모델에 액세스할 수 있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으며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처음부터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멀티모달로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빌드되므로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오디오 등 다양한 종류의 콘텐츠에서 원활한 추론이 가능</a:t>
            </a:r>
          </a:p>
        </p:txBody>
      </p:sp>
    </p:spTree>
    <p:extLst>
      <p:ext uri="{BB962C8B-B14F-4D97-AF65-F5344CB8AC3E}">
        <p14:creationId xmlns:p14="http://schemas.microsoft.com/office/powerpoint/2010/main" val="131876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77B-E28F-73EC-C1D7-B2EA3FEA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폭발: 14pt 3">
            <a:extLst>
              <a:ext uri="{FF2B5EF4-FFF2-40B4-BE49-F238E27FC236}">
                <a16:creationId xmlns:a16="http://schemas.microsoft.com/office/drawing/2014/main" id="{6C507F63-30BB-25ED-FCC4-A87C1843FCBA}"/>
              </a:ext>
            </a:extLst>
          </p:cNvPr>
          <p:cNvSpPr/>
          <p:nvPr/>
        </p:nvSpPr>
        <p:spPr>
          <a:xfrm>
            <a:off x="339725" y="4129243"/>
            <a:ext cx="2549828" cy="1213467"/>
          </a:xfrm>
          <a:prstGeom prst="irregularSeal2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1AB300F-7327-F9B0-01A6-A49824467E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To be or not to be</a:t>
            </a:r>
          </a:p>
        </p:txBody>
      </p:sp>
      <p:pic>
        <p:nvPicPr>
          <p:cNvPr id="5" name="그래픽 4" descr="실행">
            <a:extLst>
              <a:ext uri="{FF2B5EF4-FFF2-40B4-BE49-F238E27FC236}">
                <a16:creationId xmlns:a16="http://schemas.microsoft.com/office/drawing/2014/main" id="{FACF2626-0AD5-43DE-C6BF-A3CEE20C5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5723" y="2635389"/>
            <a:ext cx="1688960" cy="1688960"/>
          </a:xfrm>
          <a:prstGeom prst="rect">
            <a:avLst/>
          </a:prstGeom>
        </p:spPr>
      </p:pic>
      <p:pic>
        <p:nvPicPr>
          <p:cNvPr id="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20AF0462-2069-01AD-679D-8F0FB58C1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552" y="2716289"/>
            <a:ext cx="4599837" cy="266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십자형 6">
            <a:extLst>
              <a:ext uri="{FF2B5EF4-FFF2-40B4-BE49-F238E27FC236}">
                <a16:creationId xmlns:a16="http://schemas.microsoft.com/office/drawing/2014/main" id="{62337F4E-0C55-5E40-15C8-26B5A6059991}"/>
              </a:ext>
            </a:extLst>
          </p:cNvPr>
          <p:cNvSpPr/>
          <p:nvPr/>
        </p:nvSpPr>
        <p:spPr>
          <a:xfrm rot="2797774">
            <a:off x="4842629" y="3635798"/>
            <a:ext cx="765592" cy="780974"/>
          </a:xfrm>
          <a:prstGeom prst="plus">
            <a:avLst>
              <a:gd name="adj" fmla="val 3948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래픽 7" descr="기는 아기">
            <a:extLst>
              <a:ext uri="{FF2B5EF4-FFF2-40B4-BE49-F238E27FC236}">
                <a16:creationId xmlns:a16="http://schemas.microsoft.com/office/drawing/2014/main" id="{39A7A2EF-F669-C0FD-B31F-64ED54A8A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178" y="4855811"/>
            <a:ext cx="1301680" cy="130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04013F-4B9D-D69D-B464-F931BDF6776C}"/>
              </a:ext>
            </a:extLst>
          </p:cNvPr>
          <p:cNvSpPr txBox="1"/>
          <p:nvPr/>
        </p:nvSpPr>
        <p:spPr>
          <a:xfrm>
            <a:off x="771845" y="4572703"/>
            <a:ext cx="1606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Intelligence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BE3E5-8B3D-8D7C-703C-9080779E25D7}"/>
              </a:ext>
            </a:extLst>
          </p:cNvPr>
          <p:cNvSpPr txBox="1"/>
          <p:nvPr/>
        </p:nvSpPr>
        <p:spPr>
          <a:xfrm>
            <a:off x="4253875" y="4572703"/>
            <a:ext cx="194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Augmentation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96BAF9-6A21-EE8E-196B-604E92A332F1}"/>
              </a:ext>
            </a:extLst>
          </p:cNvPr>
          <p:cNvSpPr txBox="1"/>
          <p:nvPr/>
        </p:nvSpPr>
        <p:spPr>
          <a:xfrm>
            <a:off x="615041" y="1447961"/>
            <a:ext cx="10961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AI(Artificial</a:t>
            </a:r>
            <a:r>
              <a:rPr lang="ko-KR" altLang="en-US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ntelligence)  &lt;   IA (Intelligence Augmentation)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5956FB5-CEA4-AB8C-BDBF-7426B0BC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110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1AF2-1DD3-5659-B17A-0DEF204A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C0A9FA4-39A6-CA9D-A1C0-A004E5F46A82}"/>
              </a:ext>
            </a:extLst>
          </p:cNvPr>
          <p:cNvSpPr/>
          <p:nvPr/>
        </p:nvSpPr>
        <p:spPr>
          <a:xfrm>
            <a:off x="634680" y="420601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5795E06-6F2C-1489-3C35-09C10B71B42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05A42-2B8C-9FF2-55F5-3A2E8E3E904F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19228055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841061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886027" y="2360031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886026" y="5108169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624448" y="2724150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420072" y="4438459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2B71C53-950A-2857-80F1-60BFC0B8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47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2939-0683-1E1A-1149-44C3483C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9E6316F-5A71-823A-35F7-AB8F336F8C4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E7CF6-EAC9-F13C-DFAC-76A3041A1254}"/>
              </a:ext>
            </a:extLst>
          </p:cNvPr>
          <p:cNvSpPr txBox="1"/>
          <p:nvPr/>
        </p:nvSpPr>
        <p:spPr>
          <a:xfrm>
            <a:off x="537542" y="1248422"/>
            <a:ext cx="1111691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로봇청소기는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자율주행차는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사람처럼 대화하며 인터넷 검색을 하고 엑셀을 편집해 보고서를 완성해 주는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Agent (Agent 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⊃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AI Agent 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⊃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LLM Agent)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9253E-76C2-11DA-A8E3-B2DFD8C38099}"/>
              </a:ext>
            </a:extLst>
          </p:cNvPr>
          <p:cNvSpPr txBox="1"/>
          <p:nvPr/>
        </p:nvSpPr>
        <p:spPr>
          <a:xfrm>
            <a:off x="711200" y="2967335"/>
            <a:ext cx="10556356" cy="880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 agent is a large language model embedded in a loop of reasoning, acting, and feedback, where it can call external tools and adapt its behavior based on results.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8B9DA25B-1297-D025-EF24-AF3D82D5D2C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7810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82D18-8FD3-0812-16F0-B6F6DFC56DC8}"/>
              </a:ext>
            </a:extLst>
          </p:cNvPr>
          <p:cNvSpPr txBox="1"/>
          <p:nvPr/>
        </p:nvSpPr>
        <p:spPr>
          <a:xfrm>
            <a:off x="628044" y="1248422"/>
            <a:ext cx="1094419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언어 모델은 단어 시퀀스에 확률을 할당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(assign)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하는 일을 하는 모델로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가장 자연스러운 단어 시퀀스를 찾아내어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예측하는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B6744-70A3-A987-CBF2-26DB74CC2E7C}"/>
              </a:ext>
            </a:extLst>
          </p:cNvPr>
          <p:cNvSpPr txBox="1"/>
          <p:nvPr/>
        </p:nvSpPr>
        <p:spPr>
          <a:xfrm>
            <a:off x="4381372" y="3752756"/>
            <a:ext cx="7099427" cy="2127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talks.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you send it a message, it send text back.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just generate text and predict text. (It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can’t check your email or it can’t search the Web…)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416F39-C2AD-CE2E-BB0D-02DC0D5DD1B9}"/>
              </a:ext>
            </a:extLst>
          </p:cNvPr>
          <p:cNvSpPr txBox="1"/>
          <p:nvPr/>
        </p:nvSpPr>
        <p:spPr>
          <a:xfrm>
            <a:off x="6984999" y="2473803"/>
            <a:ext cx="164833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LLMs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A0DDFBE-A135-F144-9FD2-BBED6BB0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20" y="3429000"/>
            <a:ext cx="1897147" cy="23426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FC361A-1637-52C6-55B1-C887585750A0}"/>
              </a:ext>
            </a:extLst>
          </p:cNvPr>
          <p:cNvSpPr txBox="1"/>
          <p:nvPr/>
        </p:nvSpPr>
        <p:spPr>
          <a:xfrm>
            <a:off x="6219125" y="2998351"/>
            <a:ext cx="31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(plain language model)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BA74F3-8D76-3506-FCE7-8FE58905214E}"/>
              </a:ext>
            </a:extLst>
          </p:cNvPr>
          <p:cNvSpPr txBox="1"/>
          <p:nvPr/>
        </p:nvSpPr>
        <p:spPr>
          <a:xfrm>
            <a:off x="10749280" y="2524603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latin typeface="D2Coding" panose="020B0609020101020101" pitchFamily="49" charset="-127"/>
                <a:ea typeface="D2Coding" panose="020B0609020101020101" pitchFamily="49" charset="-127"/>
              </a:rPr>
              <a:t>Brain</a:t>
            </a:r>
            <a:endParaRPr lang="ko-KR" altLang="en-US" i="1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736D10D-898C-359B-8216-D19DCC919775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8633331" y="2704636"/>
            <a:ext cx="2115949" cy="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슬라이드 번호 개체 틀 3">
            <a:extLst>
              <a:ext uri="{FF2B5EF4-FFF2-40B4-BE49-F238E27FC236}">
                <a16:creationId xmlns:a16="http://schemas.microsoft.com/office/drawing/2014/main" id="{457A8C32-0E21-D3DB-BCCC-ADFA6AF5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DBB2-2FEE-E7E4-DD55-4DE3ABF7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3C62A50-EA1F-AEB9-D53C-4BF2DA352C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C868A-08A6-599B-4C37-D4B67EF35D2B}"/>
              </a:ext>
            </a:extLst>
          </p:cNvPr>
          <p:cNvSpPr txBox="1"/>
          <p:nvPr/>
        </p:nvSpPr>
        <p:spPr>
          <a:xfrm>
            <a:off x="4381372" y="3752756"/>
            <a:ext cx="7099427" cy="2127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1st Ability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take actions in the real world (Tool-calling)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2nd Ability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to keep going on its own step by step,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instead of stopping after just a single reply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AA395-74E1-1EBA-D6C0-B1C7936A9879}"/>
              </a:ext>
            </a:extLst>
          </p:cNvPr>
          <p:cNvSpPr txBox="1"/>
          <p:nvPr/>
        </p:nvSpPr>
        <p:spPr>
          <a:xfrm>
            <a:off x="6984999" y="2473803"/>
            <a:ext cx="164833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52F5D-86CC-5C17-3A2D-E084EDAA1633}"/>
              </a:ext>
            </a:extLst>
          </p:cNvPr>
          <p:cNvSpPr txBox="1"/>
          <p:nvPr/>
        </p:nvSpPr>
        <p:spPr>
          <a:xfrm>
            <a:off x="5390997" y="2974780"/>
            <a:ext cx="5048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GIVE THIS MODEL 2 NEW ABILITIES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9BD05F-FA83-E30B-2D20-B784E34E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72" y="3266968"/>
            <a:ext cx="1679269" cy="2342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F4074F-29AB-BD3B-8F91-DDC5E9026499}"/>
              </a:ext>
            </a:extLst>
          </p:cNvPr>
          <p:cNvSpPr txBox="1"/>
          <p:nvPr/>
        </p:nvSpPr>
        <p:spPr>
          <a:xfrm>
            <a:off x="568959" y="1212954"/>
            <a:ext cx="1091183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Agent is simply just a language model that can use tools that's running in a loop until it finishes a job.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F4B96-D41C-A7B5-6E57-20A50867B9E4}"/>
              </a:ext>
            </a:extLst>
          </p:cNvPr>
          <p:cNvSpPr txBox="1"/>
          <p:nvPr/>
        </p:nvSpPr>
        <p:spPr>
          <a:xfrm>
            <a:off x="10749280" y="2524603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latin typeface="D2Coding" panose="020B0609020101020101" pitchFamily="49" charset="-127"/>
                <a:ea typeface="D2Coding" panose="020B0609020101020101" pitchFamily="49" charset="-127"/>
              </a:rPr>
              <a:t>Hands</a:t>
            </a:r>
            <a:endParaRPr lang="ko-KR" altLang="en-US" i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4F5B99B-9579-E96A-97DE-7E12C7F6E34D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8633331" y="2704636"/>
            <a:ext cx="2115949" cy="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ABE83AD7-F521-8928-7B5D-5D517D50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286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B46F-BCDD-0B3F-1C73-E7ACB903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화살표: 줄무늬가 있는 오른쪽 10">
            <a:extLst>
              <a:ext uri="{FF2B5EF4-FFF2-40B4-BE49-F238E27FC236}">
                <a16:creationId xmlns:a16="http://schemas.microsoft.com/office/drawing/2014/main" id="{1C5D3267-EF38-3732-36B9-6282B956B1DD}"/>
              </a:ext>
            </a:extLst>
          </p:cNvPr>
          <p:cNvSpPr/>
          <p:nvPr/>
        </p:nvSpPr>
        <p:spPr>
          <a:xfrm>
            <a:off x="600073" y="1694661"/>
            <a:ext cx="9913937" cy="706427"/>
          </a:xfrm>
          <a:prstGeom prst="stripedRightArrow">
            <a:avLst>
              <a:gd name="adj1" fmla="val 76967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B3236-53F4-0A46-5B21-024FEC29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367ED6B-CF71-D88A-B47D-FE7C1E75B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EE6B4-DBF3-6B4A-537C-16AFCAAD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872079"/>
            <a:ext cx="34585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3B5664F-6921-0013-EB99-7BAB4340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546" y="2578506"/>
            <a:ext cx="5442464" cy="340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BE6CD68-D448-37A9-2A53-6F33EDB05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872079"/>
            <a:ext cx="34585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생성형 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10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115EC27F-0A65-D58F-0FD6-1182E1886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3" y="2645667"/>
            <a:ext cx="3438526" cy="199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2488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94-8BCA-872D-7423-FE3B127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F0001-9411-7C4E-562A-6D52F3C9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2F0FBC7-3D1C-5821-6A59-F4F3C29716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= AI + Harness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0A8C2-C37F-B9A0-44D8-DF747225DB35}"/>
              </a:ext>
            </a:extLst>
          </p:cNvPr>
          <p:cNvSpPr txBox="1"/>
          <p:nvPr/>
        </p:nvSpPr>
        <p:spPr>
          <a:xfrm>
            <a:off x="723295" y="1970605"/>
            <a:ext cx="3061624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(Goal)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(Predict)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(Control)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F4ADDA-1412-D337-F8BE-3A0C1CF3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00" y="1970605"/>
            <a:ext cx="4302033" cy="37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602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8015A-C4D2-0BB3-4BB5-07010132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BDF5B01-D4E2-8EFA-D3B5-B8FAEAA10F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C76AF-7EC1-AE08-0F51-AD13883822D2}"/>
              </a:ext>
            </a:extLst>
          </p:cNvPr>
          <p:cNvSpPr txBox="1"/>
          <p:nvPr/>
        </p:nvSpPr>
        <p:spPr>
          <a:xfrm>
            <a:off x="812192" y="3236083"/>
            <a:ext cx="350651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4 THINK AGAIN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MODEL LOOKS AT THE RESULT AND DECIDES WHAT TO DO NEXT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37495-F9C6-6EEC-2DF4-3AC7B8658C8E}"/>
              </a:ext>
            </a:extLst>
          </p:cNvPr>
          <p:cNvSpPr txBox="1"/>
          <p:nvPr/>
        </p:nvSpPr>
        <p:spPr>
          <a:xfrm>
            <a:off x="3929389" y="1717942"/>
            <a:ext cx="3428414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1 THINK 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SYSTEM PROMPT &amp; GOAL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1A010-168B-A642-2473-84A1423982D4}"/>
              </a:ext>
            </a:extLst>
          </p:cNvPr>
          <p:cNvSpPr txBox="1"/>
          <p:nvPr/>
        </p:nvSpPr>
        <p:spPr>
          <a:xfrm>
            <a:off x="7473266" y="3226558"/>
            <a:ext cx="342841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2 ACT 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 DECIDES TO USE A TOOL AND SENDS THE 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48882-3A89-00A9-1926-7C88EA6E211E}"/>
              </a:ext>
            </a:extLst>
          </p:cNvPr>
          <p:cNvSpPr txBox="1"/>
          <p:nvPr/>
        </p:nvSpPr>
        <p:spPr>
          <a:xfrm>
            <a:off x="3651641" y="5102475"/>
            <a:ext cx="4211320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3 OBSERVE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CODE RUNS THE TOOL AND RETURN THE RESULT. THE MODEL OBSERVE THE RESULT</a:t>
            </a:r>
          </a:p>
        </p:txBody>
      </p:sp>
      <p:pic>
        <p:nvPicPr>
          <p:cNvPr id="19" name="그래픽 18" descr="원 화살표">
            <a:extLst>
              <a:ext uri="{FF2B5EF4-FFF2-40B4-BE49-F238E27FC236}">
                <a16:creationId xmlns:a16="http://schemas.microsoft.com/office/drawing/2014/main" id="{4CA003BB-5505-2F98-3744-B07AAD5BBA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0635" y="2776298"/>
            <a:ext cx="1939303" cy="19393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41CF52-B3C0-0019-30EB-4FC0075AB078}"/>
              </a:ext>
            </a:extLst>
          </p:cNvPr>
          <p:cNvSpPr txBox="1"/>
          <p:nvPr/>
        </p:nvSpPr>
        <p:spPr>
          <a:xfrm>
            <a:off x="5273040" y="3494136"/>
            <a:ext cx="1184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2400" b="1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슬라이드 번호 개체 틀 3">
            <a:extLst>
              <a:ext uri="{FF2B5EF4-FFF2-40B4-BE49-F238E27FC236}">
                <a16:creationId xmlns:a16="http://schemas.microsoft.com/office/drawing/2014/main" id="{DD2197D5-497D-4164-1A5B-368ED99E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441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4021-41A2-D9F2-4CF1-1F7B43B8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1CF1A7-A61C-70F8-C0CD-650A4708D3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Prompt, Message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8B519-E629-021B-D2B2-B055D99B6C91}"/>
              </a:ext>
            </a:extLst>
          </p:cNvPr>
          <p:cNvSpPr txBox="1"/>
          <p:nvPr/>
        </p:nvSpPr>
        <p:spPr>
          <a:xfrm>
            <a:off x="1356457" y="2062472"/>
            <a:ext cx="98060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Is where you set the rules. So you tell the agent who it is, how to behave. General rules things that it should do.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72803-9AED-D2C3-050D-CB71D704A808}"/>
              </a:ext>
            </a:extLst>
          </p:cNvPr>
          <p:cNvSpPr txBox="1"/>
          <p:nvPr/>
        </p:nvSpPr>
        <p:spPr>
          <a:xfrm>
            <a:off x="665480" y="1604295"/>
            <a:ext cx="2992120" cy="50674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 Prompt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C4373-7377-EE60-3F47-6E1C5F2C2015}"/>
              </a:ext>
            </a:extLst>
          </p:cNvPr>
          <p:cNvSpPr txBox="1"/>
          <p:nvPr/>
        </p:nvSpPr>
        <p:spPr>
          <a:xfrm>
            <a:off x="665480" y="3191813"/>
            <a:ext cx="2992120" cy="50674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User Messages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71AFD-A53B-956F-8F9B-F319A9D2791A}"/>
              </a:ext>
            </a:extLst>
          </p:cNvPr>
          <p:cNvSpPr txBox="1"/>
          <p:nvPr/>
        </p:nvSpPr>
        <p:spPr>
          <a:xfrm>
            <a:off x="665480" y="4779331"/>
            <a:ext cx="2992120" cy="50674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Assistant Messages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D6057-2F8A-C418-80AB-F3256DE82155}"/>
              </a:ext>
            </a:extLst>
          </p:cNvPr>
          <p:cNvSpPr txBox="1"/>
          <p:nvPr/>
        </p:nvSpPr>
        <p:spPr>
          <a:xfrm>
            <a:off x="1356457" y="3658187"/>
            <a:ext cx="98060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input from the person or the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9BC75-EEE0-05A0-C83E-EC1F904456D7}"/>
              </a:ext>
            </a:extLst>
          </p:cNvPr>
          <p:cNvSpPr txBox="1"/>
          <p:nvPr/>
        </p:nvSpPr>
        <p:spPr>
          <a:xfrm>
            <a:off x="1356457" y="5219398"/>
            <a:ext cx="98060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What the model says back.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0B494974-FA80-D542-8A1C-7C98908B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0752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D61D-1779-3F7E-E6A4-C91CA98A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64379D-02B3-0B43-6254-D0D2AA1551E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Prompt, Message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857198A5-C0AD-E2AE-2572-531CFEA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436AA-F905-C23C-D32F-4181FE82D56A}"/>
              </a:ext>
            </a:extLst>
          </p:cNvPr>
          <p:cNvSpPr txBox="1"/>
          <p:nvPr/>
        </p:nvSpPr>
        <p:spPr>
          <a:xfrm>
            <a:off x="600074" y="1577809"/>
            <a:ext cx="10991852" cy="11214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(model="llama-3.1-8b-instant")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("What is the capital of France?")])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B02BA-4A23-B32E-6E2C-EBB881265B99}"/>
              </a:ext>
            </a:extLst>
          </p:cNvPr>
          <p:cNvSpPr txBox="1"/>
          <p:nvPr/>
        </p:nvSpPr>
        <p:spPr>
          <a:xfrm>
            <a:off x="600074" y="3099472"/>
            <a:ext cx="10991852" cy="304698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messages = [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SystemMessage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당신은 유치원 선생님입니다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답변은 아이에게 말하듯 친절하게 하세요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달은 왜 밤에만 떠요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어두운 밤하늘을 우아하고 예쁘게 비춰주려고 밤에 은밀히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짜잔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하고 나타나는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거란다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해님은요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(messages)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50848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4620E-0189-E2B3-E307-FEBD7E14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7F88FF-1317-D062-F803-4B34D60588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0A8FE3-05AE-67DD-EC30-49DDA86B618F}"/>
              </a:ext>
            </a:extLst>
          </p:cNvPr>
          <p:cNvSpPr txBox="1"/>
          <p:nvPr/>
        </p:nvSpPr>
        <p:spPr>
          <a:xfrm>
            <a:off x="1991360" y="3429000"/>
            <a:ext cx="8432800" cy="9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It generates text that tells whatever software it's working inside of to call a tool.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44D93-B460-52EA-3B46-7D7AFA395B5D}"/>
              </a:ext>
            </a:extLst>
          </p:cNvPr>
          <p:cNvSpPr txBox="1"/>
          <p:nvPr/>
        </p:nvSpPr>
        <p:spPr>
          <a:xfrm>
            <a:off x="4048760" y="1926775"/>
            <a:ext cx="3413760" cy="11437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TOOL-CALLING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Hands)</a:t>
            </a:r>
          </a:p>
        </p:txBody>
      </p:sp>
      <p:sp>
        <p:nvSpPr>
          <p:cNvPr id="18" name="슬라이드 번호 개체 틀 3">
            <a:extLst>
              <a:ext uri="{FF2B5EF4-FFF2-40B4-BE49-F238E27FC236}">
                <a16:creationId xmlns:a16="http://schemas.microsoft.com/office/drawing/2014/main" id="{1DC53E3B-EC1D-8118-B90C-2A8E3A43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582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73C7-9D34-8F25-37CC-A595A95A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1AF8B5-3B3E-3D19-C943-A052DBD3D6A9}"/>
              </a:ext>
            </a:extLst>
          </p:cNvPr>
          <p:cNvSpPr/>
          <p:nvPr/>
        </p:nvSpPr>
        <p:spPr>
          <a:xfrm>
            <a:off x="6810375" y="2430081"/>
            <a:ext cx="2923628" cy="20270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DE44AB2-CBB3-8AAF-9BB7-C92D77E9EE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6575ED8-3C20-9C2F-8682-FA7FA9C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48F8D-58C1-25BD-D194-14D08C9E3BD6}"/>
              </a:ext>
            </a:extLst>
          </p:cNvPr>
          <p:cNvSpPr txBox="1"/>
          <p:nvPr/>
        </p:nvSpPr>
        <p:spPr>
          <a:xfrm>
            <a:off x="622253" y="1770790"/>
            <a:ext cx="4410075" cy="440441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도구를 정의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get_word_length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(word: str) -&gt; int: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"""Returns the length of a word."""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(word)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add_function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(a: float, b: float) -&gt; float: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"""Adds two numbers together."""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a + b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tools = [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get_word_length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add_function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llm_with_tools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model.bind_tools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(tools)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"What is 3 + 12?"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llm_with_tools.invoke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6BDC11-43FB-B7C7-8647-6B26BA774160}"/>
              </a:ext>
            </a:extLst>
          </p:cNvPr>
          <p:cNvSpPr/>
          <p:nvPr/>
        </p:nvSpPr>
        <p:spPr>
          <a:xfrm>
            <a:off x="5372100" y="3000374"/>
            <a:ext cx="95250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A0C469-DBFE-3922-8A5B-C0110ACEFFB7}"/>
              </a:ext>
            </a:extLst>
          </p:cNvPr>
          <p:cNvSpPr/>
          <p:nvPr/>
        </p:nvSpPr>
        <p:spPr>
          <a:xfrm>
            <a:off x="6982099" y="3000374"/>
            <a:ext cx="952500" cy="4476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75D7E-7D3F-82AC-647D-4E88F6C29E98}"/>
              </a:ext>
            </a:extLst>
          </p:cNvPr>
          <p:cNvSpPr/>
          <p:nvPr/>
        </p:nvSpPr>
        <p:spPr>
          <a:xfrm>
            <a:off x="8506099" y="3000374"/>
            <a:ext cx="952500" cy="4476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040BF6-604B-757E-69E9-6DB659CABD94}"/>
              </a:ext>
            </a:extLst>
          </p:cNvPr>
          <p:cNvSpPr/>
          <p:nvPr/>
        </p:nvSpPr>
        <p:spPr>
          <a:xfrm>
            <a:off x="10206434" y="5099990"/>
            <a:ext cx="1599682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74861E-0313-7D21-10EA-15F0C61D2ECD}"/>
              </a:ext>
            </a:extLst>
          </p:cNvPr>
          <p:cNvSpPr txBox="1"/>
          <p:nvPr/>
        </p:nvSpPr>
        <p:spPr>
          <a:xfrm>
            <a:off x="6939099" y="3972996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Reasoning</a:t>
            </a:r>
            <a:endParaRPr lang="ko-KR" altLang="en-US" sz="1600" dirty="0"/>
          </a:p>
        </p:txBody>
      </p:sp>
      <p:pic>
        <p:nvPicPr>
          <p:cNvPr id="18" name="그래픽 17" descr="원 화살표">
            <a:extLst>
              <a:ext uri="{FF2B5EF4-FFF2-40B4-BE49-F238E27FC236}">
                <a16:creationId xmlns:a16="http://schemas.microsoft.com/office/drawing/2014/main" id="{B487D7E2-084A-2865-6532-24D716846D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0010" y="3476451"/>
            <a:ext cx="685800" cy="685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E2188A-D564-3C14-8F1D-4C7B558FF227}"/>
              </a:ext>
            </a:extLst>
          </p:cNvPr>
          <p:cNvSpPr txBox="1"/>
          <p:nvPr/>
        </p:nvSpPr>
        <p:spPr>
          <a:xfrm>
            <a:off x="10043436" y="2831095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8F571-08EE-57EF-17B4-53246CDD1ABF}"/>
              </a:ext>
            </a:extLst>
          </p:cNvPr>
          <p:cNvSpPr txBox="1"/>
          <p:nvPr/>
        </p:nvSpPr>
        <p:spPr>
          <a:xfrm>
            <a:off x="8899073" y="5348976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endParaRPr lang="ko-KR" altLang="en-US" sz="16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9D049B4-F680-913F-B2E9-27AE13C23A3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324600" y="3224212"/>
            <a:ext cx="657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F2AE4F9-F062-1A5E-673F-3408320174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934599" y="3224212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1A483CF-D6BA-2F08-4970-911FFBA27AC1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>
            <a:off x="9458599" y="3224212"/>
            <a:ext cx="1547676" cy="18757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FFE0CA2-418D-546C-82E4-4C4153E8CD76}"/>
              </a:ext>
            </a:extLst>
          </p:cNvPr>
          <p:cNvCxnSpPr>
            <a:cxnSpLocks/>
            <a:stCxn id="11" idx="1"/>
            <a:endCxn id="10" idx="2"/>
          </p:cNvCxnSpPr>
          <p:nvPr/>
        </p:nvCxnSpPr>
        <p:spPr>
          <a:xfrm rot="10800000">
            <a:off x="8982350" y="3448050"/>
            <a:ext cx="1224085" cy="18757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30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7991-D8FE-A0F6-7994-626AB9D4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D4853E6-B05D-47B8-175C-21A5D611E8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3B9DE5A-0F51-DCE6-DAC7-CA18C53C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1D91-452D-3C39-BE49-1E18E5E3A339}"/>
              </a:ext>
            </a:extLst>
          </p:cNvPr>
          <p:cNvSpPr txBox="1"/>
          <p:nvPr/>
        </p:nvSpPr>
        <p:spPr>
          <a:xfrm>
            <a:off x="604041" y="1352751"/>
            <a:ext cx="10773293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langchain_community.tools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TavilySearchResults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search_web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-&gt;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"""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exist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"""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tavily_search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TavilySearchResults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max_results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=5,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include_domains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=[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    "https://www.tistory.com/", "https://blog.naver.com/",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    "https://www.daum.net/", "https://brunch.co.kr/"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])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tavily_search.invoke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formatted_docs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"\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---\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'&lt;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"]}"/&gt;\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"]}\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&gt;'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formatted_docs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8195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29FD-096E-26F3-8E1A-3A942A51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FB8FD35-4176-5B85-E303-A5EE1B15D1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ABBB4-B3D4-11F6-B68C-099000C1F6C8}"/>
              </a:ext>
            </a:extLst>
          </p:cNvPr>
          <p:cNvSpPr txBox="1"/>
          <p:nvPr/>
        </p:nvSpPr>
        <p:spPr>
          <a:xfrm>
            <a:off x="1991360" y="3429000"/>
            <a:ext cx="9357360" cy="189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The maximum amount of text it can process and remember at any single time during a conversation.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Conversation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is tracked up to LLM’ Context Window.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0197C-A9BB-16D6-9995-05A127CCDEFE}"/>
              </a:ext>
            </a:extLst>
          </p:cNvPr>
          <p:cNvSpPr txBox="1"/>
          <p:nvPr/>
        </p:nvSpPr>
        <p:spPr>
          <a:xfrm>
            <a:off x="3368040" y="1766855"/>
            <a:ext cx="4749800" cy="11437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Window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(Short-term working Memory)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11E549D-9215-D6AD-85F4-555D0047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4371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A7506-FDF3-8410-B207-FF8D65B7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806A8C6-12D8-2400-BFE7-F0DC87822F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5E64C-DC09-CBF5-B0C7-FF3EFB0276C4}"/>
              </a:ext>
            </a:extLst>
          </p:cNvPr>
          <p:cNvSpPr txBox="1"/>
          <p:nvPr/>
        </p:nvSpPr>
        <p:spPr>
          <a:xfrm>
            <a:off x="568959" y="1212954"/>
            <a:ext cx="1091183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Conversation history can get quite large and it can actually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 fit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inside of the current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window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RAG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FFFCE8-BBC2-F0BB-B3B9-99253E7A7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20" y="2926633"/>
            <a:ext cx="4474480" cy="29136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179436-73B0-679E-17A8-035D6F8C93FE}"/>
              </a:ext>
            </a:extLst>
          </p:cNvPr>
          <p:cNvSpPr txBox="1"/>
          <p:nvPr/>
        </p:nvSpPr>
        <p:spPr>
          <a:xfrm>
            <a:off x="2292080" y="4579562"/>
            <a:ext cx="14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860DE-2075-5752-E239-5505D10E2390}"/>
              </a:ext>
            </a:extLst>
          </p:cNvPr>
          <p:cNvSpPr txBox="1"/>
          <p:nvPr/>
        </p:nvSpPr>
        <p:spPr>
          <a:xfrm>
            <a:off x="2292080" y="5275714"/>
            <a:ext cx="14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5AC5E3A0-8F05-A7AE-72C4-478A9281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5858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2680-CC3D-7FC6-CFED-E5306138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1678636-CAD9-E919-1319-7ADD083823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How to build AI Agent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4C26936-4B94-1CA8-4B9A-0280F0377EF8}"/>
              </a:ext>
            </a:extLst>
          </p:cNvPr>
          <p:cNvGraphicFramePr>
            <a:graphicFrameLocks noGrp="1"/>
          </p:cNvGraphicFramePr>
          <p:nvPr/>
        </p:nvGraphicFramePr>
        <p:xfrm>
          <a:off x="629920" y="1710714"/>
          <a:ext cx="10898115" cy="3894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76">
                  <a:extLst>
                    <a:ext uri="{9D8B030D-6E8A-4147-A177-3AD203B41FA5}">
                      <a16:colId xmlns:a16="http://schemas.microsoft.com/office/drawing/2014/main" val="2445409139"/>
                    </a:ext>
                  </a:extLst>
                </a:gridCol>
                <a:gridCol w="2303022">
                  <a:extLst>
                    <a:ext uri="{9D8B030D-6E8A-4147-A177-3AD203B41FA5}">
                      <a16:colId xmlns:a16="http://schemas.microsoft.com/office/drawing/2014/main" val="2316308487"/>
                    </a:ext>
                  </a:extLst>
                </a:gridCol>
                <a:gridCol w="8304017">
                  <a:extLst>
                    <a:ext uri="{9D8B030D-6E8A-4147-A177-3AD203B41FA5}">
                      <a16:colId xmlns:a16="http://schemas.microsoft.com/office/drawing/2014/main" val="710621275"/>
                    </a:ext>
                  </a:extLst>
                </a:gridCol>
              </a:tblGrid>
              <a:tr h="372086"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02201"/>
                  </a:ext>
                </a:extLst>
              </a:tr>
              <a:tr h="77924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NO-CODE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Build an agent by filling out forms or dragging blocks around.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4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Genspark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Lindi,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Gumloop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Stack AI, Relevance AI, Botpress,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Voiceflow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741707"/>
                  </a:ext>
                </a:extLst>
              </a:tr>
              <a:tr h="77924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LOW-CODE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Write parts of the agent like a visual canvas.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altLang="ko-KR" sz="4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4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n8n, make,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zapier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KNIME,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Flowise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Langflow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Dify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Activepieces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538327"/>
                  </a:ext>
                </a:extLst>
              </a:tr>
              <a:tr h="1224486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 HARNESSES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 a complete powerful agent and customize it.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altLang="ko-KR" sz="4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- Cline, Antigravity, Claude CLI, Codex (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Coding Agents) 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-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OpenClaw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HERMES AGENTS</a:t>
                      </a:r>
                      <a:endParaRPr lang="ko-KR" altLang="en-US" sz="16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35827"/>
                  </a:ext>
                </a:extLst>
              </a:tr>
              <a:tr h="73916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FULL 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Python with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Langchain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Langgraph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91450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48FCA6D-CF06-DFC6-CD46-DB18CB0B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134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AFE3-4F5B-8D00-D442-CD331EF2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9839E01-3599-4D9F-0025-70566856DB19}"/>
              </a:ext>
            </a:extLst>
          </p:cNvPr>
          <p:cNvSpPr/>
          <p:nvPr/>
        </p:nvSpPr>
        <p:spPr>
          <a:xfrm>
            <a:off x="543887" y="1320800"/>
            <a:ext cx="11231553" cy="5171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9BCC5F4-59D6-B599-1D9F-F44FE028030B}"/>
              </a:ext>
            </a:extLst>
          </p:cNvPr>
          <p:cNvSpPr/>
          <p:nvPr/>
        </p:nvSpPr>
        <p:spPr>
          <a:xfrm>
            <a:off x="671878" y="4628294"/>
            <a:ext cx="3989376" cy="1722927"/>
          </a:xfrm>
          <a:prstGeom prst="roundRect">
            <a:avLst>
              <a:gd name="adj" fmla="val 723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F58942-9991-9CF5-6CB7-0BC6A3F300A7}"/>
              </a:ext>
            </a:extLst>
          </p:cNvPr>
          <p:cNvSpPr/>
          <p:nvPr/>
        </p:nvSpPr>
        <p:spPr>
          <a:xfrm>
            <a:off x="801546" y="4724344"/>
            <a:ext cx="2165173" cy="1536756"/>
          </a:xfrm>
          <a:prstGeom prst="roundRect">
            <a:avLst>
              <a:gd name="adj" fmla="val 5428"/>
            </a:avLst>
          </a:prstGeom>
          <a:solidFill>
            <a:schemeClr val="accent6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(Brain)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EC75EB-1768-B608-DDBA-E83A1116A8B3}"/>
              </a:ext>
            </a:extLst>
          </p:cNvPr>
          <p:cNvSpPr/>
          <p:nvPr/>
        </p:nvSpPr>
        <p:spPr>
          <a:xfrm>
            <a:off x="671878" y="2308694"/>
            <a:ext cx="3989376" cy="88154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B1C602-E1A9-58F7-454B-127C8A372C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LLM Agent Architecture</a:t>
            </a:r>
          </a:p>
        </p:txBody>
      </p:sp>
      <p:sp>
        <p:nvSpPr>
          <p:cNvPr id="2" name="AutoShape 2" descr=", AI로 생성">
            <a:extLst>
              <a:ext uri="{FF2B5EF4-FFF2-40B4-BE49-F238E27FC236}">
                <a16:creationId xmlns:a16="http://schemas.microsoft.com/office/drawing/2014/main" id="{6697A9E8-65BE-8DB2-5627-1F9B11C6C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9680" y="3520440"/>
            <a:ext cx="38170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883289-5A95-5D3E-3596-8485AB86EE0B}"/>
              </a:ext>
            </a:extLst>
          </p:cNvPr>
          <p:cNvSpPr/>
          <p:nvPr/>
        </p:nvSpPr>
        <p:spPr>
          <a:xfrm>
            <a:off x="805534" y="2463636"/>
            <a:ext cx="1615440" cy="563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 VS code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F72D1E5-D311-1826-8312-835EA4A0E098}"/>
              </a:ext>
            </a:extLst>
          </p:cNvPr>
          <p:cNvSpPr/>
          <p:nvPr/>
        </p:nvSpPr>
        <p:spPr>
          <a:xfrm>
            <a:off x="2904538" y="2463635"/>
            <a:ext cx="1615440" cy="563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HERMES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53CCF-980B-E9BE-C68B-7FAA634AC36A}"/>
              </a:ext>
            </a:extLst>
          </p:cNvPr>
          <p:cNvSpPr txBox="1"/>
          <p:nvPr/>
        </p:nvSpPr>
        <p:spPr>
          <a:xfrm>
            <a:off x="753158" y="1339044"/>
            <a:ext cx="3908096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Execution Layer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(CLI / IDE)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1F84491-CDCE-3C04-3C12-809DBE7305A7}"/>
              </a:ext>
            </a:extLst>
          </p:cNvPr>
          <p:cNvSpPr/>
          <p:nvPr/>
        </p:nvSpPr>
        <p:spPr>
          <a:xfrm>
            <a:off x="1797099" y="4838822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Thinking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CCC9F89-D43F-987F-C30B-2FEF8A4B666A}"/>
              </a:ext>
            </a:extLst>
          </p:cNvPr>
          <p:cNvSpPr/>
          <p:nvPr/>
        </p:nvSpPr>
        <p:spPr>
          <a:xfrm>
            <a:off x="1797099" y="5347031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Reasoning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76A5EF-4483-3C94-0C61-8AF6594A2F83}"/>
              </a:ext>
            </a:extLst>
          </p:cNvPr>
          <p:cNvSpPr/>
          <p:nvPr/>
        </p:nvSpPr>
        <p:spPr>
          <a:xfrm>
            <a:off x="1797099" y="5855241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Planning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94A57-C45B-E01D-E2FF-13AD4A955E05}"/>
              </a:ext>
            </a:extLst>
          </p:cNvPr>
          <p:cNvSpPr txBox="1"/>
          <p:nvPr/>
        </p:nvSpPr>
        <p:spPr>
          <a:xfrm>
            <a:off x="1777730" y="4208253"/>
            <a:ext cx="2895857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Core Orchestration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0639A78-47CA-5F28-3D9C-5D2D7CB246F0}"/>
              </a:ext>
            </a:extLst>
          </p:cNvPr>
          <p:cNvSpPr/>
          <p:nvPr/>
        </p:nvSpPr>
        <p:spPr>
          <a:xfrm>
            <a:off x="3308914" y="4724344"/>
            <a:ext cx="1206468" cy="15367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Planning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Execution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D2A589-1B9D-C186-BFA4-5ED62361B611}"/>
              </a:ext>
            </a:extLst>
          </p:cNvPr>
          <p:cNvSpPr/>
          <p:nvPr/>
        </p:nvSpPr>
        <p:spPr>
          <a:xfrm>
            <a:off x="5552086" y="2308694"/>
            <a:ext cx="2712718" cy="2870654"/>
          </a:xfrm>
          <a:prstGeom prst="roundRect">
            <a:avLst>
              <a:gd name="adj" fmla="val 461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C34E044-4321-BF79-4036-388AA54577F8}"/>
              </a:ext>
            </a:extLst>
          </p:cNvPr>
          <p:cNvSpPr/>
          <p:nvPr/>
        </p:nvSpPr>
        <p:spPr>
          <a:xfrm>
            <a:off x="5552086" y="5405017"/>
            <a:ext cx="2712718" cy="946203"/>
          </a:xfrm>
          <a:prstGeom prst="roundRect">
            <a:avLst>
              <a:gd name="adj" fmla="val 7232"/>
            </a:avLst>
          </a:prstGeom>
          <a:solidFill>
            <a:schemeClr val="accent4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&amp; Memory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D37C73-306C-2000-AE22-88FC222E34C5}"/>
              </a:ext>
            </a:extLst>
          </p:cNvPr>
          <p:cNvSpPr/>
          <p:nvPr/>
        </p:nvSpPr>
        <p:spPr>
          <a:xfrm>
            <a:off x="5692434" y="2556977"/>
            <a:ext cx="2418772" cy="102386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Skills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Skill Repository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03C940-DA83-7918-271E-15B3A698B049}"/>
              </a:ext>
            </a:extLst>
          </p:cNvPr>
          <p:cNvSpPr/>
          <p:nvPr/>
        </p:nvSpPr>
        <p:spPr>
          <a:xfrm>
            <a:off x="5687837" y="3908201"/>
            <a:ext cx="2418772" cy="10238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151DEAA-EC5C-3E5B-7D81-307916EBF5D1}"/>
              </a:ext>
            </a:extLst>
          </p:cNvPr>
          <p:cNvSpPr/>
          <p:nvPr/>
        </p:nvSpPr>
        <p:spPr>
          <a:xfrm>
            <a:off x="5779276" y="4330219"/>
            <a:ext cx="1061784" cy="376650"/>
          </a:xfrm>
          <a:prstGeom prst="roundRect">
            <a:avLst/>
          </a:prstGeom>
          <a:solidFill>
            <a:srgbClr val="76E3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Pipeline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0C280F6-A7DE-A014-E0F3-EAB00E3905D3}"/>
              </a:ext>
            </a:extLst>
          </p:cNvPr>
          <p:cNvSpPr/>
          <p:nvPr/>
        </p:nvSpPr>
        <p:spPr>
          <a:xfrm>
            <a:off x="6984937" y="4315783"/>
            <a:ext cx="1061784" cy="376650"/>
          </a:xfrm>
          <a:prstGeom prst="roundRect">
            <a:avLst/>
          </a:prstGeom>
          <a:solidFill>
            <a:srgbClr val="76E3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Knowledge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24AAB-BA85-2E8F-4B7D-DECD9FA71F1B}"/>
              </a:ext>
            </a:extLst>
          </p:cNvPr>
          <p:cNvSpPr txBox="1"/>
          <p:nvPr/>
        </p:nvSpPr>
        <p:spPr>
          <a:xfrm>
            <a:off x="5540863" y="1339044"/>
            <a:ext cx="2712720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Capability &amp; 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Knowledge Layer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A7F855-3177-6A5D-C1A1-1929A3528EF2}"/>
              </a:ext>
            </a:extLst>
          </p:cNvPr>
          <p:cNvSpPr txBox="1"/>
          <p:nvPr/>
        </p:nvSpPr>
        <p:spPr>
          <a:xfrm>
            <a:off x="9036464" y="1339044"/>
            <a:ext cx="2583213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MCP Framework &amp;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 Access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CEA3B2A-29D2-CD84-8A60-CF23C3824435}"/>
              </a:ext>
            </a:extLst>
          </p:cNvPr>
          <p:cNvSpPr/>
          <p:nvPr/>
        </p:nvSpPr>
        <p:spPr>
          <a:xfrm>
            <a:off x="9074356" y="5558823"/>
            <a:ext cx="2565755" cy="563223"/>
          </a:xfrm>
          <a:prstGeom prst="roundRect">
            <a:avLst>
              <a:gd name="adj" fmla="val 723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External Data Sources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(Documents, Databases, WEB)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3040AA1-F1E4-8F9F-441F-E0ECF3D2D598}"/>
              </a:ext>
            </a:extLst>
          </p:cNvPr>
          <p:cNvSpPr/>
          <p:nvPr/>
        </p:nvSpPr>
        <p:spPr>
          <a:xfrm>
            <a:off x="9053923" y="2432445"/>
            <a:ext cx="2565755" cy="757796"/>
          </a:xfrm>
          <a:prstGeom prst="roundRect">
            <a:avLst/>
          </a:prstGeom>
          <a:solidFill>
            <a:srgbClr val="FF0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MCP Server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815720B-D662-11EB-7540-631E408E8DE8}"/>
              </a:ext>
            </a:extLst>
          </p:cNvPr>
          <p:cNvCxnSpPr>
            <a:cxnSpLocks/>
            <a:stCxn id="34" idx="2"/>
            <a:endCxn id="33" idx="0"/>
          </p:cNvCxnSpPr>
          <p:nvPr/>
        </p:nvCxnSpPr>
        <p:spPr>
          <a:xfrm>
            <a:off x="10336801" y="3190241"/>
            <a:ext cx="20433" cy="23685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EB497CA3-3505-A24F-7DF3-A89531606EA8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>
            <a:off x="4515382" y="5492722"/>
            <a:ext cx="1036704" cy="38539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1266B15C-2423-90BF-F1B9-9FC429F90222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>
            <a:off x="8106609" y="4420136"/>
            <a:ext cx="967747" cy="142029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F5AD6D8F-CDCF-3A5D-6580-8D2EBE6153F4}"/>
              </a:ext>
            </a:extLst>
          </p:cNvPr>
          <p:cNvCxnSpPr>
            <a:stCxn id="26" idx="3"/>
            <a:endCxn id="34" idx="1"/>
          </p:cNvCxnSpPr>
          <p:nvPr/>
        </p:nvCxnSpPr>
        <p:spPr>
          <a:xfrm flipV="1">
            <a:off x="8111206" y="2811343"/>
            <a:ext cx="942717" cy="257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BA7E112E-5E3F-A1F5-96FE-37D0E566371D}"/>
              </a:ext>
            </a:extLst>
          </p:cNvPr>
          <p:cNvCxnSpPr>
            <a:cxnSpLocks/>
            <a:endCxn id="24" idx="3"/>
          </p:cNvCxnSpPr>
          <p:nvPr/>
        </p:nvCxnSpPr>
        <p:spPr>
          <a:xfrm rot="10800000" flipV="1">
            <a:off x="8264805" y="3068911"/>
            <a:ext cx="771659" cy="6751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B1342463-5BF5-BA23-9D32-E6AB9DAABDCC}"/>
              </a:ext>
            </a:extLst>
          </p:cNvPr>
          <p:cNvCxnSpPr>
            <a:cxnSpLocks/>
          </p:cNvCxnSpPr>
          <p:nvPr/>
        </p:nvCxnSpPr>
        <p:spPr>
          <a:xfrm flipV="1">
            <a:off x="4534902" y="4427252"/>
            <a:ext cx="1152935" cy="91151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86683250-B0D4-7E81-D3E9-0D4993DE1F31}"/>
              </a:ext>
            </a:extLst>
          </p:cNvPr>
          <p:cNvCxnSpPr>
            <a:cxnSpLocks/>
            <a:stCxn id="10" idx="0"/>
            <a:endCxn id="24" idx="0"/>
          </p:cNvCxnSpPr>
          <p:nvPr/>
        </p:nvCxnSpPr>
        <p:spPr>
          <a:xfrm rot="5400000" flipH="1" flipV="1">
            <a:off x="5232881" y="788072"/>
            <a:ext cx="154941" cy="3196187"/>
          </a:xfrm>
          <a:prstGeom prst="bentConnector3">
            <a:avLst>
              <a:gd name="adj1" fmla="val 24754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7C58EFD-7AC4-3D7F-1075-2C5970C8BA00}"/>
              </a:ext>
            </a:extLst>
          </p:cNvPr>
          <p:cNvCxnSpPr>
            <a:stCxn id="23" idx="3"/>
            <a:endCxn id="20" idx="1"/>
          </p:cNvCxnSpPr>
          <p:nvPr/>
        </p:nvCxnSpPr>
        <p:spPr>
          <a:xfrm>
            <a:off x="2966719" y="5492722"/>
            <a:ext cx="342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E64E4CA6-FEB1-F978-FD5A-7122AC0D42B6}"/>
              </a:ext>
            </a:extLst>
          </p:cNvPr>
          <p:cNvCxnSpPr>
            <a:stCxn id="9" idx="2"/>
          </p:cNvCxnSpPr>
          <p:nvPr/>
        </p:nvCxnSpPr>
        <p:spPr>
          <a:xfrm>
            <a:off x="1613254" y="3026970"/>
            <a:ext cx="0" cy="15982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690DB02-2CAF-189A-91FC-D85BCD520A4F}"/>
              </a:ext>
            </a:extLst>
          </p:cNvPr>
          <p:cNvSpPr txBox="1"/>
          <p:nvPr/>
        </p:nvSpPr>
        <p:spPr>
          <a:xfrm>
            <a:off x="493087" y="3590304"/>
            <a:ext cx="120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User commands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B07C67F-CFC7-D42A-CA35-FCD10FCC05C4}"/>
              </a:ext>
            </a:extLst>
          </p:cNvPr>
          <p:cNvSpPr txBox="1"/>
          <p:nvPr/>
        </p:nvSpPr>
        <p:spPr>
          <a:xfrm>
            <a:off x="4498934" y="2073857"/>
            <a:ext cx="120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User commands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pic>
        <p:nvPicPr>
          <p:cNvPr id="99" name="그래픽 98" descr="반시계 방향으로 굽은 화살표">
            <a:extLst>
              <a:ext uri="{FF2B5EF4-FFF2-40B4-BE49-F238E27FC236}">
                <a16:creationId xmlns:a16="http://schemas.microsoft.com/office/drawing/2014/main" id="{4255C860-68B6-C5A6-2119-4ECF69C27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0292" y="3326533"/>
            <a:ext cx="914400" cy="914400"/>
          </a:xfrm>
          <a:prstGeom prst="rect">
            <a:avLst/>
          </a:prstGeom>
        </p:spPr>
      </p:pic>
      <p:pic>
        <p:nvPicPr>
          <p:cNvPr id="101" name="그래픽 100" descr="반시계 방향으로 굽은 화살표">
            <a:extLst>
              <a:ext uri="{FF2B5EF4-FFF2-40B4-BE49-F238E27FC236}">
                <a16:creationId xmlns:a16="http://schemas.microsoft.com/office/drawing/2014/main" id="{0C1E0372-FCA0-2C86-4C09-7265C2679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414791" y="3197373"/>
            <a:ext cx="914400" cy="9144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2F9E686-8A3D-2F50-7A16-FB06A2B80B6A}"/>
              </a:ext>
            </a:extLst>
          </p:cNvPr>
          <p:cNvSpPr txBox="1"/>
          <p:nvPr/>
        </p:nvSpPr>
        <p:spPr>
          <a:xfrm>
            <a:off x="4498935" y="5893571"/>
            <a:ext cx="120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&amp; Storage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4B894E90-349E-DFA7-458C-A38A3C8BDC3B}"/>
              </a:ext>
            </a:extLst>
          </p:cNvPr>
          <p:cNvCxnSpPr>
            <a:cxnSpLocks/>
          </p:cNvCxnSpPr>
          <p:nvPr/>
        </p:nvCxnSpPr>
        <p:spPr>
          <a:xfrm flipV="1">
            <a:off x="4535702" y="2733632"/>
            <a:ext cx="1177052" cy="2423810"/>
          </a:xfrm>
          <a:prstGeom prst="bentConnector3">
            <a:avLst>
              <a:gd name="adj1" fmla="val 3618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A38FE0A-CA3B-16C1-86D1-162B1F503E98}"/>
              </a:ext>
            </a:extLst>
          </p:cNvPr>
          <p:cNvSpPr txBox="1"/>
          <p:nvPr/>
        </p:nvSpPr>
        <p:spPr>
          <a:xfrm>
            <a:off x="7997237" y="2359968"/>
            <a:ext cx="120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Tool Use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Request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95D02A5-A9F4-5676-BF6E-920334FAFDB9}"/>
              </a:ext>
            </a:extLst>
          </p:cNvPr>
          <p:cNvSpPr txBox="1"/>
          <p:nvPr/>
        </p:nvSpPr>
        <p:spPr>
          <a:xfrm>
            <a:off x="8468303" y="3276946"/>
            <a:ext cx="120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Tool Execution Result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57221C-314F-B753-1245-91853A0745D8}"/>
              </a:ext>
            </a:extLst>
          </p:cNvPr>
          <p:cNvSpPr txBox="1"/>
          <p:nvPr/>
        </p:nvSpPr>
        <p:spPr>
          <a:xfrm>
            <a:off x="8374059" y="4999468"/>
            <a:ext cx="135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Knowledge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F89E812-D4BA-F0B1-14EA-69B4FD1987D7}"/>
              </a:ext>
            </a:extLst>
          </p:cNvPr>
          <p:cNvSpPr txBox="1"/>
          <p:nvPr/>
        </p:nvSpPr>
        <p:spPr>
          <a:xfrm>
            <a:off x="10148870" y="4196122"/>
            <a:ext cx="135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Knowledge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</p:txBody>
      </p:sp>
      <p:sp>
        <p:nvSpPr>
          <p:cNvPr id="124" name="슬라이드 번호 개체 틀 3">
            <a:extLst>
              <a:ext uri="{FF2B5EF4-FFF2-40B4-BE49-F238E27FC236}">
                <a16:creationId xmlns:a16="http://schemas.microsoft.com/office/drawing/2014/main" id="{DF1D2970-C557-F548-8751-581EA334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6500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25E4-3198-9C9E-9F1A-56CDB725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A2008C-A1FB-0F1E-24CD-8D5C05F97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1 : prompt </a:t>
            </a:r>
            <a:r>
              <a:rPr lang="en-US" altLang="ko-KR" sz="2800" b="1" cap="none" dirty="0">
                <a:latin typeface="Lora" pitchFamily="2" charset="0"/>
                <a:sym typeface="Wingdings" panose="05000000000000000000" pitchFamily="2" charset="2"/>
              </a:rPr>
              <a:t> LLM  </a:t>
            </a:r>
            <a:r>
              <a:rPr lang="en-US" altLang="ko-KR" sz="2800" b="1" cap="none" dirty="0">
                <a:latin typeface="Lora" pitchFamily="2" charset="0"/>
              </a:rPr>
              <a:t>n8n  :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2CF3C-3E3F-21AB-C02C-E6F4A9202B22}"/>
              </a:ext>
            </a:extLst>
          </p:cNvPr>
          <p:cNvSpPr txBox="1"/>
          <p:nvPr/>
        </p:nvSpPr>
        <p:spPr>
          <a:xfrm>
            <a:off x="629920" y="1320727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만 하면 자동으로</a:t>
            </a: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n8n 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(L</a:t>
            </a: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LM Agent+n8n MCP+Local n8n)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179C66-5FF2-8E9D-F01C-21AB8D039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470" y="1899536"/>
            <a:ext cx="9102541" cy="45678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B9D451-3B42-8013-BAE1-3018D477FB04}"/>
              </a:ext>
            </a:extLst>
          </p:cNvPr>
          <p:cNvSpPr/>
          <p:nvPr/>
        </p:nvSpPr>
        <p:spPr>
          <a:xfrm>
            <a:off x="1686560" y="5740400"/>
            <a:ext cx="3931920" cy="6356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endParaRPr lang="ko-KR" altLang="en-US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00BFB8-F8CE-8595-442E-C521AA6F359B}"/>
              </a:ext>
            </a:extLst>
          </p:cNvPr>
          <p:cNvSpPr/>
          <p:nvPr/>
        </p:nvSpPr>
        <p:spPr>
          <a:xfrm>
            <a:off x="5962740" y="2381515"/>
            <a:ext cx="4441100" cy="230224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MCP Server</a:t>
            </a:r>
            <a:endParaRPr lang="ko-KR" altLang="en-US" dirty="0">
              <a:solidFill>
                <a:srgbClr val="FFFF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712870-685D-FA74-8F4A-5CCE1413D0C2}"/>
              </a:ext>
            </a:extLst>
          </p:cNvPr>
          <p:cNvSpPr/>
          <p:nvPr/>
        </p:nvSpPr>
        <p:spPr>
          <a:xfrm>
            <a:off x="1686560" y="4015404"/>
            <a:ext cx="3931920" cy="3361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 coding</a:t>
            </a:r>
            <a:endParaRPr lang="ko-KR" altLang="en-US" dirty="0">
              <a:solidFill>
                <a:schemeClr val="accent6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F6561C-4877-82ED-34EA-ABF9B83D2114}"/>
              </a:ext>
            </a:extLst>
          </p:cNvPr>
          <p:cNvSpPr txBox="1"/>
          <p:nvPr/>
        </p:nvSpPr>
        <p:spPr>
          <a:xfrm>
            <a:off x="6187440" y="6027204"/>
            <a:ext cx="42164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3000"/>
              </a:spcBef>
              <a:spcAft>
                <a:spcPts val="225"/>
              </a:spcAft>
              <a:buNone/>
            </a:pP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 + (CLI)+ Agents - Agentic IDE</a:t>
            </a:r>
          </a:p>
        </p:txBody>
      </p:sp>
      <p:sp>
        <p:nvSpPr>
          <p:cNvPr id="20" name="슬라이드 번호 개체 틀 3">
            <a:extLst>
              <a:ext uri="{FF2B5EF4-FFF2-40B4-BE49-F238E27FC236}">
                <a16:creationId xmlns:a16="http://schemas.microsoft.com/office/drawing/2014/main" id="{D54AE67E-78B4-6DFC-7434-4833CD65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465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9D07-7F43-3035-0B19-B3AFAE56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8F5E3E-0B87-5FFF-1AB7-A044505B3B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2: Practice with google Agent SDK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A66E2-FFA7-6F43-0513-0F06393319E0}"/>
              </a:ext>
            </a:extLst>
          </p:cNvPr>
          <p:cNvSpPr txBox="1"/>
          <p:nvPr/>
        </p:nvSpPr>
        <p:spPr>
          <a:xfrm>
            <a:off x="1016000" y="2519680"/>
            <a:ext cx="813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API: Getting started with Gemini models</a:t>
            </a:r>
            <a:endParaRPr lang="ko-KR" altLang="en-US" sz="20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1BA22F2-6940-575A-804D-89154BD6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1340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69F2-E906-E014-040D-6553B77A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9DF48F8-8E89-8A24-915F-4D9E8A44A3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3: LLM wiki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73226-6711-E291-48E6-978C3775C966}"/>
              </a:ext>
            </a:extLst>
          </p:cNvPr>
          <p:cNvSpPr txBox="1"/>
          <p:nvPr/>
        </p:nvSpPr>
        <p:spPr>
          <a:xfrm>
            <a:off x="558799" y="2249796"/>
            <a:ext cx="3444240" cy="4112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노트북</a:t>
            </a: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LM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빠른 리서치에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올리면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찾아줌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원본에서 검색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서버에 저장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설정 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즉시 사용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356A4-CD98-CF42-5B60-DFF97124228A}"/>
              </a:ext>
            </a:extLst>
          </p:cNvPr>
          <p:cNvSpPr txBox="1"/>
          <p:nvPr/>
        </p:nvSpPr>
        <p:spPr>
          <a:xfrm>
            <a:off x="4424678" y="2249796"/>
            <a:ext cx="3444241" cy="4112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RAG / </a:t>
            </a: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데이터에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자료를 쪼개서 벡터로 저장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유사도 검색으로 조각 가져오기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별도 인프라 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지식 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인프라 비용 발생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09160-1BAF-B419-AE28-13EFABA4C78A}"/>
              </a:ext>
            </a:extLst>
          </p:cNvPr>
          <p:cNvSpPr txBox="1"/>
          <p:nvPr/>
        </p:nvSpPr>
        <p:spPr>
          <a:xfrm>
            <a:off x="8290560" y="2249796"/>
            <a:ext cx="3444240" cy="4112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나무위키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장기 지식 축적에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넣으면 정리해줌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번 정리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계속 업데이트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마크다운 파일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 셋업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비용만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축적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(Compilation)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01824-FF85-7B77-ED58-9327F931B64D}"/>
              </a:ext>
            </a:extLst>
          </p:cNvPr>
          <p:cNvSpPr txBox="1"/>
          <p:nvPr/>
        </p:nvSpPr>
        <p:spPr>
          <a:xfrm>
            <a:off x="558799" y="1275362"/>
            <a:ext cx="7859844" cy="793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클로드코드가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내 노하우를 나무위키처럼 정리해줍니다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(feat.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안드레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카파시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옵시디언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하나에 모든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에이전트 연결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61DD9A26-A7A8-9C82-0AE3-E70FC379045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66229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9935</TotalTime>
  <Words>3974</Words>
  <Application>Microsoft Office PowerPoint</Application>
  <PresentationFormat>와이드스크린</PresentationFormat>
  <Paragraphs>728</Paragraphs>
  <Slides>84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98" baseType="lpstr">
      <vt:lpstr>D2Coding</vt:lpstr>
      <vt:lpstr>나눔고딕</vt:lpstr>
      <vt:lpstr>맑은 고딕</vt:lpstr>
      <vt:lpstr>Batang</vt:lpstr>
      <vt:lpstr>한컴 말랑말랑 Bold</vt:lpstr>
      <vt:lpstr>Arial</vt:lpstr>
      <vt:lpstr>Cambria Math</vt:lpstr>
      <vt:lpstr>Lora</vt:lpstr>
      <vt:lpstr>Segoe UI</vt:lpstr>
      <vt:lpstr>Segoe UI Emoji</vt:lpstr>
      <vt:lpstr>Tahoma</vt:lpstr>
      <vt:lpstr>Times New Roman</vt:lpstr>
      <vt:lpstr>Wingdings</vt:lpstr>
      <vt:lpstr>WelcomeDoc</vt:lpstr>
      <vt:lpstr>LLM(Large Language Model)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 Agent Coding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Cline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 Agent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Supervised Learning(지도학습) </vt:lpstr>
      <vt:lpstr>Unsupervised Learning(비지도학습)</vt:lpstr>
      <vt:lpstr>PowerPoint 프레젠테이션</vt:lpstr>
      <vt:lpstr>AI는 어떻게 학습하지?</vt:lpstr>
      <vt:lpstr>AI는 어떻게 학습하지?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188</cp:revision>
  <dcterms:created xsi:type="dcterms:W3CDTF">2026-04-06T01:00:39Z</dcterms:created>
  <dcterms:modified xsi:type="dcterms:W3CDTF">2026-09-21T05:22:31Z</dcterms:modified>
  <cp:version/>
</cp:coreProperties>
</file>