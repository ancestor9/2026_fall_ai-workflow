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5"/>
  </p:notesMasterIdLst>
  <p:handoutMasterIdLst>
    <p:handoutMasterId r:id="rId96"/>
  </p:handoutMasterIdLst>
  <p:sldIdLst>
    <p:sldId id="256" r:id="rId2"/>
    <p:sldId id="1280" r:id="rId3"/>
    <p:sldId id="1334" r:id="rId4"/>
    <p:sldId id="1333" r:id="rId5"/>
    <p:sldId id="1136" r:id="rId6"/>
    <p:sldId id="1288" r:id="rId7"/>
    <p:sldId id="1264" r:id="rId8"/>
    <p:sldId id="1281" r:id="rId9"/>
    <p:sldId id="1286" r:id="rId10"/>
    <p:sldId id="1294" r:id="rId11"/>
    <p:sldId id="1296" r:id="rId12"/>
    <p:sldId id="1295" r:id="rId13"/>
    <p:sldId id="1282" r:id="rId14"/>
    <p:sldId id="1297" r:id="rId15"/>
    <p:sldId id="1298" r:id="rId16"/>
    <p:sldId id="1299" r:id="rId17"/>
    <p:sldId id="1300" r:id="rId18"/>
    <p:sldId id="1284" r:id="rId19"/>
    <p:sldId id="1289" r:id="rId20"/>
    <p:sldId id="1287" r:id="rId21"/>
    <p:sldId id="1301" r:id="rId22"/>
    <p:sldId id="1302" r:id="rId23"/>
    <p:sldId id="1278" r:id="rId24"/>
    <p:sldId id="1290" r:id="rId25"/>
    <p:sldId id="1303" r:id="rId26"/>
    <p:sldId id="1263" r:id="rId27"/>
    <p:sldId id="1306" r:id="rId28"/>
    <p:sldId id="1307" r:id="rId29"/>
    <p:sldId id="1305" r:id="rId30"/>
    <p:sldId id="1265" r:id="rId31"/>
    <p:sldId id="1266" r:id="rId32"/>
    <p:sldId id="1268" r:id="rId33"/>
    <p:sldId id="1267" r:id="rId34"/>
    <p:sldId id="1269" r:id="rId35"/>
    <p:sldId id="1337" r:id="rId36"/>
    <p:sldId id="1277" r:id="rId37"/>
    <p:sldId id="259" r:id="rId38"/>
    <p:sldId id="260" r:id="rId39"/>
    <p:sldId id="353" r:id="rId40"/>
    <p:sldId id="354" r:id="rId41"/>
    <p:sldId id="262" r:id="rId42"/>
    <p:sldId id="1317" r:id="rId43"/>
    <p:sldId id="263" r:id="rId44"/>
    <p:sldId id="1318" r:id="rId45"/>
    <p:sldId id="1319" r:id="rId46"/>
    <p:sldId id="264" r:id="rId47"/>
    <p:sldId id="267" r:id="rId48"/>
    <p:sldId id="268" r:id="rId49"/>
    <p:sldId id="1271" r:id="rId50"/>
    <p:sldId id="1324" r:id="rId51"/>
    <p:sldId id="1325" r:id="rId52"/>
    <p:sldId id="1326" r:id="rId53"/>
    <p:sldId id="1327" r:id="rId54"/>
    <p:sldId id="1328" r:id="rId55"/>
    <p:sldId id="1329" r:id="rId56"/>
    <p:sldId id="1330" r:id="rId57"/>
    <p:sldId id="1323" r:id="rId58"/>
    <p:sldId id="277" r:id="rId59"/>
    <p:sldId id="1276" r:id="rId60"/>
    <p:sldId id="1332" r:id="rId61"/>
    <p:sldId id="1331" r:id="rId62"/>
    <p:sldId id="1273" r:id="rId63"/>
    <p:sldId id="1274" r:id="rId64"/>
    <p:sldId id="265" r:id="rId65"/>
    <p:sldId id="1275" r:id="rId66"/>
    <p:sldId id="266" r:id="rId67"/>
    <p:sldId id="269" r:id="rId68"/>
    <p:sldId id="1304" r:id="rId69"/>
    <p:sldId id="1272" r:id="rId70"/>
    <p:sldId id="1279" r:id="rId71"/>
    <p:sldId id="1292" r:id="rId72"/>
    <p:sldId id="1321" r:id="rId73"/>
    <p:sldId id="1322" r:id="rId74"/>
    <p:sldId id="1320" r:id="rId75"/>
    <p:sldId id="1285" r:id="rId76"/>
    <p:sldId id="1293" r:id="rId77"/>
    <p:sldId id="285" r:id="rId78"/>
    <p:sldId id="286" r:id="rId79"/>
    <p:sldId id="287" r:id="rId80"/>
    <p:sldId id="288" r:id="rId81"/>
    <p:sldId id="1308" r:id="rId82"/>
    <p:sldId id="1309" r:id="rId83"/>
    <p:sldId id="1310" r:id="rId84"/>
    <p:sldId id="1311" r:id="rId85"/>
    <p:sldId id="1312" r:id="rId86"/>
    <p:sldId id="1313" r:id="rId87"/>
    <p:sldId id="1335" r:id="rId88"/>
    <p:sldId id="1338" r:id="rId89"/>
    <p:sldId id="1314" r:id="rId90"/>
    <p:sldId id="1315" r:id="rId91"/>
    <p:sldId id="1316" r:id="rId92"/>
    <p:sldId id="1255" r:id="rId93"/>
    <p:sldId id="1339" r:id="rId9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80"/>
            <p14:sldId id="1334"/>
            <p14:sldId id="1333"/>
            <p14:sldId id="1136"/>
            <p14:sldId id="1288"/>
            <p14:sldId id="1264"/>
            <p14:sldId id="1281"/>
            <p14:sldId id="1286"/>
            <p14:sldId id="1294"/>
            <p14:sldId id="1296"/>
            <p14:sldId id="1295"/>
            <p14:sldId id="1282"/>
            <p14:sldId id="1297"/>
            <p14:sldId id="1298"/>
            <p14:sldId id="1299"/>
            <p14:sldId id="1300"/>
            <p14:sldId id="1284"/>
            <p14:sldId id="1289"/>
            <p14:sldId id="1287"/>
            <p14:sldId id="1301"/>
            <p14:sldId id="1302"/>
            <p14:sldId id="1278"/>
            <p14:sldId id="1290"/>
            <p14:sldId id="1303"/>
            <p14:sldId id="1263"/>
            <p14:sldId id="1306"/>
            <p14:sldId id="1307"/>
            <p14:sldId id="1305"/>
            <p14:sldId id="1265"/>
            <p14:sldId id="1266"/>
            <p14:sldId id="1268"/>
            <p14:sldId id="1267"/>
            <p14:sldId id="1269"/>
            <p14:sldId id="1337"/>
            <p14:sldId id="1277"/>
            <p14:sldId id="259"/>
            <p14:sldId id="260"/>
            <p14:sldId id="353"/>
            <p14:sldId id="354"/>
            <p14:sldId id="262"/>
            <p14:sldId id="1317"/>
            <p14:sldId id="263"/>
            <p14:sldId id="1318"/>
            <p14:sldId id="1319"/>
            <p14:sldId id="264"/>
            <p14:sldId id="267"/>
            <p14:sldId id="268"/>
            <p14:sldId id="1271"/>
            <p14:sldId id="1324"/>
            <p14:sldId id="1325"/>
            <p14:sldId id="1326"/>
            <p14:sldId id="1327"/>
            <p14:sldId id="1328"/>
            <p14:sldId id="1329"/>
            <p14:sldId id="1330"/>
            <p14:sldId id="1323"/>
            <p14:sldId id="277"/>
            <p14:sldId id="1276"/>
            <p14:sldId id="1332"/>
            <p14:sldId id="1331"/>
            <p14:sldId id="1273"/>
            <p14:sldId id="1274"/>
            <p14:sldId id="265"/>
            <p14:sldId id="1275"/>
            <p14:sldId id="266"/>
            <p14:sldId id="269"/>
            <p14:sldId id="1304"/>
            <p14:sldId id="1272"/>
            <p14:sldId id="1279"/>
            <p14:sldId id="1292"/>
            <p14:sldId id="1321"/>
            <p14:sldId id="1322"/>
            <p14:sldId id="1320"/>
            <p14:sldId id="1285"/>
            <p14:sldId id="1293"/>
            <p14:sldId id="285"/>
            <p14:sldId id="286"/>
            <p14:sldId id="287"/>
            <p14:sldId id="288"/>
            <p14:sldId id="1308"/>
            <p14:sldId id="1309"/>
            <p14:sldId id="1310"/>
            <p14:sldId id="1311"/>
            <p14:sldId id="1312"/>
            <p14:sldId id="1313"/>
            <p14:sldId id="1335"/>
            <p14:sldId id="1338"/>
            <p14:sldId id="1314"/>
            <p14:sldId id="1315"/>
            <p14:sldId id="1316"/>
            <p14:sldId id="1255"/>
            <p14:sldId id="13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FF9B45"/>
    <a:srgbClr val="DD462F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870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viewProps" Target="viewProps.xml"/><Relationship Id="rId10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commentAuthors" Target="commentAuthor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presProps" Target="presProps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2026-09-02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2026-09-02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C508-26D1-3E92-13C3-E96A75040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9DC50-AD30-C94A-AEFA-61C7E05253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A590D0-32EF-A76C-0021-0B9595786A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8E9D49-A962-5E84-BD85-F48ACB59E4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29541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2F5FD-E249-651D-FA63-D503EF331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5A6820-CA3D-9343-F847-57584F6684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DA4F69-C33C-9549-F10F-431C92CA0D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42A695-9D1E-1779-734F-42D3BC89BD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700753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2FA74-B788-104D-4090-0F61104FE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60D38-73E1-F2C1-DE70-9F62083D1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87FD08-475F-C6A6-B769-1FBB4E1B0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8E687C-74C6-337C-2DB0-FE75618D55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80508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2C74C-64B2-619F-33A0-B808C5428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67A537-ED0F-424A-04D9-E0EFBBD88C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1AF416-39F5-996B-8750-E2D2B2105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F4E1C4-7519-4D6E-4285-D6DA6C0A9D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54032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F4A73-0DF4-6018-8EC1-E24C2C445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A6BCE8-90AA-D178-6A22-9999B9230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33456C-38C3-CF65-F3B2-46F4EC8C5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18726D-52B0-5BA3-FE58-E58B4A5D12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269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61B78-5575-88F8-0A7E-E53379AF5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50F36F-171E-36E5-3DAF-9968D8C25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FFA43C-EDDB-96A5-0C73-7E04FD4144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DFA5DC-B20D-0A3E-0B35-F0C9FEE2A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91220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170082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82727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64732613-8232-A184-B6CD-61A8809FB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A2329ECB-AA06-37FF-0E8D-9CD9A9C4D3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4441BFC8-C973-6AEE-F03F-6318155BF6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22660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47C2583A-F312-B26D-AF1A-7ABEA7CC2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6E70B85A-70B0-8BBE-348E-22FDFA4446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B85A06F8-D8C6-B17A-EE49-3D350E71A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62258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CB03F302-71AF-4583-8710-92C756EBF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A0259422-88BC-BD21-89F9-74116CF022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63AB5FA1-0D31-7F9E-ADBA-701D30AD81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94021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3" name="Google Shape;263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12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65" name="Google Shape;265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547554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6" name="Google Shape;276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3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78" name="Google Shape;278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12022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863687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3" name="Google Shape;253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1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55" name="Google Shape;255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467187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9540600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F5B27-CED0-D4A6-08E9-ACA0C0C32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CDCBD7-78A5-8C83-E811-860DD0EC03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E36E51-BEBD-1B87-D54E-A317AADB1C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AFF8CB-B739-548C-21DA-1FEEB73037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6872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3B6E5-5A67-5099-D476-B03922D90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87EBFA-07FF-2CF5-D9F4-9A364D0C3F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193E0D-39C1-11C4-B5FB-5BECF95446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372E67-EB21-80A2-230A-54A0F018F6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2090607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217E1063-B697-0F5B-6173-A8ACC414E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D5B1C958-1384-535D-9203-77314D3CEE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22B0AD07-79B3-6CBE-0FF4-24D414AC34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731572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4CAB5A7B-700F-B433-0E98-AADF106B2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A2AFB00C-00B1-387E-CC96-BD3F1F6ACE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DCB5368B-F389-8446-C46B-CFFD8F5C13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3872785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8B97D6B2-16C7-406E-ABED-027739F2A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EF577B07-8C8C-3661-469F-5CBBE8E516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2AB737DC-C48A-55DB-8CDB-5F90832FB9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4473454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C4819A67-6B86-CF50-18EB-93960BF43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F5F74DDA-FA23-C3AD-5F23-D990A6BFF4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0470BAC9-588C-DE39-C6B8-87735A2DB2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1534156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85508E92-FDC4-8C11-6735-4C3FAF7C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FFE4F60F-4BE1-4590-77AF-115104F25E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68BFBA0A-73FB-0411-3169-741B53035C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255530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3ED5C58F-EB24-338D-F4BC-4E53F9C01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DCB17C4D-369D-B0D1-DE7E-4542430B0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30E0A8C1-442D-2C40-24ED-1E19160797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294669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70A5D-1ADD-3EC0-7D34-B8642E2A7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C16BE7-6AAF-0944-7C9A-1B6040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4ED179B-CBDD-E9FC-C26B-66000AB08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B40047-BA13-502C-17B4-7190E3AEBA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128121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1CF54406-D1D4-1B90-D6CA-029A35BD5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6F9FE9AF-0439-2FA1-D31B-B8EC5A2FA7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D8EE195D-DD64-EF7C-D5A1-BB675BFF98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9311089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4D713CEB-9DC0-D65F-28F8-0C2D60836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21623570-21F3-0416-C31C-FC7621C236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AE6504AE-C2C1-2FE9-138D-8CF6B31864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76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2026-09-02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2026-09-02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oddy.tech/playground/ko/cpp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" TargetMode="External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y-gradio-app" TargetMode="External"/><Relationship Id="rId2" Type="http://schemas.openxmlformats.org/officeDocument/2006/relationships/hyperlink" Target="https://hackjsp.tistory.com/72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svg"/><Relationship Id="rId4" Type="http://schemas.openxmlformats.org/officeDocument/2006/relationships/image" Target="../media/image15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7" Type="http://schemas.openxmlformats.org/officeDocument/2006/relationships/image" Target="../media/image2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svg"/><Relationship Id="rId5" Type="http://schemas.openxmlformats.org/officeDocument/2006/relationships/image" Target="../media/image20.jpg"/><Relationship Id="rId4" Type="http://schemas.openxmlformats.org/officeDocument/2006/relationships/image" Target="../media/image19.jp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jpg"/><Relationship Id="rId4" Type="http://schemas.openxmlformats.org/officeDocument/2006/relationships/hyperlink" Target="https://www.asustor.com/ko/solution/what_is_docker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cker.com/resources/what-container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2.jpg"/><Relationship Id="rId4" Type="http://schemas.openxmlformats.org/officeDocument/2006/relationships/image" Target="../media/image31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get-started/docker-concepts/building-images/understanding-image-layers/?utm_source=chatgpt.com" TargetMode="Externa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docs.docker.com/storage/storagedriver/" TargetMode="Externa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medium.com/@deepakshakya/beginners-guide-to-use-docker-build-run-push-and-pull-4a132c094d75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features/codespaces" TargetMode="External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hyperlink" Target="https://namu.wiki/w/Visual%20Studio%20Code" TargetMode="External"/><Relationship Id="rId7" Type="http://schemas.openxmlformats.org/officeDocument/2006/relationships/hyperlink" Target="https://namu.wiki/w/%ED%86%B5%ED%95%A9%20%EA%B0%9C%EB%B0%9C%20%ED%99%98%EA%B2%BD" TargetMode="External"/><Relationship Id="rId2" Type="http://schemas.openxmlformats.org/officeDocument/2006/relationships/hyperlink" Target="https://namu.wiki/w/GitHub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namu.wiki/w/%ED%81%B4%EB%9D%BC%EC%9A%B0%EB%93%9C%20%EC%BB%B4%ED%93%A8%ED%8C%85" TargetMode="External"/><Relationship Id="rId5" Type="http://schemas.openxmlformats.org/officeDocument/2006/relationships/hyperlink" Target="https://namu.wiki/w/%EA%B0%9C%EB%B0%9C%ED%99%98%EA%B2%BD" TargetMode="External"/><Relationship Id="rId4" Type="http://schemas.openxmlformats.org/officeDocument/2006/relationships/hyperlink" Target="https://namu.wiki/w/GitHub/%EC%A0%80%EC%9E%A5%EC%86%8C" TargetMode="Externa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svg"/><Relationship Id="rId2" Type="http://schemas.openxmlformats.org/officeDocument/2006/relationships/hyperlink" Target="http://localhost:8080/" TargetMode="External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svg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7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Vertex_(graph_theory)" TargetMode="External"/><Relationship Id="rId3" Type="http://schemas.openxmlformats.org/officeDocument/2006/relationships/image" Target="../media/image58.png"/><Relationship Id="rId7" Type="http://schemas.openxmlformats.org/officeDocument/2006/relationships/hyperlink" Target="https://en.wikipedia.org/wiki/Cycle_graph#Directed_cycle_graph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en.wikipedia.org/wiki/Directed_graph" TargetMode="External"/><Relationship Id="rId5" Type="http://schemas.openxmlformats.org/officeDocument/2006/relationships/hyperlink" Target="https://steemit.com/dag/@cryptodreamers/dag-dag-directed-acyclic-graph" TargetMode="External"/><Relationship Id="rId4" Type="http://schemas.openxmlformats.org/officeDocument/2006/relationships/image" Target="../media/image59.png"/><Relationship Id="rId9" Type="http://schemas.openxmlformats.org/officeDocument/2006/relationships/hyperlink" Target="https://en.wikipedia.org/wiki/Edge_(graph_theory)" TargetMode="Externa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2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hyperlink" Target="https://github.com/ancestor9/airflow" TargetMode="Externa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5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6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9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0.png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2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3.png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 Deployment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작성 → 컴파일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빌드 → 형상관리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 →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테스트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→ 배포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693DE-47F3-9FEF-BB31-C8C1C7B6F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26D462-2365-3FDB-6CBD-C685819B01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1 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CI/CD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Actions &amp;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Huggingface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DB3CEFF-E494-23D8-DF1E-5A6259EBB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2435626-EA06-880D-532E-BE2C94B07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088" y="2236963"/>
            <a:ext cx="8754697" cy="367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338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5541-0F6B-CF69-7245-24564D300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2C7B8E-E30B-D6A1-39C1-FF7EC72C71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1 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CI/CD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Actions &amp;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Huggingface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Spaces</a:t>
            </a:r>
            <a:endParaRPr lang="ko-KR" altLang="en-US" sz="24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2D74262-B22E-3A82-67F0-C389A8A88C7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7579A8C-7547-78EC-8EB1-70103E1228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152" y="2233291"/>
            <a:ext cx="8422012" cy="43137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526A29C-7E3F-8BC6-1A41-D87EAE040214}"/>
              </a:ext>
            </a:extLst>
          </p:cNvPr>
          <p:cNvSpPr txBox="1"/>
          <p:nvPr/>
        </p:nvSpPr>
        <p:spPr>
          <a:xfrm>
            <a:off x="554181" y="1193006"/>
            <a:ext cx="1116217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전체 흐름 요약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→ 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 → 테스트 통과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빌드 → 레지스트리에 푸시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자동 배포 → 웹에서 서비스 제공</a:t>
            </a:r>
          </a:p>
        </p:txBody>
      </p:sp>
    </p:spTree>
    <p:extLst>
      <p:ext uri="{BB962C8B-B14F-4D97-AF65-F5344CB8AC3E}">
        <p14:creationId xmlns:p14="http://schemas.microsoft.com/office/powerpoint/2010/main" val="642890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B3B25-8368-2329-3AAD-9CA108462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18B68B-B7B7-2FD3-FE0C-F13C1804F7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487584C1-355E-EE07-C576-8F5D14D36F52}"/>
              </a:ext>
            </a:extLst>
          </p:cNvPr>
          <p:cNvGraphicFramePr>
            <a:graphicFrameLocks noGrp="1"/>
          </p:cNvGraphicFramePr>
          <p:nvPr/>
        </p:nvGraphicFramePr>
        <p:xfrm>
          <a:off x="1066238" y="2009457"/>
          <a:ext cx="10059523" cy="3848420"/>
        </p:xfrm>
        <a:graphic>
          <a:graphicData uri="http://schemas.openxmlformats.org/drawingml/2006/table">
            <a:tbl>
              <a:tblPr/>
              <a:tblGrid>
                <a:gridCol w="3473824">
                  <a:extLst>
                    <a:ext uri="{9D8B030D-6E8A-4147-A177-3AD203B41FA5}">
                      <a16:colId xmlns:a16="http://schemas.microsoft.com/office/drawing/2014/main" val="2926649995"/>
                    </a:ext>
                  </a:extLst>
                </a:gridCol>
                <a:gridCol w="2206052">
                  <a:extLst>
                    <a:ext uri="{9D8B030D-6E8A-4147-A177-3AD203B41FA5}">
                      <a16:colId xmlns:a16="http://schemas.microsoft.com/office/drawing/2014/main" val="661151394"/>
                    </a:ext>
                  </a:extLst>
                </a:gridCol>
                <a:gridCol w="4379647">
                  <a:extLst>
                    <a:ext uri="{9D8B030D-6E8A-4147-A177-3AD203B41FA5}">
                      <a16:colId xmlns:a16="http://schemas.microsoft.com/office/drawing/2014/main" val="302321871"/>
                    </a:ext>
                  </a:extLst>
                </a:gridCol>
              </a:tblGrid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Problems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Tools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Solving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07564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버전 관리가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변경 이력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버전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2113181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협업이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GitHub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공동 개발 및 코드 공유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7040444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변경 후 오류 발견이 늦음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CI / GitHub Actions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 테스트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6542966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개발환경이 달라 실행 오류 발생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실행환경 표준화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091785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과정이 복잡함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 + CI/CD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빌드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자동화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347952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 구축에 시간 소요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Codespaces</a:t>
                      </a:r>
                      <a:endParaRPr 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일관된 개발환경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52232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작업을 수동 실행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스케줄링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841929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 순서 관리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 DAG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의존성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1397863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개별 기술만 알고 전체 구조를 모름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통합 </a:t>
                      </a: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Pipeline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개발→ 테스트→ 빌드→ 실행→ 파이프라인 연결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2217185"/>
                  </a:ext>
                </a:extLst>
              </a:tr>
            </a:tbl>
          </a:graphicData>
        </a:graphic>
      </p:graphicFrame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4C9424-E323-734C-A9CF-49A1A00CBE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01440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25CA11-BB27-9F61-9705-232FBA299991}"/>
              </a:ext>
            </a:extLst>
          </p:cNvPr>
          <p:cNvSpPr txBox="1"/>
          <p:nvPr/>
        </p:nvSpPr>
        <p:spPr>
          <a:xfrm>
            <a:off x="600074" y="1337265"/>
            <a:ext cx="10906126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Python/JAVA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개발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링크 및 빌드와 테스트과정을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Visual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Studio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Code(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open source AI code editor)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및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Module, Library, Package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개념 및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(Configuration Management)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이해하고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GitHub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Desktop를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설치하여 코드 버전 관리와 CI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(Continuous Integration)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실습하고 코드 변경이 자동으로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테스트·배포되는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파이프라인을 구축하여 CD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Continuos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Deploymnet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로 구성된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CI/CD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이해와 실습을 위해 애플리케이션을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컨테이너화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(Container)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개발부터 배포하는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전체 프로세스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git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시스템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Docker, Image &amp; Container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구성 및 배포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설치하여 실습하고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6B93F-1952-6C9D-B7E2-8641854988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99E74-649D-1033-C865-12E324BF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576D94-1332-4F5A-4828-9807992BDF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프로세스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전체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흐름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50E3C64A-6FE7-686E-BD26-25E57D565BA6}"/>
              </a:ext>
            </a:extLst>
          </p:cNvPr>
          <p:cNvSpPr/>
          <p:nvPr/>
        </p:nvSpPr>
        <p:spPr>
          <a:xfrm>
            <a:off x="640080" y="138558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개발부터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배포까지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하나의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연속된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파이프라인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C305331-13EB-288B-C6F9-10812EE2A0A9}"/>
              </a:ext>
            </a:extLst>
          </p:cNvPr>
          <p:cNvSpPr/>
          <p:nvPr/>
        </p:nvSpPr>
        <p:spPr>
          <a:xfrm>
            <a:off x="640080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384BE496-68E7-6419-0080-041D9CC17D8E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F6C4504-EB44-FC05-4E63-2F797CF45E32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8854973-17D9-B6DA-DC15-0DC71FA88BC2}"/>
              </a:ext>
            </a:extLst>
          </p:cNvPr>
          <p:cNvSpPr/>
          <p:nvPr/>
        </p:nvSpPr>
        <p:spPr>
          <a:xfrm>
            <a:off x="640080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EEF99A43-2519-FF46-326F-5A3F2D271825}"/>
              </a:ext>
            </a:extLst>
          </p:cNvPr>
          <p:cNvSpPr/>
          <p:nvPr/>
        </p:nvSpPr>
        <p:spPr>
          <a:xfrm>
            <a:off x="731520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 작성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기능 구현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01B46DB9-EF39-95C2-F92E-AECD34C1A575}"/>
              </a:ext>
            </a:extLst>
          </p:cNvPr>
          <p:cNvSpPr/>
          <p:nvPr/>
        </p:nvSpPr>
        <p:spPr>
          <a:xfrm>
            <a:off x="2514600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35144EE1-AF85-AEB9-019F-8D608F2ED83E}"/>
              </a:ext>
            </a:extLst>
          </p:cNvPr>
          <p:cNvSpPr/>
          <p:nvPr/>
        </p:nvSpPr>
        <p:spPr>
          <a:xfrm>
            <a:off x="2770632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12D7A2E-B26F-99D5-6C92-508979AE6CF0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15A45659-9C97-A8F4-D245-7CE853C32571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1F249C4F-24F9-9BCB-7E6E-227F64D8D4C4}"/>
              </a:ext>
            </a:extLst>
          </p:cNvPr>
          <p:cNvSpPr/>
          <p:nvPr/>
        </p:nvSpPr>
        <p:spPr>
          <a:xfrm>
            <a:off x="2770632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5BB2BC2-B952-845B-D724-471C9B0A4BFA}"/>
              </a:ext>
            </a:extLst>
          </p:cNvPr>
          <p:cNvSpPr/>
          <p:nvPr/>
        </p:nvSpPr>
        <p:spPr>
          <a:xfrm>
            <a:off x="2862072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 이력 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(Git)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74E5A613-E784-7FEC-6977-28D25713C296}"/>
              </a:ext>
            </a:extLst>
          </p:cNvPr>
          <p:cNvSpPr/>
          <p:nvPr/>
        </p:nvSpPr>
        <p:spPr>
          <a:xfrm>
            <a:off x="4645152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8C2FDEBE-47BC-400E-5E6D-6246A86BA683}"/>
              </a:ext>
            </a:extLst>
          </p:cNvPr>
          <p:cNvSpPr/>
          <p:nvPr/>
        </p:nvSpPr>
        <p:spPr>
          <a:xfrm>
            <a:off x="4901184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E67074C6-5A5D-9F8D-D88E-50767DA61D15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4D9A17E-44E1-A468-0343-533D6300AAAE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E9DBF84-7A06-0477-77F8-10B63BEFF532}"/>
              </a:ext>
            </a:extLst>
          </p:cNvPr>
          <p:cNvSpPr/>
          <p:nvPr/>
        </p:nvSpPr>
        <p:spPr>
          <a:xfrm>
            <a:off x="4901184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F9C5D6A-19F0-0811-3B62-638D83783A1B}"/>
              </a:ext>
            </a:extLst>
          </p:cNvPr>
          <p:cNvSpPr/>
          <p:nvPr/>
        </p:nvSpPr>
        <p:spPr>
          <a:xfrm>
            <a:off x="4992624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소스코드를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가능한 형태로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69D38C6D-512F-8D81-EAD7-69BE2541E879}"/>
              </a:ext>
            </a:extLst>
          </p:cNvPr>
          <p:cNvSpPr/>
          <p:nvPr/>
        </p:nvSpPr>
        <p:spPr>
          <a:xfrm>
            <a:off x="6775704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3F1D8406-9F97-0CE1-A6E6-BA7AF7BBAF7E}"/>
              </a:ext>
            </a:extLst>
          </p:cNvPr>
          <p:cNvSpPr/>
          <p:nvPr/>
        </p:nvSpPr>
        <p:spPr>
          <a:xfrm>
            <a:off x="7031736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B1BC1EEA-8C75-EED6-719D-DCA3623C6C15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A1D26FF5-CA7F-5837-3A81-AD9E7A0E7AD1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4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CEEB059D-7F70-5BFF-4535-F84FABCCD776}"/>
              </a:ext>
            </a:extLst>
          </p:cNvPr>
          <p:cNvSpPr/>
          <p:nvPr/>
        </p:nvSpPr>
        <p:spPr>
          <a:xfrm>
            <a:off x="7031736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테스트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D82F9AF8-50C6-2C52-1443-A1EAFDDFD0B2}"/>
              </a:ext>
            </a:extLst>
          </p:cNvPr>
          <p:cNvSpPr/>
          <p:nvPr/>
        </p:nvSpPr>
        <p:spPr>
          <a:xfrm>
            <a:off x="7123176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품질 검증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확인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586495AA-4A97-4C47-7D6F-BB50989EFDFC}"/>
              </a:ext>
            </a:extLst>
          </p:cNvPr>
          <p:cNvSpPr/>
          <p:nvPr/>
        </p:nvSpPr>
        <p:spPr>
          <a:xfrm>
            <a:off x="8906256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8A3DE605-BEE7-5315-9848-CFF62C126EDE}"/>
              </a:ext>
            </a:extLst>
          </p:cNvPr>
          <p:cNvSpPr/>
          <p:nvPr/>
        </p:nvSpPr>
        <p:spPr>
          <a:xfrm>
            <a:off x="9162288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9F84F631-2B90-2D75-8CD2-9CC45BE70758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E1D0458F-DE0A-75D7-C09C-A11018C5AAC6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5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409975A-9706-EBAD-B1F5-996FA211D66B}"/>
              </a:ext>
            </a:extLst>
          </p:cNvPr>
          <p:cNvSpPr/>
          <p:nvPr/>
        </p:nvSpPr>
        <p:spPr>
          <a:xfrm>
            <a:off x="9162288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42078234-7D49-FA9D-53B0-7C1FC2F372A9}"/>
              </a:ext>
            </a:extLst>
          </p:cNvPr>
          <p:cNvSpPr/>
          <p:nvPr/>
        </p:nvSpPr>
        <p:spPr>
          <a:xfrm>
            <a:off x="9253728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운영 환경에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적용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Shape 31">
            <a:extLst>
              <a:ext uri="{FF2B5EF4-FFF2-40B4-BE49-F238E27FC236}">
                <a16:creationId xmlns:a16="http://schemas.microsoft.com/office/drawing/2014/main" id="{672685E4-5E37-06BD-5BC6-F3AA68A4A88C}"/>
              </a:ext>
            </a:extLst>
          </p:cNvPr>
          <p:cNvSpPr/>
          <p:nvPr/>
        </p:nvSpPr>
        <p:spPr>
          <a:xfrm>
            <a:off x="640080" y="489204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036258D9-B2DF-4B4D-C161-F2EF0F30B6B7}"/>
              </a:ext>
            </a:extLst>
          </p:cNvPr>
          <p:cNvSpPr/>
          <p:nvPr/>
        </p:nvSpPr>
        <p:spPr>
          <a:xfrm>
            <a:off x="914400" y="5074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Point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E5413F4A-2EBE-FE1F-DC34-FB4DECE1862A}"/>
              </a:ext>
            </a:extLst>
          </p:cNvPr>
          <p:cNvSpPr/>
          <p:nvPr/>
        </p:nvSpPr>
        <p:spPr>
          <a:xfrm>
            <a:off x="914400" y="53949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각 단계는 독립적이지 않으며, 형상관리 시스템(Git)을 중심으로 자동화된 파이프라인(CI/CD)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으로</a:t>
            </a: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연결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D7AED09-9346-FDBC-DD88-D70E85F453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46688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113249" y="1478754"/>
            <a:ext cx="6861610" cy="48156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Client-Server Architecture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your own GitHub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Apache Airflow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4D586-1125-2FB2-3E03-F236924C8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D1D956-0C5C-2A4E-CE17-D0F9A47AE7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 Code Build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A6D0A2A-7001-4D52-5517-C1F6A6A29A2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F23075-9748-2C05-9336-6A9CA4F36952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개발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링크 및 빌드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96180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D1158F-61CA-0E27-4436-967E6F880982}"/>
              </a:ext>
            </a:extLst>
          </p:cNvPr>
          <p:cNvSpPr txBox="1"/>
          <p:nvPr/>
        </p:nvSpPr>
        <p:spPr>
          <a:xfrm>
            <a:off x="8954499" y="2057257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Coddy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BA1E414-6D70-B76F-A007-94029896F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80" y="2073659"/>
            <a:ext cx="5492639" cy="29487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51EBF04E-A22A-4913-C6C1-24BEEE2367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207" y="2395811"/>
            <a:ext cx="5492638" cy="28272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6CDA9A11-2F59-07C8-3F35-337C5C96B1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4161" y="3567791"/>
            <a:ext cx="5506134" cy="17881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D61288D1-F30B-83F7-1A05-85CAADC92AA2}"/>
              </a:ext>
            </a:extLst>
          </p:cNvPr>
          <p:cNvSpPr txBox="1"/>
          <p:nvPr/>
        </p:nvSpPr>
        <p:spPr>
          <a:xfrm>
            <a:off x="1176979" y="5040138"/>
            <a:ext cx="1353156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main.cpp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main.o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program.exe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C7AA87-4D45-6B4E-6A59-2BD1F29BD0C8}"/>
              </a:ext>
            </a:extLst>
          </p:cNvPr>
          <p:cNvSpPr txBox="1"/>
          <p:nvPr/>
        </p:nvSpPr>
        <p:spPr>
          <a:xfrm>
            <a:off x="1975148" y="5223102"/>
            <a:ext cx="5665391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Main.java (소스 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↓ (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javac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컴파일)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Main.class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          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JVM 실행 - JIT 컴파일러 / 인터프리터)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06482B5-B138-CF1B-FE7C-1C266E45A82C}"/>
              </a:ext>
            </a:extLst>
          </p:cNvPr>
          <p:cNvSpPr txBox="1"/>
          <p:nvPr/>
        </p:nvSpPr>
        <p:spPr>
          <a:xfrm>
            <a:off x="7155859" y="5355935"/>
            <a:ext cx="4294909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main.py (소스 코드)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(인터프리터 내부 컴파일)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main.pyc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(바이트코드/__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pycache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__)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**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PVM -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32CE6B-36ED-C06E-321F-AAE1BAB179FD}"/>
              </a:ext>
            </a:extLst>
          </p:cNvPr>
          <p:cNvSpPr txBox="1"/>
          <p:nvPr/>
        </p:nvSpPr>
        <p:spPr>
          <a:xfrm>
            <a:off x="586480" y="1199745"/>
            <a:ext cx="11019039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PVM(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)은 파이썬 컴파일러가 생성한 바이트코드(.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읽어 실제 컴퓨터(OS/CPU)가 이해할 수 있는 기계어로 해석 및 실행하는 가상 엔진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7C1567E-DBDB-E8CB-99FE-1A85DDD10F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ECF2-312A-DEF6-0EFA-8EFA7D38C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0441BE8-11B6-BF6B-EFBB-6760E81AA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(Build)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60B4F16F-4859-063F-9F23-E744C52C544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92513" y="1291476"/>
            <a:ext cx="11036070" cy="66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빌드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(Build)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란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스코드를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실행·배포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가능한 형태의 결과물(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)로 만드는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과정으로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단순히 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컴파일＂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것이 아니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 + 의존성 처리 + 테스트 + 패키징 등을 포함하는 전체 과정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B05243-991A-F485-E7FA-84CDE5AAD5D2}"/>
              </a:ext>
            </a:extLst>
          </p:cNvPr>
          <p:cNvSpPr txBox="1"/>
          <p:nvPr/>
        </p:nvSpPr>
        <p:spPr>
          <a:xfrm>
            <a:off x="2392218" y="2471156"/>
            <a:ext cx="3629891" cy="2585323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Compile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Package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Executable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F19711-2259-1CAA-7183-F1B07A1FB54C}"/>
              </a:ext>
            </a:extLst>
          </p:cNvPr>
          <p:cNvSpPr txBox="1"/>
          <p:nvPr/>
        </p:nvSpPr>
        <p:spPr>
          <a:xfrm>
            <a:off x="6419273" y="2471156"/>
            <a:ext cx="3352800" cy="253332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소스코드 컴파일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라이브러리 의존성 확인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오류 검사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패키징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실행 파일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C43F18-53C4-F096-DE56-DD30AA85AA32}"/>
              </a:ext>
            </a:extLst>
          </p:cNvPr>
          <p:cNvSpPr txBox="1"/>
          <p:nvPr/>
        </p:nvSpPr>
        <p:spPr>
          <a:xfrm>
            <a:off x="2392218" y="5347209"/>
            <a:ext cx="6096000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C/C++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기계어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JVM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실행</a:t>
            </a:r>
          </a:p>
        </p:txBody>
      </p:sp>
      <p:sp>
        <p:nvSpPr>
          <p:cNvPr id="38" name="슬라이드 번호 개체 틀 3">
            <a:extLst>
              <a:ext uri="{FF2B5EF4-FFF2-40B4-BE49-F238E27FC236}">
                <a16:creationId xmlns:a16="http://schemas.microsoft.com/office/drawing/2014/main" id="{55CFFBAC-1729-8DE4-79D5-028CE0E4FE9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36601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721CB-E754-43F3-D256-5B60EFCB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0A807A-A8B0-216C-9C3C-331C3ED8BF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및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방식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비교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D00312D-B33B-3684-097A-7BBB93E71102}"/>
              </a:ext>
            </a:extLst>
          </p:cNvPr>
          <p:cNvSpPr/>
          <p:nvPr/>
        </p:nvSpPr>
        <p:spPr>
          <a:xfrm>
            <a:off x="640080" y="1392555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언어, 중간 코드 언어, 인터프리터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언어의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차이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링크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)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893D5724-49D8-01B6-A4F0-02C485941B8F}"/>
              </a:ext>
            </a:extLst>
          </p:cNvPr>
          <p:cNvSpPr/>
          <p:nvPr/>
        </p:nvSpPr>
        <p:spPr>
          <a:xfrm>
            <a:off x="64008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B6F36E42-F0EF-0858-ED7F-F4C1C7CBA6EE}"/>
              </a:ext>
            </a:extLst>
          </p:cNvPr>
          <p:cNvSpPr/>
          <p:nvPr/>
        </p:nvSpPr>
        <p:spPr>
          <a:xfrm>
            <a:off x="640080" y="2032635"/>
            <a:ext cx="3520440" cy="5943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987D0A4E-F87F-72C7-B10C-2288D6BB9DEE}"/>
              </a:ext>
            </a:extLst>
          </p:cNvPr>
          <p:cNvSpPr/>
          <p:nvPr/>
        </p:nvSpPr>
        <p:spPr>
          <a:xfrm>
            <a:off x="82296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 / C++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4AC9A893-8A38-BDDD-EBA8-1CC6AA4486FA}"/>
              </a:ext>
            </a:extLst>
          </p:cNvPr>
          <p:cNvSpPr/>
          <p:nvPr/>
        </p:nvSpPr>
        <p:spPr>
          <a:xfrm>
            <a:off x="82296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B1D0AFF-8608-361E-A562-A62370C0F108}"/>
              </a:ext>
            </a:extLst>
          </p:cNvPr>
          <p:cNvSpPr/>
          <p:nvPr/>
        </p:nvSpPr>
        <p:spPr>
          <a:xfrm>
            <a:off x="82296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79D13E08-D79A-A0A6-50F9-16317CE5FEF1}"/>
              </a:ext>
            </a:extLst>
          </p:cNvPr>
          <p:cNvSpPr/>
          <p:nvPr/>
        </p:nvSpPr>
        <p:spPr>
          <a:xfrm>
            <a:off x="82296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오브젝트 파일 → 링커 → 실행파일(기계어)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DD5E114E-B11A-4D52-4D2D-6C36D0A328A6}"/>
              </a:ext>
            </a:extLst>
          </p:cNvPr>
          <p:cNvSpPr/>
          <p:nvPr/>
        </p:nvSpPr>
        <p:spPr>
          <a:xfrm>
            <a:off x="82296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gcc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g++, clang, MSVC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1FC41471-8E56-929E-C14E-8F45CC7656CF}"/>
              </a:ext>
            </a:extLst>
          </p:cNvPr>
          <p:cNvSpPr/>
          <p:nvPr/>
        </p:nvSpPr>
        <p:spPr>
          <a:xfrm>
            <a:off x="82296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D8E2E736-7729-DD54-E8AC-36C8A1C8A88F}"/>
              </a:ext>
            </a:extLst>
          </p:cNvPr>
          <p:cNvSpPr/>
          <p:nvPr/>
        </p:nvSpPr>
        <p:spPr>
          <a:xfrm>
            <a:off x="82296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전 전체를 기계어로 완전히 변환. 실행 속도가 빠르지만 플랫폼별 재컴파일 필요.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AA3B2AB3-DDB0-A7D1-2797-9D684EC64536}"/>
              </a:ext>
            </a:extLst>
          </p:cNvPr>
          <p:cNvSpPr/>
          <p:nvPr/>
        </p:nvSpPr>
        <p:spPr>
          <a:xfrm>
            <a:off x="434340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84655D36-C339-3E31-F268-27FC2599F689}"/>
              </a:ext>
            </a:extLst>
          </p:cNvPr>
          <p:cNvSpPr/>
          <p:nvPr/>
        </p:nvSpPr>
        <p:spPr>
          <a:xfrm>
            <a:off x="4343400" y="2032635"/>
            <a:ext cx="3520440" cy="59436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8F23078E-3A1D-8BC7-C48D-8EC55C672354}"/>
              </a:ext>
            </a:extLst>
          </p:cNvPr>
          <p:cNvSpPr/>
          <p:nvPr/>
        </p:nvSpPr>
        <p:spPr>
          <a:xfrm>
            <a:off x="452628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 / C#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A4FE8484-DC05-7D49-22CE-EB96E4246B61}"/>
              </a:ext>
            </a:extLst>
          </p:cNvPr>
          <p:cNvSpPr/>
          <p:nvPr/>
        </p:nvSpPr>
        <p:spPr>
          <a:xfrm>
            <a:off x="452628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중간 코드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D45CAF67-058A-30F7-A6DD-4874BEEF7869}"/>
              </a:ext>
            </a:extLst>
          </p:cNvPr>
          <p:cNvSpPr/>
          <p:nvPr/>
        </p:nvSpPr>
        <p:spPr>
          <a:xfrm>
            <a:off x="452628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0A1D6E5-6873-7F17-633C-3EF683ACED1C}"/>
              </a:ext>
            </a:extLst>
          </p:cNvPr>
          <p:cNvSpPr/>
          <p:nvPr/>
        </p:nvSpPr>
        <p:spPr>
          <a:xfrm>
            <a:off x="452628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바이트코드/IL → 가상머신(JVM/CLR) → 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592B4D3-CF6F-FD88-303A-3C498DF3AA5A}"/>
              </a:ext>
            </a:extLst>
          </p:cNvPr>
          <p:cNvSpPr/>
          <p:nvPr/>
        </p:nvSpPr>
        <p:spPr>
          <a:xfrm>
            <a:off x="452628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+ JVM, csc + .NET CLR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7030AC77-3EA7-0C6C-D5BF-B3E9994C9D44}"/>
              </a:ext>
            </a:extLst>
          </p:cNvPr>
          <p:cNvSpPr/>
          <p:nvPr/>
        </p:nvSpPr>
        <p:spPr>
          <a:xfrm>
            <a:off x="452628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2B552949-11A5-0C5E-8A1E-1E0D8974BA32}"/>
              </a:ext>
            </a:extLst>
          </p:cNvPr>
          <p:cNvSpPr/>
          <p:nvPr/>
        </p:nvSpPr>
        <p:spPr>
          <a:xfrm>
            <a:off x="452628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가상머신이 중간 코드를 해석·실행. 플랫폼 독립적이며 이식성이 높음.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65942169-D6D7-182B-B6A6-7D8A364E7771}"/>
              </a:ext>
            </a:extLst>
          </p:cNvPr>
          <p:cNvSpPr/>
          <p:nvPr/>
        </p:nvSpPr>
        <p:spPr>
          <a:xfrm>
            <a:off x="804672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F172F242-D1F8-74EF-DE2B-E6405C8F661D}"/>
              </a:ext>
            </a:extLst>
          </p:cNvPr>
          <p:cNvSpPr/>
          <p:nvPr/>
        </p:nvSpPr>
        <p:spPr>
          <a:xfrm>
            <a:off x="8046720" y="2032635"/>
            <a:ext cx="3520440" cy="5943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DD76F462-C47C-9EA4-618B-340C01668591}"/>
              </a:ext>
            </a:extLst>
          </p:cNvPr>
          <p:cNvSpPr/>
          <p:nvPr/>
        </p:nvSpPr>
        <p:spPr>
          <a:xfrm>
            <a:off x="822960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Python / JavaScript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5D83736-2BEC-8DA7-6851-C37EDC68B75E}"/>
              </a:ext>
            </a:extLst>
          </p:cNvPr>
          <p:cNvSpPr/>
          <p:nvPr/>
        </p:nvSpPr>
        <p:spPr>
          <a:xfrm>
            <a:off x="822960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인터프리터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90E2BB63-23E3-91AF-24FF-018959B1050F}"/>
              </a:ext>
            </a:extLst>
          </p:cNvPr>
          <p:cNvSpPr/>
          <p:nvPr/>
        </p:nvSpPr>
        <p:spPr>
          <a:xfrm>
            <a:off x="822960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B046100C-6812-AE44-B724-A515EE7FE8CA}"/>
              </a:ext>
            </a:extLst>
          </p:cNvPr>
          <p:cNvSpPr/>
          <p:nvPr/>
        </p:nvSpPr>
        <p:spPr>
          <a:xfrm>
            <a:off x="822960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인터프리터가 한 줄씩 즉시 해석·실행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B102FF60-E527-2CA5-BF27-1E4BBB33481A}"/>
              </a:ext>
            </a:extLst>
          </p:cNvPr>
          <p:cNvSpPr/>
          <p:nvPr/>
        </p:nvSpPr>
        <p:spPr>
          <a:xfrm>
            <a:off x="822960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CPython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Node.js(V8, JIT 포함)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C2EE2FA1-0475-71CF-3A2F-BF3DCA4D5BE8}"/>
              </a:ext>
            </a:extLst>
          </p:cNvPr>
          <p:cNvSpPr/>
          <p:nvPr/>
        </p:nvSpPr>
        <p:spPr>
          <a:xfrm>
            <a:off x="822960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3D74BA10-9FD0-D2D3-9914-1FD03024A2CB}"/>
              </a:ext>
            </a:extLst>
          </p:cNvPr>
          <p:cNvSpPr/>
          <p:nvPr/>
        </p:nvSpPr>
        <p:spPr>
          <a:xfrm>
            <a:off x="822960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별도의 빌드 단계 없이 바로 실행 가능. 개발 속도는 빠르나 실행 속도는 상대적으로 느림.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AABF1341-AB92-5734-F0D9-F7F2226BF5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42958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D7E1C-4C26-BB62-BCA7-4EB890C08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08BA0-AAF1-9EAE-D2DE-130940C226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B5A799B-7FED-BF1E-A600-271950EB13B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74BBCA-BF0E-7323-23C3-07E0099325BC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VS Code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Module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 실습 및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Library, Package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4798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64C60-E77A-1612-0417-6AC1D9FD0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B3FB64-E2D7-2B44-CF30-870DAE3115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Client/Server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Architecture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6638B62-45D9-3E3F-2720-11ECEC2DB00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C5B72C-B96F-4ECB-E721-16083297E251}"/>
              </a:ext>
            </a:extLst>
          </p:cNvPr>
          <p:cNvSpPr txBox="1"/>
          <p:nvPr/>
        </p:nvSpPr>
        <p:spPr>
          <a:xfrm>
            <a:off x="855620" y="2752872"/>
            <a:ext cx="93742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Requests: HTTP for Humans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Module vs. SW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82957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FB110-BF6A-BB90-497C-0D763A66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8CBCDB-B8E3-4471-3171-3A5D4B698B7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Client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Server Communication Flow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9CFB56E-1CED-32EB-C150-3B70120A96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EC1546-FC94-84F1-E7CE-AAE69AA70394}"/>
              </a:ext>
            </a:extLst>
          </p:cNvPr>
          <p:cNvSpPr txBox="1"/>
          <p:nvPr/>
        </p:nvSpPr>
        <p:spPr>
          <a:xfrm>
            <a:off x="7861708" y="4126362"/>
            <a:ext cx="4072598" cy="224965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s.bind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주소에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s.listen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      # 연결 대기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s.accept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# 클라이언트 연결 수락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# 데이터 보내기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52BDD22-B68B-8597-B3EE-2CF167B8A8BC}"/>
              </a:ext>
            </a:extLst>
          </p:cNvPr>
          <p:cNvSpPr txBox="1"/>
          <p:nvPr/>
        </p:nvSpPr>
        <p:spPr>
          <a:xfrm>
            <a:off x="800540" y="4126362"/>
            <a:ext cx="3771460" cy="151727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s.connect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서버에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      # 데이터 보내기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("Server 로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부터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93F7C5-3FCD-805D-3871-A14C1DBD40DA}"/>
              </a:ext>
            </a:extLst>
          </p:cNvPr>
          <p:cNvSpPr txBox="1"/>
          <p:nvPr/>
        </p:nvSpPr>
        <p:spPr>
          <a:xfrm>
            <a:off x="7775809" y="3719472"/>
            <a:ext cx="16902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server.py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6D28EF7-7417-EB35-3DCC-906F890EC11B}"/>
              </a:ext>
            </a:extLst>
          </p:cNvPr>
          <p:cNvSpPr txBox="1"/>
          <p:nvPr/>
        </p:nvSpPr>
        <p:spPr>
          <a:xfrm>
            <a:off x="680468" y="375703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client.py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1CC6D910-760C-D773-7CFC-017A88C0B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3688" y="4126581"/>
            <a:ext cx="2906331" cy="1517275"/>
          </a:xfrm>
          <a:prstGeom prst="rect">
            <a:avLst/>
          </a:prstGeom>
        </p:spPr>
      </p:pic>
      <p:pic>
        <p:nvPicPr>
          <p:cNvPr id="43" name="그림 42" descr="Client-server Application - OOSE">
            <a:extLst>
              <a:ext uri="{FF2B5EF4-FFF2-40B4-BE49-F238E27FC236}">
                <a16:creationId xmlns:a16="http://schemas.microsoft.com/office/drawing/2014/main" id="{BF9B3110-2B04-F783-2184-DA4D91434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848" y="1558708"/>
            <a:ext cx="4570009" cy="1850478"/>
          </a:xfrm>
          <a:prstGeom prst="rect">
            <a:avLst/>
          </a:prstGeom>
        </p:spPr>
      </p:pic>
      <p:pic>
        <p:nvPicPr>
          <p:cNvPr id="45" name="그래픽 44" descr="수영">
            <a:extLst>
              <a:ext uri="{FF2B5EF4-FFF2-40B4-BE49-F238E27FC236}">
                <a16:creationId xmlns:a16="http://schemas.microsoft.com/office/drawing/2014/main" id="{FCD7A834-4F17-BDAF-E3AC-B9F03FA39C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3168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04B2E-D737-5EF4-8727-93E8A1ED8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C5A46B-CB98-9BEC-73D7-C96482490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Module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AB116F5-6F1D-6E9D-6F92-9B75156111D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8175BE-7248-F824-53E3-DC0D5E7AD211}"/>
              </a:ext>
            </a:extLst>
          </p:cNvPr>
          <p:cNvSpPr txBox="1"/>
          <p:nvPr/>
        </p:nvSpPr>
        <p:spPr>
          <a:xfrm>
            <a:off x="6940769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mymodule.greet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A49BD8-6097-0080-0050-418A5F98B413}"/>
              </a:ext>
            </a:extLst>
          </p:cNvPr>
          <p:cNvSpPr txBox="1"/>
          <p:nvPr/>
        </p:nvSpPr>
        <p:spPr>
          <a:xfrm>
            <a:off x="1003922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greet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f"안녕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}!"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3.14159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4B1B09E-3422-09F3-D310-C8B7B24043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839272"/>
              </p:ext>
            </p:extLst>
          </p:nvPr>
        </p:nvGraphicFramePr>
        <p:xfrm>
          <a:off x="1877387" y="1625155"/>
          <a:ext cx="9513890" cy="1509432"/>
        </p:xfrm>
        <a:graphic>
          <a:graphicData uri="http://schemas.openxmlformats.org/drawingml/2006/table">
            <a:tbl>
              <a:tblPr/>
              <a:tblGrid>
                <a:gridCol w="2169151">
                  <a:extLst>
                    <a:ext uri="{9D8B030D-6E8A-4147-A177-3AD203B41FA5}">
                      <a16:colId xmlns:a16="http://schemas.microsoft.com/office/drawing/2014/main" val="3045375998"/>
                    </a:ext>
                  </a:extLst>
                </a:gridCol>
                <a:gridCol w="7344739">
                  <a:extLst>
                    <a:ext uri="{9D8B030D-6E8A-4147-A177-3AD203B41FA5}">
                      <a16:colId xmlns:a16="http://schemas.microsoft.com/office/drawing/2014/main" val="1916184777"/>
                    </a:ext>
                  </a:extLst>
                </a:gridCol>
              </a:tblGrid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Module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(모듈)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 코드가 담긴 파일 하나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math.py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837553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Package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(패키지)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모듈들을 모아놓은 폴더 (내부에 __init__.py 포함)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164422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Library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(라이브러리)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여러 모듈/패키지를 모아 배포하는 더 큰 단위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numpy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6306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52B6FA15-F1AF-DC65-60F4-D387DF975EA5}"/>
              </a:ext>
            </a:extLst>
          </p:cNvPr>
          <p:cNvSpPr txBox="1"/>
          <p:nvPr/>
        </p:nvSpPr>
        <p:spPr>
          <a:xfrm>
            <a:off x="6890199" y="4468941"/>
            <a:ext cx="45010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main.py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(모듈을 사용하는 파일)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52ADBB-6F4F-A6A1-FF52-BD87FFE37D14}"/>
              </a:ext>
            </a:extLst>
          </p:cNvPr>
          <p:cNvSpPr txBox="1"/>
          <p:nvPr/>
        </p:nvSpPr>
        <p:spPr>
          <a:xfrm>
            <a:off x="960583" y="4468941"/>
            <a:ext cx="31126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mymodule.py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 파일)</a:t>
            </a:r>
          </a:p>
        </p:txBody>
      </p:sp>
      <p:pic>
        <p:nvPicPr>
          <p:cNvPr id="15" name="그래픽 14" descr="수영">
            <a:extLst>
              <a:ext uri="{FF2B5EF4-FFF2-40B4-BE49-F238E27FC236}">
                <a16:creationId xmlns:a16="http://schemas.microsoft.com/office/drawing/2014/main" id="{E0785C36-9639-6970-F0D0-6B3484BDC2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8278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B1EF4-E19F-E283-8CDC-304711A8A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BED82-1E4B-12B7-AEF8-195F158320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PyPI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3B2F3D60-11BF-AD99-92FF-40FD7A29F02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40FC1-3967-66B4-D36D-20C6AADE0BB5}"/>
              </a:ext>
            </a:extLst>
          </p:cNvPr>
          <p:cNvSpPr txBox="1"/>
          <p:nvPr/>
        </p:nvSpPr>
        <p:spPr>
          <a:xfrm>
            <a:off x="563418" y="1248422"/>
            <a:ext cx="11231417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파이썬 패키지 인덱스(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)는 파이썬 프로그래밍 언어를 위한 소프트웨어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파이썬 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package)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리포지터리</a:t>
            </a:r>
            <a:r>
              <a:rPr lang="en-US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(Repository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63CD154-F8E4-640F-40BC-D2B928A5D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250" y="1959435"/>
            <a:ext cx="6891538" cy="416427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1A4A94F-E666-BCEA-ED64-633A3B67894C}"/>
              </a:ext>
            </a:extLst>
          </p:cNvPr>
          <p:cNvSpPr txBox="1"/>
          <p:nvPr/>
        </p:nvSpPr>
        <p:spPr>
          <a:xfrm>
            <a:off x="708357" y="1959435"/>
            <a:ext cx="3613979" cy="3009157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PyPI에서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패키지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설치한 패키지를 코드에서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([1,2,3]))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requests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99880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EDADB-5520-0FE2-6A7D-7F345E1A4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3E3EE0E-C76C-1BBF-74F4-C2EF9D54199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pip vs.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npm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212B8839-56A0-F5FF-2DAB-FFD5E69C546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C0CBA43E-2CEF-646A-8B01-A29043AE5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569650"/>
              </p:ext>
            </p:extLst>
          </p:nvPr>
        </p:nvGraphicFramePr>
        <p:xfrm>
          <a:off x="1789256" y="2418397"/>
          <a:ext cx="9174308" cy="2717022"/>
        </p:xfrm>
        <a:graphic>
          <a:graphicData uri="http://schemas.openxmlformats.org/drawingml/2006/table">
            <a:tbl>
              <a:tblPr/>
              <a:tblGrid>
                <a:gridCol w="4587154">
                  <a:extLst>
                    <a:ext uri="{9D8B030D-6E8A-4147-A177-3AD203B41FA5}">
                      <a16:colId xmlns:a16="http://schemas.microsoft.com/office/drawing/2014/main" val="677213452"/>
                    </a:ext>
                  </a:extLst>
                </a:gridCol>
                <a:gridCol w="4587154">
                  <a:extLst>
                    <a:ext uri="{9D8B030D-6E8A-4147-A177-3AD203B41FA5}">
                      <a16:colId xmlns:a16="http://schemas.microsoft.com/office/drawing/2014/main" val="3497374252"/>
                    </a:ext>
                  </a:extLst>
                </a:gridCol>
              </a:tblGrid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JavaScript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Node.js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582001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PyPI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registry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0367122"/>
                  </a:ext>
                </a:extLst>
              </a:tr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7576864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express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102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8024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4C53C-6099-26F1-4ACA-BFB60E4FE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01CDFC-6760-3F0C-7C97-0418F6CD8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588548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GitHub(Install git GitHub Desktop)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CC85391-272C-61E0-450E-2C98538E0B0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E03DF-FCB5-19F3-8626-DE1E2DBE2E3C}"/>
              </a:ext>
            </a:extLst>
          </p:cNvPr>
          <p:cNvSpPr txBox="1"/>
          <p:nvPr/>
        </p:nvSpPr>
        <p:spPr>
          <a:xfrm>
            <a:off x="838199" y="2963680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 실습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76325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24842-69AF-773F-D38B-E9D52BEF7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BAB160-354F-BDB0-FEF8-2771F2F3E39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17B1CE0C-AB55-CA69-3BDC-7380347BDA6B}"/>
              </a:ext>
            </a:extLst>
          </p:cNvPr>
          <p:cNvSpPr/>
          <p:nvPr/>
        </p:nvSpPr>
        <p:spPr>
          <a:xfrm>
            <a:off x="640080" y="1365885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형상관리(Configuration Management)란 변경의 맥락을 기록하고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추적하는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것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A7CADBF-89B3-59BF-2105-56C417AAB64C}"/>
              </a:ext>
            </a:extLst>
          </p:cNvPr>
          <p:cNvSpPr/>
          <p:nvPr/>
        </p:nvSpPr>
        <p:spPr>
          <a:xfrm>
            <a:off x="1463040" y="2005965"/>
            <a:ext cx="9235440" cy="1005840"/>
          </a:xfrm>
          <a:prstGeom prst="roundRect">
            <a:avLst>
              <a:gd name="adj" fmla="val 10909"/>
            </a:avLst>
          </a:prstGeom>
          <a:solidFill>
            <a:srgbClr val="2439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81EC6B50-C0E8-C081-59D1-2162EBEBA7C8}"/>
              </a:ext>
            </a:extLst>
          </p:cNvPr>
          <p:cNvSpPr/>
          <p:nvPr/>
        </p:nvSpPr>
        <p:spPr>
          <a:xfrm>
            <a:off x="1645920" y="2005965"/>
            <a:ext cx="8869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“ 무엇이, 언제, 누가, 왜 변경되었는가? ”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46B57970-56B6-39BF-38FE-82FBCB2DE2DB}"/>
              </a:ext>
            </a:extLst>
          </p:cNvPr>
          <p:cNvSpPr/>
          <p:nvPr/>
        </p:nvSpPr>
        <p:spPr>
          <a:xfrm>
            <a:off x="100584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DCE5B930-B2EC-58CC-393E-436B140AE94F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8347CAE4-BA92-EB2A-8D3C-61F01CE59B99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무엇이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BC546CF0-C372-DFE7-B3DB-7ED75373B423}"/>
              </a:ext>
            </a:extLst>
          </p:cNvPr>
          <p:cNvSpPr/>
          <p:nvPr/>
        </p:nvSpPr>
        <p:spPr>
          <a:xfrm>
            <a:off x="114300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변경된 파일과 내용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(diff)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3B12AE36-E702-D1C1-8025-F29D7D9BB8B7}"/>
              </a:ext>
            </a:extLst>
          </p:cNvPr>
          <p:cNvSpPr/>
          <p:nvPr/>
        </p:nvSpPr>
        <p:spPr>
          <a:xfrm>
            <a:off x="361188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C805067E-7E6A-BE19-1EA0-9DF667B6B3C9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DAEBAE22-84C2-B418-FB11-E79EA42AC2B2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9CED88CD-7A71-D74A-D7A2-D468CCB1EF5F}"/>
              </a:ext>
            </a:extLst>
          </p:cNvPr>
          <p:cNvSpPr/>
          <p:nvPr/>
        </p:nvSpPr>
        <p:spPr>
          <a:xfrm>
            <a:off x="374904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변경이 발생한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시점 (timestamp)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C73CBFC5-4BA9-7495-65C7-B582418D45DA}"/>
              </a:ext>
            </a:extLst>
          </p:cNvPr>
          <p:cNvSpPr/>
          <p:nvPr/>
        </p:nvSpPr>
        <p:spPr>
          <a:xfrm>
            <a:off x="621792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42F4A58B-9E89-AAF9-871A-E48E88B36C75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C634A831-C3E7-20C1-7598-EF638D051FC3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누가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60F7F895-71B1-A5C0-8D17-FCA2BB599483}"/>
              </a:ext>
            </a:extLst>
          </p:cNvPr>
          <p:cNvSpPr/>
          <p:nvPr/>
        </p:nvSpPr>
        <p:spPr>
          <a:xfrm>
            <a:off x="635508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변경을 수행한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작성자 (author)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0E6F9929-6080-9A0D-DC23-F9FCF9AE3311}"/>
              </a:ext>
            </a:extLst>
          </p:cNvPr>
          <p:cNvSpPr/>
          <p:nvPr/>
        </p:nvSpPr>
        <p:spPr>
          <a:xfrm>
            <a:off x="882396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C6D89BD9-477A-3427-A498-0C6AE5B2DD58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C0CFE320-1BF1-F045-AEC7-28D22C32C809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9448AEC1-1D1D-CD38-B4DA-9C3EB1C7FB5E}"/>
              </a:ext>
            </a:extLst>
          </p:cNvPr>
          <p:cNvSpPr/>
          <p:nvPr/>
        </p:nvSpPr>
        <p:spPr>
          <a:xfrm>
            <a:off x="896112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변경의 이유와 목적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(commit message)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7E7BB2-F3DC-926F-F649-2A98ACA7CEB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81086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98A1D-C108-7CBD-99EF-C5D3099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EED010-748D-4435-5E81-F12574F819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전통적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vs Git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56A1088C-055F-D008-275C-AC66BB5A97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026385"/>
              </p:ext>
            </p:extLst>
          </p:nvPr>
        </p:nvGraphicFramePr>
        <p:xfrm>
          <a:off x="1463040" y="1506855"/>
          <a:ext cx="9235440" cy="42062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전통적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Git에서의 주요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Check-out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Clone / Pull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Check-in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 + Push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Version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Baseline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Tag / Release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Lock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일반적으로 Lock 없이 Branch/Merge 방식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hape 2">
            <a:extLst>
              <a:ext uri="{FF2B5EF4-FFF2-40B4-BE49-F238E27FC236}">
                <a16:creationId xmlns:a16="http://schemas.microsoft.com/office/drawing/2014/main" id="{78D1C5B0-2845-DDA0-57C2-246510E4D049}"/>
              </a:ext>
            </a:extLst>
          </p:cNvPr>
          <p:cNvSpPr/>
          <p:nvPr/>
        </p:nvSpPr>
        <p:spPr>
          <a:xfrm>
            <a:off x="1463040" y="5850255"/>
            <a:ext cx="9235440" cy="548640"/>
          </a:xfrm>
          <a:prstGeom prst="roundRect">
            <a:avLst>
              <a:gd name="adj" fmla="val 10000"/>
            </a:avLst>
          </a:prstGeom>
          <a:solidFill>
            <a:srgbClr val="E8F6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3730D5BE-80E5-0DE4-8B58-DF075D03A688}"/>
              </a:ext>
            </a:extLst>
          </p:cNvPr>
          <p:cNvSpPr/>
          <p:nvPr/>
        </p:nvSpPr>
        <p:spPr>
          <a:xfrm>
            <a:off x="1691640" y="5850255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Git은 파일을 잠그는 대신, Branch에서 독립적으로 작업 후 Merge하는 방식으로 동시 작업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충돌을</a:t>
            </a: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29BD4DE-1847-AD44-96E5-7722216B84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01731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F710A-9B4B-B99A-5697-76D644AD7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B0487A8-431F-141A-E5AA-E86C41A163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Install git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887E94-4CA7-4086-8B31-031B3C67191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BB4A0C2-1E75-443C-7349-EAFC6D529D3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279C13D-97BA-1614-817B-F8BE4787AE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BFEA084-9B97-420F-90A9-FD7462D0B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1982" y="1517072"/>
            <a:ext cx="5032720" cy="382385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E056742-6B0D-265F-1310-460BAEE3257F}"/>
              </a:ext>
            </a:extLst>
          </p:cNvPr>
          <p:cNvSpPr txBox="1"/>
          <p:nvPr/>
        </p:nvSpPr>
        <p:spPr>
          <a:xfrm>
            <a:off x="5430981" y="3575250"/>
            <a:ext cx="6400801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D:\ai_agent&gt;git</a:t>
            </a: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usage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exec-path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html-path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man-path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info-path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paginate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no-pager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no-replace-objects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no-lazy-fetch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no-optional-locks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no-advice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git-dir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work-tree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namespace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config-env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envvar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 [&lt;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args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These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various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situations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tutorial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into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directory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empty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reinitialize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existing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one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current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everyday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854159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1AE5A-56AD-3D56-14A3-D8F3CCACE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70E751-FE5B-CF60-8255-7C707469D0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Download GitHub Desktop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776EA-F86D-8C17-2A5F-846CABC37B3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7F007F5-62B9-09FD-3DEB-3E227994AB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537AC996-3581-51B4-F957-9B49F5757C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9F769FF-1AAC-0461-4847-E3C99F6722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645" y="1288330"/>
            <a:ext cx="6073207" cy="490912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8BC2297-FC37-1195-D69E-F35F52C94D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7601" y="2702793"/>
            <a:ext cx="5478754" cy="3781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9675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4D940-69A6-74AE-2745-A19228225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부제목 2">
            <a:extLst>
              <a:ext uri="{FF2B5EF4-FFF2-40B4-BE49-F238E27FC236}">
                <a16:creationId xmlns:a16="http://schemas.microsoft.com/office/drawing/2014/main" id="{59DA375E-6466-65EA-0528-D944F278395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EAACF42A-DACC-D4EC-622E-71A8768699CB}"/>
              </a:ext>
            </a:extLst>
          </p:cNvPr>
          <p:cNvSpPr txBox="1">
            <a:spLocks/>
          </p:cNvSpPr>
          <p:nvPr/>
        </p:nvSpPr>
        <p:spPr>
          <a:xfrm>
            <a:off x="838199" y="1164324"/>
            <a:ext cx="10934701" cy="1293126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7D54A8-C6BB-E04C-4A65-AEFB677DEFE3}"/>
              </a:ext>
            </a:extLst>
          </p:cNvPr>
          <p:cNvSpPr txBox="1"/>
          <p:nvPr/>
        </p:nvSpPr>
        <p:spPr>
          <a:xfrm>
            <a:off x="838199" y="2419350"/>
            <a:ext cx="9374230" cy="170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Virtual Environment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 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 Actions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CI(Continuous Integration)/CD(Continuous Deployment)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72435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8C0FA-21B6-18F8-F59C-C6BA0242F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3D7929-0F0B-9C2B-9B20-E8E6B04018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Virtual Environment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8A53A5EC-CA0C-FE54-F5D7-08AF9885651E}"/>
              </a:ext>
            </a:extLst>
          </p:cNvPr>
          <p:cNvSpPr/>
          <p:nvPr/>
        </p:nvSpPr>
        <p:spPr>
          <a:xfrm>
            <a:off x="641998" y="1128349"/>
            <a:ext cx="11292308" cy="1011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프로젝트마다 독립된 파이썬 실행 공간을 만들어주는 기능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한 컴퓨터에서 여러 프로젝트를 진행할 때,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로젝트마다 필요한 패키지 버전이 다를 수 있는데, 가상환경 없이 전역(</a:t>
            </a:r>
            <a:r>
              <a:rPr lang="ko-KR" altLang="ko-KR" sz="1600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global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)에 설치하면 충돌이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sz="1600" dirty="0">
              <a:solidFill>
                <a:srgbClr val="5B6B6E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945096-FA34-F2C6-6E24-6219C7BAA5B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F94951F-ECDA-1254-8E5F-D6F50F95B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98" y="2238278"/>
            <a:ext cx="5287747" cy="421609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A1DCDBB-7CAD-79B4-AF55-A79F6491A827}"/>
              </a:ext>
            </a:extLst>
          </p:cNvPr>
          <p:cNvSpPr txBox="1"/>
          <p:nvPr/>
        </p:nvSpPr>
        <p:spPr>
          <a:xfrm>
            <a:off x="4775199" y="3056622"/>
            <a:ext cx="6908800" cy="332398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1. 가상환경 생성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myenv라는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이름의 폴더 생성)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2. 가상환경 활성화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macOS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Windows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\Scripts\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3. 활성화되면 프롬프트 앞에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표시됨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$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# 이 가상환경 안에만 설치됨</a:t>
            </a: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4. 가상환경 비활성화 (원래 상태로 복귀)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93021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4A59B-335B-1F6A-B1F3-88A62DF37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956231-EA1F-E9D7-5EDA-A9312DD0E34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CI (Continuous Integration)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AD1F729E-CAAF-5237-9DCB-ECBD698DE849}"/>
              </a:ext>
            </a:extLst>
          </p:cNvPr>
          <p:cNvSpPr/>
          <p:nvPr/>
        </p:nvSpPr>
        <p:spPr>
          <a:xfrm>
            <a:off x="640080" y="126111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지속적 통합 — 변경사항을 자주, 자동으로 검증하는 개발 방식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01601CAA-779B-321F-A2F5-255AE86C50AB}"/>
              </a:ext>
            </a:extLst>
          </p:cNvPr>
          <p:cNvSpPr/>
          <p:nvPr/>
        </p:nvSpPr>
        <p:spPr>
          <a:xfrm>
            <a:off x="640080" y="190119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F73631A-8529-E553-0597-86F90A5EEA0E}"/>
              </a:ext>
            </a:extLst>
          </p:cNvPr>
          <p:cNvSpPr/>
          <p:nvPr/>
        </p:nvSpPr>
        <p:spPr>
          <a:xfrm>
            <a:off x="914400" y="190119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개발자들이 작성한 코드를 자주(하루에도 여러 번) 공유 저장소(Repository)에 병합(merge)하고,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그때마다 자동으로 빌드·테스트하여 문제를 조기에 발견하는 개발 방식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DC2B1DF6-D5BA-4FDE-2946-060060F4FFDD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1B5091CD-6A0B-0B8A-B381-013DC1B763B6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B24FB9B6-CCA8-427D-B4F3-478776F866A9}"/>
              </a:ext>
            </a:extLst>
          </p:cNvPr>
          <p:cNvSpPr/>
          <p:nvPr/>
        </p:nvSpPr>
        <p:spPr>
          <a:xfrm>
            <a:off x="1508760" y="308991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ECA97B1B-FA43-02DC-753C-98EBA82B85BE}"/>
              </a:ext>
            </a:extLst>
          </p:cNvPr>
          <p:cNvSpPr/>
          <p:nvPr/>
        </p:nvSpPr>
        <p:spPr>
          <a:xfrm>
            <a:off x="1737360" y="308991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잦은 통합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E3753F3C-B20B-B8EF-B9C6-8772F2A851F1}"/>
              </a:ext>
            </a:extLst>
          </p:cNvPr>
          <p:cNvSpPr/>
          <p:nvPr/>
        </p:nvSpPr>
        <p:spPr>
          <a:xfrm>
            <a:off x="4160520" y="308991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개발자가 작은 단위의 변경사항을 짧은 주기로 공유 저장소에 지속적으로 병합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7459BDD8-EDA9-C485-4BEB-4A459DF53578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71EB93E2-8A08-00F0-E6D9-EC9D6A41E065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300F5D6B-4054-F4CF-8AFC-9470FCFC8802}"/>
              </a:ext>
            </a:extLst>
          </p:cNvPr>
          <p:cNvSpPr/>
          <p:nvPr/>
        </p:nvSpPr>
        <p:spPr>
          <a:xfrm>
            <a:off x="1508760" y="414147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1BC0CB0D-37A0-9C14-4CAC-F4FD9ABBA3E8}"/>
              </a:ext>
            </a:extLst>
          </p:cNvPr>
          <p:cNvSpPr/>
          <p:nvPr/>
        </p:nvSpPr>
        <p:spPr>
          <a:xfrm>
            <a:off x="1737360" y="414147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자동 빌드 &amp; 테스트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6BC9F2A9-4D8A-5735-9B56-B15C19A0972A}"/>
              </a:ext>
            </a:extLst>
          </p:cNvPr>
          <p:cNvSpPr/>
          <p:nvPr/>
        </p:nvSpPr>
        <p:spPr>
          <a:xfrm>
            <a:off x="4160520" y="414147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코드가 통합될 때마다 빌드와 테스트가 자동으로 실행되어 사람의 개입을 최소화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500A20C2-5F54-15E5-EC48-C5D883E06655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DFE1D1AE-D80A-A60F-B4D1-0A3F906146EC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9438C446-4AF6-4808-4127-A632D60187B7}"/>
              </a:ext>
            </a:extLst>
          </p:cNvPr>
          <p:cNvSpPr/>
          <p:nvPr/>
        </p:nvSpPr>
        <p:spPr>
          <a:xfrm>
            <a:off x="1508760" y="519303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7E9163C2-E0B6-0B25-EF0E-59497C9A3693}"/>
              </a:ext>
            </a:extLst>
          </p:cNvPr>
          <p:cNvSpPr/>
          <p:nvPr/>
        </p:nvSpPr>
        <p:spPr>
          <a:xfrm>
            <a:off x="1737360" y="519303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빠른 피드백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8741F488-C62B-C29A-2507-3A6871FD2B4A}"/>
              </a:ext>
            </a:extLst>
          </p:cNvPr>
          <p:cNvSpPr/>
          <p:nvPr/>
        </p:nvSpPr>
        <p:spPr>
          <a:xfrm>
            <a:off x="4160520" y="519303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발생 시 즉시 알림을 받아, 문제가 커지기 전에 조기 발견 및 수정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0E9A0A-EF64-D05A-3A76-463D89E557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3899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454925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C1D71D42-D86C-CD8D-0A44-CBB293213A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EA5DA0E-A218-DA19-F7C3-A2BBF4DABA76}"/>
              </a:ext>
            </a:extLst>
          </p:cNvPr>
          <p:cNvSpPr txBox="1"/>
          <p:nvPr/>
        </p:nvSpPr>
        <p:spPr>
          <a:xfrm>
            <a:off x="613307" y="1277085"/>
            <a:ext cx="10944226" cy="880819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웹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구현하고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Hugging Face Spaces(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무료 호스팅 서비스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Actions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자동 빌드 및 배포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(CI/CD)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구현하는 실습과제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AE2F31-0B20-DC4B-0331-EE48D0848999}"/>
              </a:ext>
            </a:extLst>
          </p:cNvPr>
          <p:cNvSpPr txBox="1"/>
          <p:nvPr/>
        </p:nvSpPr>
        <p:spPr>
          <a:xfrm>
            <a:off x="1246185" y="4086614"/>
            <a:ext cx="9934576" cy="227049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my-gradio-app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.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# GitHub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CI/CD 파이프라인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app.py                #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Pandas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데이터 처리 및 시각화 코드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requirements.txt      # 의존성 패키지 목록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A21E49-BE2A-8B88-6220-415B652D68E1}"/>
              </a:ext>
            </a:extLst>
          </p:cNvPr>
          <p:cNvSpPr txBox="1"/>
          <p:nvPr/>
        </p:nvSpPr>
        <p:spPr>
          <a:xfrm>
            <a:off x="1257300" y="374319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📂 프로젝트 파일 구조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16B0BF-D0E0-8339-0674-6F779CED6710}"/>
              </a:ext>
            </a:extLst>
          </p:cNvPr>
          <p:cNvSpPr txBox="1"/>
          <p:nvPr/>
        </p:nvSpPr>
        <p:spPr>
          <a:xfrm>
            <a:off x="5109712" y="347139"/>
            <a:ext cx="6606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화살표: 줄무늬가 있는 오른쪽 14">
            <a:extLst>
              <a:ext uri="{FF2B5EF4-FFF2-40B4-BE49-F238E27FC236}">
                <a16:creationId xmlns:a16="http://schemas.microsoft.com/office/drawing/2014/main" id="{2F7D7142-3213-4FC1-3586-350396205FF1}"/>
              </a:ext>
            </a:extLst>
          </p:cNvPr>
          <p:cNvSpPr/>
          <p:nvPr/>
        </p:nvSpPr>
        <p:spPr>
          <a:xfrm>
            <a:off x="613307" y="2364855"/>
            <a:ext cx="5595874" cy="676145"/>
          </a:xfrm>
          <a:prstGeom prst="stripedRightArrow">
            <a:avLst>
              <a:gd name="adj1" fmla="val 58452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하면서 과제 진행하기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6C7C2-02A0-06DD-4ECF-9F6B20A88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60CE6CAC-BE31-8457-A813-9A56904613AB}"/>
              </a:ext>
            </a:extLst>
          </p:cNvPr>
          <p:cNvSpPr/>
          <p:nvPr/>
        </p:nvSpPr>
        <p:spPr>
          <a:xfrm>
            <a:off x="639245" y="1834107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59D3560-B1C6-8FCB-B5C0-64CDDE41678A}"/>
              </a:ext>
            </a:extLst>
          </p:cNvPr>
          <p:cNvSpPr/>
          <p:nvPr/>
        </p:nvSpPr>
        <p:spPr>
          <a:xfrm>
            <a:off x="639245" y="2345029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0874F86-025C-A2DC-E8B3-B79F06BF73F0}"/>
              </a:ext>
            </a:extLst>
          </p:cNvPr>
          <p:cNvSpPr/>
          <p:nvPr/>
        </p:nvSpPr>
        <p:spPr>
          <a:xfrm>
            <a:off x="628649" y="3651766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96BC5A-D53E-92F7-6A38-10C8ED6D40B4}"/>
              </a:ext>
            </a:extLst>
          </p:cNvPr>
          <p:cNvSpPr txBox="1"/>
          <p:nvPr/>
        </p:nvSpPr>
        <p:spPr>
          <a:xfrm>
            <a:off x="744020" y="32824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2F8563B-BF22-4732-3506-5E5D54395D3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8E93B15-8AA8-B99D-DE25-A275F90106F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CCF1A43-60B7-7E89-5EE8-11B3795F0B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EC760439-C38F-4AB7-5572-DFDD66AFF94E}"/>
              </a:ext>
            </a:extLst>
          </p:cNvPr>
          <p:cNvSpPr/>
          <p:nvPr/>
        </p:nvSpPr>
        <p:spPr>
          <a:xfrm>
            <a:off x="628650" y="1296047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40B3F-A2F7-0F11-CB7F-E19D06AAB53D}"/>
              </a:ext>
            </a:extLst>
          </p:cNvPr>
          <p:cNvSpPr txBox="1"/>
          <p:nvPr/>
        </p:nvSpPr>
        <p:spPr>
          <a:xfrm>
            <a:off x="628650" y="1288330"/>
            <a:ext cx="10971730" cy="5109091"/>
          </a:xfrm>
          <a:prstGeom prst="rect">
            <a:avLst/>
          </a:prstGeom>
          <a:noFill/>
          <a:ln>
            <a:solidFill>
              <a:srgbClr val="404040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Pandas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앱 구현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(app.py)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의존성 라이브러리 지정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(requirements.txt)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GitHub Actions CI/CD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구축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/workflows/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코드가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될 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 구축 및 문법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패키지 검사 실행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검증 통과 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Spaces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자동 동기화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배포 연동 단계별 가이드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Space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 Face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접속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Space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(Space Name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my-first-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-app)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SDK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종류는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(SDK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항목에서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선택 후 하단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Create Space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버튼 클릭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Access Token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발급</a:t>
            </a:r>
          </a:p>
          <a:p>
            <a:pPr marL="1200150" lvl="2" indent="-28575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발급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Hugging Face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프로필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Settings ➔ Access Tokens ➔ Create new token (Role: Write)</a:t>
            </a:r>
          </a:p>
          <a:p>
            <a:pPr marL="1200150" lvl="2" indent="-28575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토큰 값 복사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Repository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Secret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등록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Secret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본인의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저장소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Settings ➔ Secrets and variables ➔ Actions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repository secret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Name: HF_TOKEN / Value: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복사한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Paste</a:t>
            </a:r>
          </a:p>
        </p:txBody>
      </p:sp>
    </p:spTree>
    <p:extLst>
      <p:ext uri="{BB962C8B-B14F-4D97-AF65-F5344CB8AC3E}">
        <p14:creationId xmlns:p14="http://schemas.microsoft.com/office/powerpoint/2010/main" val="29357854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46505-51A5-8641-3B3A-B0CCC7336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FA4E5E-2259-2CFC-5635-BCA752A2E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F56FE9-FE0B-9E11-AEFD-6CE48CB3A46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ED5973A-9B6F-CACA-2AEE-1B97F72841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28FAF306-E841-FA37-3DF0-EA9B18A0A4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22E5FA2-DF4B-A67D-1FE0-0A5FA5F3DB87}"/>
              </a:ext>
            </a:extLst>
          </p:cNvPr>
          <p:cNvSpPr txBox="1"/>
          <p:nvPr/>
        </p:nvSpPr>
        <p:spPr>
          <a:xfrm>
            <a:off x="614379" y="1726488"/>
            <a:ext cx="9634522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name: Deploy to Hugging Face Spaces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push: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branches: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main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deploy: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runs-on: ubuntu-latest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steps: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name: Checkout repository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uses: actions/checkout@v4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with: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fetch-depth: 0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true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name: Push to Hugging Face Space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env: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HF_TOKEN: ${{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run: |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config --global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config --global user.name "GitHub Actions"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remote add space https://user:$HF_TOKEN@huggingface.co/spaces/ancestor9/my-first-gradio-app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push --force space main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64F57F-6865-DA0C-D8B2-32765224233B}"/>
              </a:ext>
            </a:extLst>
          </p:cNvPr>
          <p:cNvSpPr txBox="1"/>
          <p:nvPr/>
        </p:nvSpPr>
        <p:spPr>
          <a:xfrm>
            <a:off x="615416" y="1347631"/>
            <a:ext cx="9633485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파일 배포 실행 구문 수정</a:t>
            </a:r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4D69CC3C-17CE-C96C-DC2F-1702D1BEAA51}"/>
              </a:ext>
            </a:extLst>
          </p:cNvPr>
          <p:cNvSpPr/>
          <p:nvPr/>
        </p:nvSpPr>
        <p:spPr>
          <a:xfrm>
            <a:off x="9710220" y="5322328"/>
            <a:ext cx="2166662" cy="23566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98421"/>
              <a:gd name="adj6" fmla="val -81561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아이디</a:t>
            </a:r>
          </a:p>
        </p:txBody>
      </p:sp>
      <p:sp>
        <p:nvSpPr>
          <p:cNvPr id="15" name="설명선: 굽은 선 14">
            <a:extLst>
              <a:ext uri="{FF2B5EF4-FFF2-40B4-BE49-F238E27FC236}">
                <a16:creationId xmlns:a16="http://schemas.microsoft.com/office/drawing/2014/main" id="{16D6258C-27E6-BC1E-7C8B-E8F8AAD8CB74}"/>
              </a:ext>
            </a:extLst>
          </p:cNvPr>
          <p:cNvSpPr/>
          <p:nvPr/>
        </p:nvSpPr>
        <p:spPr>
          <a:xfrm>
            <a:off x="10320614" y="5699115"/>
            <a:ext cx="1556267" cy="23566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32709"/>
              <a:gd name="adj6" fmla="val -50269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이름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58F20E-EEAC-1826-18FE-393FA30EAD63}"/>
              </a:ext>
            </a:extLst>
          </p:cNvPr>
          <p:cNvSpPr txBox="1"/>
          <p:nvPr/>
        </p:nvSpPr>
        <p:spPr>
          <a:xfrm>
            <a:off x="6362700" y="4180382"/>
            <a:ext cx="5514181" cy="73866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로그인 후 우측 상단 프로필 아이콘 클릭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메뉴에서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클릭 (또는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Profile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탭 클릭)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생성해 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목록 중 원하는 프로젝트 선택</a:t>
            </a:r>
          </a:p>
        </p:txBody>
      </p:sp>
    </p:spTree>
    <p:extLst>
      <p:ext uri="{BB962C8B-B14F-4D97-AF65-F5344CB8AC3E}">
        <p14:creationId xmlns:p14="http://schemas.microsoft.com/office/powerpoint/2010/main" val="19368206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E33C0-3F5E-0746-7922-EB04747D4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1B1FA7-24D3-7EA0-A53B-0D013A152C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3709CA-28F5-8B89-FE95-7D4096DF28D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C8209C-2CAC-CE32-7B1E-49CACD9A81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3A1396-494B-F69D-704E-72F53AFFFF65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Github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Actions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기본 사용 방법 및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CI/CD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워크플로우 구성하기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https://github.com/ancestor9/my-gradio-app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8210C7B-32AE-F1C2-89ED-9F045D12A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870" y="2639855"/>
            <a:ext cx="4056430" cy="3265645"/>
          </a:xfrm>
          <a:prstGeom prst="rect">
            <a:avLst/>
          </a:prstGeom>
        </p:spPr>
      </p:pic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7B0A0425-21A0-7CB5-DAA7-98BEF1730C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0186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D8B7A-DB89-FE54-0CAC-B383B9C95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C9541-25DE-D61B-075D-D5726EE80C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deploy.yml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0FAF6E-9718-5E48-D104-52F4CB05D21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F58C93-CFF4-FCA6-E9D0-DF153293F01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4DB55D-0615-F477-52F2-18CE5A65581B}"/>
              </a:ext>
            </a:extLst>
          </p:cNvPr>
          <p:cNvSpPr txBox="1"/>
          <p:nvPr/>
        </p:nvSpPr>
        <p:spPr>
          <a:xfrm>
            <a:off x="571500" y="1248422"/>
            <a:ext cx="100203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 to Hugging Face Spaces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branches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runs-on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ubuntu-latest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steps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Checkout repository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actions/checkout@v4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fetch-depth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 to Hugging Face Space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env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HF_TOKEN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${{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|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git config --global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config --global user.name "GitHub Actions"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remote add space https://user:$HF_TOKEN@huggingface.co/spaces/ancestor9/my-first-gradio-app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push --force space 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FCC6A42-2846-6649-9444-F493371813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4224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0BBE-3BED-8702-F3E1-32B1EF4B4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8B3D03-9960-6D7D-8CE3-BAC50D3E21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5D2030-8F27-04B4-FDF0-BCBAF56618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283702-3058-8EAB-4AA6-37099308AF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B97C6-46E6-C890-7A8F-812E312570AA}"/>
              </a:ext>
            </a:extLst>
          </p:cNvPr>
          <p:cNvSpPr txBox="1"/>
          <p:nvPr/>
        </p:nvSpPr>
        <p:spPr>
          <a:xfrm>
            <a:off x="1386423" y="1514207"/>
            <a:ext cx="6462178" cy="462030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My First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App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emoji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🚀</a:t>
            </a:r>
            <a:endParaRPr lang="ko-KR" altLang="en-US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colorFrom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blue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colorTo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green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sdk_version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app_file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pinned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간단한 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인터페이스 예제입니다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F0788F6-5895-75ED-17B6-3C8A2C2F03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7470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3DC86-0CC8-A417-F58C-22184A0B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A4143-A38E-0CD8-6467-5120CDAC98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requirements.txt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BBD02E-46E6-2C5A-1B01-B09188AFCC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22C5B0-A438-DC35-9FFE-74C8EABCDBB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7C320F-5ABD-04AC-F949-ED05A186ABF8}"/>
              </a:ext>
            </a:extLst>
          </p:cNvPr>
          <p:cNvSpPr txBox="1"/>
          <p:nvPr/>
        </p:nvSpPr>
        <p:spPr>
          <a:xfrm>
            <a:off x="619990" y="1434334"/>
            <a:ext cx="3000665" cy="2863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수영">
            <a:extLst>
              <a:ext uri="{FF2B5EF4-FFF2-40B4-BE49-F238E27FC236}">
                <a16:creationId xmlns:a16="http://schemas.microsoft.com/office/drawing/2014/main" id="{32BE3742-7138-BA32-BC09-60BCA80E69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B8D1BFE-2EB6-9044-65B2-6B73838705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001" y="1434334"/>
            <a:ext cx="6217652" cy="507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213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844CB-6DCE-F00B-D70A-845D2EEF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CEE76A4-13E6-CE66-4BA6-0D232D13D3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app.py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67E555-8DEE-B4CC-ABE8-9B64A1FBF39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5B52623-F24E-2E31-29C1-DE65F09A7A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8ECEDC-1BC8-6143-B155-63D4DB892953}"/>
              </a:ext>
            </a:extLst>
          </p:cNvPr>
          <p:cNvSpPr txBox="1"/>
          <p:nvPr/>
        </p:nvSpPr>
        <p:spPr>
          <a:xfrm>
            <a:off x="744020" y="1334482"/>
            <a:ext cx="8668355" cy="526297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spaces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@spaces.GPU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predict(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input_text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GPU </a:t>
            </a:r>
            <a:r>
              <a:rPr lang="ko-KR" altLang="en-US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추론 코드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output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greet(name):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"Hello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{name}!"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gr.Interface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=greet,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inputs=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"Type your name ...."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outputs=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"greeting !!!"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title=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Demo app"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description=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"A simple 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interface example."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__name__ == 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"__main__"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demo.launch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server_name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"0.0.0.0"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7860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C32DA7A-F553-08FD-2A13-4CB17DA42D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538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B3221-BCC2-E73E-5ECE-FC0D08A21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98970-B8B2-8158-00D9-5C45631744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Deployment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UI(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gradio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3A0A8B-DCEE-4734-094C-DBA1FD8F4C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848BC8-1ABE-0BD9-D867-BEF02A368B6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77C49C9-1C30-EB3E-F23D-FDA9073C7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929" y="1529510"/>
            <a:ext cx="7521592" cy="4732430"/>
          </a:xfrm>
          <a:prstGeom prst="rect">
            <a:avLst/>
          </a:prstGeom>
        </p:spPr>
      </p:pic>
      <p:pic>
        <p:nvPicPr>
          <p:cNvPr id="4" name="그래픽 3" descr="수영">
            <a:extLst>
              <a:ext uri="{FF2B5EF4-FFF2-40B4-BE49-F238E27FC236}">
                <a16:creationId xmlns:a16="http://schemas.microsoft.com/office/drawing/2014/main" id="{453B4CE4-3E16-22A3-4EC3-2511DC714D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6831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586F4-6DF0-0DDE-DCB6-39705CABE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C3AFF80-A126-7904-010A-436F3CB5E1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1 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CI/CD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Actions &amp;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Huggingface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Spaces</a:t>
            </a:r>
            <a:endParaRPr lang="ko-KR" altLang="en-US" sz="24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F440688-2D89-4184-AC00-AD37CB0E7E8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DD182DA-3383-99B8-D341-ED337319E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152" y="2233291"/>
            <a:ext cx="8422012" cy="43137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D321EC7-8FC7-0F50-7D26-3D08B06E73A6}"/>
              </a:ext>
            </a:extLst>
          </p:cNvPr>
          <p:cNvSpPr txBox="1"/>
          <p:nvPr/>
        </p:nvSpPr>
        <p:spPr>
          <a:xfrm>
            <a:off x="554181" y="1193006"/>
            <a:ext cx="1116217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전체 흐름 요약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→ 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 → 테스트 통과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빌드 → 레지스트리에 푸시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자동 배포 → 웹에서 서비스 제공</a:t>
            </a:r>
          </a:p>
        </p:txBody>
      </p:sp>
    </p:spTree>
    <p:extLst>
      <p:ext uri="{BB962C8B-B14F-4D97-AF65-F5344CB8AC3E}">
        <p14:creationId xmlns:p14="http://schemas.microsoft.com/office/powerpoint/2010/main" val="12316265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F85D5-E24E-B833-4C4D-B3B056D31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CD545A-7E04-ABAD-5A16-156673493B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B690CFB-61F9-C8A8-B334-48F3880A6791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724A80-94EF-A01B-BD87-0B53360B4349}"/>
              </a:ext>
            </a:extLst>
          </p:cNvPr>
          <p:cNvSpPr txBox="1"/>
          <p:nvPr/>
        </p:nvSpPr>
        <p:spPr>
          <a:xfrm>
            <a:off x="855620" y="2752872"/>
            <a:ext cx="93742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Hub / Docker Desktop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Image, Container</a:t>
            </a:r>
          </a:p>
        </p:txBody>
      </p:sp>
    </p:spTree>
    <p:extLst>
      <p:ext uri="{BB962C8B-B14F-4D97-AF65-F5344CB8AC3E}">
        <p14:creationId xmlns:p14="http://schemas.microsoft.com/office/powerpoint/2010/main" val="21175422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"/>
          <p:cNvSpPr txBox="1">
            <a:spLocks noGrp="1"/>
          </p:cNvSpPr>
          <p:nvPr>
            <p:ph type="title"/>
          </p:nvPr>
        </p:nvSpPr>
        <p:spPr>
          <a:xfrm>
            <a:off x="627467" y="440880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Why SW Virtualization ?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0" name="Google Shape;180;p4"/>
          <p:cNvSpPr txBox="1"/>
          <p:nvPr/>
        </p:nvSpPr>
        <p:spPr>
          <a:xfrm>
            <a:off x="773721" y="1559599"/>
            <a:ext cx="10559297" cy="133882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Programming Language versions : java, python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Data Base versions : MySQL, Postgres, Maria DB, Mongo DB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Operating Systems (OS application Interface, OS Kernel) : Win, Mac, Linux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181" name="Google Shape;181;p4"/>
          <p:cNvSpPr txBox="1"/>
          <p:nvPr/>
        </p:nvSpPr>
        <p:spPr>
          <a:xfrm>
            <a:off x="773721" y="4017146"/>
            <a:ext cx="10559297" cy="175432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의존성(Dependency)를 줄이고 독립(격리)시키는 것이 어떨까?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물리적 독립이 아니라 논리적 가상적(Virtualization) 독립?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가상화가 가능하다면 누구에게나 배포가 가능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Binary File(bin), Library(lib)만 Image로 만들어 Containing하면 어떨까?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cxnSp>
        <p:nvCxnSpPr>
          <p:cNvPr id="182" name="Google Shape;182;p4"/>
          <p:cNvCxnSpPr/>
          <p:nvPr/>
        </p:nvCxnSpPr>
        <p:spPr>
          <a:xfrm>
            <a:off x="4985238" y="3182815"/>
            <a:ext cx="0" cy="624254"/>
          </a:xfrm>
          <a:prstGeom prst="straightConnector1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36F06EB-5B43-235E-9529-3E169DC953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853098" y="43668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사진기로</a:t>
            </a:r>
            <a:r>
              <a:rPr lang="en-US" dirty="0"/>
              <a:t> </a:t>
            </a:r>
            <a:r>
              <a:rPr lang="en-US" dirty="0" err="1"/>
              <a:t>사진찍고</a:t>
            </a:r>
            <a:r>
              <a:rPr lang="en-US" dirty="0"/>
              <a:t> </a:t>
            </a:r>
            <a:r>
              <a:rPr lang="en-US" dirty="0" err="1"/>
              <a:t>인화하기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189" name="Google Shape;189;p5" descr="사람의 손에 검은 니콘 DSLR 카메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3098" y="1872760"/>
            <a:ext cx="2508739" cy="3763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173551" y="23685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25951" y="25209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478351" y="26733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30751" y="28257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99474" y="36281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651874" y="37805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04274" y="39329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956674" y="4085309"/>
            <a:ext cx="1557337" cy="233600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0" name="Google Shape;200;p5"/>
          <p:cNvCxnSpPr/>
          <p:nvPr/>
        </p:nvCxnSpPr>
        <p:spPr>
          <a:xfrm rot="10800000" flipH="1">
            <a:off x="7546973" y="3408485"/>
            <a:ext cx="386862" cy="8611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C6038D53-5F7A-1203-03D4-1E4E781004C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EB070-3097-7345-3A7F-ED03FC84DF40}"/>
              </a:ext>
            </a:extLst>
          </p:cNvPr>
          <p:cNvSpPr txBox="1"/>
          <p:nvPr/>
        </p:nvSpPr>
        <p:spPr>
          <a:xfrm>
            <a:off x="1657568" y="1473792"/>
            <a:ext cx="899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2F8501-8873-9D33-3105-CF15644AA24F}"/>
              </a:ext>
            </a:extLst>
          </p:cNvPr>
          <p:cNvSpPr txBox="1"/>
          <p:nvPr/>
        </p:nvSpPr>
        <p:spPr>
          <a:xfrm>
            <a:off x="5367896" y="1473792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9069E9-01A8-D957-1100-34908410F015}"/>
              </a:ext>
            </a:extLst>
          </p:cNvPr>
          <p:cNvSpPr txBox="1"/>
          <p:nvPr/>
        </p:nvSpPr>
        <p:spPr>
          <a:xfrm>
            <a:off x="9674318" y="1473792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오른쪽 화살표 단색으로 채워진">
            <a:extLst>
              <a:ext uri="{FF2B5EF4-FFF2-40B4-BE49-F238E27FC236}">
                <a16:creationId xmlns:a16="http://schemas.microsoft.com/office/drawing/2014/main" id="{199C9306-745C-BB7E-4536-EAFB6A9F4F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38800" y="2971800"/>
            <a:ext cx="914400" cy="914400"/>
          </a:xfrm>
          <a:prstGeom prst="rect">
            <a:avLst/>
          </a:prstGeom>
        </p:spPr>
      </p:pic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0CB7824A-C33B-9579-481E-DD73B10E7DFA}"/>
              </a:ext>
            </a:extLst>
          </p:cNvPr>
          <p:cNvCxnSpPr>
            <a:cxnSpLocks/>
          </p:cNvCxnSpPr>
          <p:nvPr/>
        </p:nvCxnSpPr>
        <p:spPr>
          <a:xfrm>
            <a:off x="3731491" y="3158836"/>
            <a:ext cx="446116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90" name="Google Shape;190;p5" descr="창문 앞 빨랫줄에 걸려 있는 옷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15331" y="2452146"/>
            <a:ext cx="2493483" cy="16631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822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623325" y="361098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ko-KR" altLang="en-US" dirty="0"/>
              <a:t>가상화</a:t>
            </a:r>
            <a:r>
              <a:rPr lang="en-US" altLang="ko-KR" dirty="0"/>
              <a:t>(Virtualization)</a:t>
            </a:r>
            <a:endParaRPr dirty="0"/>
          </a:p>
        </p:txBody>
      </p:sp>
      <p:sp>
        <p:nvSpPr>
          <p:cNvPr id="4" name="Google Shape;213;p6">
            <a:extLst>
              <a:ext uri="{FF2B5EF4-FFF2-40B4-BE49-F238E27FC236}">
                <a16:creationId xmlns:a16="http://schemas.microsoft.com/office/drawing/2014/main" id="{4E1A47E9-35C4-0260-A6A3-BF25DA21BECC}"/>
              </a:ext>
            </a:extLst>
          </p:cNvPr>
          <p:cNvSpPr txBox="1"/>
          <p:nvPr/>
        </p:nvSpPr>
        <p:spPr>
          <a:xfrm>
            <a:off x="623325" y="1329631"/>
            <a:ext cx="10934701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SzPts val="1600"/>
              <a:buFont typeface="Noto Sans Symbols"/>
              <a:buChar char="❖"/>
            </a:pPr>
            <a:r>
              <a:rPr lang="ko-KR" altLang="en-US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가상화란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컴퓨터 자원을 가상 환경으로 분리하여 프로그램들이 상호 충돌없이 실행 가능하도록 하는 아키텍처 기술</a:t>
            </a:r>
          </a:p>
        </p:txBody>
      </p:sp>
      <p:pic>
        <p:nvPicPr>
          <p:cNvPr id="1028" name="Picture 4" descr="가상화 개념(Virtualization)">
            <a:extLst>
              <a:ext uri="{FF2B5EF4-FFF2-40B4-BE49-F238E27FC236}">
                <a16:creationId xmlns:a16="http://schemas.microsoft.com/office/drawing/2014/main" id="{ECB0EA80-DE4C-4F7E-866E-8F39DDAC65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0087" y="2455014"/>
            <a:ext cx="8279984" cy="4041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68F8258D-1789-8DC2-DCB6-50152FCFE37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997040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537021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ko-KR" altLang="en-US" dirty="0"/>
              <a:t>가상화</a:t>
            </a:r>
            <a:r>
              <a:rPr lang="en-US" altLang="ko-KR" dirty="0"/>
              <a:t>(</a:t>
            </a:r>
            <a:r>
              <a:rPr lang="en-US" altLang="ko-KR" dirty="0" err="1"/>
              <a:t>Virtualizaion</a:t>
            </a:r>
            <a:r>
              <a:rPr lang="en-US" altLang="ko-KR" dirty="0"/>
              <a:t>) </a:t>
            </a:r>
            <a:r>
              <a:rPr lang="ko-KR" altLang="en-US" dirty="0"/>
              <a:t>종류</a:t>
            </a:r>
            <a:endParaRPr dirty="0"/>
          </a:p>
        </p:txBody>
      </p:sp>
      <p:sp>
        <p:nvSpPr>
          <p:cNvPr id="2" name="Google Shape;960;p66">
            <a:extLst>
              <a:ext uri="{FF2B5EF4-FFF2-40B4-BE49-F238E27FC236}">
                <a16:creationId xmlns:a16="http://schemas.microsoft.com/office/drawing/2014/main" id="{9A5E0F03-033D-5F9B-F9D6-8922F594B74B}"/>
              </a:ext>
            </a:extLst>
          </p:cNvPr>
          <p:cNvSpPr txBox="1"/>
          <p:nvPr/>
        </p:nvSpPr>
        <p:spPr>
          <a:xfrm>
            <a:off x="785998" y="1396493"/>
            <a:ext cx="10951590" cy="452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1.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머신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– (virtual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machine,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WSL)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다수의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동시에 실행하는 플랫폼으로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설치하여 운영하는 구조이며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여러 가지 종류의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(Hypervisor)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 존재하게 되며 대표적으로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등이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있음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lvl="0">
              <a:lnSpc>
                <a:spcPct val="150000"/>
              </a:lnSpc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2. OS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수준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- (docker)</a:t>
            </a:r>
          </a:p>
          <a:p>
            <a:pPr marL="285750" lvl="8" indent="-285750">
              <a:lnSpc>
                <a:spcPct val="150000"/>
              </a:lnSpc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커널을 여러 개의 공간으로 격리하여 각각의 컨테이너가 마치 독립된 것처럼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새로 설치하지 않고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host 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 커널을 공유하게 되어 실행 속도가 빠르고 성능 상의 손실이 적다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사용자에게는 가상머신처럼 보임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3.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개발 환경 가상화 </a:t>
            </a: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venv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등 특정 폴더를 가상환경으로 만들어서 라이브러리나 소스코드를 관리하는 가상화 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494A71-942F-03D5-B107-D1137729C03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99140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7"/>
          <p:cNvSpPr txBox="1">
            <a:spLocks noGrp="1"/>
          </p:cNvSpPr>
          <p:nvPr>
            <p:ph type="title"/>
          </p:nvPr>
        </p:nvSpPr>
        <p:spPr>
          <a:xfrm>
            <a:off x="913795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b="1" dirty="0"/>
              <a:t>Traditional Installation before docker</a:t>
            </a:r>
            <a:endParaRPr dirty="0"/>
          </a:p>
        </p:txBody>
      </p:sp>
      <p:sp>
        <p:nvSpPr>
          <p:cNvPr id="220" name="Google Shape;220;p7"/>
          <p:cNvSpPr txBox="1"/>
          <p:nvPr/>
        </p:nvSpPr>
        <p:spPr>
          <a:xfrm>
            <a:off x="2363578" y="5004354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21" name="Google Shape;221;p7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22" name="Google Shape;222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13871" y="1993204"/>
            <a:ext cx="7153610" cy="2871591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7"/>
          <p:cNvSpPr txBox="1"/>
          <p:nvPr/>
        </p:nvSpPr>
        <p:spPr>
          <a:xfrm>
            <a:off x="3688080" y="202692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Network:port</a:t>
            </a:r>
            <a:endParaRPr sz="1800">
              <a:solidFill>
                <a:schemeClr val="dk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876A7A97-CD42-2F39-FDE8-7AB301AF41E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1C790C1B-0980-DE3B-3CF1-4537319D9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761;p47">
            <a:extLst>
              <a:ext uri="{FF2B5EF4-FFF2-40B4-BE49-F238E27FC236}">
                <a16:creationId xmlns:a16="http://schemas.microsoft.com/office/drawing/2014/main" id="{7BA76E42-547B-7D5F-EB23-CE877DC6E6A0}"/>
              </a:ext>
            </a:extLst>
          </p:cNvPr>
          <p:cNvCxnSpPr>
            <a:cxnSpLocks/>
          </p:cNvCxnSpPr>
          <p:nvPr/>
        </p:nvCxnSpPr>
        <p:spPr>
          <a:xfrm flipV="1">
            <a:off x="1022458" y="3484492"/>
            <a:ext cx="10610780" cy="58858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ysDash"/>
            <a:round/>
            <a:headEnd type="none" w="sm" len="sm"/>
            <a:tailEnd type="none" w="sm" len="sm"/>
          </a:ln>
        </p:spPr>
      </p:cxn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F2D2BD2D-CCF8-6546-4872-8221EE31A8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1. Virtual Machine (Linux)</a:t>
            </a:r>
            <a:endParaRPr dirty="0"/>
          </a:p>
        </p:txBody>
      </p:sp>
      <p:sp>
        <p:nvSpPr>
          <p:cNvPr id="230" name="Google Shape;230;p8">
            <a:extLst>
              <a:ext uri="{FF2B5EF4-FFF2-40B4-BE49-F238E27FC236}">
                <a16:creationId xmlns:a16="http://schemas.microsoft.com/office/drawing/2014/main" id="{A1A59530-D3E6-7BF8-01A1-6B0216079CC4}"/>
              </a:ext>
            </a:extLst>
          </p:cNvPr>
          <p:cNvSpPr txBox="1"/>
          <p:nvPr/>
        </p:nvSpPr>
        <p:spPr>
          <a:xfrm>
            <a:off x="1022458" y="6124240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 dirty="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A8B20A42-BC08-DA7D-E871-B1CA11C96B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EB93BA-266D-998B-0B04-0BB5FF133A15}"/>
              </a:ext>
            </a:extLst>
          </p:cNvPr>
          <p:cNvSpPr txBox="1"/>
          <p:nvPr/>
        </p:nvSpPr>
        <p:spPr>
          <a:xfrm>
            <a:off x="7065818" y="1920806"/>
            <a:ext cx="17741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(Linux # 1)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6" name="Google Shape;761;p47">
            <a:extLst>
              <a:ext uri="{FF2B5EF4-FFF2-40B4-BE49-F238E27FC236}">
                <a16:creationId xmlns:a16="http://schemas.microsoft.com/office/drawing/2014/main" id="{1A938AF3-C738-FF3D-85E2-4EA2F0B4BFC1}"/>
              </a:ext>
            </a:extLst>
          </p:cNvPr>
          <p:cNvCxnSpPr/>
          <p:nvPr/>
        </p:nvCxnSpPr>
        <p:spPr>
          <a:xfrm>
            <a:off x="506243" y="5797687"/>
            <a:ext cx="11126995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766;p47">
            <a:extLst>
              <a:ext uri="{FF2B5EF4-FFF2-40B4-BE49-F238E27FC236}">
                <a16:creationId xmlns:a16="http://schemas.microsoft.com/office/drawing/2014/main" id="{F3218B0F-62B3-7597-534E-4FCA09F591DE}"/>
              </a:ext>
            </a:extLst>
          </p:cNvPr>
          <p:cNvSpPr txBox="1"/>
          <p:nvPr/>
        </p:nvSpPr>
        <p:spPr>
          <a:xfrm>
            <a:off x="894215" y="5797687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H/W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1" name="Google Shape;767;p47">
            <a:extLst>
              <a:ext uri="{FF2B5EF4-FFF2-40B4-BE49-F238E27FC236}">
                <a16:creationId xmlns:a16="http://schemas.microsoft.com/office/drawing/2014/main" id="{B069368A-C2FA-9EEB-AFAE-A5954BFDC879}"/>
              </a:ext>
            </a:extLst>
          </p:cNvPr>
          <p:cNvSpPr txBox="1"/>
          <p:nvPr/>
        </p:nvSpPr>
        <p:spPr>
          <a:xfrm>
            <a:off x="894215" y="5261755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7" name="Google Shape;773;p47">
            <a:extLst>
              <a:ext uri="{FF2B5EF4-FFF2-40B4-BE49-F238E27FC236}">
                <a16:creationId xmlns:a16="http://schemas.microsoft.com/office/drawing/2014/main" id="{3CF69F1B-8590-8EC6-48B8-AC227448BC26}"/>
              </a:ext>
            </a:extLst>
          </p:cNvPr>
          <p:cNvSpPr/>
          <p:nvPr/>
        </p:nvSpPr>
        <p:spPr>
          <a:xfrm>
            <a:off x="1995977" y="5913069"/>
            <a:ext cx="2768471" cy="602603"/>
          </a:xfrm>
          <a:prstGeom prst="rect">
            <a:avLst/>
          </a:prstGeom>
          <a:solidFill>
            <a:srgbClr val="76E3FF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NIC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(Network Interface Card)</a:t>
            </a:r>
            <a:endParaRPr sz="16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8" name="Google Shape;774;p47">
            <a:extLst>
              <a:ext uri="{FF2B5EF4-FFF2-40B4-BE49-F238E27FC236}">
                <a16:creationId xmlns:a16="http://schemas.microsoft.com/office/drawing/2014/main" id="{CA98B2B2-23CD-9527-3E42-2A907C6E7028}"/>
              </a:ext>
            </a:extLst>
          </p:cNvPr>
          <p:cNvSpPr/>
          <p:nvPr/>
        </p:nvSpPr>
        <p:spPr>
          <a:xfrm>
            <a:off x="2376186" y="499175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Driver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9" name="Google Shape;775;p47">
            <a:extLst>
              <a:ext uri="{FF2B5EF4-FFF2-40B4-BE49-F238E27FC236}">
                <a16:creationId xmlns:a16="http://schemas.microsoft.com/office/drawing/2014/main" id="{0FE0CAA7-68D1-178D-B7BC-1F3C205BC288}"/>
              </a:ext>
            </a:extLst>
          </p:cNvPr>
          <p:cNvSpPr/>
          <p:nvPr/>
        </p:nvSpPr>
        <p:spPr>
          <a:xfrm>
            <a:off x="2376186" y="352197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TCP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0" name="Google Shape;776;p47">
            <a:extLst>
              <a:ext uri="{FF2B5EF4-FFF2-40B4-BE49-F238E27FC236}">
                <a16:creationId xmlns:a16="http://schemas.microsoft.com/office/drawing/2014/main" id="{45B260BF-F773-BD2C-FC25-40B20649F7A0}"/>
              </a:ext>
            </a:extLst>
          </p:cNvPr>
          <p:cNvSpPr/>
          <p:nvPr/>
        </p:nvSpPr>
        <p:spPr>
          <a:xfrm>
            <a:off x="2376186" y="425686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IP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A6243C35-B8BD-ADF2-9F00-3A9DC2D3694A}"/>
              </a:ext>
            </a:extLst>
          </p:cNvPr>
          <p:cNvSpPr/>
          <p:nvPr/>
        </p:nvSpPr>
        <p:spPr>
          <a:xfrm>
            <a:off x="2760039" y="2741978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Google Shape;767;p47">
            <a:extLst>
              <a:ext uri="{FF2B5EF4-FFF2-40B4-BE49-F238E27FC236}">
                <a16:creationId xmlns:a16="http://schemas.microsoft.com/office/drawing/2014/main" id="{F5C015F7-931A-EBD2-B18F-824551D14307}"/>
              </a:ext>
            </a:extLst>
          </p:cNvPr>
          <p:cNvSpPr txBox="1"/>
          <p:nvPr/>
        </p:nvSpPr>
        <p:spPr>
          <a:xfrm>
            <a:off x="894215" y="356364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Kernel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9" name="Google Shape;767;p47">
            <a:extLst>
              <a:ext uri="{FF2B5EF4-FFF2-40B4-BE49-F238E27FC236}">
                <a16:creationId xmlns:a16="http://schemas.microsoft.com/office/drawing/2014/main" id="{C2CA44C2-48CB-290C-52E6-984F8D4C4A2B}"/>
              </a:ext>
            </a:extLst>
          </p:cNvPr>
          <p:cNvSpPr txBox="1"/>
          <p:nvPr/>
        </p:nvSpPr>
        <p:spPr>
          <a:xfrm>
            <a:off x="894215" y="311520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User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30" name="순서도: 종속 처리 29">
            <a:extLst>
              <a:ext uri="{FF2B5EF4-FFF2-40B4-BE49-F238E27FC236}">
                <a16:creationId xmlns:a16="http://schemas.microsoft.com/office/drawing/2014/main" id="{295902D9-C2DB-DF98-6ACA-FBC9F96422AB}"/>
              </a:ext>
            </a:extLst>
          </p:cNvPr>
          <p:cNvSpPr/>
          <p:nvPr/>
        </p:nvSpPr>
        <p:spPr>
          <a:xfrm>
            <a:off x="2604656" y="2076570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2B0C91E-974E-9E46-8F75-2EEA7FD4875B}"/>
              </a:ext>
            </a:extLst>
          </p:cNvPr>
          <p:cNvSpPr txBox="1"/>
          <p:nvPr/>
        </p:nvSpPr>
        <p:spPr>
          <a:xfrm>
            <a:off x="9859074" y="1920805"/>
            <a:ext cx="17741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(Linux # 2)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F0E077BE-41A1-9598-614F-CE2B542C6EF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26493" y="2493014"/>
            <a:ext cx="2678245" cy="2953407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82F6FFA6-DC93-A102-C103-BE5C4173ADA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256061" y="2454515"/>
            <a:ext cx="2678245" cy="2953407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0004EB0D-6A18-71D9-90B7-7B17D9CF382A}"/>
              </a:ext>
            </a:extLst>
          </p:cNvPr>
          <p:cNvSpPr/>
          <p:nvPr/>
        </p:nvSpPr>
        <p:spPr>
          <a:xfrm>
            <a:off x="4969164" y="5423694"/>
            <a:ext cx="1306006" cy="310465"/>
          </a:xfrm>
          <a:prstGeom prst="rect">
            <a:avLst/>
          </a:prstGeom>
          <a:solidFill>
            <a:srgbClr val="76E3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0</a:t>
            </a:r>
            <a:endParaRPr lang="ko-KR" altLang="en-US" sz="14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FD499F6B-4E42-CC1E-85AB-2A6034E445B4}"/>
              </a:ext>
            </a:extLst>
          </p:cNvPr>
          <p:cNvSpPr/>
          <p:nvPr/>
        </p:nvSpPr>
        <p:spPr>
          <a:xfrm>
            <a:off x="7533976" y="5423694"/>
            <a:ext cx="1306006" cy="31046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883BDE2-038D-959A-9942-9463871070B9}"/>
              </a:ext>
            </a:extLst>
          </p:cNvPr>
          <p:cNvSpPr/>
          <p:nvPr/>
        </p:nvSpPr>
        <p:spPr>
          <a:xfrm>
            <a:off x="10327232" y="5423694"/>
            <a:ext cx="1306006" cy="310465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7291614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/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1. Virtual Machine (Linux)</a:t>
            </a:r>
            <a:endParaRPr dirty="0"/>
          </a:p>
        </p:txBody>
      </p:sp>
      <p:sp>
        <p:nvSpPr>
          <p:cNvPr id="230" name="Google Shape;230;p8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31" name="Google Shape;231;p8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32" name="Google Shape;232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35490" y="2287035"/>
            <a:ext cx="8025819" cy="364356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5E3E6E2-0D72-A3AF-4B20-D7F28EBD27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AC48C0-1DE2-1145-9C51-0B9CDE01B442}"/>
              </a:ext>
            </a:extLst>
          </p:cNvPr>
          <p:cNvSpPr txBox="1"/>
          <p:nvPr/>
        </p:nvSpPr>
        <p:spPr>
          <a:xfrm>
            <a:off x="581891" y="12599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285937E0-9534-3046-5727-792B25C4B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761;p47">
            <a:extLst>
              <a:ext uri="{FF2B5EF4-FFF2-40B4-BE49-F238E27FC236}">
                <a16:creationId xmlns:a16="http://schemas.microsoft.com/office/drawing/2014/main" id="{CF7AE3EC-51B4-5F90-DC1F-6BAE05821D1E}"/>
              </a:ext>
            </a:extLst>
          </p:cNvPr>
          <p:cNvCxnSpPr>
            <a:cxnSpLocks/>
          </p:cNvCxnSpPr>
          <p:nvPr/>
        </p:nvCxnSpPr>
        <p:spPr>
          <a:xfrm flipV="1">
            <a:off x="1022458" y="3484492"/>
            <a:ext cx="10610780" cy="58858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ysDash"/>
            <a:round/>
            <a:headEnd type="none" w="sm" len="sm"/>
            <a:tailEnd type="none" w="sm" len="sm"/>
          </a:ln>
        </p:spPr>
      </p:cxn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FCD4F018-D2A9-095E-3C99-DBE07D6141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/>
              <a:t>2. Docker</a:t>
            </a:r>
            <a:endParaRPr dirty="0"/>
          </a:p>
        </p:txBody>
      </p:sp>
      <p:sp>
        <p:nvSpPr>
          <p:cNvPr id="230" name="Google Shape;230;p8">
            <a:extLst>
              <a:ext uri="{FF2B5EF4-FFF2-40B4-BE49-F238E27FC236}">
                <a16:creationId xmlns:a16="http://schemas.microsoft.com/office/drawing/2014/main" id="{D822EBB8-A2B0-E3FF-C514-0F029F7D3C16}"/>
              </a:ext>
            </a:extLst>
          </p:cNvPr>
          <p:cNvSpPr txBox="1"/>
          <p:nvPr/>
        </p:nvSpPr>
        <p:spPr>
          <a:xfrm>
            <a:off x="1022458" y="6124240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 dirty="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65D656AE-3EA5-132C-5144-06448B60612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cxnSp>
        <p:nvCxnSpPr>
          <p:cNvPr id="6" name="Google Shape;761;p47">
            <a:extLst>
              <a:ext uri="{FF2B5EF4-FFF2-40B4-BE49-F238E27FC236}">
                <a16:creationId xmlns:a16="http://schemas.microsoft.com/office/drawing/2014/main" id="{F9B262C9-E482-4BF3-6D75-86F74179710D}"/>
              </a:ext>
            </a:extLst>
          </p:cNvPr>
          <p:cNvCxnSpPr/>
          <p:nvPr/>
        </p:nvCxnSpPr>
        <p:spPr>
          <a:xfrm>
            <a:off x="506243" y="5797687"/>
            <a:ext cx="11126995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766;p47">
            <a:extLst>
              <a:ext uri="{FF2B5EF4-FFF2-40B4-BE49-F238E27FC236}">
                <a16:creationId xmlns:a16="http://schemas.microsoft.com/office/drawing/2014/main" id="{C5EFCF77-1031-9B12-C955-68C98EF33CB7}"/>
              </a:ext>
            </a:extLst>
          </p:cNvPr>
          <p:cNvSpPr txBox="1"/>
          <p:nvPr/>
        </p:nvSpPr>
        <p:spPr>
          <a:xfrm>
            <a:off x="894215" y="5797687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H/W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1" name="Google Shape;767;p47">
            <a:extLst>
              <a:ext uri="{FF2B5EF4-FFF2-40B4-BE49-F238E27FC236}">
                <a16:creationId xmlns:a16="http://schemas.microsoft.com/office/drawing/2014/main" id="{78C38088-8A9C-7679-F517-3F1489FFCD31}"/>
              </a:ext>
            </a:extLst>
          </p:cNvPr>
          <p:cNvSpPr txBox="1"/>
          <p:nvPr/>
        </p:nvSpPr>
        <p:spPr>
          <a:xfrm>
            <a:off x="894215" y="5261755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7" name="Google Shape;773;p47">
            <a:extLst>
              <a:ext uri="{FF2B5EF4-FFF2-40B4-BE49-F238E27FC236}">
                <a16:creationId xmlns:a16="http://schemas.microsoft.com/office/drawing/2014/main" id="{ADC638A7-A5E6-B493-9E57-A09C2D5DD7E2}"/>
              </a:ext>
            </a:extLst>
          </p:cNvPr>
          <p:cNvSpPr/>
          <p:nvPr/>
        </p:nvSpPr>
        <p:spPr>
          <a:xfrm>
            <a:off x="5323244" y="5995204"/>
            <a:ext cx="2768471" cy="602603"/>
          </a:xfrm>
          <a:prstGeom prst="rect">
            <a:avLst/>
          </a:prstGeom>
          <a:solidFill>
            <a:srgbClr val="76E3FF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NIC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(Network Interface Card)</a:t>
            </a:r>
            <a:endParaRPr sz="16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8" name="Google Shape;774;p47">
            <a:extLst>
              <a:ext uri="{FF2B5EF4-FFF2-40B4-BE49-F238E27FC236}">
                <a16:creationId xmlns:a16="http://schemas.microsoft.com/office/drawing/2014/main" id="{E3F6E70C-FFE6-A454-8D29-0159594A5742}"/>
              </a:ext>
            </a:extLst>
          </p:cNvPr>
          <p:cNvSpPr/>
          <p:nvPr/>
        </p:nvSpPr>
        <p:spPr>
          <a:xfrm>
            <a:off x="5703453" y="507389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Driver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9" name="Google Shape;775;p47">
            <a:extLst>
              <a:ext uri="{FF2B5EF4-FFF2-40B4-BE49-F238E27FC236}">
                <a16:creationId xmlns:a16="http://schemas.microsoft.com/office/drawing/2014/main" id="{4C3CA193-EC85-A92C-832A-BD4FB8269B89}"/>
              </a:ext>
            </a:extLst>
          </p:cNvPr>
          <p:cNvSpPr/>
          <p:nvPr/>
        </p:nvSpPr>
        <p:spPr>
          <a:xfrm>
            <a:off x="5703453" y="360411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TCP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0" name="Google Shape;776;p47">
            <a:extLst>
              <a:ext uri="{FF2B5EF4-FFF2-40B4-BE49-F238E27FC236}">
                <a16:creationId xmlns:a16="http://schemas.microsoft.com/office/drawing/2014/main" id="{0AE02803-D600-6A37-BC39-C3F9E3F57856}"/>
              </a:ext>
            </a:extLst>
          </p:cNvPr>
          <p:cNvSpPr/>
          <p:nvPr/>
        </p:nvSpPr>
        <p:spPr>
          <a:xfrm>
            <a:off x="5703453" y="433900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IP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D1396F48-FE04-8214-5CBF-288B23F67B14}"/>
              </a:ext>
            </a:extLst>
          </p:cNvPr>
          <p:cNvSpPr/>
          <p:nvPr/>
        </p:nvSpPr>
        <p:spPr>
          <a:xfrm>
            <a:off x="2760039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Google Shape;767;p47">
            <a:extLst>
              <a:ext uri="{FF2B5EF4-FFF2-40B4-BE49-F238E27FC236}">
                <a16:creationId xmlns:a16="http://schemas.microsoft.com/office/drawing/2014/main" id="{F9A7A9F1-31D8-50BA-A713-46D5675A22B6}"/>
              </a:ext>
            </a:extLst>
          </p:cNvPr>
          <p:cNvSpPr txBox="1"/>
          <p:nvPr/>
        </p:nvSpPr>
        <p:spPr>
          <a:xfrm>
            <a:off x="894215" y="356364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Kernel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9" name="Google Shape;767;p47">
            <a:extLst>
              <a:ext uri="{FF2B5EF4-FFF2-40B4-BE49-F238E27FC236}">
                <a16:creationId xmlns:a16="http://schemas.microsoft.com/office/drawing/2014/main" id="{1FBC9C75-FBD3-F1BE-458A-3B92D32178D3}"/>
              </a:ext>
            </a:extLst>
          </p:cNvPr>
          <p:cNvSpPr txBox="1"/>
          <p:nvPr/>
        </p:nvSpPr>
        <p:spPr>
          <a:xfrm>
            <a:off x="894215" y="311520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User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30" name="순서도: 종속 처리 29">
            <a:extLst>
              <a:ext uri="{FF2B5EF4-FFF2-40B4-BE49-F238E27FC236}">
                <a16:creationId xmlns:a16="http://schemas.microsoft.com/office/drawing/2014/main" id="{B765836A-B4E8-29F8-E64E-05699A760F9F}"/>
              </a:ext>
            </a:extLst>
          </p:cNvPr>
          <p:cNvSpPr/>
          <p:nvPr/>
        </p:nvSpPr>
        <p:spPr>
          <a:xfrm>
            <a:off x="2604656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4F6622D9-0D7C-DC59-FA4A-D493EC2D388D}"/>
              </a:ext>
            </a:extLst>
          </p:cNvPr>
          <p:cNvSpPr/>
          <p:nvPr/>
        </p:nvSpPr>
        <p:spPr>
          <a:xfrm>
            <a:off x="6579438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순서도: 종속 처리 14">
            <a:extLst>
              <a:ext uri="{FF2B5EF4-FFF2-40B4-BE49-F238E27FC236}">
                <a16:creationId xmlns:a16="http://schemas.microsoft.com/office/drawing/2014/main" id="{07DA1A94-AB27-530B-6B6B-676D3F4B7F61}"/>
              </a:ext>
            </a:extLst>
          </p:cNvPr>
          <p:cNvSpPr/>
          <p:nvPr/>
        </p:nvSpPr>
        <p:spPr>
          <a:xfrm>
            <a:off x="6424055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83B1D25E-7282-960F-3F0F-C7FA26061B7C}"/>
              </a:ext>
            </a:extLst>
          </p:cNvPr>
          <p:cNvSpPr/>
          <p:nvPr/>
        </p:nvSpPr>
        <p:spPr>
          <a:xfrm>
            <a:off x="9771097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5" name="순서도: 종속 처리 24">
            <a:extLst>
              <a:ext uri="{FF2B5EF4-FFF2-40B4-BE49-F238E27FC236}">
                <a16:creationId xmlns:a16="http://schemas.microsoft.com/office/drawing/2014/main" id="{8BE38BD5-8963-FDC2-5BEF-7F532BF4401F}"/>
              </a:ext>
            </a:extLst>
          </p:cNvPr>
          <p:cNvSpPr/>
          <p:nvPr/>
        </p:nvSpPr>
        <p:spPr>
          <a:xfrm>
            <a:off x="9615714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44330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6A294BB5-18BF-13ED-3F59-48A17F004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9D1CE9FF-5611-11AE-F8ED-CD52433761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/>
              <a:t>2. Docker</a:t>
            </a:r>
            <a:endParaRPr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AE98362A-0C09-3D5B-F523-C620440C538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A75F7FA-7C13-167F-7856-E0C3775B7B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804" y="1795897"/>
            <a:ext cx="10221404" cy="373408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0BE1E9F-8C31-590B-7170-6DE50C28B2F5}"/>
              </a:ext>
            </a:extLst>
          </p:cNvPr>
          <p:cNvSpPr txBox="1"/>
          <p:nvPr/>
        </p:nvSpPr>
        <p:spPr>
          <a:xfrm>
            <a:off x="919119" y="5883363"/>
            <a:ext cx="2789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Traditional</a:t>
            </a:r>
            <a:r>
              <a:rPr lang="ko-KR" altLang="ko-KR" sz="1800" b="1" i="0" dirty="0">
                <a:effectLst/>
                <a:latin typeface="+mn-lt"/>
                <a:ea typeface="Malgun Gothic" panose="020B0503020000020004" pitchFamily="50" charset="-127"/>
              </a:rPr>
              <a:t> </a:t>
            </a: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Deployment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7CEF70-D1C3-3440-F4F8-CA232829CB36}"/>
              </a:ext>
            </a:extLst>
          </p:cNvPr>
          <p:cNvSpPr txBox="1"/>
          <p:nvPr/>
        </p:nvSpPr>
        <p:spPr>
          <a:xfrm>
            <a:off x="4899892" y="5883363"/>
            <a:ext cx="166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Virtualization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7DA6F34-62E9-0153-972F-AF14D1BE7641}"/>
              </a:ext>
            </a:extLst>
          </p:cNvPr>
          <p:cNvSpPr txBox="1"/>
          <p:nvPr/>
        </p:nvSpPr>
        <p:spPr>
          <a:xfrm>
            <a:off x="8986982" y="5883363"/>
            <a:ext cx="166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>
                <a:effectLst/>
                <a:latin typeface="+mn-lt"/>
                <a:ea typeface="Malgun Gothic" panose="020B0503020000020004" pitchFamily="50" charset="-127"/>
              </a:rPr>
              <a:t>Container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0320809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2. 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40" name="Google Shape;240;p9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41" name="Google Shape;241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76245" y="2643537"/>
            <a:ext cx="8028862" cy="308493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69A351E-01EE-167F-794F-B8CF36A3DF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"/>
          <p:cNvSpPr txBox="1">
            <a:spLocks noGrp="1"/>
          </p:cNvSpPr>
          <p:nvPr>
            <p:ph type="title"/>
          </p:nvPr>
        </p:nvSpPr>
        <p:spPr>
          <a:xfrm>
            <a:off x="919119" y="39547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69" name="Google Shape;269;p12"/>
          <p:cNvSpPr txBox="1"/>
          <p:nvPr/>
        </p:nvSpPr>
        <p:spPr>
          <a:xfrm>
            <a:off x="685067" y="1342037"/>
            <a:ext cx="10508739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도커(Docker)는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컨테이너(Container)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기반의 오픈소스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 플랫폼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42900" marR="0" lvl="0" indent="-306000" algn="l" rtl="0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어떤 프로그램을 외부 환경과 격리시켜 구동할 수 있게 해주는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소프트웨어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70" name="Google Shape;270;p12"/>
          <p:cNvGrpSpPr/>
          <p:nvPr/>
        </p:nvGrpSpPr>
        <p:grpSpPr>
          <a:xfrm>
            <a:off x="1096276" y="2522602"/>
            <a:ext cx="4843160" cy="4119214"/>
            <a:chOff x="3878443" y="2702727"/>
            <a:chExt cx="4200328" cy="3637104"/>
          </a:xfrm>
        </p:grpSpPr>
        <p:pic>
          <p:nvPicPr>
            <p:cNvPr id="271" name="Google Shape;271;p12" descr="docker asustor NAS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878443" y="2702727"/>
              <a:ext cx="3738415" cy="322547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72" name="Google Shape;272;p12"/>
            <p:cNvSpPr txBox="1"/>
            <p:nvPr/>
          </p:nvSpPr>
          <p:spPr>
            <a:xfrm>
              <a:off x="3878443" y="6032054"/>
              <a:ext cx="42003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https://www.asustor.com/ko/solution/what_is_docker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</p:grpSp>
      <p:pic>
        <p:nvPicPr>
          <p:cNvPr id="273" name="Google Shape;273;p12" descr="물 속의 큰 배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95062" y="2522602"/>
            <a:ext cx="3952865" cy="258970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80FDA94-7A96-BD84-66B8-2EAED8618F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0585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3"/>
          <p:cNvSpPr txBox="1">
            <a:spLocks noGrp="1"/>
          </p:cNvSpPr>
          <p:nvPr>
            <p:ph type="title"/>
          </p:nvPr>
        </p:nvSpPr>
        <p:spPr>
          <a:xfrm>
            <a:off x="901030" y="446858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Container</a:t>
            </a:r>
            <a:endParaRPr dirty="0"/>
          </a:p>
        </p:txBody>
      </p:sp>
      <p:sp>
        <p:nvSpPr>
          <p:cNvPr id="282" name="Google Shape;282;p13"/>
          <p:cNvSpPr txBox="1"/>
          <p:nvPr/>
        </p:nvSpPr>
        <p:spPr>
          <a:xfrm>
            <a:off x="888267" y="1213842"/>
            <a:ext cx="10888097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</a:t>
            </a: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(Container)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란 OS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사에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논리적인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영역을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구축하여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애플리케이션이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작동하는데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필요한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요소만을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모아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오버헤드가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없음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)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별도의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서버처럼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격리되어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동작하는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것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83" name="Google Shape;283;p13"/>
          <p:cNvGrpSpPr/>
          <p:nvPr/>
        </p:nvGrpSpPr>
        <p:grpSpPr>
          <a:xfrm>
            <a:off x="1955374" y="2702726"/>
            <a:ext cx="5055025" cy="4002873"/>
            <a:chOff x="1955375" y="2702727"/>
            <a:chExt cx="4371680" cy="3533792"/>
          </a:xfrm>
        </p:grpSpPr>
        <p:sp>
          <p:nvSpPr>
            <p:cNvPr id="284" name="Google Shape;284;p13"/>
            <p:cNvSpPr txBox="1"/>
            <p:nvPr/>
          </p:nvSpPr>
          <p:spPr>
            <a:xfrm>
              <a:off x="1955375" y="5928742"/>
              <a:ext cx="437168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https://www.docker.com/resources/what-container/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  <p:pic>
          <p:nvPicPr>
            <p:cNvPr id="285" name="Google Shape;285;p1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058569" y="2702727"/>
              <a:ext cx="3839845" cy="322547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86" name="Google Shape;286;p13" descr="assorted-color filed 복합 운송 컨테이너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10399" y="2702726"/>
            <a:ext cx="3455378" cy="225290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AD3C7BA-B471-FC07-C1D8-304176DB9A8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341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D32C9-8831-7BD4-9DD2-7AACBD37C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B4136D-BB87-5441-BE89-2E19A00EAA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명령어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041BF8-57BD-FF6A-26BC-9BF604EA4BC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2919CB0-5F55-77BF-0798-AB95E32044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A8F678-8F2F-F380-B14A-81F5D22E24F6}"/>
              </a:ext>
            </a:extLst>
          </p:cNvPr>
          <p:cNvSpPr txBox="1"/>
          <p:nvPr/>
        </p:nvSpPr>
        <p:spPr>
          <a:xfrm>
            <a:off x="628650" y="1289134"/>
            <a:ext cx="6096000" cy="10772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fastapi-project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app.py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requirements.txt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541E0A-D811-1534-AB18-8A7E486F0C3C}"/>
              </a:ext>
            </a:extLst>
          </p:cNvPr>
          <p:cNvSpPr txBox="1"/>
          <p:nvPr/>
        </p:nvSpPr>
        <p:spPr>
          <a:xfrm>
            <a:off x="628650" y="3082808"/>
            <a:ext cx="7068620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python:3.12-slim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WORKDIR 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requirements.txt .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RUN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no-cache-dir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requirements.txt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app.py .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EXPOSE 8000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CMD ["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app:app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"0.0.0.0", "--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"8000"]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2BD89-F2AF-C218-F3D2-C5D960658A02}"/>
              </a:ext>
            </a:extLst>
          </p:cNvPr>
          <p:cNvSpPr txBox="1"/>
          <p:nvPr/>
        </p:nvSpPr>
        <p:spPr>
          <a:xfrm>
            <a:off x="542925" y="271716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7AA57C-671C-B3A6-A740-B9AA2689BE4B}"/>
              </a:ext>
            </a:extLst>
          </p:cNvPr>
          <p:cNvSpPr txBox="1"/>
          <p:nvPr/>
        </p:nvSpPr>
        <p:spPr>
          <a:xfrm>
            <a:off x="4560886" y="2662735"/>
            <a:ext cx="66198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dirty="0">
                <a:latin typeface="Courier New" panose="02070309020205020404" pitchFamily="49" charset="0"/>
              </a:rPr>
              <a:t>docker build -t </a:t>
            </a:r>
            <a:r>
              <a:rPr lang="en-US" altLang="ko-KR" dirty="0" err="1">
                <a:latin typeface="Courier New" panose="02070309020205020404" pitchFamily="49" charset="0"/>
              </a:rPr>
              <a:t>myfastapi</a:t>
            </a:r>
            <a:r>
              <a:rPr lang="en-US" altLang="ko-KR" dirty="0">
                <a:latin typeface="Courier New" panose="02070309020205020404" pitchFamily="49" charset="0"/>
              </a:rPr>
              <a:t> .</a:t>
            </a:r>
          </a:p>
        </p:txBody>
      </p:sp>
    </p:spTree>
    <p:extLst>
      <p:ext uri="{BB962C8B-B14F-4D97-AF65-F5344CB8AC3E}">
        <p14:creationId xmlns:p14="http://schemas.microsoft.com/office/powerpoint/2010/main" val="20014770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30533-8363-FB7B-91BF-5BAD40BE2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C3C5E627-1331-58AC-FF1E-4B994CE3CDF4}"/>
              </a:ext>
            </a:extLst>
          </p:cNvPr>
          <p:cNvCxnSpPr>
            <a:cxnSpLocks/>
            <a:stCxn id="14" idx="2"/>
            <a:endCxn id="13" idx="1"/>
          </p:cNvCxnSpPr>
          <p:nvPr/>
        </p:nvCxnSpPr>
        <p:spPr>
          <a:xfrm rot="16200000" flipH="1">
            <a:off x="5477275" y="354435"/>
            <a:ext cx="557659" cy="629636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제목 1">
            <a:extLst>
              <a:ext uri="{FF2B5EF4-FFF2-40B4-BE49-F238E27FC236}">
                <a16:creationId xmlns:a16="http://schemas.microsoft.com/office/drawing/2014/main" id="{C3BD2180-D92D-9F5E-841C-6E622249EA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C0E32F-B17E-54E8-3093-A3361CB598F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DEA9019-2BBB-E70B-01B6-AD55E1F515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655C2E-803C-5A65-81AE-93053F1E31DC}"/>
              </a:ext>
            </a:extLst>
          </p:cNvPr>
          <p:cNvSpPr txBox="1"/>
          <p:nvPr/>
        </p:nvSpPr>
        <p:spPr>
          <a:xfrm>
            <a:off x="586694" y="2854456"/>
            <a:ext cx="4042456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build -t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F54603-1303-3213-1D17-2A2F90123C74}"/>
              </a:ext>
            </a:extLst>
          </p:cNvPr>
          <p:cNvSpPr txBox="1"/>
          <p:nvPr/>
        </p:nvSpPr>
        <p:spPr>
          <a:xfrm>
            <a:off x="8904286" y="2873506"/>
            <a:ext cx="2276475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60F0A5-20E9-F824-3E65-26A8A8A8B952}"/>
              </a:ext>
            </a:extLst>
          </p:cNvPr>
          <p:cNvSpPr txBox="1"/>
          <p:nvPr/>
        </p:nvSpPr>
        <p:spPr>
          <a:xfrm>
            <a:off x="8248650" y="2463438"/>
            <a:ext cx="3181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CDCF08-6FFD-1671-C297-CF038A22E8FC}"/>
              </a:ext>
            </a:extLst>
          </p:cNvPr>
          <p:cNvSpPr txBox="1"/>
          <p:nvPr/>
        </p:nvSpPr>
        <p:spPr>
          <a:xfrm>
            <a:off x="4839305" y="1267472"/>
            <a:ext cx="2649358" cy="526297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python:3.12-slim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실행환경 확보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requirements.txt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RUN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...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라이브러리 설치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app.py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포함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CMD ...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방법 지정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</a:p>
        </p:txBody>
      </p:sp>
    </p:spTree>
    <p:extLst>
      <p:ext uri="{BB962C8B-B14F-4D97-AF65-F5344CB8AC3E}">
        <p14:creationId xmlns:p14="http://schemas.microsoft.com/office/powerpoint/2010/main" val="195494185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A9F12-07C8-4DF7-B09F-C62410B02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7EA46590-F4A3-D8B8-C2B5-F0D07E4C24A8}"/>
              </a:ext>
            </a:extLst>
          </p:cNvPr>
          <p:cNvCxnSpPr>
            <a:cxnSpLocks/>
            <a:stCxn id="14" idx="2"/>
            <a:endCxn id="19" idx="1"/>
          </p:cNvCxnSpPr>
          <p:nvPr/>
        </p:nvCxnSpPr>
        <p:spPr>
          <a:xfrm rot="16200000" flipH="1">
            <a:off x="4693739" y="814121"/>
            <a:ext cx="1367262" cy="508169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제목 1">
            <a:extLst>
              <a:ext uri="{FF2B5EF4-FFF2-40B4-BE49-F238E27FC236}">
                <a16:creationId xmlns:a16="http://schemas.microsoft.com/office/drawing/2014/main" id="{391FAAD6-CCC9-0F06-4DE9-280BD4E66E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BFD8BD-9DF2-9A65-4471-FAD9B7F1DA56}"/>
              </a:ext>
            </a:extLst>
          </p:cNvPr>
          <p:cNvSpPr txBox="1"/>
          <p:nvPr/>
        </p:nvSpPr>
        <p:spPr>
          <a:xfrm>
            <a:off x="744020" y="26918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235325C-AF0F-21F0-36FA-9E3329754E8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C60109-6211-C238-D1E3-C99AFAC6D4CF}"/>
              </a:ext>
            </a:extLst>
          </p:cNvPr>
          <p:cNvSpPr txBox="1"/>
          <p:nvPr/>
        </p:nvSpPr>
        <p:spPr>
          <a:xfrm>
            <a:off x="586694" y="2302006"/>
            <a:ext cx="4499656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sv-SE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run -p 8000:8000 myfastapi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DD83A9-FA4D-4D55-D04F-B1E647022C76}"/>
              </a:ext>
            </a:extLst>
          </p:cNvPr>
          <p:cNvSpPr txBox="1"/>
          <p:nvPr/>
        </p:nvSpPr>
        <p:spPr>
          <a:xfrm>
            <a:off x="4333080" y="3130659"/>
            <a:ext cx="1792289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B593B1-C8FB-BDD5-442F-7D01B4097799}"/>
              </a:ext>
            </a:extLst>
          </p:cNvPr>
          <p:cNvSpPr txBox="1"/>
          <p:nvPr/>
        </p:nvSpPr>
        <p:spPr>
          <a:xfrm>
            <a:off x="7839075" y="1979458"/>
            <a:ext cx="29903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Container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D744F-3909-EA2C-33DF-8EE28B0324AE}"/>
              </a:ext>
            </a:extLst>
          </p:cNvPr>
          <p:cNvSpPr txBox="1"/>
          <p:nvPr/>
        </p:nvSpPr>
        <p:spPr>
          <a:xfrm>
            <a:off x="475645" y="1910988"/>
            <a:ext cx="43338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만들어지고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실행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EA9AC4F6-E71C-CE2E-8A50-9A2911BD9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218" y="2400158"/>
            <a:ext cx="4016088" cy="327688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DFC23E00-9592-4757-9C8A-8D43707CDA64}"/>
              </a:ext>
            </a:extLst>
          </p:cNvPr>
          <p:cNvSpPr txBox="1"/>
          <p:nvPr/>
        </p:nvSpPr>
        <p:spPr>
          <a:xfrm>
            <a:off x="666750" y="606824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docker-concepts/building-images/understanding-image-layers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Google Shape;342;p19">
            <a:extLst>
              <a:ext uri="{FF2B5EF4-FFF2-40B4-BE49-F238E27FC236}">
                <a16:creationId xmlns:a16="http://schemas.microsoft.com/office/drawing/2014/main" id="{034B6501-0163-63B5-2F46-57F31AE3BA61}"/>
              </a:ext>
            </a:extLst>
          </p:cNvPr>
          <p:cNvSpPr txBox="1"/>
          <p:nvPr/>
        </p:nvSpPr>
        <p:spPr>
          <a:xfrm>
            <a:off x="7839075" y="5722590"/>
            <a:ext cx="392430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u="sng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https://docs.docker.com/storage/storagedriver/</a:t>
            </a:r>
            <a:r>
              <a:rPr lang="en-US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endParaRPr sz="12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</p:spTree>
    <p:extLst>
      <p:ext uri="{BB962C8B-B14F-4D97-AF65-F5344CB8AC3E}">
        <p14:creationId xmlns:p14="http://schemas.microsoft.com/office/powerpoint/2010/main" val="50438582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60862-AB7B-4076-93AF-68B42E863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6287C6A-C19C-5FD5-830C-788602E31C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File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DA0D7D9-6599-2504-224C-070C3E0B35C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608286D-1A9B-F64A-3460-9E3CBA324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9628" y="3813770"/>
            <a:ext cx="6986247" cy="222949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D3D15BC-0C13-1880-AFD9-429C72889356}"/>
              </a:ext>
            </a:extLst>
          </p:cNvPr>
          <p:cNvSpPr txBox="1"/>
          <p:nvPr/>
        </p:nvSpPr>
        <p:spPr>
          <a:xfrm>
            <a:off x="619125" y="1248422"/>
            <a:ext cx="609600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설계도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설계도로 만들어 놓은 실행 패키지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Container = 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실제 실행한 것</a:t>
            </a:r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B73D02EB-5B48-439F-3A3A-A29FC4FA973B}"/>
              </a:ext>
            </a:extLst>
          </p:cNvPr>
          <p:cNvSpPr/>
          <p:nvPr/>
        </p:nvSpPr>
        <p:spPr>
          <a:xfrm>
            <a:off x="6534150" y="1933576"/>
            <a:ext cx="5153026" cy="857250"/>
          </a:xfrm>
          <a:prstGeom prst="borderCallout2">
            <a:avLst>
              <a:gd name="adj1" fmla="val 98115"/>
              <a:gd name="adj2" fmla="val 594"/>
              <a:gd name="adj3" fmla="val 179372"/>
              <a:gd name="adj4" fmla="val 11598"/>
              <a:gd name="adj5" fmla="val 245337"/>
              <a:gd name="adj6" fmla="val 20672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Container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필요한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user-space + Runtime + Library + Application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943753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293F5-0D46-7F99-F8F5-4AA8E073B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CCA453-E1B6-F9A4-DB48-BCF800D1DC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build vs. 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DB76D5-758D-D5F0-CA6C-291E1F1167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A2C7BF-96F3-89FA-82C9-3941D8C29F80}"/>
              </a:ext>
            </a:extLst>
          </p:cNvPr>
          <p:cNvSpPr txBox="1"/>
          <p:nvPr/>
        </p:nvSpPr>
        <p:spPr>
          <a:xfrm>
            <a:off x="7492392" y="2259449"/>
            <a:ext cx="3543905" cy="39703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app.py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┌────────────────────┐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Interpreter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   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└────────┬───────────┘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소스코드 해석/컴파일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CPU 실행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C79731-7A2D-23DF-5F1C-03DEE57420DA}"/>
              </a:ext>
            </a:extLst>
          </p:cNvPr>
          <p:cNvSpPr txBox="1"/>
          <p:nvPr/>
        </p:nvSpPr>
        <p:spPr>
          <a:xfrm>
            <a:off x="685195" y="1318116"/>
            <a:ext cx="10887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Python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언어를 실제 컴퓨터에서 실행해 주는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 구현체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6E964F-5BF5-65B4-65A7-B3362EA8BC01}"/>
              </a:ext>
            </a:extLst>
          </p:cNvPr>
          <p:cNvSpPr txBox="1"/>
          <p:nvPr/>
        </p:nvSpPr>
        <p:spPr>
          <a:xfrm>
            <a:off x="818545" y="2259449"/>
            <a:ext cx="5277455" cy="1077218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app.py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명령어를 실행하면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/local/bin/python app.py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읽어서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프로그램을 실행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959AB5E-A651-016D-A63C-2D1E75C8FADA}"/>
              </a:ext>
            </a:extLst>
          </p:cNvPr>
          <p:cNvSpPr txBox="1"/>
          <p:nvPr/>
        </p:nvSpPr>
        <p:spPr>
          <a:xfrm>
            <a:off x="1041403" y="3429000"/>
            <a:ext cx="3210444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 실행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▼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실행파일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읽기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객체 관리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메모리 관리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└── 코드 실행</a:t>
            </a:r>
          </a:p>
        </p:txBody>
      </p:sp>
    </p:spTree>
    <p:extLst>
      <p:ext uri="{BB962C8B-B14F-4D97-AF65-F5344CB8AC3E}">
        <p14:creationId xmlns:p14="http://schemas.microsoft.com/office/powerpoint/2010/main" val="285252281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082F8-91DD-D4AC-8A6C-109150840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06B6A1-4DE0-972D-070B-86520EF38F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build vs. 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52ED161-CC88-2389-5992-0274CB03AFC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E4A2DA-79E0-6DA5-74B7-B256A9254ED8}"/>
              </a:ext>
            </a:extLst>
          </p:cNvPr>
          <p:cNvSpPr txBox="1"/>
          <p:nvPr/>
        </p:nvSpPr>
        <p:spPr>
          <a:xfrm>
            <a:off x="608995" y="1194291"/>
            <a:ext cx="1110736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언어를 실제 컴퓨터에서 실행해 주는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 구현체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포함해서 애플리케이션 전체를 포장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Docker Engine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그 이미지를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실행하는 기술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ACB9DA-DBB9-7634-ECD8-B08D69338830}"/>
              </a:ext>
            </a:extLst>
          </p:cNvPr>
          <p:cNvSpPr txBox="1"/>
          <p:nvPr/>
        </p:nvSpPr>
        <p:spPr>
          <a:xfrm>
            <a:off x="3982547" y="2790393"/>
            <a:ext cx="2733675" cy="3662541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3.12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standard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library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└──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실행환경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app.py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666554-2B24-BA87-59EC-E5F9245F91F4}"/>
              </a:ext>
            </a:extLst>
          </p:cNvPr>
          <p:cNvSpPr txBox="1"/>
          <p:nvPr/>
        </p:nvSpPr>
        <p:spPr>
          <a:xfrm>
            <a:off x="885825" y="3128947"/>
            <a:ext cx="1840519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0B50BD-CF12-E1EC-93B7-2A82781040DB}"/>
              </a:ext>
            </a:extLst>
          </p:cNvPr>
          <p:cNvSpPr txBox="1"/>
          <p:nvPr/>
        </p:nvSpPr>
        <p:spPr>
          <a:xfrm>
            <a:off x="7972425" y="2482559"/>
            <a:ext cx="3333750" cy="418576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┌───────────────────────────────┐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Windows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 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WSL2   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┌───────────────────────────┐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            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┌───────────────────────┐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Container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       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app.py 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└───────────────────────┘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└───────────────────────────┘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└───────────────────────────────┘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7C562E-8842-0EA0-EDC0-63CD08156AE1}"/>
              </a:ext>
            </a:extLst>
          </p:cNvPr>
          <p:cNvSpPr txBox="1"/>
          <p:nvPr/>
        </p:nvSpPr>
        <p:spPr>
          <a:xfrm>
            <a:off x="784110" y="2790393"/>
            <a:ext cx="12668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AutoShape 2">
            <a:extLst>
              <a:ext uri="{FF2B5EF4-FFF2-40B4-BE49-F238E27FC236}">
                <a16:creationId xmlns:a16="http://schemas.microsoft.com/office/drawing/2014/main" id="{3C645A9C-620C-805F-33F0-37609036096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782910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6E27F-67DA-FEB1-4BB8-A3F9ADD88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9532F4-EDE9-7261-2B3E-06E46541CD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소스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컴파일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Runtime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B963B8B-7ADA-DDEB-7AB8-E6A34306C83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5D6F968-44B3-1124-E2B9-2E0B8312B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3344" y="1477702"/>
            <a:ext cx="7456431" cy="4898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73868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CA049-FD5B-1B96-1672-0CB24CFA8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65702D-EA4A-B4A1-EBC6-537ED604D87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Runtime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F347BE9-9653-DA64-5BA5-493D8AADD99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90E968E-CE02-89FC-28DD-934EC5242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6181" y="2025329"/>
            <a:ext cx="5626234" cy="36806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94BA09E-5ADD-220B-6F7F-345A57D49298}"/>
              </a:ext>
            </a:extLst>
          </p:cNvPr>
          <p:cNvSpPr txBox="1"/>
          <p:nvPr/>
        </p:nvSpPr>
        <p:spPr>
          <a:xfrm>
            <a:off x="475644" y="1958154"/>
            <a:ext cx="5614475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C/C++ : 컴파일하면 기계어가 되므로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CPU가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바로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Java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컴파일 결과는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Bytecode이고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JVM이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소스를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Bytecode로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만든 뒤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ython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+ 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)이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코드를 실행하는 것이 아니라 코드 + 런타임 + 라이브러리를 하나의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만들어 Container에서 실행</a:t>
            </a:r>
          </a:p>
        </p:txBody>
      </p:sp>
    </p:spTree>
    <p:extLst>
      <p:ext uri="{BB962C8B-B14F-4D97-AF65-F5344CB8AC3E}">
        <p14:creationId xmlns:p14="http://schemas.microsoft.com/office/powerpoint/2010/main" val="311794602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ACE78-763B-DF6D-4238-85CCF9CF6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FDAB368-C457-9F6B-7138-2D902C85715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명령어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985ECA-6A68-C4D3-73C6-89817EF668F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AF9BA79-50B8-B018-7AB3-0D060F7A4D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4CB2DEB-9EA8-A0CD-D9C4-BDCF6B5C8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5" y="1587267"/>
            <a:ext cx="11154380" cy="4578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실행 (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hello-world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허브에서 이미지 자동 다운로드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생성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테스트 메시지 출력 후 종료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상태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실행 중인 컨테이너 목록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–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종료된 컨테이너를 포함한 전체 실행 기록(히스토리) 조회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중지 및 정돈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실행 중인 컨테이너 안전하게 중지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중지된 컨테이너 삭제 (-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옵션 추가 시 실행 중인 컨테이너 강제 삭제)</a:t>
            </a:r>
          </a:p>
        </p:txBody>
      </p:sp>
    </p:spTree>
    <p:extLst>
      <p:ext uri="{BB962C8B-B14F-4D97-AF65-F5344CB8AC3E}">
        <p14:creationId xmlns:p14="http://schemas.microsoft.com/office/powerpoint/2010/main" val="159750002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2"/>
          <p:cNvSpPr txBox="1">
            <a:spLocks noGrp="1"/>
          </p:cNvSpPr>
          <p:nvPr>
            <p:ph type="title"/>
          </p:nvPr>
        </p:nvSpPr>
        <p:spPr>
          <a:xfrm>
            <a:off x="919119" y="378863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실습하기</a:t>
            </a:r>
            <a:endParaRPr dirty="0"/>
          </a:p>
        </p:txBody>
      </p:sp>
      <p:pic>
        <p:nvPicPr>
          <p:cNvPr id="369" name="Google Shape;369;p22" descr="나무 배경에 영화 클래퍼입니다. 3d 그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65783" y="1574223"/>
            <a:ext cx="952500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22"/>
          <p:cNvSpPr txBox="1"/>
          <p:nvPr/>
        </p:nvSpPr>
        <p:spPr>
          <a:xfrm rot="1558658">
            <a:off x="3140505" y="4832272"/>
            <a:ext cx="339838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docker run / build</a:t>
            </a:r>
            <a:endParaRPr sz="1800" b="1" dirty="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22"/>
          <p:cNvSpPr txBox="1"/>
          <p:nvPr/>
        </p:nvSpPr>
        <p:spPr>
          <a:xfrm rot="1416959">
            <a:off x="1219750" y="4406350"/>
            <a:ext cx="7458333" cy="455528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 fontScale="975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100000"/>
              <a:buFont typeface="Batang"/>
              <a:buNone/>
            </a:pPr>
            <a:r>
              <a:rPr lang="en-US" sz="1600" b="1" u="sng" dirty="0">
                <a:solidFill>
                  <a:srgbClr val="FFFF00"/>
                </a:solidFill>
                <a:latin typeface="Batang"/>
                <a:ea typeface="Batang"/>
                <a:cs typeface="Batang"/>
                <a:sym typeface="Batang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Beginner’s guide to use docker (Build, Run, Push and Pull)</a:t>
            </a:r>
            <a:endParaRPr sz="1600" b="1" dirty="0">
              <a:solidFill>
                <a:srgbClr val="FFFF00"/>
              </a:solidFill>
              <a:latin typeface="Batang"/>
              <a:ea typeface="Batang"/>
              <a:cs typeface="Batang"/>
              <a:sym typeface="Batang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E6001-3FEC-77DB-8683-7FD5DBF9A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E00CBC-B28C-2C6A-126F-3004A7725C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A1FDCF-EFFF-AD30-2847-C6A182B1816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FFEE19D-4E72-8DEE-AD86-EFC39E64A8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8BDD442-F296-7A5A-E1FE-F8268414B2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3EF25F3-80E9-ECDE-AFCD-8C2932355D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644" y="1510373"/>
            <a:ext cx="10950889" cy="3977985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C9D23713-FD5D-9530-DFDD-2E5B295FD122}"/>
              </a:ext>
            </a:extLst>
          </p:cNvPr>
          <p:cNvSpPr/>
          <p:nvPr/>
        </p:nvSpPr>
        <p:spPr>
          <a:xfrm>
            <a:off x="7656510" y="5621400"/>
            <a:ext cx="3901023" cy="465076"/>
          </a:xfrm>
          <a:prstGeom prst="borderCallout2">
            <a:avLst>
              <a:gd name="adj1" fmla="val 45375"/>
              <a:gd name="adj2" fmla="val -2961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hub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</a:t>
            </a:r>
          </a:p>
        </p:txBody>
      </p:sp>
    </p:spTree>
    <p:extLst>
      <p:ext uri="{BB962C8B-B14F-4D97-AF65-F5344CB8AC3E}">
        <p14:creationId xmlns:p14="http://schemas.microsoft.com/office/powerpoint/2010/main" val="308423005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F79EE-55EE-C9A4-7388-09C8F0F57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3A14197-CE3B-7059-A1F0-64E44B0EE6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1CEC14-5191-F985-B33F-AB46C5C17B1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73D1404-659A-9541-9455-E1A98C4C046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C15A5E7E-3E1F-C577-D04A-D7C749C7E0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397E819-6ECE-2B49-9CCD-4A6A35E7C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491" y="1356475"/>
            <a:ext cx="7668814" cy="5071656"/>
          </a:xfrm>
          <a:prstGeom prst="rect">
            <a:avLst/>
          </a:prstGeom>
        </p:spPr>
      </p:pic>
      <p:sp>
        <p:nvSpPr>
          <p:cNvPr id="4" name="설명선: 굽은 선 3">
            <a:extLst>
              <a:ext uri="{FF2B5EF4-FFF2-40B4-BE49-F238E27FC236}">
                <a16:creationId xmlns:a16="http://schemas.microsoft.com/office/drawing/2014/main" id="{930DE57A-8399-76EC-89FB-5AD3D5E9AD2D}"/>
              </a:ext>
            </a:extLst>
          </p:cNvPr>
          <p:cNvSpPr/>
          <p:nvPr/>
        </p:nvSpPr>
        <p:spPr>
          <a:xfrm>
            <a:off x="7946380" y="3112532"/>
            <a:ext cx="3901023" cy="76643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다운받고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중단</a:t>
            </a:r>
          </a:p>
        </p:txBody>
      </p:sp>
    </p:spTree>
    <p:extLst>
      <p:ext uri="{BB962C8B-B14F-4D97-AF65-F5344CB8AC3E}">
        <p14:creationId xmlns:p14="http://schemas.microsoft.com/office/powerpoint/2010/main" val="357142509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52B5E-31C4-5968-47D5-6806B18DE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2C6756-11CF-E6EE-AE34-CC08ABABFC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D258A6-542E-F9E6-6620-D76EE5FB39F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2469DCE-68E3-E101-5079-4FF17FA7FCD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34A99F0-4882-B9EE-28AE-86B28E32B8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6938850-621F-5228-F22D-757246085098}"/>
              </a:ext>
            </a:extLst>
          </p:cNvPr>
          <p:cNvSpPr txBox="1"/>
          <p:nvPr/>
        </p:nvSpPr>
        <p:spPr>
          <a:xfrm>
            <a:off x="647701" y="2363516"/>
            <a:ext cx="4895850" cy="233910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n8nio/n8n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←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대신 이것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Libraries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973AF6-B374-F38D-3B77-E92EBB4FA1CA}"/>
              </a:ext>
            </a:extLst>
          </p:cNvPr>
          <p:cNvSpPr txBox="1"/>
          <p:nvPr/>
        </p:nvSpPr>
        <p:spPr>
          <a:xfrm>
            <a:off x="6256854" y="4703659"/>
            <a:ext cx="5343526" cy="15696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─────────────                   ─────────────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↔          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↔           n8n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↔          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npm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              ↔          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51696B-4134-BC27-A1F9-1E69F0AA568D}"/>
              </a:ext>
            </a:extLst>
          </p:cNvPr>
          <p:cNvSpPr txBox="1"/>
          <p:nvPr/>
        </p:nvSpPr>
        <p:spPr>
          <a:xfrm>
            <a:off x="552449" y="1274564"/>
            <a:ext cx="109632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프로그램만 넣는 것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아니라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프로그램이 실행될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까지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함께 넣어 배포하는 것</a:t>
            </a:r>
          </a:p>
        </p:txBody>
      </p:sp>
    </p:spTree>
    <p:extLst>
      <p:ext uri="{BB962C8B-B14F-4D97-AF65-F5344CB8AC3E}">
        <p14:creationId xmlns:p14="http://schemas.microsoft.com/office/powerpoint/2010/main" val="259710460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E7208-FD41-51A5-10D0-162555D90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9FAE5FF-C735-D784-1683-049AAD3021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hub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495112-72D8-FE99-8BD9-68DA6A7D836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95CDA8-7D3C-3E63-9A35-7918D2A62E6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8C62E094-C837-DF31-CAFF-5547EF2FE6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39196BC-0F86-B1BC-1AC1-973A59B2F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38" y="1356475"/>
            <a:ext cx="8250976" cy="506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77206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5FDCF-A514-1757-9A1C-523CEC8B9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103821-8849-6408-57BE-E15F46AA9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 hello-world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F93CA0-8854-EE15-F1F5-D29149C7B62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A36BF2F-A6AE-22B4-7A69-1EB160D2DB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3FF34DC-DBC1-9AB0-4F91-1857C2F5D4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C65908D-1062-EFC7-8AD9-484EF86D37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65" y="1369484"/>
            <a:ext cx="7135685" cy="5006533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BBBC5263-FFEF-C04E-AD21-EE8282FE1DE2}"/>
              </a:ext>
            </a:extLst>
          </p:cNvPr>
          <p:cNvSpPr/>
          <p:nvPr/>
        </p:nvSpPr>
        <p:spPr>
          <a:xfrm>
            <a:off x="7879705" y="1398032"/>
            <a:ext cx="3901023" cy="2215634"/>
          </a:xfrm>
          <a:prstGeom prst="borderCallout2">
            <a:avLst/>
          </a:prstGeom>
          <a:ln>
            <a:solidFill>
              <a:srgbClr val="FFFF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Hello from Docker! This message shows that your installation appears to be working correctly. 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 generate this message, Docker took the following steps: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client contacted the Docker daemon.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pulled the "hello-world" image from the Docker Hub.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created a new container from that image...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4. The Docker daemon streamed that output to the Docker client...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01408362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/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 </a:t>
            </a:r>
            <a:r>
              <a:rPr lang="en-US" dirty="0" err="1"/>
              <a:t>설치</a:t>
            </a:r>
            <a:r>
              <a:rPr lang="en-US" dirty="0"/>
              <a:t>(WSL)</a:t>
            </a:r>
            <a:endParaRPr dirty="0"/>
          </a:p>
        </p:txBody>
      </p:sp>
      <p:sp>
        <p:nvSpPr>
          <p:cNvPr id="249" name="Google Shape;249;p10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50" name="Google Shape;25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7286" y="2320872"/>
            <a:ext cx="9062227" cy="282585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54388E8C-D519-6B2C-100C-D6358F335E5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7801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A1AEC-5624-24F6-8379-98C1F8AD0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BA8A3E-5CE9-E8C8-625D-3E19FD81B1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WSL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54D114-5F84-74D5-66B9-0D296980364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1364800-C37B-DC24-7E14-A3C8A5A5DF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6599ACA-B608-7B9B-1C99-7776140396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35A25B-E1DD-CBD7-9DCB-F3B98CAB6187}"/>
              </a:ext>
            </a:extLst>
          </p:cNvPr>
          <p:cNvSpPr txBox="1"/>
          <p:nvPr/>
        </p:nvSpPr>
        <p:spPr>
          <a:xfrm>
            <a:off x="2551629" y="1801242"/>
            <a:ext cx="6877051" cy="255454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C:\Users\조상구&gt;wsl --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 버전: 2.7.11.0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커널 버전: 6.18.33.2-2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WSLg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1.0.73.2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MSRDC 버전: 1.2.7214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Direct3D 버전: 1.611.1-81528511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DXCore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10.0.26100.1-240331-1435.ge-release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Windows 버전: 10.0.26200.9168</a:t>
            </a:r>
          </a:p>
          <a:p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EF6CBDF-3A34-69BE-7A02-A4BDA8C453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45" y="1217365"/>
            <a:ext cx="11353281" cy="465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WSL(Windows Subsystem for Linux)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33188051-64FB-BF0F-AFBB-814E0FCB09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4610284"/>
            <a:ext cx="11353281" cy="880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 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먼저 설치하고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얹어서 연동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513905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1"/>
          <p:cNvSpPr txBox="1">
            <a:spLocks noGrp="1"/>
          </p:cNvSpPr>
          <p:nvPr>
            <p:ph type="title"/>
          </p:nvPr>
        </p:nvSpPr>
        <p:spPr>
          <a:xfrm>
            <a:off x="913794" y="438519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/>
              <a:t>Windows PowerShell</a:t>
            </a:r>
            <a:endParaRPr/>
          </a:p>
        </p:txBody>
      </p:sp>
      <p:sp>
        <p:nvSpPr>
          <p:cNvPr id="259" name="Google Shape;259;p11"/>
          <p:cNvSpPr txBox="1"/>
          <p:nvPr/>
        </p:nvSpPr>
        <p:spPr>
          <a:xfrm>
            <a:off x="620413" y="1605947"/>
            <a:ext cx="10480459" cy="443031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55000" lnSpcReduction="20000"/>
          </a:bodyPr>
          <a:lstStyle/>
          <a:p>
            <a:pPr marL="369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8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8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--version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8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--list –online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NAME                                   FRIENDLY NAME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</a:t>
            </a:r>
            <a:endParaRPr sz="14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GNU/Linux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kali-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linux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                            Kali Linux Rolling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Ubuntu-18.04                           Ubuntu 18.04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Ubuntu-20.04                           Ubuntu 20.04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Ubuntu-22.04                           Ubuntu 22.04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OracleLinux_7_9                        Oracle Linux 7.9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OracleLinux_8_7                        Oracle Linux 8.7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OracleLinux_9_1                        Oracle Linux 9.1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openSUSE-Leap-15.5                     openSUSE Leap 15.5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SUSE-Linux-Enterprise-Server-15-SP4    SUSE Linux Enterprise Server 15 SP4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SUSE-Linux-Enterprise-15-SP5           SUSE Linux Enterprise 15 SP5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openSUSE-Tumbleweed                    openSUSE Tumbleweed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831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1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--status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0" name="Google Shape;260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0675" y="1396406"/>
            <a:ext cx="5480912" cy="5023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3C797678-5E79-C069-4201-77C29A5A67D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957306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4"/>
          <p:cNvSpPr txBox="1">
            <a:spLocks noGrp="1"/>
          </p:cNvSpPr>
          <p:nvPr>
            <p:ph type="title"/>
          </p:nvPr>
        </p:nvSpPr>
        <p:spPr>
          <a:xfrm>
            <a:off x="919119" y="41954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WSL2 Installation</a:t>
            </a:r>
            <a:endParaRPr dirty="0"/>
          </a:p>
        </p:txBody>
      </p:sp>
      <p:sp>
        <p:nvSpPr>
          <p:cNvPr id="293" name="Google Shape;293;p14"/>
          <p:cNvSpPr txBox="1"/>
          <p:nvPr/>
        </p:nvSpPr>
        <p:spPr>
          <a:xfrm>
            <a:off x="585585" y="1416783"/>
            <a:ext cx="11458633" cy="46166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--install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(가)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이미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설치되어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있습니다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Ubuntu을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(를)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시작하는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중...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 run a command as administrator (user "root"), use "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&lt;command&gt;".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See "man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sudo_root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" for details.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lt1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 -al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total 28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-x--- 3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20 00:06 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 3 root     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  4096 Dec 19 23:02 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179 Dec 20 10:53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bash_history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220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bash_logout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3771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bashrc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------ 2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19 23:02 .cache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0 Dec 20 10:42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motd_shown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807 Dec 19 23:02 .profile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-l -v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NAME                   STATE           VERSION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                 Running         2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4" name="Google Shape;294;p14"/>
          <p:cNvSpPr/>
          <p:nvPr/>
        </p:nvSpPr>
        <p:spPr>
          <a:xfrm>
            <a:off x="7907414" y="6033391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Window 11 Home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4"/>
          <p:cNvSpPr/>
          <p:nvPr/>
        </p:nvSpPr>
        <p:spPr>
          <a:xfrm>
            <a:off x="7907414" y="5190752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WSL2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4"/>
          <p:cNvSpPr/>
          <p:nvPr/>
        </p:nvSpPr>
        <p:spPr>
          <a:xfrm>
            <a:off x="7885843" y="4339105"/>
            <a:ext cx="3836894" cy="766439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Ubuntu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7" name="Google Shape;297;p14" descr="리눅스 (Linux) 명령어] 우분투(Ubuntu) 버전 확인하는 방법들! : 네이버 블로그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54435" y="4458107"/>
            <a:ext cx="686696" cy="52843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F6D61E0-D3DF-C556-13C4-F471825145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495993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CAAB9-ACA9-AEBC-886C-4678B6856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75E9E7-1BC6-5A3D-FC8C-6F2131DC11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7E3231D0-C6EE-2D2D-206A-E9E51806B7D4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C1B9FD-E9D4-3878-D360-358CDCC97F39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</a:p>
        </p:txBody>
      </p:sp>
    </p:spTree>
    <p:extLst>
      <p:ext uri="{BB962C8B-B14F-4D97-AF65-F5344CB8AC3E}">
        <p14:creationId xmlns:p14="http://schemas.microsoft.com/office/powerpoint/2010/main" val="290146871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C5853-55A3-21A1-6500-18AADD4A1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12E6410-D7D9-0CBC-5C8D-28B178C4F8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1A9EF-4531-27E6-C4EF-FB1306627CC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3D6EB26-833B-3896-5929-885651239E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DFCC15D7-E24D-A137-FEA2-BA51A2D946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3DA2F47-8A5F-BFDC-FC08-8CDE00E07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364" y="2960717"/>
            <a:ext cx="7372862" cy="34153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5C3380A7-E7F0-646C-F442-EB15EA65C5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620" y="1171129"/>
            <a:ext cx="1135328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웹 브라우저 안에서 VS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에디터와 리눅스 터미널을 함께 쓰는 클라우드 IDE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에디터 화면에서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Dockerfile이나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docker-compose.yml을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직접 작성하고 터미널에서 빌드/실행(월 60시간 무료)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작성, 소스코드 패키징, 다중 컨테이너(DB 연동) 실습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사이트: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github.com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features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codespaces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22D80AF1-1BA7-25AE-13B6-263E11B5E0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291322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937A0-DE77-F3AC-2CB0-4D90EAE22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548B2E-94A5-B89C-754B-778BDB592E6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DD36D7-FC47-DDC0-856E-F11AB6AB1F3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460571-FE90-E8BB-9C24-39216547748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E7C64428-29F6-5EA8-CC81-0343F2EBB9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1228241"/>
            <a:ext cx="11353281" cy="793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 tooltip="GitHu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제공하는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 tooltip="Visual Studio Cod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Visual Studio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기반 클라우드 서비스로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저장소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내의 코드를 편집할 수 있는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5" tooltip="개발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개발환경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6" tooltip="클라우드 컴퓨팅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클라우드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구성해 원격으로 접속할 수 있는 가상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7" tooltip="통합 개발 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통합 개발 환경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8BA51481-8FCF-1F90-6F29-2A12E77296A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A7C590-F4C2-6337-351B-A49F55F4D3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77334" y="2184725"/>
            <a:ext cx="6332531" cy="432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02881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01277-9A88-504F-5FAA-39319118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3F94AF-1626-69A4-4C1D-8C37A04FE2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F14F2A-AFC4-ED2F-58BA-29DD27630ED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3B6768-0300-4858-09FE-DAAE8BD7A79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4D02AC-8F0E-FB61-0FFF-76B88FD92A01}"/>
              </a:ext>
            </a:extLst>
          </p:cNvPr>
          <p:cNvSpPr txBox="1"/>
          <p:nvPr/>
        </p:nvSpPr>
        <p:spPr>
          <a:xfrm>
            <a:off x="563418" y="1221695"/>
            <a:ext cx="11152937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Codespaces는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기본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데몬을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지원하므로 추가 설치 없이 바로 컨테이너 기반 가상화 실습을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Nginx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기반으로 커스텀 웹 서버 컨테이너를 빌드하고 외부로 노출하는 과제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91C317-3FCB-6CC5-3F59-A918C38DAF3C}"/>
              </a:ext>
            </a:extLst>
          </p:cNvPr>
          <p:cNvSpPr txBox="1"/>
          <p:nvPr/>
        </p:nvSpPr>
        <p:spPr>
          <a:xfrm>
            <a:off x="744020" y="2537313"/>
            <a:ext cx="7614889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mkdir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docker-lab &amp;&amp; cd docker-lab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echo '&lt;h1&gt;Hello Docker from GitHub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!&lt;/h1&gt;' &gt; index.html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C1F6EB-ACBB-A589-8B98-7A9066D2FA40}"/>
              </a:ext>
            </a:extLst>
          </p:cNvPr>
          <p:cNvSpPr txBox="1"/>
          <p:nvPr/>
        </p:nvSpPr>
        <p:spPr>
          <a:xfrm>
            <a:off x="744020" y="3270768"/>
            <a:ext cx="5177919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cat &lt;&lt;'EOF' &gt;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nginx:alpine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COPY index.html /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usr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/share/nginx/html/index.html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EXPOSE 80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EOF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329935-2163-0685-E597-81DF3D34E6B7}"/>
              </a:ext>
            </a:extLst>
          </p:cNvPr>
          <p:cNvSpPr txBox="1"/>
          <p:nvPr/>
        </p:nvSpPr>
        <p:spPr>
          <a:xfrm>
            <a:off x="744020" y="4805154"/>
            <a:ext cx="5177919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L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build -t my-web-app .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run -d -p 8080:80 --name web-server my-web-app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curl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http://localhost:8080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50945E-47A0-7BF1-EFE6-B38A41037DED}"/>
              </a:ext>
            </a:extLst>
          </p:cNvPr>
          <p:cNvSpPr txBox="1"/>
          <p:nvPr/>
        </p:nvSpPr>
        <p:spPr>
          <a:xfrm>
            <a:off x="6080761" y="4543058"/>
            <a:ext cx="5620355" cy="600164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Dockerfile을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읽어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이미지를 생성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생성할 이미지의 이름(태그)을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my-web-app으로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지정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이미지 빌드에 필요한 파일들이 위치한 현재 디렉터리를 의미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C4B2B6-78ED-DDD4-14F9-21BB2F58EF26}"/>
              </a:ext>
            </a:extLst>
          </p:cNvPr>
          <p:cNvSpPr txBox="1"/>
          <p:nvPr/>
        </p:nvSpPr>
        <p:spPr>
          <a:xfrm>
            <a:off x="6080761" y="5172776"/>
            <a:ext cx="5620355" cy="1107996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지정한 이미지를 기반으로 새로운 컨테이너를 생성하여 실행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컨테이너를 백그라운드(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Detached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모드)에서 실행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8080:80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외부(호스트) 8080번 포트 접속을 컨테이너 내부의 80번 포트로 연결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0"/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(포트 마이그레이션/바인딩)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web-server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실행되는 컨테이너의 이름을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web-server로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지정</a:t>
            </a:r>
          </a:p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실행에 사용할 이미지 이름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CBD8E1-1624-6410-A099-DD2C56FDB4F7}"/>
              </a:ext>
            </a:extLst>
          </p:cNvPr>
          <p:cNvSpPr txBox="1"/>
          <p:nvPr/>
        </p:nvSpPr>
        <p:spPr>
          <a:xfrm>
            <a:off x="563418" y="5041970"/>
            <a:ext cx="5440218" cy="523219"/>
          </a:xfrm>
          <a:prstGeom prst="rect">
            <a:avLst/>
          </a:prstGeom>
          <a:noFill/>
          <a:ln w="19050">
            <a:solidFill>
              <a:srgbClr val="FF0000"/>
            </a:solidFill>
            <a:prstDash val="solid"/>
          </a:ln>
        </p:spPr>
        <p:txBody>
          <a:bodyPr wrap="square">
            <a:spAutoFit/>
          </a:bodyPr>
          <a:lstStyle/>
          <a:p>
            <a:pPr lvl="0"/>
            <a:endParaRPr lang="ko-KR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" name="그래픽 25" descr="무술 단색으로 채워진">
            <a:extLst>
              <a:ext uri="{FF2B5EF4-FFF2-40B4-BE49-F238E27FC236}">
                <a16:creationId xmlns:a16="http://schemas.microsoft.com/office/drawing/2014/main" id="{4512B19F-724D-19EA-1744-83EB8BBA00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17742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7E790-91C6-EAF8-0BA8-84E2D4926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366CFF1-0379-855C-73FE-6315BA04F02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148465-0CDC-6F0D-EAB9-A2045B30D9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래픽 6" descr="무술 단색으로 채워진">
            <a:extLst>
              <a:ext uri="{FF2B5EF4-FFF2-40B4-BE49-F238E27FC236}">
                <a16:creationId xmlns:a16="http://schemas.microsoft.com/office/drawing/2014/main" id="{02BEA1C6-AED9-9C8F-5BB9-0BFDFE0A55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86C37FA-AB27-3BE4-AB75-252220E74F26}"/>
              </a:ext>
            </a:extLst>
          </p:cNvPr>
          <p:cNvSpPr txBox="1"/>
          <p:nvPr/>
        </p:nvSpPr>
        <p:spPr>
          <a:xfrm>
            <a:off x="563418" y="1221695"/>
            <a:ext cx="11152937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(Virtual Environment)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만들고 필요한 모듈과 패키지를 설치한 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seaborn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Titanic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바탕으로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애플리케이션에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마운트(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gr.mount_gradio_app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타이타닉 데이터셋을 웹 인터페이스로 탐색(EDA)하는 구현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하라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6E5F1EBB-626F-F535-9E2F-C960121C1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636" y="2669309"/>
            <a:ext cx="9384526" cy="347176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34AB9CE-49C7-3B70-0295-5A1CB8D7DCF7}"/>
              </a:ext>
            </a:extLst>
          </p:cNvPr>
          <p:cNvSpPr txBox="1"/>
          <p:nvPr/>
        </p:nvSpPr>
        <p:spPr>
          <a:xfrm>
            <a:off x="3491345" y="5113086"/>
            <a:ext cx="7416799" cy="523219"/>
          </a:xfrm>
          <a:prstGeom prst="rect">
            <a:avLst/>
          </a:prstGeom>
          <a:noFill/>
          <a:ln w="19050">
            <a:solidFill>
              <a:srgbClr val="FF0000"/>
            </a:solidFill>
            <a:prstDash val="solid"/>
          </a:ln>
        </p:spPr>
        <p:txBody>
          <a:bodyPr wrap="square">
            <a:spAutoFit/>
          </a:bodyPr>
          <a:lstStyle/>
          <a:p>
            <a:pPr lvl="0"/>
            <a:endParaRPr lang="ko-KR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097617E5-6327-C11A-96F9-304451D0F31C}"/>
              </a:ext>
            </a:extLst>
          </p:cNvPr>
          <p:cNvSpPr/>
          <p:nvPr/>
        </p:nvSpPr>
        <p:spPr>
          <a:xfrm>
            <a:off x="7313976" y="4143583"/>
            <a:ext cx="2835564" cy="52321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04295"/>
              <a:gd name="adj6" fmla="val -66862"/>
            </a:avLst>
          </a:prstGeom>
          <a:solidFill>
            <a:schemeClr val="tx1"/>
          </a:solidFill>
          <a:ln>
            <a:solidFill>
              <a:schemeClr val="bg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로컬이 아닌 외부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(Public)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연결하여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웹브라우저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시크릿 모드에서 확인 </a:t>
            </a:r>
          </a:p>
        </p:txBody>
      </p:sp>
    </p:spTree>
    <p:extLst>
      <p:ext uri="{BB962C8B-B14F-4D97-AF65-F5344CB8AC3E}">
        <p14:creationId xmlns:p14="http://schemas.microsoft.com/office/powerpoint/2010/main" val="366758236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1E716-933D-B585-BA12-48FA6DA4E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5E372B-FBA7-3B66-8628-FD60AE21FF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33A693F-B36A-13D8-7EB0-BA311A6FA8F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래픽 6" descr="무술 단색으로 채워진">
            <a:extLst>
              <a:ext uri="{FF2B5EF4-FFF2-40B4-BE49-F238E27FC236}">
                <a16:creationId xmlns:a16="http://schemas.microsoft.com/office/drawing/2014/main" id="{5C6C0998-9139-8CD4-56A2-85C15039B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CEAAACF-53FE-DE8D-B374-C353D03E72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1709" y="1215394"/>
            <a:ext cx="9277698" cy="535754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828A5D5-F827-D90F-0E4F-E3D5729A2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7858" y="2026632"/>
            <a:ext cx="5468923" cy="266516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4DFFF03-B17F-9ADC-F16B-3821EB9F80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313" y="2581481"/>
            <a:ext cx="4534855" cy="301726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594F4C2-147B-FA0B-BD5B-639EB20419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7391" y="3330669"/>
            <a:ext cx="4152942" cy="3236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277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53E20-9AC5-F483-F682-701DCBC3F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1D7D5D-DC4A-010F-A3DB-A7F57682A8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Linux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EDCD0F-CECA-43BF-184B-64CCE7C4EB6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2F1F58-E7D7-6F5A-35A4-8C894ED8CE1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26A53C0-CA82-2D75-2FF9-76AB13BE57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10" y="1867783"/>
            <a:ext cx="10438823" cy="4157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80261F5-6247-2387-C8C4-5B4D9A025D52}"/>
              </a:ext>
            </a:extLst>
          </p:cNvPr>
          <p:cNvSpPr txBox="1"/>
          <p:nvPr/>
        </p:nvSpPr>
        <p:spPr>
          <a:xfrm>
            <a:off x="561975" y="1320931"/>
            <a:ext cx="6096000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solidFill>
                  <a:schemeClr val="bg1"/>
                </a:solidFill>
              </a:rPr>
              <a:t>Linux</a:t>
            </a:r>
            <a:r>
              <a:rPr lang="ko-KR" altLang="en-US" dirty="0">
                <a:solidFill>
                  <a:schemeClr val="bg1"/>
                </a:solidFill>
              </a:rPr>
              <a:t> System.pptx</a:t>
            </a:r>
          </a:p>
        </p:txBody>
      </p:sp>
    </p:spTree>
    <p:extLst>
      <p:ext uri="{BB962C8B-B14F-4D97-AF65-F5344CB8AC3E}">
        <p14:creationId xmlns:p14="http://schemas.microsoft.com/office/powerpoint/2010/main" val="166652902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34CE3-2724-28A6-9699-5C4F247A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941EB2-FD8B-3629-F2DB-1ADCA17A11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Apache Airflow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6C0A9A7-5201-41CE-B556-6C2A634ED8A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A63A90-C263-64E6-28E4-C072CF6E8D7D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</a:p>
        </p:txBody>
      </p:sp>
    </p:spTree>
    <p:extLst>
      <p:ext uri="{BB962C8B-B14F-4D97-AF65-F5344CB8AC3E}">
        <p14:creationId xmlns:p14="http://schemas.microsoft.com/office/powerpoint/2010/main" val="363597613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8AA46-FDE1-7FFE-7FA9-DF236D68A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A62FEF-35EE-36C6-7706-FB2E3546710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73801-4693-3C9E-328C-56B7463C64A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F4898D9-988A-2F9B-9C63-0357DA2B64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62A705E5-F0F2-1BA0-A48C-1629D01549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76C1C24-AFB2-E59D-AD58-0E106CBD0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558" y="2007555"/>
            <a:ext cx="10467975" cy="41690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8630BA-9DB0-92E3-F5F8-F7556B141E78}"/>
              </a:ext>
            </a:extLst>
          </p:cNvPr>
          <p:cNvSpPr txBox="1"/>
          <p:nvPr/>
        </p:nvSpPr>
        <p:spPr>
          <a:xfrm>
            <a:off x="591620" y="1288330"/>
            <a:ext cx="3094555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WSL2-docker_airflow.pptx</a:t>
            </a:r>
          </a:p>
        </p:txBody>
      </p:sp>
    </p:spTree>
    <p:extLst>
      <p:ext uri="{BB962C8B-B14F-4D97-AF65-F5344CB8AC3E}">
        <p14:creationId xmlns:p14="http://schemas.microsoft.com/office/powerpoint/2010/main" val="112765737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Google Shape;453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5459" y="1357808"/>
            <a:ext cx="5217459" cy="2121969"/>
          </a:xfrm>
          <a:prstGeom prst="rect">
            <a:avLst/>
          </a:prstGeom>
          <a:noFill/>
          <a:ln>
            <a:noFill/>
          </a:ln>
        </p:spPr>
      </p:pic>
      <p:pic>
        <p:nvPicPr>
          <p:cNvPr id="455" name="Google Shape;455;p3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56558" y="3636788"/>
            <a:ext cx="7948054" cy="2968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3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67718" y="1357808"/>
            <a:ext cx="4231564" cy="236646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E4A340BF-22FB-7DBB-F75C-9AF673DF8F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6D44355-1EC3-F684-98BB-1F306B8FE2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2" name="Google Shape;462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0462" y="3533724"/>
            <a:ext cx="5143500" cy="2085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63" name="Google Shape;463;p3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38476" y="3533724"/>
            <a:ext cx="322897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31"/>
          <p:cNvSpPr txBox="1"/>
          <p:nvPr/>
        </p:nvSpPr>
        <p:spPr>
          <a:xfrm>
            <a:off x="7538476" y="3021458"/>
            <a:ext cx="359484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DAG(Directed Acyclic Graph)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65" name="Google Shape;465;p31"/>
          <p:cNvSpPr txBox="1"/>
          <p:nvPr/>
        </p:nvSpPr>
        <p:spPr>
          <a:xfrm>
            <a:off x="2313974" y="3021458"/>
            <a:ext cx="291244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Negative Graph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66" name="Google Shape;466;p31"/>
          <p:cNvSpPr txBox="1"/>
          <p:nvPr/>
        </p:nvSpPr>
        <p:spPr>
          <a:xfrm>
            <a:off x="840462" y="5564924"/>
            <a:ext cx="6096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https://steemit.com/dag/@cryptodreamers/dag-dag-directed-acyclic-graph</a:t>
            </a:r>
            <a:r>
              <a:rPr lang="en-US" sz="1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 </a:t>
            </a:r>
            <a:endParaRPr/>
          </a:p>
        </p:txBody>
      </p:sp>
      <p:sp>
        <p:nvSpPr>
          <p:cNvPr id="467" name="Google Shape;467;p31"/>
          <p:cNvSpPr txBox="1"/>
          <p:nvPr/>
        </p:nvSpPr>
        <p:spPr>
          <a:xfrm>
            <a:off x="490817" y="1296293"/>
            <a:ext cx="109677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The Directed Acyclic Graph (DAG) 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is a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directed graph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with no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directed cycles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. That is, it consists of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vertices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and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edges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(also called arcs), with each edge directed from one vertex to another, such that following those directions will never form a closed loop.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070DC4F7-EA1D-D76D-9CD8-033374E511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C63DA0E-969C-C3BC-8268-0BA9060D891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474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33460" y="2388864"/>
            <a:ext cx="9983400" cy="3777786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32"/>
          <p:cNvSpPr/>
          <p:nvPr/>
        </p:nvSpPr>
        <p:spPr>
          <a:xfrm>
            <a:off x="1035984" y="1577143"/>
            <a:ext cx="2232212" cy="62537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Names of registered workflows</a:t>
            </a:r>
            <a:endParaRPr sz="1600" dirty="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76" name="Google Shape;476;p32"/>
          <p:cNvCxnSpPr>
            <a:cxnSpLocks/>
            <a:stCxn id="477" idx="0"/>
            <a:endCxn id="475" idx="2"/>
          </p:cNvCxnSpPr>
          <p:nvPr/>
        </p:nvCxnSpPr>
        <p:spPr>
          <a:xfrm rot="5400000" flipH="1" flipV="1">
            <a:off x="354515" y="3999788"/>
            <a:ext cx="3594848" cy="302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78" name="Google Shape;478;p32"/>
          <p:cNvSpPr/>
          <p:nvPr/>
        </p:nvSpPr>
        <p:spPr>
          <a:xfrm>
            <a:off x="3761126" y="1520285"/>
            <a:ext cx="1610009" cy="58270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Workflow Schedules</a:t>
            </a:r>
            <a:endParaRPr sz="16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79" name="Google Shape;479;p32"/>
          <p:cNvCxnSpPr>
            <a:stCxn id="480" idx="0"/>
            <a:endCxn id="478" idx="2"/>
          </p:cNvCxnSpPr>
          <p:nvPr/>
        </p:nvCxnSpPr>
        <p:spPr>
          <a:xfrm rot="5400000" flipH="1">
            <a:off x="3259506" y="3409638"/>
            <a:ext cx="3681300" cy="106830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81" name="Google Shape;481;p32"/>
          <p:cNvSpPr/>
          <p:nvPr/>
        </p:nvSpPr>
        <p:spPr>
          <a:xfrm>
            <a:off x="6486525" y="1577143"/>
            <a:ext cx="2497615" cy="58270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State of workflow tasks from recent runs</a:t>
            </a:r>
            <a:endParaRPr sz="16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82" name="Google Shape;482;p32"/>
          <p:cNvCxnSpPr>
            <a:stCxn id="483" idx="0"/>
            <a:endCxn id="481" idx="2"/>
          </p:cNvCxnSpPr>
          <p:nvPr/>
        </p:nvCxnSpPr>
        <p:spPr>
          <a:xfrm rot="5400000" flipH="1">
            <a:off x="6641904" y="3253269"/>
            <a:ext cx="3626400" cy="143940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77" name="Google Shape;477;p32"/>
          <p:cNvSpPr/>
          <p:nvPr/>
        </p:nvSpPr>
        <p:spPr>
          <a:xfrm>
            <a:off x="1035379" y="5797363"/>
            <a:ext cx="2232817" cy="496073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80" name="Google Shape;480;p32"/>
          <p:cNvSpPr/>
          <p:nvPr/>
        </p:nvSpPr>
        <p:spPr>
          <a:xfrm>
            <a:off x="5208752" y="5784438"/>
            <a:ext cx="851108" cy="508998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83" name="Google Shape;483;p32"/>
          <p:cNvSpPr/>
          <p:nvPr/>
        </p:nvSpPr>
        <p:spPr>
          <a:xfrm>
            <a:off x="7981365" y="5786169"/>
            <a:ext cx="2386877" cy="496073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397D237E-F690-C51E-315B-E8D8EA3F6B3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3962647-0DDC-DB8C-B470-D5A31F9A9C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Google Shape;488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14626" y="1922317"/>
            <a:ext cx="8154446" cy="337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3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81183" y="1928926"/>
            <a:ext cx="3583929" cy="3362569"/>
          </a:xfrm>
          <a:prstGeom prst="rect">
            <a:avLst/>
          </a:prstGeom>
          <a:noFill/>
          <a:ln>
            <a:noFill/>
          </a:ln>
        </p:spPr>
      </p:pic>
      <p:sp>
        <p:nvSpPr>
          <p:cNvPr id="492" name="Google Shape;492;p33"/>
          <p:cNvSpPr/>
          <p:nvPr/>
        </p:nvSpPr>
        <p:spPr>
          <a:xfrm>
            <a:off x="785833" y="1911670"/>
            <a:ext cx="1407459" cy="5699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All runs of one task</a:t>
            </a:r>
            <a:endParaRPr sz="1800" dirty="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93" name="Google Shape;493;p33"/>
          <p:cNvCxnSpPr>
            <a:cxnSpLocks/>
            <a:stCxn id="494" idx="1"/>
            <a:endCxn id="492" idx="3"/>
          </p:cNvCxnSpPr>
          <p:nvPr/>
        </p:nvCxnSpPr>
        <p:spPr>
          <a:xfrm rot="10800000">
            <a:off x="2193292" y="2196625"/>
            <a:ext cx="2271132" cy="154614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94" name="Google Shape;494;p33"/>
          <p:cNvSpPr/>
          <p:nvPr/>
        </p:nvSpPr>
        <p:spPr>
          <a:xfrm>
            <a:off x="4464424" y="3621742"/>
            <a:ext cx="770964" cy="242046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5" name="Google Shape;495;p33"/>
          <p:cNvSpPr/>
          <p:nvPr/>
        </p:nvSpPr>
        <p:spPr>
          <a:xfrm>
            <a:off x="4939253" y="3636733"/>
            <a:ext cx="287170" cy="1766044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6" name="Google Shape;496;p33"/>
          <p:cNvSpPr/>
          <p:nvPr/>
        </p:nvSpPr>
        <p:spPr>
          <a:xfrm>
            <a:off x="4479021" y="4280704"/>
            <a:ext cx="268948" cy="242045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7" name="Google Shape;497;p33"/>
          <p:cNvSpPr/>
          <p:nvPr/>
        </p:nvSpPr>
        <p:spPr>
          <a:xfrm>
            <a:off x="6786284" y="5402778"/>
            <a:ext cx="2405341" cy="63348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One run of a workflow</a:t>
            </a:r>
            <a:endParaRPr sz="18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98" name="Google Shape;498;p33"/>
          <p:cNvCxnSpPr>
            <a:cxnSpLocks/>
            <a:stCxn id="495" idx="2"/>
            <a:endCxn id="497" idx="1"/>
          </p:cNvCxnSpPr>
          <p:nvPr/>
        </p:nvCxnSpPr>
        <p:spPr>
          <a:xfrm rot="16200000" flipH="1">
            <a:off x="5776190" y="4709425"/>
            <a:ext cx="316743" cy="1703446"/>
          </a:xfrm>
          <a:prstGeom prst="curvedConnector2">
            <a:avLst/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99" name="Google Shape;499;p33"/>
          <p:cNvSpPr/>
          <p:nvPr/>
        </p:nvSpPr>
        <p:spPr>
          <a:xfrm>
            <a:off x="829483" y="5769746"/>
            <a:ext cx="1703400" cy="66324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State of a single task</a:t>
            </a:r>
            <a:endParaRPr sz="18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500" name="Google Shape;500;p33"/>
          <p:cNvCxnSpPr>
            <a:cxnSpLocks/>
            <a:stCxn id="499" idx="3"/>
            <a:endCxn id="496" idx="1"/>
          </p:cNvCxnSpPr>
          <p:nvPr/>
        </p:nvCxnSpPr>
        <p:spPr>
          <a:xfrm flipV="1">
            <a:off x="2532883" y="4401727"/>
            <a:ext cx="1946138" cy="1699643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548A5392-A46D-CCAC-66AE-206054A575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B119AD6-555D-3BFD-57B9-7490756D644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7FB85617-8D65-CFCC-4E60-C68C0F058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60CBC270-DE05-B744-01FB-A2D0B7430A8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C136962-B185-113F-7111-AD30BA2DF2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EFFB77EC-771C-9693-5CD4-747A793DA2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2084B57-1518-C030-9A46-85E14429F4BC}"/>
              </a:ext>
            </a:extLst>
          </p:cNvPr>
          <p:cNvSpPr txBox="1"/>
          <p:nvPr/>
        </p:nvSpPr>
        <p:spPr>
          <a:xfrm>
            <a:off x="591620" y="1248422"/>
            <a:ext cx="7141699" cy="7931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airflow image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다운받아 설치하고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ancestor9/airflow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예제 파일을 다운받아 실행하라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6815F84-D84F-A6FF-BCA5-F46BEFF02B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8576" y="2243155"/>
            <a:ext cx="5265730" cy="405747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5181995-1AEE-9814-0B77-F80417A123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070" y="2243155"/>
            <a:ext cx="5598144" cy="4062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94373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D114F1A3-7FD9-4CD7-D124-86B066934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9E044FE-C029-FAE9-2AF6-6D0F13A4353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A5FD614-7D19-4E06-70FE-4B216BC99C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D115681C-6C6E-519E-05DA-47177C1FB0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02E183B-E179-35E6-6BB4-65CDCF5954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849" y="1594600"/>
            <a:ext cx="9132176" cy="4134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80886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154D4F98-7B14-E45D-4E7C-1699C0375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CC1CEDB2-DDE5-3C76-20D9-7E9153D324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DF4F528-E47A-9EE0-29D3-FDF3C05BDA5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4F52D6A3-6476-4F2B-7D11-A877E2EBD2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16828E-3DD2-CA13-6571-6A16A05F5B61}"/>
              </a:ext>
            </a:extLst>
          </p:cNvPr>
          <p:cNvSpPr txBox="1"/>
          <p:nvPr/>
        </p:nvSpPr>
        <p:spPr>
          <a:xfrm>
            <a:off x="591620" y="1193018"/>
            <a:ext cx="10589141" cy="79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</a:t>
            </a:r>
            <a:r>
              <a:rPr lang="en-US" altLang="ko-KR" sz="1600" b="0" i="0" dirty="0" err="1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compose.yaml</a:t>
            </a: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dags</a:t>
            </a: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/, .env </a:t>
            </a:r>
            <a:r>
              <a:rPr lang="ko-KR" altLang="en-US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등의 파일 구조가 준비하고 </a:t>
            </a: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 compose up –d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명령어로 파일에 정의된 모든 컨테이너를 백그라운드에서 일괄 실행한 후 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airflow server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UI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링크를 클릭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6D0859F-BDD4-E2D2-6CDD-28257E92B7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03" y="2107418"/>
            <a:ext cx="11086693" cy="4083832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DAE516C0-43BC-466E-4538-E3B3E28C8B05}"/>
              </a:ext>
            </a:extLst>
          </p:cNvPr>
          <p:cNvSpPr/>
          <p:nvPr/>
        </p:nvSpPr>
        <p:spPr>
          <a:xfrm>
            <a:off x="475645" y="2107418"/>
            <a:ext cx="6029930" cy="21214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36B7FEE-CBBA-0534-DD97-9720F78F18CE}"/>
              </a:ext>
            </a:extLst>
          </p:cNvPr>
          <p:cNvSpPr/>
          <p:nvPr/>
        </p:nvSpPr>
        <p:spPr>
          <a:xfrm>
            <a:off x="475645" y="2459843"/>
            <a:ext cx="6029930" cy="2357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CB32D64-AAB8-203A-C304-B8754BC781B9}"/>
              </a:ext>
            </a:extLst>
          </p:cNvPr>
          <p:cNvSpPr/>
          <p:nvPr/>
        </p:nvSpPr>
        <p:spPr>
          <a:xfrm>
            <a:off x="504220" y="5298293"/>
            <a:ext cx="6029930" cy="2357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생각 풍선: 구름 모양 19">
            <a:extLst>
              <a:ext uri="{FF2B5EF4-FFF2-40B4-BE49-F238E27FC236}">
                <a16:creationId xmlns:a16="http://schemas.microsoft.com/office/drawing/2014/main" id="{647A63BC-8C72-0831-6324-0669FA2AFF6A}"/>
              </a:ext>
            </a:extLst>
          </p:cNvPr>
          <p:cNvSpPr/>
          <p:nvPr/>
        </p:nvSpPr>
        <p:spPr>
          <a:xfrm>
            <a:off x="7534358" y="5120884"/>
            <a:ext cx="1419225" cy="590550"/>
          </a:xfrm>
          <a:prstGeom prst="cloudCallout">
            <a:avLst>
              <a:gd name="adj1" fmla="val -74524"/>
              <a:gd name="adj2" fmla="val 7540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681318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73F618E1-4F42-80A6-1C43-613C974B1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E750F871-E723-18FB-61DF-9DE2A5EC5D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8FD51FD-E59B-5472-8E40-329270F7A55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F2965D79-986D-DFFB-FBB2-905FEA6E25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95948A1-EB88-635F-C2C6-8D2A89B902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460" y="1538974"/>
            <a:ext cx="5624044" cy="452845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29F0DAC-3989-692C-83E2-04F76A8BA5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8278" y="2520057"/>
            <a:ext cx="8046068" cy="3855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904548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E964CBAA-72ED-007A-155F-49094084D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277B65B-1CF0-22C3-FF2D-D61A804510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8C7AA76-A636-A5CF-0346-1535A6F44F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24239A88-B369-8444-AADB-DDDDE9AF4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D4F7410-0379-EB03-22E6-5DFDB8AF87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3934" y="1472285"/>
            <a:ext cx="9262616" cy="5118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51830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95BBF43E-1B19-9A93-5E6D-DF41955A7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35BC41C0-6B51-E378-A47A-3DEDAC11DB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24D8B585-267A-CEBC-6214-D42CE17A098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C2D7C29-1AA7-6D74-928B-8EE3FF27EF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57324B4-47D7-C4AC-DE61-859A0EDFAC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4450" y="1381388"/>
            <a:ext cx="9028297" cy="4994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23079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EDE21-E505-C1BC-020F-15F0693FC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105A43B-D945-00FC-4E07-D8B0D5EF99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2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Docker Image/Container (Airflow, Postgres)</a:t>
            </a:r>
            <a:endParaRPr lang="ko-KR" altLang="en-US" sz="24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DBCE2E1-3665-D51D-F366-54071BACE0A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356C96C-3FA4-0B41-2431-29B299CDD5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863" y="1723519"/>
            <a:ext cx="10087691" cy="4372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01787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5605E-6277-4C67-7D7C-D60378070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942688-0022-E798-E35E-F0B577C3CB1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2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Docker Image/Container (Airflow, Postgres)</a:t>
            </a:r>
            <a:endParaRPr lang="ko-KR" altLang="en-US" sz="24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C7B52889-76C0-0641-94B5-8B30842B37E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3FA91F-CA26-E73E-4134-6F493B54A6A2}"/>
              </a:ext>
            </a:extLst>
          </p:cNvPr>
          <p:cNvSpPr txBox="1"/>
          <p:nvPr/>
        </p:nvSpPr>
        <p:spPr>
          <a:xfrm>
            <a:off x="1847013" y="1848219"/>
            <a:ext cx="8590078" cy="39703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[1단계: 환경 정의]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└─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docker-compose.yaml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작성 (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PostgreSQL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서비스 구성)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▼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[2단계: 서비스 실행 및 초기화]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└─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docker-compose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up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endParaRPr lang="ko-KR" altLang="ko-KR" sz="1400" b="0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├─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PostgreSQL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컨테이너 띄우기 (DB 생성 및 헬스체크)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└─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컨테이너 띄우기 (DB 연결 설정 적용)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▼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[3단계: 외부 포트 연결 (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Forwarding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)]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├─ 웹 접속 : Host localhost:8080 ─&gt;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Container :8080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└─ DB 접속 : Host localhost:5432 ─&gt;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Postgres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Container :5432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▼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[4단계: 데이터 및 서비스 통신]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├─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Web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UI (8080) 접속을 통해 DAG 관리 및 스케줄링 수행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└─ DB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DBeaver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등)로 5432 포트연결 메타데이터 직접 조회</a:t>
            </a:r>
            <a:endParaRPr lang="ko-KR" altLang="ko-KR" sz="1100" b="0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7937250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DC7F9-B026-8955-6B75-7620DAEA4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EC5FE9-92EC-0A83-41EE-3A4F83C422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4789684-9C5F-4555-0AF7-2A64A3BC57D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A40AF7-ACDE-D7B9-1122-9BC7F6C3E52F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code agent</a:t>
            </a:r>
          </a:p>
        </p:txBody>
      </p:sp>
    </p:spTree>
    <p:extLst>
      <p:ext uri="{BB962C8B-B14F-4D97-AF65-F5344CB8AC3E}">
        <p14:creationId xmlns:p14="http://schemas.microsoft.com/office/powerpoint/2010/main" val="169991603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ECC790E4-E527-233C-1627-584E612BE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D60D4B1-2808-E0A2-D7F4-1B94B8A7504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Cline + 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MCP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58047B5-BE33-13D4-0F42-4C22076FB73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14E2666D-8BEF-C7A1-C80A-5F84ED6F0B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3C0CD91-65FE-7FE2-DF5D-40D2B9422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5642" y="1288330"/>
            <a:ext cx="6073666" cy="5273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90083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B4692720-7E30-E23C-FADC-042BC58E8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3CAF1F18-D3DB-DD5E-AAC0-DB84A0DA84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Cline Prompts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8541F1B-1BD9-1DAD-A98B-8E518160869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8E6C2AFC-343E-B42C-EDB7-328DB0659D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170F5205-E54E-18E4-3ADC-AAB510B50B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929" y="1356475"/>
            <a:ext cx="8215313" cy="523875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E7846DFA-67B3-7847-B910-04ED35E6CFE3}"/>
              </a:ext>
            </a:extLst>
          </p:cNvPr>
          <p:cNvSpPr/>
          <p:nvPr/>
        </p:nvSpPr>
        <p:spPr>
          <a:xfrm>
            <a:off x="1285875" y="2828925"/>
            <a:ext cx="3857625" cy="159067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070640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Cline + n8n MCP + prompt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AI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F301A2-EBB8-CBF8-1D3B-5533F3951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7763" y="2214308"/>
            <a:ext cx="6463277" cy="4282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9B2FB-9A3C-76E5-3B6A-C7E4715A9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96B0CDC-E7BD-09FB-C672-985F0C0C674F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11346901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Vison 3 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Docker-based 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AI 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 Architecture(</a:t>
            </a:r>
            <a:r>
              <a:rPr lang="en-US" altLang="ko-KR" sz="20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VSCode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Cline, n8n MCP)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B15C46-D644-C30B-1F58-9479DCC9A5C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A45A236-78A8-8E99-16F3-C7752B4ACE8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EBDE77E-3089-89C2-CBD0-A1BB1C7E4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519" y="1624393"/>
            <a:ext cx="9846888" cy="4892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39467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18710</TotalTime>
  <Words>5102</Words>
  <Application>Microsoft Office PowerPoint</Application>
  <PresentationFormat>와이드스크린</PresentationFormat>
  <Paragraphs>985</Paragraphs>
  <Slides>93</Slides>
  <Notes>38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93</vt:i4>
      </vt:variant>
    </vt:vector>
  </HeadingPairs>
  <TitlesOfParts>
    <vt:vector size="105" baseType="lpstr">
      <vt:lpstr>D2Coding</vt:lpstr>
      <vt:lpstr>Noto Sans Symbols</vt:lpstr>
      <vt:lpstr>Sorts Mill Goudy</vt:lpstr>
      <vt:lpstr>Malgun Gothic</vt:lpstr>
      <vt:lpstr>Malgun Gothic</vt:lpstr>
      <vt:lpstr>Batang</vt:lpstr>
      <vt:lpstr>Arial</vt:lpstr>
      <vt:lpstr>Courier New</vt:lpstr>
      <vt:lpstr>Segoe UI</vt:lpstr>
      <vt:lpstr>Segoe UI Emoji</vt:lpstr>
      <vt:lpstr>Wingdings</vt:lpstr>
      <vt:lpstr>WelcomeDoc</vt:lpstr>
      <vt:lpstr>Application Deployment  코드 작성 → 컴파일/빌드 → 형상관리 → CI → 테스트 → CD → 배포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Source Code Build</vt:lpstr>
      <vt:lpstr>PowerPoint 프레젠테이션</vt:lpstr>
      <vt:lpstr>PowerPoint 프레젠테이션</vt:lpstr>
      <vt:lpstr>PowerPoint 프레젠테이션</vt:lpstr>
      <vt:lpstr>Install Visual Studio Code</vt:lpstr>
      <vt:lpstr>Client/Server Architecture</vt:lpstr>
      <vt:lpstr>PowerPoint 프레젠테이션</vt:lpstr>
      <vt:lpstr>PowerPoint 프레젠테이션</vt:lpstr>
      <vt:lpstr>PowerPoint 프레젠테이션</vt:lpstr>
      <vt:lpstr>PowerPoint 프레젠테이션</vt:lpstr>
      <vt:lpstr>Create your own github Create your own GitHub(Install git GitHub Desktop)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Why SW Virtualization ?</vt:lpstr>
      <vt:lpstr>사진기로 사진찍고 인화하기 </vt:lpstr>
      <vt:lpstr>가상화(Virtualization)</vt:lpstr>
      <vt:lpstr>가상화(Virtualizaion) 종류</vt:lpstr>
      <vt:lpstr>Traditional Installation before docker</vt:lpstr>
      <vt:lpstr>1. Virtual Machine (Linux)</vt:lpstr>
      <vt:lpstr>1. Virtual Machine (Linux)</vt:lpstr>
      <vt:lpstr>2. Docker</vt:lpstr>
      <vt:lpstr>2. Docker</vt:lpstr>
      <vt:lpstr>2. Docker</vt:lpstr>
      <vt:lpstr>Docker</vt:lpstr>
      <vt:lpstr>Container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실습하기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Docker 설치(WSL)</vt:lpstr>
      <vt:lpstr>PowerPoint 프레젠테이션</vt:lpstr>
      <vt:lpstr>Windows PowerShell</vt:lpstr>
      <vt:lpstr>WSL2 Installation</vt:lpstr>
      <vt:lpstr>Github Codespaces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Apache Airflow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Cline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263</cp:revision>
  <dcterms:created xsi:type="dcterms:W3CDTF">2026-04-06T01:00:39Z</dcterms:created>
  <dcterms:modified xsi:type="dcterms:W3CDTF">2026-09-02T00:47:25Z</dcterms:modified>
  <cp:version/>
</cp:coreProperties>
</file>