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1"/>
  </p:notesMasterIdLst>
  <p:handoutMasterIdLst>
    <p:handoutMasterId r:id="rId92"/>
  </p:handoutMasterIdLst>
  <p:sldIdLst>
    <p:sldId id="256" r:id="rId2"/>
    <p:sldId id="1136" r:id="rId3"/>
    <p:sldId id="1137" r:id="rId4"/>
    <p:sldId id="1140" r:id="rId5"/>
    <p:sldId id="1268" r:id="rId6"/>
    <p:sldId id="264" r:id="rId7"/>
    <p:sldId id="1224" r:id="rId8"/>
    <p:sldId id="1230" r:id="rId9"/>
    <p:sldId id="1289" r:id="rId10"/>
    <p:sldId id="1155" r:id="rId11"/>
    <p:sldId id="1153" r:id="rId12"/>
    <p:sldId id="1291" r:id="rId13"/>
    <p:sldId id="1290" r:id="rId14"/>
    <p:sldId id="1298" r:id="rId15"/>
    <p:sldId id="1299" r:id="rId16"/>
    <p:sldId id="1292" r:id="rId17"/>
    <p:sldId id="1293" r:id="rId18"/>
    <p:sldId id="1294" r:id="rId19"/>
    <p:sldId id="1295" r:id="rId20"/>
    <p:sldId id="1296" r:id="rId21"/>
    <p:sldId id="1297" r:id="rId22"/>
    <p:sldId id="1286" r:id="rId23"/>
    <p:sldId id="1273" r:id="rId24"/>
    <p:sldId id="1142" r:id="rId25"/>
    <p:sldId id="1270" r:id="rId26"/>
    <p:sldId id="1228" r:id="rId27"/>
    <p:sldId id="1269" r:id="rId28"/>
    <p:sldId id="1301" r:id="rId29"/>
    <p:sldId id="1302" r:id="rId30"/>
    <p:sldId id="1303" r:id="rId31"/>
    <p:sldId id="1300" r:id="rId32"/>
    <p:sldId id="1272" r:id="rId33"/>
    <p:sldId id="1288" r:id="rId34"/>
    <p:sldId id="1274" r:id="rId35"/>
    <p:sldId id="1284" r:id="rId36"/>
    <p:sldId id="1285" r:id="rId37"/>
    <p:sldId id="1287" r:id="rId38"/>
    <p:sldId id="1141" r:id="rId39"/>
    <p:sldId id="1283" r:id="rId40"/>
    <p:sldId id="1232" r:id="rId41"/>
    <p:sldId id="1233" r:id="rId42"/>
    <p:sldId id="1234" r:id="rId43"/>
    <p:sldId id="1235" r:id="rId44"/>
    <p:sldId id="1239" r:id="rId45"/>
    <p:sldId id="1236" r:id="rId46"/>
    <p:sldId id="1237" r:id="rId47"/>
    <p:sldId id="1238" r:id="rId48"/>
    <p:sldId id="1231" r:id="rId49"/>
    <p:sldId id="1144" r:id="rId50"/>
    <p:sldId id="1275" r:id="rId51"/>
    <p:sldId id="1241" r:id="rId52"/>
    <p:sldId id="1242" r:id="rId53"/>
    <p:sldId id="1246" r:id="rId54"/>
    <p:sldId id="1243" r:id="rId55"/>
    <p:sldId id="1244" r:id="rId56"/>
    <p:sldId id="1245" r:id="rId57"/>
    <p:sldId id="1247" r:id="rId58"/>
    <p:sldId id="1248" r:id="rId59"/>
    <p:sldId id="1249" r:id="rId60"/>
    <p:sldId id="1276" r:id="rId61"/>
    <p:sldId id="1277" r:id="rId62"/>
    <p:sldId id="1278" r:id="rId63"/>
    <p:sldId id="1281" r:id="rId64"/>
    <p:sldId id="1282" r:id="rId65"/>
    <p:sldId id="1265" r:id="rId66"/>
    <p:sldId id="1263" r:id="rId67"/>
    <p:sldId id="1254" r:id="rId68"/>
    <p:sldId id="1255" r:id="rId69"/>
    <p:sldId id="1261" r:id="rId70"/>
    <p:sldId id="1257" r:id="rId71"/>
    <p:sldId id="1259" r:id="rId72"/>
    <p:sldId id="1258" r:id="rId73"/>
    <p:sldId id="1260" r:id="rId74"/>
    <p:sldId id="1262" r:id="rId75"/>
    <p:sldId id="1256" r:id="rId76"/>
    <p:sldId id="1252" r:id="rId77"/>
    <p:sldId id="1266" r:id="rId78"/>
    <p:sldId id="1253" r:id="rId79"/>
    <p:sldId id="1264" r:id="rId80"/>
    <p:sldId id="1267" r:id="rId81"/>
    <p:sldId id="1279" r:id="rId82"/>
    <p:sldId id="1280" r:id="rId83"/>
    <p:sldId id="1250" r:id="rId84"/>
    <p:sldId id="1240" r:id="rId85"/>
    <p:sldId id="1145" r:id="rId86"/>
    <p:sldId id="1251" r:id="rId87"/>
    <p:sldId id="1138" r:id="rId88"/>
    <p:sldId id="1143" r:id="rId89"/>
    <p:sldId id="1139" r:id="rId9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37"/>
            <p14:sldId id="1140"/>
            <p14:sldId id="1268"/>
            <p14:sldId id="264"/>
            <p14:sldId id="1224"/>
            <p14:sldId id="1230"/>
            <p14:sldId id="1289"/>
            <p14:sldId id="1155"/>
            <p14:sldId id="1153"/>
            <p14:sldId id="1291"/>
            <p14:sldId id="1290"/>
            <p14:sldId id="1298"/>
            <p14:sldId id="1299"/>
            <p14:sldId id="1292"/>
            <p14:sldId id="1293"/>
            <p14:sldId id="1294"/>
            <p14:sldId id="1295"/>
            <p14:sldId id="1296"/>
            <p14:sldId id="1297"/>
            <p14:sldId id="1286"/>
            <p14:sldId id="1273"/>
            <p14:sldId id="1142"/>
            <p14:sldId id="1270"/>
            <p14:sldId id="1228"/>
            <p14:sldId id="1269"/>
            <p14:sldId id="1301"/>
            <p14:sldId id="1302"/>
            <p14:sldId id="1303"/>
            <p14:sldId id="1300"/>
            <p14:sldId id="1272"/>
            <p14:sldId id="1288"/>
            <p14:sldId id="1274"/>
            <p14:sldId id="1284"/>
            <p14:sldId id="1285"/>
            <p14:sldId id="1287"/>
            <p14:sldId id="1141"/>
            <p14:sldId id="1283"/>
            <p14:sldId id="1232"/>
            <p14:sldId id="1233"/>
            <p14:sldId id="1234"/>
            <p14:sldId id="1235"/>
            <p14:sldId id="1239"/>
            <p14:sldId id="1236"/>
            <p14:sldId id="1237"/>
            <p14:sldId id="1238"/>
            <p14:sldId id="1231"/>
            <p14:sldId id="1144"/>
            <p14:sldId id="1275"/>
            <p14:sldId id="1241"/>
            <p14:sldId id="1242"/>
            <p14:sldId id="1246"/>
            <p14:sldId id="1243"/>
            <p14:sldId id="1244"/>
            <p14:sldId id="1245"/>
            <p14:sldId id="1247"/>
            <p14:sldId id="1248"/>
            <p14:sldId id="1249"/>
            <p14:sldId id="1276"/>
            <p14:sldId id="1277"/>
            <p14:sldId id="1278"/>
            <p14:sldId id="1281"/>
            <p14:sldId id="1282"/>
            <p14:sldId id="1265"/>
            <p14:sldId id="1263"/>
            <p14:sldId id="1254"/>
            <p14:sldId id="1255"/>
            <p14:sldId id="1261"/>
            <p14:sldId id="1257"/>
            <p14:sldId id="1259"/>
            <p14:sldId id="1258"/>
            <p14:sldId id="1260"/>
            <p14:sldId id="1262"/>
            <p14:sldId id="1256"/>
            <p14:sldId id="1252"/>
            <p14:sldId id="1266"/>
            <p14:sldId id="1253"/>
            <p14:sldId id="1264"/>
            <p14:sldId id="1267"/>
            <p14:sldId id="1279"/>
            <p14:sldId id="1280"/>
            <p14:sldId id="1250"/>
            <p14:sldId id="1240"/>
            <p14:sldId id="1145"/>
            <p14:sldId id="1251"/>
            <p14:sldId id="1138"/>
            <p14:sldId id="1143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4765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2026-09-14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D464-31C2-C029-A5BF-92F23252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FA5761-B988-BCCC-7BC5-C84AABE06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49240A-4FFF-8D87-9DC9-6B668107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0160F-F34B-A542-2107-6F57352A4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361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E889F-CE87-890B-47CC-FF1216FEE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96AE591-1FE7-C828-3F41-F85CB52B33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95068A-54CA-6E83-64F6-0C89BE9659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E66438-C9C0-A649-A5BC-D9F7B799C4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588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954A5-C7D8-0157-A8E8-A2303273E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809CE80-3932-DAF8-36DD-A568DC2899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0AC1CEB-EB96-BE5C-D939-E0C8333E0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D54A45-DB36-F587-61ED-07AB165012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1908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E48B6-1FB4-2F27-E3D1-4C576712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8A38A0-C391-27B7-1338-AE1EA0114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CB20581-3BB9-1B3F-ADA1-49ED77A00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76B9D-5CD6-3177-6FD0-BFFDCCB7F3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77707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068F-4B08-142C-1EB5-1D8DA9F6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9132AC-EB19-D648-6B32-3D5EB194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E2CB05-3A96-52D9-758B-A2281566D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4B633-4D5D-2A75-A02C-A7217356B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5952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D0A6E-2C11-4E86-4120-655D915EA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703530-3D69-D4C8-2699-5E8B38595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9EBCA1-E11C-6439-60C8-B460890DE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DD699D-B2DA-140D-38D9-B53DCE20F0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1505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65C0C-CB15-A15D-D435-85C99A16A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4D3C5A9-57D0-FC13-42DD-4EC8EF97ED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9523341-7B1D-7CE8-227B-20232AA524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9F53A-CC9F-170E-4FCF-CC74A4B20F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097289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D851F-9E6E-F736-3EAD-9032C3A1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216126-02A5-AD0D-6566-3580AAD7C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87E8DB-6314-F6E3-01E0-BEED3A024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46588A-EDE2-2AEE-439D-550155F38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73766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6E23-77FB-B28A-C76F-C9F9BB88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9DE97-F164-58D9-0153-46A4A29EC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2C0ABA-CA65-8C81-AC13-6133E555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6CAFC-0696-B712-7E1F-DFC13860F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03235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6EFA-7071-6654-7223-86B5E8CE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97DD9-E29D-63A4-0732-25E79253F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98C04E-E375-ED5F-4135-2D62F923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B0591-CB20-A5CE-29D6-245E81E38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4187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3469-8505-A8C7-DE1E-E799C4D3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503321-1896-368F-A2B7-23146F270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B2A939-EFB1-F250-F544-963340760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80065-A4D5-E320-0B63-8E58B4341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7992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E744-D0AA-F1FD-5C23-F8D6B792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5C429-95E6-9B82-3F10-A0FD2EC1B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CB7D59-E6AC-3201-8F0B-C3130C2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9B407-B524-4067-58BA-A146DB318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86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89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2026-09-14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9/14/2026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2026-09-14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s8HDIAyPD0&amp;list=PLuHgQVnccGMDeMJsGq2O-55Ymtx0IdKWf&amp;index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hyperlink" Target="https://www.kdnuggets.com/2022/02/orchestrate-data-science-project-python-prefect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www.youtube.com/watch?v=XGmjJUrda2g&amp;t=121s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martgrowthguide.com/blog/what-is-webhook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10.png"/><Relationship Id="rId7" Type="http://schemas.openxmlformats.org/officeDocument/2006/relationships/hyperlink" Target="https://ngrok.com/download/windows" TargetMode="Externa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4.svg"/><Relationship Id="rId11" Type="http://schemas.openxmlformats.org/officeDocument/2006/relationships/image" Target="../media/image48.svg"/><Relationship Id="rId5" Type="http://schemas.openxmlformats.org/officeDocument/2006/relationships/image" Target="../media/image43.png"/><Relationship Id="rId10" Type="http://schemas.openxmlformats.org/officeDocument/2006/relationships/image" Target="../media/image47.png"/><Relationship Id="rId4" Type="http://schemas.openxmlformats.org/officeDocument/2006/relationships/image" Target="../media/image11.svg"/><Relationship Id="rId9" Type="http://schemas.openxmlformats.org/officeDocument/2006/relationships/image" Target="../media/image46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docs.net/290921#1-google-sheets-api" TargetMode="External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2.png"/><Relationship Id="rId4" Type="http://schemas.openxmlformats.org/officeDocument/2006/relationships/hyperlink" Target="https://www.youtube.com/watch?v=lXNIteL16Z0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5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4" Type="http://schemas.openxmlformats.org/officeDocument/2006/relationships/image" Target="../media/image5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9CLEicF1s&amp;list=PLkt-u2nHD3yPD2ZkJuxozyUEnBpLoCrOe&amp;index=4&amp;t=474s" TargetMode="External"/><Relationship Id="rId7" Type="http://schemas.openxmlformats.org/officeDocument/2006/relationships/image" Target="../media/image52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hyperlink" Target="https://www.youtube.com/watch?v=tf1mnCVWJkQ&amp;t=413s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tree/main/n8n" TargetMode="External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sv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tree/main/n8n" TargetMode="External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3.png"/><Relationship Id="rId4" Type="http://schemas.openxmlformats.org/officeDocument/2006/relationships/hyperlink" Target="https://github.com/ancestor9/2026_Fall_AI-Workflow/blob/main/n8n/n8n%20demo%20data.xlsx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sv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s://github.com/ancestor9/2026_Fall_AI-Workflow/tree/main/n8n" TargetMode="Externa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hyperlink" Target="https://github.com/ancestor9/2026_Fall_AI-Workflow/tree/main/n8n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2.sv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5.sv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6Ual_n9SaQ" TargetMode="External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github.com/ancestor9/2026_Fall_AI-Workflow/blob/main/n8n/AI%20Agent%20(RAG).json" TargetMode="Externa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4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sv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Workflow/tree/main/n8n" TargetMode="External"/><Relationship Id="rId4" Type="http://schemas.openxmlformats.org/officeDocument/2006/relationships/image" Target="../media/image113.svg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3.sv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7.sv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1" Type="http://schemas.openxmlformats.org/officeDocument/2006/relationships/slideLayout" Target="../slideLayouts/slideLayout4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sv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Workflow/blob/main/n8n/%EB%89%B4%EC%8A%A4%20%EC%88%98%EC%A7%91%20%EB%B0%8F%20%EA%B0%90%EC%84%B1%EB%B6%84%EC%84%9D%20%EC%9E%90%EB%8F%99%ED%99%94%20Workflow.json" TargetMode="External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3.sv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aS--Zs5ILA&amp;t=813s" TargetMode="External"/><Relationship Id="rId2" Type="http://schemas.openxmlformats.org/officeDocument/2006/relationships/hyperlink" Target="https://www.youtube.com/watch?v=3eDguAZOFsA&amp;t=40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kKkQCnqWbaU" TargetMode="Externa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4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026" name="Picture 2" descr="공자명언 05 배우고 때로 익히면 또한 기쁘지 아니한가 : 네이버 블로그">
            <a:extLst>
              <a:ext uri="{FF2B5EF4-FFF2-40B4-BE49-F238E27FC236}">
                <a16:creationId xmlns:a16="http://schemas.microsoft.com/office/drawing/2014/main" id="{0A47B390-3019-9059-003B-3C750994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2073861"/>
            <a:ext cx="4286250" cy="422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8n - 나무위키">
            <a:extLst>
              <a:ext uri="{FF2B5EF4-FFF2-40B4-BE49-F238E27FC236}">
                <a16:creationId xmlns:a16="http://schemas.microsoft.com/office/drawing/2014/main" id="{7CC3F80D-44A7-071D-6702-1D8C34663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525" y="2073861"/>
            <a:ext cx="3038475" cy="1209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1801-38E9-1C82-2118-6D80106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27D49A-48A1-ABDE-6217-723B707453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Local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Server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ED8AC-21BD-6160-8144-D8DAB7FB4395}"/>
              </a:ext>
            </a:extLst>
          </p:cNvPr>
          <p:cNvSpPr txBox="1"/>
          <p:nvPr/>
        </p:nvSpPr>
        <p:spPr>
          <a:xfrm>
            <a:off x="586857" y="1396220"/>
            <a:ext cx="10680699" cy="28467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local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방법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WSL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Ubutu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올리시고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desltop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묻고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자동화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끝판왕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이렇게 설치하면 평생 무료입니다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!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웹훅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설정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버전 업데이트 포함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보시고 따라해서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로컬에 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F8D7AB-7DEB-ABBD-4F69-6ADA02DD30E5}"/>
              </a:ext>
            </a:extLst>
          </p:cNvPr>
          <p:cNvSpPr txBox="1"/>
          <p:nvPr/>
        </p:nvSpPr>
        <p:spPr>
          <a:xfrm>
            <a:off x="1014930" y="4974636"/>
            <a:ext cx="10252626" cy="107721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1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관련 동영상보고 실습을 위해 동영상 화면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있는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캡쳐해서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b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Geminin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만들어 달라고 하고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별첨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1)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Tip 2 : 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code +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MCP(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연결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prompt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만들기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155A514-6BAF-3674-2547-EFA2295785D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506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3D7-230B-7262-0D6B-DD52F849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7AFAEEC-02D8-B680-3598-E4264BEDB8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D0765-4BF9-5FA8-6FC7-85816E598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2CAB3F7-6815-A044-5B6B-EB01B8E21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837" y="1356057"/>
            <a:ext cx="11126005" cy="3508881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506158E0-12AF-DD18-8954-AC40972EB109}"/>
              </a:ext>
            </a:extLst>
          </p:cNvPr>
          <p:cNvSpPr/>
          <p:nvPr/>
        </p:nvSpPr>
        <p:spPr>
          <a:xfrm>
            <a:off x="10631055" y="4239491"/>
            <a:ext cx="461818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AFB6DB94-0760-D513-4A33-42DF94AFFD4D}"/>
              </a:ext>
            </a:extLst>
          </p:cNvPr>
          <p:cNvGrpSpPr/>
          <p:nvPr/>
        </p:nvGrpSpPr>
        <p:grpSpPr>
          <a:xfrm>
            <a:off x="5360882" y="2300173"/>
            <a:ext cx="4770604" cy="4272801"/>
            <a:chOff x="5360882" y="2300173"/>
            <a:chExt cx="4770604" cy="4272801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A4BB6BA5-07D8-A1BE-CADC-FBF415A59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0882" y="2300173"/>
              <a:ext cx="4770604" cy="4272801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29A0E03A-38C0-E035-9327-2BEEDB104F24}"/>
                </a:ext>
              </a:extLst>
            </p:cNvPr>
            <p:cNvSpPr/>
            <p:nvPr/>
          </p:nvSpPr>
          <p:spPr>
            <a:xfrm>
              <a:off x="7208708" y="5769037"/>
              <a:ext cx="1316456" cy="3146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10686F73-84AC-7021-77D3-D2851F9611AB}"/>
              </a:ext>
            </a:extLst>
          </p:cNvPr>
          <p:cNvGrpSpPr/>
          <p:nvPr/>
        </p:nvGrpSpPr>
        <p:grpSpPr>
          <a:xfrm>
            <a:off x="973464" y="1577507"/>
            <a:ext cx="4387418" cy="4506185"/>
            <a:chOff x="973464" y="1577507"/>
            <a:chExt cx="4387418" cy="450618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ACC9D9C9-27C0-32C6-EF73-DE2E0B11A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73464" y="1577507"/>
              <a:ext cx="4387418" cy="4506185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6D4954-B045-1C8E-7AD1-D7E5243B2F14}"/>
                </a:ext>
              </a:extLst>
            </p:cNvPr>
            <p:cNvSpPr/>
            <p:nvPr/>
          </p:nvSpPr>
          <p:spPr>
            <a:xfrm>
              <a:off x="4516538" y="5501943"/>
              <a:ext cx="720479" cy="44627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6D1EE80A-0B6C-8A6C-7D61-118F8B98E611}"/>
              </a:ext>
            </a:extLst>
          </p:cNvPr>
          <p:cNvSpPr/>
          <p:nvPr/>
        </p:nvSpPr>
        <p:spPr>
          <a:xfrm>
            <a:off x="4516538" y="4040998"/>
            <a:ext cx="1941528" cy="395575"/>
          </a:xfrm>
          <a:prstGeom prst="borderCallout2">
            <a:avLst>
              <a:gd name="adj1" fmla="val 18750"/>
              <a:gd name="adj2" fmla="val -8333"/>
              <a:gd name="adj3" fmla="val 66157"/>
              <a:gd name="adj4" fmla="val -19488"/>
              <a:gd name="adj5" fmla="val 103993"/>
              <a:gd name="adj6" fmla="val -46652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/home/node/.n8n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ABB683D-C01A-CC68-6109-38BB075205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277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EC8E-4177-A1D9-E2AF-F6DA4AC46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D0B06B7-3F81-EA18-C52D-CDE5E7D367E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35C0836-1116-6842-48D6-CD300DDC3B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6" y="1556845"/>
            <a:ext cx="8885400" cy="447941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6602D40-24F3-6A89-7AFA-F39E1A744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5635599C-413A-F418-120B-8122C46D5133}"/>
              </a:ext>
            </a:extLst>
          </p:cNvPr>
          <p:cNvSpPr/>
          <p:nvPr/>
        </p:nvSpPr>
        <p:spPr>
          <a:xfrm>
            <a:off x="8315325" y="2076450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57880"/>
              <a:gd name="adj4" fmla="val -64845"/>
              <a:gd name="adj5" fmla="val 162065"/>
              <a:gd name="adj6" fmla="val -11994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9FF0A8C9-C6E5-5B2F-0190-8A469C6388FF}"/>
              </a:ext>
            </a:extLst>
          </p:cNvPr>
          <p:cNvSpPr/>
          <p:nvPr/>
        </p:nvSpPr>
        <p:spPr>
          <a:xfrm>
            <a:off x="6485731" y="3873792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설명선: 굽은 선 6">
            <a:extLst>
              <a:ext uri="{FF2B5EF4-FFF2-40B4-BE49-F238E27FC236}">
                <a16:creationId xmlns:a16="http://schemas.microsoft.com/office/drawing/2014/main" id="{20EA4B64-03B5-2B03-E380-B2B5372E6548}"/>
              </a:ext>
            </a:extLst>
          </p:cNvPr>
          <p:cNvSpPr/>
          <p:nvPr/>
        </p:nvSpPr>
        <p:spPr>
          <a:xfrm>
            <a:off x="5003960" y="4238917"/>
            <a:ext cx="1297132" cy="39557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Port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32652BE-9B00-4755-2B91-1B86E3BA9D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0818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913795" y="417887"/>
            <a:ext cx="10353762" cy="76643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Batang"/>
              <a:buNone/>
            </a:pPr>
            <a:r>
              <a:rPr lang="en-US" dirty="0"/>
              <a:t>Docker</a:t>
            </a:r>
            <a:endParaRPr dirty="0"/>
          </a:p>
        </p:txBody>
      </p:sp>
      <p:sp>
        <p:nvSpPr>
          <p:cNvPr id="239" name="Google Shape;239;p9"/>
          <p:cNvSpPr txBox="1"/>
          <p:nvPr/>
        </p:nvSpPr>
        <p:spPr>
          <a:xfrm>
            <a:off x="1022458" y="5440756"/>
            <a:ext cx="1944262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생활코딩_Docker</a:t>
            </a:r>
            <a:endParaRPr sz="1100" b="1">
              <a:solidFill>
                <a:schemeClr val="lt1"/>
              </a:solidFill>
              <a:latin typeface="Sorts Mill Goudy"/>
              <a:ea typeface="Sorts Mill Goudy"/>
              <a:cs typeface="Sorts Mill Goudy"/>
              <a:sym typeface="Sorts Mill Goudy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2040D3A-1E3E-C294-2608-5088CFBFAFD4}"/>
              </a:ext>
            </a:extLst>
          </p:cNvPr>
          <p:cNvSpPr/>
          <p:nvPr/>
        </p:nvSpPr>
        <p:spPr>
          <a:xfrm>
            <a:off x="5825836" y="2144319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74CBF8C-B088-6B0E-CA10-9FE00F48FAF7}"/>
              </a:ext>
            </a:extLst>
          </p:cNvPr>
          <p:cNvSpPr/>
          <p:nvPr/>
        </p:nvSpPr>
        <p:spPr>
          <a:xfrm>
            <a:off x="1145309" y="5555615"/>
            <a:ext cx="9485746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Window OS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5D1FE3B-B7BD-8429-5043-CBFE095C8105}"/>
              </a:ext>
            </a:extLst>
          </p:cNvPr>
          <p:cNvSpPr/>
          <p:nvPr/>
        </p:nvSpPr>
        <p:spPr>
          <a:xfrm>
            <a:off x="5059217" y="4984702"/>
            <a:ext cx="5571832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WSL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7FF03A7-0BEB-867D-60A5-08422A62D7A2}"/>
              </a:ext>
            </a:extLst>
          </p:cNvPr>
          <p:cNvSpPr/>
          <p:nvPr/>
        </p:nvSpPr>
        <p:spPr>
          <a:xfrm>
            <a:off x="5059217" y="4438770"/>
            <a:ext cx="557183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Linux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3220DB1-BD21-94E1-899B-ADC010A1A59A}"/>
              </a:ext>
            </a:extLst>
          </p:cNvPr>
          <p:cNvSpPr/>
          <p:nvPr/>
        </p:nvSpPr>
        <p:spPr>
          <a:xfrm>
            <a:off x="5380177" y="3488858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AB39F8-AEB7-CFB2-07CD-C58CCA7AF997}"/>
              </a:ext>
            </a:extLst>
          </p:cNvPr>
          <p:cNvSpPr/>
          <p:nvPr/>
        </p:nvSpPr>
        <p:spPr>
          <a:xfrm>
            <a:off x="8137232" y="3488858"/>
            <a:ext cx="1948871" cy="43665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library, binary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CCCE9BFF-F6DC-D522-F4D5-07D1F33D0BF9}"/>
              </a:ext>
            </a:extLst>
          </p:cNvPr>
          <p:cNvSpPr/>
          <p:nvPr/>
        </p:nvSpPr>
        <p:spPr>
          <a:xfrm>
            <a:off x="1886527" y="2144319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App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EC21DC9-0B03-BCA3-A687-439B34BF4D4F}"/>
              </a:ext>
            </a:extLst>
          </p:cNvPr>
          <p:cNvSpPr/>
          <p:nvPr/>
        </p:nvSpPr>
        <p:spPr>
          <a:xfrm>
            <a:off x="8582891" y="2133482"/>
            <a:ext cx="1016001" cy="1016001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SQL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5B82806-5306-74BA-C17C-822DDB34E02D}"/>
              </a:ext>
            </a:extLst>
          </p:cNvPr>
          <p:cNvSpPr/>
          <p:nvPr/>
        </p:nvSpPr>
        <p:spPr>
          <a:xfrm>
            <a:off x="7897092" y="1968569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E78E2EE-FA2C-65B3-929E-C107827C86AF}"/>
              </a:ext>
            </a:extLst>
          </p:cNvPr>
          <p:cNvSpPr/>
          <p:nvPr/>
        </p:nvSpPr>
        <p:spPr>
          <a:xfrm>
            <a:off x="5133109" y="1987516"/>
            <a:ext cx="2401454" cy="2161309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DCF7C5-D6CC-3C8E-BEDF-56846A067778}"/>
              </a:ext>
            </a:extLst>
          </p:cNvPr>
          <p:cNvSpPr/>
          <p:nvPr/>
        </p:nvSpPr>
        <p:spPr>
          <a:xfrm>
            <a:off x="885481" y="1659626"/>
            <a:ext cx="10059005" cy="4667288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설명선: 굽은 선 25">
            <a:extLst>
              <a:ext uri="{FF2B5EF4-FFF2-40B4-BE49-F238E27FC236}">
                <a16:creationId xmlns:a16="http://schemas.microsoft.com/office/drawing/2014/main" id="{4BF2F403-210F-7F84-6F8F-969A0F82E715}"/>
              </a:ext>
            </a:extLst>
          </p:cNvPr>
          <p:cNvSpPr/>
          <p:nvPr/>
        </p:nvSpPr>
        <p:spPr>
          <a:xfrm>
            <a:off x="3568843" y="1477063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Host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8" name="설명선: 굽은 선 27">
            <a:extLst>
              <a:ext uri="{FF2B5EF4-FFF2-40B4-BE49-F238E27FC236}">
                <a16:creationId xmlns:a16="http://schemas.microsoft.com/office/drawing/2014/main" id="{51B8BFD0-E78C-A34C-CA4C-ED9BE0DE47E4}"/>
              </a:ext>
            </a:extLst>
          </p:cNvPr>
          <p:cNvSpPr/>
          <p:nvPr/>
        </p:nvSpPr>
        <p:spPr>
          <a:xfrm>
            <a:off x="7534563" y="1528365"/>
            <a:ext cx="1250230" cy="365125"/>
          </a:xfrm>
          <a:prstGeom prst="borderCallout2">
            <a:avLst>
              <a:gd name="adj1" fmla="val 18750"/>
              <a:gd name="adj2" fmla="val -8333"/>
              <a:gd name="adj3" fmla="val 55350"/>
              <a:gd name="adj4" fmla="val -41943"/>
              <a:gd name="adj5" fmla="val 151946"/>
              <a:gd name="adj6" fmla="val -74013"/>
            </a:avLst>
          </a:prstGeom>
          <a:solidFill>
            <a:srgbClr val="FF0000"/>
          </a:solidFill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D7F1E7E-DF5F-2864-CCFC-6862F695232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7906-8422-75FB-B686-8A4918F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114697-0109-DBB2-4517-DF6A82EC7B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Core concept of 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F340-3B1E-6BAA-8FFB-064B9D23B4CE}"/>
              </a:ext>
            </a:extLst>
          </p:cNvPr>
          <p:cNvSpPr txBox="1"/>
          <p:nvPr/>
        </p:nvSpPr>
        <p:spPr>
          <a:xfrm>
            <a:off x="751955" y="1718786"/>
            <a:ext cx="10515601" cy="3713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Trigger : what starts an automation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Filter : to allow or block certain types of data from following a path based on certain conditions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Actions (App) : allow you to interact with internal or external 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EE908D0-BFB9-0D0D-8EAD-0581F6272FA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890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886-F3EB-5C97-035B-53584DA5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E7764-79DF-14BB-4042-F31E9B152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Overview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D1BBEDA-D7B7-3132-2A50-ECC452568AFC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556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B7FEB-027D-5E1B-C580-F582BD150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585A0A-B659-F775-8968-A3621C7A67C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115FF46-27C2-3CE4-424A-372669877078}"/>
              </a:ext>
            </a:extLst>
          </p:cNvPr>
          <p:cNvSpPr/>
          <p:nvPr/>
        </p:nvSpPr>
        <p:spPr>
          <a:xfrm>
            <a:off x="1181100" y="3045780"/>
            <a:ext cx="1943100" cy="76643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A2FC683-51C4-0343-AB3E-F45EB87746B6}"/>
              </a:ext>
            </a:extLst>
          </p:cNvPr>
          <p:cNvSpPr/>
          <p:nvPr/>
        </p:nvSpPr>
        <p:spPr>
          <a:xfrm>
            <a:off x="4418408" y="2496659"/>
            <a:ext cx="2858295" cy="186468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FCCCB15-9111-F971-89EB-F02D5F1E6D9A}"/>
              </a:ext>
            </a:extLst>
          </p:cNvPr>
          <p:cNvSpPr/>
          <p:nvPr/>
        </p:nvSpPr>
        <p:spPr>
          <a:xfrm>
            <a:off x="8570911" y="3045780"/>
            <a:ext cx="1943100" cy="7664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9B168EA5-31B7-630D-07E0-CF6207CE78B9}"/>
              </a:ext>
            </a:extLst>
          </p:cNvPr>
          <p:cNvCxnSpPr>
            <a:cxnSpLocks/>
          </p:cNvCxnSpPr>
          <p:nvPr/>
        </p:nvCxnSpPr>
        <p:spPr>
          <a:xfrm>
            <a:off x="3124200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FBC4810B-86AF-9337-AB60-1F7F528646F3}"/>
              </a:ext>
            </a:extLst>
          </p:cNvPr>
          <p:cNvCxnSpPr>
            <a:cxnSpLocks/>
          </p:cNvCxnSpPr>
          <p:nvPr/>
        </p:nvCxnSpPr>
        <p:spPr>
          <a:xfrm>
            <a:off x="7276703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C1A56C67-3670-198B-B8CA-C3AD1BBFAC77}"/>
              </a:ext>
            </a:extLst>
          </p:cNvPr>
          <p:cNvSpPr txBox="1"/>
          <p:nvPr/>
        </p:nvSpPr>
        <p:spPr>
          <a:xfrm>
            <a:off x="1560113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Trigger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/>
              <a:t>Every day at 8am</a:t>
            </a:r>
          </a:p>
          <a:p>
            <a:pPr>
              <a:buNone/>
            </a:pPr>
            <a:r>
              <a:rPr lang="en-US" altLang="ko-KR" dirty="0"/>
              <a:t>When “this” happens</a:t>
            </a:r>
          </a:p>
          <a:p>
            <a:pPr>
              <a:buNone/>
            </a:pPr>
            <a:r>
              <a:rPr lang="en-US" altLang="ko-KR" dirty="0"/>
              <a:t>When launched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5984F4-1F99-9AF5-99AC-EA173A92EC05}"/>
              </a:ext>
            </a:extLst>
          </p:cNvPr>
          <p:cNvSpPr txBox="1"/>
          <p:nvPr/>
        </p:nvSpPr>
        <p:spPr>
          <a:xfrm>
            <a:off x="5065512" y="2669739"/>
            <a:ext cx="28582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Sorting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Filtering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Formatting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Transforming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Segmenting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i="1" dirty="0"/>
              <a:t>(based on different criteria)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If this then</a:t>
            </a:r>
          </a:p>
          <a:p>
            <a:pPr>
              <a:buNone/>
            </a:pPr>
            <a:r>
              <a:rPr lang="en-US" altLang="ko-KR" dirty="0"/>
              <a:t>Only if this</a:t>
            </a:r>
          </a:p>
          <a:p>
            <a:pPr>
              <a:buNone/>
            </a:pPr>
            <a:r>
              <a:rPr lang="en-US" altLang="ko-KR" dirty="0"/>
              <a:t>Change x to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2E4C27-52CF-4148-7B32-3F92C0568480}"/>
              </a:ext>
            </a:extLst>
          </p:cNvPr>
          <p:cNvSpPr txBox="1"/>
          <p:nvPr/>
        </p:nvSpPr>
        <p:spPr>
          <a:xfrm>
            <a:off x="8953500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Actions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Update a Google Sheet</a:t>
            </a:r>
          </a:p>
          <a:p>
            <a:pPr>
              <a:buNone/>
            </a:pPr>
            <a:r>
              <a:rPr lang="en-US" altLang="ko-KR" dirty="0"/>
              <a:t>Send an email</a:t>
            </a:r>
          </a:p>
          <a:p>
            <a:pPr>
              <a:buNone/>
            </a:pPr>
            <a:r>
              <a:rPr lang="en-US" altLang="ko-KR" dirty="0"/>
              <a:t>Notify person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5514BF7-FA57-BC0A-0B39-E31CE3CDEEC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836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B4C47-E289-8753-9E79-FF183A3C2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03C99A5-46C6-9651-2516-907CE520EF2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 Integrations</a:t>
            </a:r>
            <a:endParaRPr lang="ko-KR" altLang="ko-KR" sz="2800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E8E2FE-2764-8001-2A80-04D659F82C39}"/>
              </a:ext>
            </a:extLst>
          </p:cNvPr>
          <p:cNvSpPr txBox="1"/>
          <p:nvPr/>
        </p:nvSpPr>
        <p:spPr>
          <a:xfrm>
            <a:off x="5152680" y="5685498"/>
            <a:ext cx="34638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hlinkClick r:id="rId2"/>
              </a:rPr>
              <a:t>orchestrate-data-science-project-python-prefect</a:t>
            </a:r>
            <a:endParaRPr lang="ko-KR" altLang="en-US" sz="1200" dirty="0"/>
          </a:p>
        </p:txBody>
      </p:sp>
      <p:pic>
        <p:nvPicPr>
          <p:cNvPr id="9" name="그림 8" descr="Orchestrate a Data Science Project in Python With Prefect">
            <a:extLst>
              <a:ext uri="{FF2B5EF4-FFF2-40B4-BE49-F238E27FC236}">
                <a16:creationId xmlns:a16="http://schemas.microsoft.com/office/drawing/2014/main" id="{E563AFD1-D0F5-B00F-188C-A316F685F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097" y="2531429"/>
            <a:ext cx="5775803" cy="2938440"/>
          </a:xfrm>
          <a:prstGeom prst="rect">
            <a:avLst/>
          </a:prstGeom>
          <a:ln>
            <a:noFill/>
          </a:ln>
        </p:spPr>
      </p:pic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196FDF6-0D65-7B01-FC4C-0009B938A10C}"/>
              </a:ext>
            </a:extLst>
          </p:cNvPr>
          <p:cNvSpPr/>
          <p:nvPr/>
        </p:nvSpPr>
        <p:spPr>
          <a:xfrm>
            <a:off x="5152680" y="1942575"/>
            <a:ext cx="6439245" cy="3677176"/>
          </a:xfrm>
          <a:prstGeom prst="roundRect">
            <a:avLst>
              <a:gd name="adj" fmla="val 7564"/>
            </a:avLst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B239C-CAA0-60DF-50C5-E2FAE41CEA53}"/>
              </a:ext>
            </a:extLst>
          </p:cNvPr>
          <p:cNvSpPr txBox="1"/>
          <p:nvPr/>
        </p:nvSpPr>
        <p:spPr>
          <a:xfrm>
            <a:off x="5076481" y="1476718"/>
            <a:ext cx="838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endParaRPr lang="ko-KR" altLang="en-US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9427FE-0FFD-77FB-6D73-48CE4B5107FE}"/>
              </a:ext>
            </a:extLst>
          </p:cNvPr>
          <p:cNvSpPr txBox="1"/>
          <p:nvPr/>
        </p:nvSpPr>
        <p:spPr>
          <a:xfrm>
            <a:off x="5371582" y="2063137"/>
            <a:ext cx="6011655" cy="33855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Workflows / Credentials / Executions / Data tables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슬라이드 번호 개체 틀 3">
            <a:extLst>
              <a:ext uri="{FF2B5EF4-FFF2-40B4-BE49-F238E27FC236}">
                <a16:creationId xmlns:a16="http://schemas.microsoft.com/office/drawing/2014/main" id="{A0A602C7-07E8-7966-C0F3-39B3F735A36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C2EB3C7-3949-2FFF-67D1-9F9FD220426A}"/>
              </a:ext>
            </a:extLst>
          </p:cNvPr>
          <p:cNvSpPr txBox="1"/>
          <p:nvPr/>
        </p:nvSpPr>
        <p:spPr>
          <a:xfrm>
            <a:off x="3209235" y="2853058"/>
            <a:ext cx="154339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</a:p>
          <a:p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OAuth</a:t>
            </a:r>
            <a:endParaRPr lang="ko-KR" altLang="en-US" sz="2400" dirty="0"/>
          </a:p>
        </p:txBody>
      </p:sp>
      <p:pic>
        <p:nvPicPr>
          <p:cNvPr id="20" name="그래픽 19" descr="전송 윤곽선">
            <a:extLst>
              <a:ext uri="{FF2B5EF4-FFF2-40B4-BE49-F238E27FC236}">
                <a16:creationId xmlns:a16="http://schemas.microsoft.com/office/drawing/2014/main" id="{6E4E761F-76D9-5DD2-018C-C87D37FBD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122" y="3086100"/>
            <a:ext cx="222885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AA2C5F6-C262-1CAA-01DE-0D3C3B66327F}"/>
              </a:ext>
            </a:extLst>
          </p:cNvPr>
          <p:cNvSpPr txBox="1"/>
          <p:nvPr/>
        </p:nvSpPr>
        <p:spPr>
          <a:xfrm>
            <a:off x="808763" y="1942575"/>
            <a:ext cx="1409700" cy="3785652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Google,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Naver…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Kakao, Instagram…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Notion, Discord, Slack…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Chat GPT</a:t>
            </a: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</a:p>
          <a:p>
            <a:pPr algn="ctr"/>
            <a:endParaRPr lang="en-US" altLang="ko-KR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…….</a:t>
            </a:r>
          </a:p>
        </p:txBody>
      </p:sp>
    </p:spTree>
    <p:extLst>
      <p:ext uri="{BB962C8B-B14F-4D97-AF65-F5344CB8AC3E}">
        <p14:creationId xmlns:p14="http://schemas.microsoft.com/office/powerpoint/2010/main" val="2553823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90BD-0B46-D0D6-7007-8D2D1A9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B5E933-0C3E-C5BC-19F6-59B973129D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9A4854C-DEE1-5A6C-5489-FF63C19A5DC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4F163C-5FA3-FC66-366E-19A051016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5" y="1334147"/>
            <a:ext cx="8176724" cy="521658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361B069-77D4-8BB0-42FE-06A92D363E04}"/>
              </a:ext>
            </a:extLst>
          </p:cNvPr>
          <p:cNvSpPr/>
          <p:nvPr/>
        </p:nvSpPr>
        <p:spPr>
          <a:xfrm>
            <a:off x="2125763" y="2982725"/>
            <a:ext cx="5608537" cy="44627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0855B69-0D0C-3565-903A-EC4EA2946A1D}"/>
              </a:ext>
            </a:extLst>
          </p:cNvPr>
          <p:cNvSpPr/>
          <p:nvPr/>
        </p:nvSpPr>
        <p:spPr>
          <a:xfrm>
            <a:off x="2335313" y="371930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412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0E5A-5D8C-D85D-A3EA-6012E6283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C813CC7-454E-1604-4FD1-6F6514F37BF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BCE9E18-0061-2445-60A2-1B1F2E7F5D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54B6741-44DA-51A3-8839-C5D89248A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299" y="1365389"/>
            <a:ext cx="8371033" cy="517666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C14B45C-3F68-549F-5200-FD403B8AE064}"/>
              </a:ext>
            </a:extLst>
          </p:cNvPr>
          <p:cNvSpPr/>
          <p:nvPr/>
        </p:nvSpPr>
        <p:spPr>
          <a:xfrm>
            <a:off x="6916838" y="3896572"/>
            <a:ext cx="1312762" cy="1151677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0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B0E9A7-09E8-713F-A796-AE8D1FF82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56811192-6322-DCC2-F16C-B435698B2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89966"/>
            <a:ext cx="10353762" cy="475763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480ABD7A-5293-C67C-10AD-EB5396B166B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EF610D7-7A5A-64E0-1050-DD31F20E998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7275E32-C72E-526A-8B44-3D66B9BEC18F}"/>
              </a:ext>
            </a:extLst>
          </p:cNvPr>
          <p:cNvSpPr/>
          <p:nvPr/>
        </p:nvSpPr>
        <p:spPr>
          <a:xfrm>
            <a:off x="1215139" y="1489967"/>
            <a:ext cx="2461511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655B86-FECE-F15F-978F-84E542FFB0BF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193662A-F9DE-2614-C511-5E2455855F74}"/>
              </a:ext>
            </a:extLst>
          </p:cNvPr>
          <p:cNvSpPr/>
          <p:nvPr/>
        </p:nvSpPr>
        <p:spPr>
          <a:xfrm>
            <a:off x="9121143" y="178202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22D2370-3B1D-C7AC-AA32-3C5056D2C18C}"/>
              </a:ext>
            </a:extLst>
          </p:cNvPr>
          <p:cNvSpPr/>
          <p:nvPr/>
        </p:nvSpPr>
        <p:spPr>
          <a:xfrm>
            <a:off x="1809564" y="1782021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54148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1E322-F1BC-D80F-951C-58F386CAA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6E4FEE7-2B7E-E9D9-8560-8A3D321913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56" y="1398217"/>
            <a:ext cx="10915650" cy="497780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EABE085-C371-70D7-2C85-A3C942A286A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87E27F7-A185-97E5-7823-F6717C3FEDD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1762953-C1A1-930E-A887-03A12E31C2B8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AC7363E-A776-9C50-C427-81D662566C97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350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5B18B-377D-F2D4-7EB2-CEC70CC69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4F54A72-8052-0AEB-F8DD-69B5EF02B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771" y="1470915"/>
            <a:ext cx="10648950" cy="4826410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CDFAB054-1BEE-ED37-3171-08D7AAFFD2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1. What is workflows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1163421-69BE-D3FC-3A2F-B651B93A7E2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9A363A-2595-BD5C-84AB-78ED02E62FEE}"/>
              </a:ext>
            </a:extLst>
          </p:cNvPr>
          <p:cNvSpPr/>
          <p:nvPr/>
        </p:nvSpPr>
        <p:spPr>
          <a:xfrm>
            <a:off x="6648264" y="1470915"/>
            <a:ext cx="5286042" cy="499918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5B3939C-D1F9-422B-A2F0-031C7F891A69}"/>
              </a:ext>
            </a:extLst>
          </p:cNvPr>
          <p:cNvSpPr/>
          <p:nvPr/>
        </p:nvSpPr>
        <p:spPr>
          <a:xfrm>
            <a:off x="9616443" y="1686772"/>
            <a:ext cx="1867086" cy="45635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5881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B2456-6108-10C1-D968-3AA3B5915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5828EB3-8291-C872-A7E0-F6E16A6FE9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7FBBB31-FC04-E55A-2CA9-8A5FA7862AB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9DBCAD-2196-C5FB-3E00-DC5E4CFDE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49" y="1502536"/>
            <a:ext cx="7523299" cy="4873481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50199609-6F53-A76B-90C7-809C687EA063}"/>
              </a:ext>
            </a:extLst>
          </p:cNvPr>
          <p:cNvSpPr/>
          <p:nvPr/>
        </p:nvSpPr>
        <p:spPr>
          <a:xfrm>
            <a:off x="3040163" y="30239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E35FA7-B339-041B-1C38-023BDA2A4A75}"/>
              </a:ext>
            </a:extLst>
          </p:cNvPr>
          <p:cNvSpPr/>
          <p:nvPr/>
        </p:nvSpPr>
        <p:spPr>
          <a:xfrm>
            <a:off x="3040163" y="375740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996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7BFE-9532-4E37-72AF-3ECEC8F6C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8101F7A-07C5-AAD8-62DF-98F7ADC82C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2. What is credentials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59BA654-367B-102B-84B5-6C369B79BF3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577062F-EC92-B4EA-FC85-81F6D4F09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811" y="1480350"/>
            <a:ext cx="7801430" cy="504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8412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92696-F08D-BA3B-E531-C441BE25D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909F852-B1C7-53FC-49A3-618D3965FE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3.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BB07F38-7DEE-9AD5-3311-04DEE0D77B9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9A8CB4B-67B8-8304-258F-DF8E19B91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347" y="1424695"/>
            <a:ext cx="8044358" cy="515708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0CF9881-2648-212C-0C09-C4E522710F07}"/>
              </a:ext>
            </a:extLst>
          </p:cNvPr>
          <p:cNvSpPr/>
          <p:nvPr/>
        </p:nvSpPr>
        <p:spPr>
          <a:xfrm>
            <a:off x="3068738" y="30620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C385121-031A-7502-43E6-651D5D7788E7}"/>
              </a:ext>
            </a:extLst>
          </p:cNvPr>
          <p:cNvSpPr/>
          <p:nvPr/>
        </p:nvSpPr>
        <p:spPr>
          <a:xfrm>
            <a:off x="3068738" y="3900277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832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3CFEE-55B6-581F-885A-C9B9E9D73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CBACDC8-816E-93A9-3AB5-6E47DA4E4F6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executions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CE490AF-76F5-46CE-35E4-3956C7FE0EF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35983E-0AE0-E8F8-B3F5-EFC46D7DA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11" y="1486094"/>
            <a:ext cx="8057777" cy="5076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8925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A11559-AFCF-4296-BBF0-B13790B16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1B99FE-E346-CFBE-C19B-4DCD5CE45BC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D90D7F5-688E-FF79-16A2-F3D5616B2C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6EB943-2257-CDFC-94D5-C5DEAD2969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968" y="1408951"/>
            <a:ext cx="10646063" cy="477815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1A8F0F3-4C56-8450-E84B-7F995813A5BE}"/>
              </a:ext>
            </a:extLst>
          </p:cNvPr>
          <p:cNvSpPr/>
          <p:nvPr/>
        </p:nvSpPr>
        <p:spPr>
          <a:xfrm>
            <a:off x="2992538" y="3624052"/>
            <a:ext cx="63419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63298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C7C87-5D8A-9CC8-FDC2-79D77D0FB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3AF1A90-5C68-23CA-FBA8-A40D9F81FF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4. What is data table of n8n ?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93F746F-8242-BBBF-ECB8-DE72333BB24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9CAD6C4-C1F0-1E5B-67F9-2507E0FC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7" y="1885816"/>
            <a:ext cx="10676545" cy="3086367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0B076C41-3CED-986F-2214-51F6AF370119}"/>
              </a:ext>
            </a:extLst>
          </p:cNvPr>
          <p:cNvSpPr/>
          <p:nvPr/>
        </p:nvSpPr>
        <p:spPr>
          <a:xfrm>
            <a:off x="8111171" y="1885816"/>
            <a:ext cx="3446362" cy="557423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41084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F061-1344-B98F-ACD0-0C6461F9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BEED9-E7DE-EFC5-3F80-50F7E6C89B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Triggers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43CDAF1E-4A24-E4F7-3B8D-58EE39B2B97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3540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1F403-F042-D7A9-98BC-CCCB539EB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CB2ED3-D0D4-CECC-300F-14620A5907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81CD05-E6DB-1D19-ED6F-31C720460E01}"/>
              </a:ext>
            </a:extLst>
          </p:cNvPr>
          <p:cNvSpPr txBox="1"/>
          <p:nvPr/>
        </p:nvSpPr>
        <p:spPr>
          <a:xfrm>
            <a:off x="744020" y="20617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Trigger Node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C097D1-474D-A21B-07AD-D9D4DD01586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BAB8751-EFE1-69CD-5084-B3CE3C0D49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78" y="1658966"/>
            <a:ext cx="5105597" cy="4401969"/>
          </a:xfrm>
          <a:prstGeom prst="rect">
            <a:avLst/>
          </a:prstGeom>
        </p:spPr>
      </p:pic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9603CD35-5B23-779F-3C77-0E29559D3259}"/>
              </a:ext>
            </a:extLst>
          </p:cNvPr>
          <p:cNvSpPr/>
          <p:nvPr/>
        </p:nvSpPr>
        <p:spPr>
          <a:xfrm>
            <a:off x="10706100" y="3324225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03D990B-544F-F146-6EBD-48A993259DE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377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D86-BE7B-EA6F-92A5-E2F7C637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5C890AB-8690-1021-0C11-E9769F652B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4910A86-FD3F-F002-5877-E5716AC9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694" y="1678230"/>
            <a:ext cx="7127133" cy="430012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8505EC5-EAE2-9082-3E42-161F2AFA4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989" y="3828291"/>
            <a:ext cx="2552921" cy="1882303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D6D8B78B-92EA-24A4-EFEB-3CE61D27206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0324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6830E-8AF9-0E8E-5032-C1EEB11FE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616D07-8A1C-8C7A-09CB-3F723A35CB9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Typeform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trigger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D0EA3A-7BF6-65EB-CFFD-51531B29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643" y="1441051"/>
            <a:ext cx="6017512" cy="33698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506E091-9BCD-467F-A777-C9C6784CF1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174" y="1441051"/>
            <a:ext cx="4725339" cy="2981709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F5DFC-C927-34B9-5ACD-4B9922D87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588" y="2643536"/>
            <a:ext cx="6022947" cy="32585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BB69E37-BB9B-0A51-D518-E2A8C66DE5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3049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D1AC-C48D-A42C-9FB0-5AD27899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b="1" cap="none" dirty="0">
                    <a:latin typeface="Lora" pitchFamily="2" charset="0"/>
                  </a:rPr>
                  <a:t>API vs. Webhooks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API</m:t>
                        </m:r>
                      </m:e>
                      <m:sup>
                        <m:r>
                          <a:rPr lang="en-US" altLang="ko-KR" sz="2800" b="1" i="1" cap="none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2800" b="1" cap="none" dirty="0">
                    <a:latin typeface="Lora" pitchFamily="2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C22965B5-A81A-2008-5062-EB1615BEF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31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What is Webhook? Explained Simply!">
            <a:extLst>
              <a:ext uri="{FF2B5EF4-FFF2-40B4-BE49-F238E27FC236}">
                <a16:creationId xmlns:a16="http://schemas.microsoft.com/office/drawing/2014/main" id="{C00E4F28-34E7-BB42-A680-45FB4CCCCA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738" y="1840331"/>
            <a:ext cx="7267575" cy="4088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1D8037-FF26-48AC-7834-07D749086B64}"/>
              </a:ext>
            </a:extLst>
          </p:cNvPr>
          <p:cNvSpPr txBox="1"/>
          <p:nvPr/>
        </p:nvSpPr>
        <p:spPr>
          <a:xfrm>
            <a:off x="2018738" y="592834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https://smartgrowthguide.com/blog/what-is-webhook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7185D11-AA33-C129-8144-6100E20D100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268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170B-45A9-696D-55D0-006297AEA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8E886543-B6F0-03BC-4DEF-3CDBC0E262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620" y="1335360"/>
            <a:ext cx="1615580" cy="104403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91D0AC-E3C8-AA32-FC37-52712DF06D2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- 1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C87158C-14A7-E43D-9EBB-8E34FE0D6A1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D4F5B4B-A5A8-EC1E-B149-3F19014F0E0D}"/>
              </a:ext>
            </a:extLst>
          </p:cNvPr>
          <p:cNvGrpSpPr/>
          <p:nvPr/>
        </p:nvGrpSpPr>
        <p:grpSpPr>
          <a:xfrm>
            <a:off x="1653246" y="2107181"/>
            <a:ext cx="4967764" cy="3322526"/>
            <a:chOff x="1672296" y="2196650"/>
            <a:chExt cx="4967764" cy="3322526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475EA25A-5CB2-390D-AF50-6ACA7941E3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B5732CE-42F6-88F9-8A1E-FA49CB6A4C61}"/>
                </a:ext>
              </a:extLst>
            </p:cNvPr>
            <p:cNvSpPr/>
            <p:nvPr/>
          </p:nvSpPr>
          <p:spPr>
            <a:xfrm>
              <a:off x="3838576" y="3251434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D37748B1-9E33-E39A-A1F5-C1BCAFCC1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046" y="3768444"/>
            <a:ext cx="6174715" cy="115732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58631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1E45-09DC-06BC-24CC-46C6A66D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608720A-8C0B-9E07-ED5F-485E3BBFA1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- 2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4A1E8E4-980C-1E95-5073-D10311611C0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CE8D8AED-AC80-3324-C240-AC7936AE6898}"/>
              </a:ext>
            </a:extLst>
          </p:cNvPr>
          <p:cNvGrpSpPr/>
          <p:nvPr/>
        </p:nvGrpSpPr>
        <p:grpSpPr>
          <a:xfrm>
            <a:off x="559849" y="1462743"/>
            <a:ext cx="3758543" cy="4589453"/>
            <a:chOff x="559849" y="1462743"/>
            <a:chExt cx="3758543" cy="458945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48DECE0F-D01F-A345-37CE-B3D349661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9849" y="1462743"/>
              <a:ext cx="3421601" cy="4589453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7E1C6DA-AAE1-3DC9-DAB4-F1332C11480E}"/>
                </a:ext>
              </a:extLst>
            </p:cNvPr>
            <p:cNvSpPr/>
            <p:nvPr/>
          </p:nvSpPr>
          <p:spPr>
            <a:xfrm>
              <a:off x="1724026" y="1761790"/>
              <a:ext cx="2594366" cy="2670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BD9C3577-54A7-242C-2545-E6F44FF13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158" y="2108608"/>
            <a:ext cx="4582394" cy="33910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21129C5-C2A7-78FB-EF90-36C0A4F87F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494" y="4679102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41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30D8-2921-9908-2BFB-A90A1CF3F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CF59493-0548-9D72-AF4F-44583118212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- 3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66E1613-A894-8733-D1A2-B35A8E4368D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8FF79AB-4B62-67E2-9969-E962EBD5FC39}"/>
              </a:ext>
            </a:extLst>
          </p:cNvPr>
          <p:cNvGrpSpPr/>
          <p:nvPr/>
        </p:nvGrpSpPr>
        <p:grpSpPr>
          <a:xfrm>
            <a:off x="602772" y="1445884"/>
            <a:ext cx="4967764" cy="3322526"/>
            <a:chOff x="1672296" y="2196650"/>
            <a:chExt cx="4967764" cy="3322526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1F1CEF6C-224A-F645-D5DE-C45F7DFD07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2296" y="2196650"/>
              <a:ext cx="4967764" cy="33225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18A13E3-978D-4BD4-1E54-CEE1771A4497}"/>
                </a:ext>
              </a:extLst>
            </p:cNvPr>
            <p:cNvSpPr/>
            <p:nvPr/>
          </p:nvSpPr>
          <p:spPr>
            <a:xfrm>
              <a:off x="5343524" y="2417341"/>
              <a:ext cx="1296535" cy="34539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74CB7EAF-C185-05CE-6672-68E7F4B21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24" y="2089558"/>
            <a:ext cx="4851400" cy="45286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7E3C07C-A202-E23C-E7CD-F0C5EBD05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122" y="4194872"/>
            <a:ext cx="4675184" cy="7791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0530620-900A-6799-876D-A686231323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6888" y="2987811"/>
            <a:ext cx="929721" cy="110499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76208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7D8EA-606E-3C83-F6EE-31242BC7F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00DC845E-CBF2-BFBF-0EDD-0B327914B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386083"/>
            <a:ext cx="3025402" cy="11583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A40396C7-39EA-D008-E235-2294D1D4E26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- 4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011716C-D386-C592-C3FD-01B35EB3FE3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9065830-1576-803F-0ED3-6317B6F9C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48" y="2406294"/>
            <a:ext cx="8633092" cy="39697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59E5DF-468B-3F52-67C5-7B77C356DC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0970" y="2806481"/>
            <a:ext cx="8131019" cy="375209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65623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51283-2D2C-5A52-9BA3-56EE201B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A028C9-E9F2-B65D-36D1-02BA2ED051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–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41FD952-66C5-2B4E-C75C-D68FEA7091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911" y="3768056"/>
            <a:ext cx="5597235" cy="2783598"/>
          </a:xfrm>
          <a:prstGeom prst="rect">
            <a:avLst/>
          </a:prstGeom>
        </p:spPr>
      </p:pic>
      <p:sp>
        <p:nvSpPr>
          <p:cNvPr id="17" name="타원 16">
            <a:extLst>
              <a:ext uri="{FF2B5EF4-FFF2-40B4-BE49-F238E27FC236}">
                <a16:creationId xmlns:a16="http://schemas.microsoft.com/office/drawing/2014/main" id="{A1FFE344-64C1-DE0E-5C89-3DE6B2847964}"/>
              </a:ext>
            </a:extLst>
          </p:cNvPr>
          <p:cNvSpPr/>
          <p:nvPr/>
        </p:nvSpPr>
        <p:spPr>
          <a:xfrm>
            <a:off x="9839331" y="1847129"/>
            <a:ext cx="1937327" cy="663535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36D9FA2A-3285-CA5B-A280-CCEE4153A660}"/>
              </a:ext>
            </a:extLst>
          </p:cNvPr>
          <p:cNvGrpSpPr/>
          <p:nvPr/>
        </p:nvGrpSpPr>
        <p:grpSpPr>
          <a:xfrm>
            <a:off x="5459902" y="5039837"/>
            <a:ext cx="1090832" cy="717223"/>
            <a:chOff x="1728354" y="2144319"/>
            <a:chExt cx="923636" cy="607291"/>
          </a:xfrm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2A150074-F145-A967-634A-A9D3759B537D}"/>
                </a:ext>
              </a:extLst>
            </p:cNvPr>
            <p:cNvSpPr/>
            <p:nvPr/>
          </p:nvSpPr>
          <p:spPr>
            <a:xfrm>
              <a:off x="1886527" y="2144319"/>
              <a:ext cx="607291" cy="607291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dirty="0"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00298CE6-DCB4-724B-846F-6D4D1F8F2A06}"/>
                </a:ext>
              </a:extLst>
            </p:cNvPr>
            <p:cNvSpPr txBox="1"/>
            <p:nvPr/>
          </p:nvSpPr>
          <p:spPr>
            <a:xfrm>
              <a:off x="1728354" y="2311252"/>
              <a:ext cx="923636" cy="2606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4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rPr>
                <a:t>postman</a:t>
              </a:r>
              <a:endPara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</p:grpSp>
      <p:pic>
        <p:nvPicPr>
          <p:cNvPr id="34" name="그래픽 33" descr="전송 윤곽선">
            <a:extLst>
              <a:ext uri="{FF2B5EF4-FFF2-40B4-BE49-F238E27FC236}">
                <a16:creationId xmlns:a16="http://schemas.microsoft.com/office/drawing/2014/main" id="{7185ED5D-579A-EBE5-ABDD-E87A35E32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9883309">
            <a:off x="8247129" y="2090183"/>
            <a:ext cx="1341908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36" name="그래픽 35" descr="전송 윤곽선">
            <a:extLst>
              <a:ext uri="{FF2B5EF4-FFF2-40B4-BE49-F238E27FC236}">
                <a16:creationId xmlns:a16="http://schemas.microsoft.com/office/drawing/2014/main" id="{6CEEB944-A7EB-8513-548D-558EDC37DF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9450357">
            <a:off x="6399923" y="4676653"/>
            <a:ext cx="691944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F432E5CA-3AA4-E175-82F8-FF3243197872}"/>
              </a:ext>
            </a:extLst>
          </p:cNvPr>
          <p:cNvSpPr txBox="1"/>
          <p:nvPr/>
        </p:nvSpPr>
        <p:spPr>
          <a:xfrm>
            <a:off x="2238918" y="2729682"/>
            <a:ext cx="6441968" cy="6463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config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add-authtoken</a:t>
            </a:r>
            <a:r>
              <a:rPr lang="ko-KR" altLang="ko-KR" sz="12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"&lt;YOUR_AUTHTOKEN&gt;“</a:t>
            </a:r>
            <a:endParaRPr lang="en-US" altLang="ko-KR" sz="1200" b="0" i="0" dirty="0"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&gt;&gt;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5678</a:t>
            </a:r>
          </a:p>
          <a:p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Forwarding   https://6457-220-90-109-11.ngrok-free.app -&gt; http://localhost:5678</a:t>
            </a:r>
          </a:p>
        </p:txBody>
      </p:sp>
      <p:pic>
        <p:nvPicPr>
          <p:cNvPr id="40" name="그래픽 39" descr="전송 윤곽선">
            <a:extLst>
              <a:ext uri="{FF2B5EF4-FFF2-40B4-BE49-F238E27FC236}">
                <a16:creationId xmlns:a16="http://schemas.microsoft.com/office/drawing/2014/main" id="{8283B54B-66D7-B184-B457-B620C20E1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3473050">
            <a:off x="7392809" y="3377902"/>
            <a:ext cx="697492" cy="69194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46A855D-FF22-0357-474C-61003C724D23}"/>
              </a:ext>
            </a:extLst>
          </p:cNvPr>
          <p:cNvSpPr txBox="1"/>
          <p:nvPr/>
        </p:nvSpPr>
        <p:spPr>
          <a:xfrm>
            <a:off x="2164108" y="3329931"/>
            <a:ext cx="18004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7"/>
              </a:rPr>
              <a:t>ngrok.com/download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5" name="그래픽 44" descr="배지 단색으로 채워진">
            <a:extLst>
              <a:ext uri="{FF2B5EF4-FFF2-40B4-BE49-F238E27FC236}">
                <a16:creationId xmlns:a16="http://schemas.microsoft.com/office/drawing/2014/main" id="{3F956162-13B7-1D95-2725-32EC7558A3E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761281" y="1925610"/>
            <a:ext cx="471107" cy="471107"/>
          </a:xfrm>
          <a:prstGeom prst="rect">
            <a:avLst/>
          </a:prstGeom>
        </p:spPr>
      </p:pic>
      <p:pic>
        <p:nvPicPr>
          <p:cNvPr id="47" name="그래픽 46" descr="배지 1 단색으로 채워진">
            <a:extLst>
              <a:ext uri="{FF2B5EF4-FFF2-40B4-BE49-F238E27FC236}">
                <a16:creationId xmlns:a16="http://schemas.microsoft.com/office/drawing/2014/main" id="{84BBD12E-F28B-68ED-B990-F028E40CE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27619" y="4371372"/>
            <a:ext cx="471107" cy="47110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65A89595-137E-E7C2-6C62-3B03CB02236B}"/>
              </a:ext>
            </a:extLst>
          </p:cNvPr>
          <p:cNvSpPr txBox="1"/>
          <p:nvPr/>
        </p:nvSpPr>
        <p:spPr>
          <a:xfrm>
            <a:off x="1148187" y="4963054"/>
            <a:ext cx="3478169" cy="10156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1번 경로 (로컬 내부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호스트(Windows/WSL) 내부에서 실행 중인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App이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동일한 로컬 환경(또는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도커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컨테이너) 내의 n8n 서비스(포트 5678)와 직접 통신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FC1BBA-06AC-B378-9179-E4373F93F6E2}"/>
              </a:ext>
            </a:extLst>
          </p:cNvPr>
          <p:cNvSpPr txBox="1"/>
          <p:nvPr/>
        </p:nvSpPr>
        <p:spPr>
          <a:xfrm>
            <a:off x="634449" y="1419810"/>
            <a:ext cx="7048079" cy="12003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2번 경로 (외부 </a:t>
            </a: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터널링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통신):</a:t>
            </a:r>
            <a:endParaRPr lang="ko-KR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실행: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명령어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http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5678을 통해 외부 접근용 공개 URL([https://6457-220-90-109-11.ngrok-free.app](https://6457-220-90-109-11.ngrok-free.app))을 생성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</a:t>
            </a: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 요청: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외부 네트워크에 있는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Postman이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ngrok이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제공하는 HTTPS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URL로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요청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ko-KR" altLang="ko-KR" sz="1200" b="1" dirty="0">
                <a:latin typeface="D2Coding" panose="020B0609020101020101" pitchFamily="49" charset="-127"/>
                <a:ea typeface="D2Coding" panose="020B0609020101020101" pitchFamily="49" charset="-127"/>
              </a:rPr>
              <a:t>포워딩: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ngrok</a:t>
            </a:r>
            <a:r>
              <a:rPr lang="ko-KR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터널이 이 요청을 전달받아 로컬 컨테이너의 http://localhost:5678(n8n)로 전달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038943D-486B-5234-A847-A7EE6AB5DBB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46372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BF7D5-3685-2634-3AD1-7E0FEB1D0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3AD799-27A4-BE11-B2B3-C52828C3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A6494A4-FE30-5F47-7B52-7821854DBC8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Webhook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 - Exercise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720EDF4-B783-FA81-CD03-2CAED1BDA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653" y="1923303"/>
            <a:ext cx="8105912" cy="317302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1BAB7A-33B5-3D4F-8FE7-A6FFB4BA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402" y="3103418"/>
            <a:ext cx="7315099" cy="3430028"/>
          </a:xfrm>
          <a:prstGeom prst="rect">
            <a:avLst/>
          </a:prstGeom>
          <a:solidFill>
            <a:srgbClr val="DD462F"/>
          </a:solidFill>
          <a:ln w="28575">
            <a:solidFill>
              <a:srgbClr val="FF0000"/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3B6ADDA2-7FD9-4D03-5365-EB67D65EFA10}"/>
              </a:ext>
            </a:extLst>
          </p:cNvPr>
          <p:cNvSpPr/>
          <p:nvPr/>
        </p:nvSpPr>
        <p:spPr>
          <a:xfrm>
            <a:off x="6954983" y="3648364"/>
            <a:ext cx="3874424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3BAD9C4-C3E9-F8E4-E911-E6662635151E}"/>
              </a:ext>
            </a:extLst>
          </p:cNvPr>
          <p:cNvSpPr/>
          <p:nvPr/>
        </p:nvSpPr>
        <p:spPr>
          <a:xfrm>
            <a:off x="3459019" y="2611412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AA104A4-66E3-D126-663D-21C281C0D363}"/>
              </a:ext>
            </a:extLst>
          </p:cNvPr>
          <p:cNvSpPr/>
          <p:nvPr/>
        </p:nvSpPr>
        <p:spPr>
          <a:xfrm>
            <a:off x="6197600" y="3648366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D98FD87-B92E-993A-2D0F-0CD981B7A9C9}"/>
              </a:ext>
            </a:extLst>
          </p:cNvPr>
          <p:cNvSpPr/>
          <p:nvPr/>
        </p:nvSpPr>
        <p:spPr>
          <a:xfrm>
            <a:off x="8173424" y="4060013"/>
            <a:ext cx="581891" cy="286327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8141387-632A-5367-5CEA-3867044E685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0093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5EBD6-62C0-B3CF-658F-6CB6B8817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7FD45C-8D14-6164-4469-6D4AAAE31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Credentials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5D497057-19AC-1A65-15FD-64944C65192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7394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D6E8-0DF5-26B1-BE84-8ACEE22C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9149A6F-9583-99F7-3A42-BDB0F6728A6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&amp; n8n Data Table Integration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63F7C93-4B9F-235F-6973-CB72412FB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975" y="1868046"/>
            <a:ext cx="3172268" cy="42487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7EB6F7-E102-A295-CA24-31A810D6F073}"/>
              </a:ext>
            </a:extLst>
          </p:cNvPr>
          <p:cNvSpPr txBox="1"/>
          <p:nvPr/>
        </p:nvSpPr>
        <p:spPr>
          <a:xfrm>
            <a:off x="5190548" y="2972832"/>
            <a:ext cx="25699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n8n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노코드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자동화 한글 가이드북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5F86D60B-B3A2-1F64-075E-E758B985D8C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4D67C621-8591-AA15-E915-20813AC7F6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619" y="4560973"/>
            <a:ext cx="541014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행 추가: 이전 노드에서 전달받은 JSON 데이터를 지정된 테이블이나 시트에 새로운 행(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Row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추가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자동 반복 실행: 이전 노드에서 여러 개(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Array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)의 데이터 항목이 넘어오면, 각 항목에 대해 노드가 자동으로 반복 실행되며 데이터 개수만큼 행을 추가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C52E21-DCEE-EE81-4CAC-DEB5A21B86BD}"/>
              </a:ext>
            </a:extLst>
          </p:cNvPr>
          <p:cNvGrpSpPr/>
          <p:nvPr/>
        </p:nvGrpSpPr>
        <p:grpSpPr>
          <a:xfrm>
            <a:off x="5275619" y="2197330"/>
            <a:ext cx="5325706" cy="777901"/>
            <a:chOff x="5275619" y="3041249"/>
            <a:chExt cx="5325706" cy="77790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BA799B4-47C3-5988-6B63-FE36531A9C46}"/>
                </a:ext>
              </a:extLst>
            </p:cNvPr>
            <p:cNvSpPr txBox="1"/>
            <p:nvPr/>
          </p:nvSpPr>
          <p:spPr>
            <a:xfrm>
              <a:off x="6882585" y="3282293"/>
              <a:ext cx="336502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dirty="0">
                  <a:solidFill>
                    <a:srgbClr val="00B050"/>
                  </a:solidFill>
                  <a:latin typeface="D2Coding" panose="020B0609020101020101" pitchFamily="49" charset="-127"/>
                  <a:ea typeface="D2Coding" panose="020B0609020101020101" pitchFamily="49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Setup Google Credentials in n8n</a:t>
              </a:r>
              <a:endParaRPr lang="ko-KR" altLang="en-US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8308769-E4D6-BF82-265F-BE4C1EE37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10140" y="3177518"/>
              <a:ext cx="1371719" cy="502964"/>
            </a:xfrm>
            <a:prstGeom prst="rect">
              <a:avLst/>
            </a:prstGeom>
          </p:spPr>
        </p:pic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0E34989-454A-7ADF-157E-834DC7C6717E}"/>
                </a:ext>
              </a:extLst>
            </p:cNvPr>
            <p:cNvSpPr/>
            <p:nvPr/>
          </p:nvSpPr>
          <p:spPr>
            <a:xfrm>
              <a:off x="5275619" y="3041249"/>
              <a:ext cx="5325706" cy="777901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84642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292A-C2E7-1265-3B45-06AF43F9E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D63F64E-A5CD-CCCC-07FE-CA11E1A49A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google sheet API credential &amp; workflow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86516F03-647E-7970-A84A-58D613A7E0A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A11B0AB-0A7A-C5E8-B1C1-B4E58510F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795" y="1342939"/>
            <a:ext cx="3724505" cy="1393340"/>
          </a:xfrm>
          <a:prstGeom prst="rect">
            <a:avLst/>
          </a:prstGeom>
          <a:ln>
            <a:noFill/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7D2F1DE-2DD3-D44D-E055-1771310AC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367" y="2600048"/>
            <a:ext cx="7650317" cy="351613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FF1D2A2-9F14-96D5-CE44-40CE0B0CA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2268" y="3218774"/>
            <a:ext cx="3670831" cy="33398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97E53725-8CCE-9994-DB0C-FFAE0CA1A988}"/>
              </a:ext>
            </a:extLst>
          </p:cNvPr>
          <p:cNvSpPr/>
          <p:nvPr/>
        </p:nvSpPr>
        <p:spPr>
          <a:xfrm>
            <a:off x="7208318" y="2084608"/>
            <a:ext cx="2945332" cy="441802"/>
          </a:xfrm>
          <a:prstGeom prst="borderCallout2">
            <a:avLst>
              <a:gd name="adj1" fmla="val 57557"/>
              <a:gd name="adj2" fmla="val -4776"/>
              <a:gd name="adj3" fmla="val 111597"/>
              <a:gd name="adj4" fmla="val -37482"/>
              <a:gd name="adj5" fmla="val 272341"/>
              <a:gd name="adj6" fmla="val -661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credential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등록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C4BF84D-3322-D2A8-4111-E1254357873C}"/>
              </a:ext>
            </a:extLst>
          </p:cNvPr>
          <p:cNvSpPr/>
          <p:nvPr/>
        </p:nvSpPr>
        <p:spPr>
          <a:xfrm>
            <a:off x="3530090" y="3117509"/>
            <a:ext cx="2276763" cy="28632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6941DD-1DF5-F76D-EBA3-D40BD10BFB78}"/>
              </a:ext>
            </a:extLst>
          </p:cNvPr>
          <p:cNvSpPr/>
          <p:nvPr/>
        </p:nvSpPr>
        <p:spPr>
          <a:xfrm>
            <a:off x="3530089" y="4071790"/>
            <a:ext cx="2276763" cy="219693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29F988DF-05D0-FE7F-854F-040B5250BA60}"/>
              </a:ext>
            </a:extLst>
          </p:cNvPr>
          <p:cNvSpPr/>
          <p:nvPr/>
        </p:nvSpPr>
        <p:spPr>
          <a:xfrm>
            <a:off x="5652525" y="4175554"/>
            <a:ext cx="1624575" cy="834596"/>
          </a:xfrm>
          <a:prstGeom prst="borderCallout2">
            <a:avLst>
              <a:gd name="adj1" fmla="val 42717"/>
              <a:gd name="adj2" fmla="val -6574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google sheet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연결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append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BEBB4F-E184-0A06-320E-A6D20E9F0C55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889F102-E121-C121-9E50-A14F9979D726}"/>
              </a:ext>
            </a:extLst>
          </p:cNvPr>
          <p:cNvSpPr txBox="1"/>
          <p:nvPr/>
        </p:nvSpPr>
        <p:spPr>
          <a:xfrm>
            <a:off x="4305300" y="2280477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78282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5A049-C57B-2099-D425-B7076B57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5F26E13-E5B2-BC4D-97F9-0E1ABBDD39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60386"/>
            <a:ext cx="8075898" cy="1827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2F1C9540-980B-FEEF-6F2D-EA52DE1E01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data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table integration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14C497C1-3CD6-5B62-AE50-1D5EB62382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8" name="설명선: 굽은 선 17">
            <a:extLst>
              <a:ext uri="{FF2B5EF4-FFF2-40B4-BE49-F238E27FC236}">
                <a16:creationId xmlns:a16="http://schemas.microsoft.com/office/drawing/2014/main" id="{BB3ADCFF-E0F7-EF9A-0E5C-D63AF0AF3941}"/>
              </a:ext>
            </a:extLst>
          </p:cNvPr>
          <p:cNvSpPr/>
          <p:nvPr/>
        </p:nvSpPr>
        <p:spPr>
          <a:xfrm>
            <a:off x="9018068" y="1439550"/>
            <a:ext cx="2716732" cy="834596"/>
          </a:xfrm>
          <a:prstGeom prst="borderCallout2">
            <a:avLst>
              <a:gd name="adj1" fmla="val 44999"/>
              <a:gd name="adj2" fmla="val -3074"/>
              <a:gd name="adj3" fmla="val 60489"/>
              <a:gd name="adj4" fmla="val -104149"/>
              <a:gd name="adj5" fmla="val 90491"/>
              <a:gd name="adj6" fmla="val -12573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내장 데이터 테이블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(data table) schema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작성 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Table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B3CF8A8-2CA2-182F-C2F9-1617D5201CA3}"/>
              </a:ext>
            </a:extLst>
          </p:cNvPr>
          <p:cNvSpPr/>
          <p:nvPr/>
        </p:nvSpPr>
        <p:spPr>
          <a:xfrm>
            <a:off x="7509574" y="5043901"/>
            <a:ext cx="3996626" cy="3651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639895-DCDE-A84D-CAA7-3397CDA17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187" y="2559825"/>
            <a:ext cx="6847010" cy="40660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설명선: 굽은 선 16">
            <a:extLst>
              <a:ext uri="{FF2B5EF4-FFF2-40B4-BE49-F238E27FC236}">
                <a16:creationId xmlns:a16="http://schemas.microsoft.com/office/drawing/2014/main" id="{ED35FB09-1CC3-A2F4-A9FA-7CA41E51E2E6}"/>
              </a:ext>
            </a:extLst>
          </p:cNvPr>
          <p:cNvSpPr/>
          <p:nvPr/>
        </p:nvSpPr>
        <p:spPr>
          <a:xfrm>
            <a:off x="9204832" y="4899454"/>
            <a:ext cx="1624575" cy="834596"/>
          </a:xfrm>
          <a:prstGeom prst="borderCallout2">
            <a:avLst>
              <a:gd name="adj1" fmla="val 18750"/>
              <a:gd name="adj2" fmla="val -8333"/>
              <a:gd name="adj3" fmla="val 10273"/>
              <a:gd name="adj4" fmla="val -41726"/>
              <a:gd name="adj5" fmla="val 39135"/>
              <a:gd name="adj6" fmla="val -7348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insert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할 데이터 입력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8D228B-A696-2336-A6E1-08B9FD48F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515" y="3991271"/>
            <a:ext cx="4043634" cy="13254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527434-3E84-DBF0-782F-457280613A37}"/>
              </a:ext>
            </a:extLst>
          </p:cNvPr>
          <p:cNvSpPr txBox="1"/>
          <p:nvPr/>
        </p:nvSpPr>
        <p:spPr>
          <a:xfrm>
            <a:off x="474994" y="3670095"/>
            <a:ext cx="1620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Practices.json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039665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F4B6B4-688C-F8C0-93AA-412AB7D58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3E2B34-C875-A751-74B6-A21F5B845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Basic </a:t>
            </a: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3DBA32C2-0795-80E1-A347-338DA140971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621789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F43-542E-B713-600D-EE938B1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D94A06-FB59-FE80-BF1B-B4F7DC36BF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D7252-EC8F-96CC-36F1-EFB4AA57C3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3C54AF-190A-2766-E598-7AE58B51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429" y="1489339"/>
            <a:ext cx="7624139" cy="2338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AF853-4AB5-964A-95DF-9A4AE932FF33}"/>
              </a:ext>
            </a:extLst>
          </p:cNvPr>
          <p:cNvSpPr txBox="1"/>
          <p:nvPr/>
        </p:nvSpPr>
        <p:spPr>
          <a:xfrm>
            <a:off x="475645" y="1418176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Action Node 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rgbClr val="0563C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F615429A-318B-B642-2C70-BF98B5CC2C7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FF2AC-D511-767B-041F-C436D5DDF09A}"/>
              </a:ext>
            </a:extLst>
          </p:cNvPr>
          <p:cNvSpPr txBox="1"/>
          <p:nvPr/>
        </p:nvSpPr>
        <p:spPr>
          <a:xfrm>
            <a:off x="475645" y="4068781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Master 80% by Learning these 17 n8n nodes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EE8602F-D4C1-EBE3-1E6D-220104707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429" y="4620392"/>
            <a:ext cx="4762913" cy="106689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C7F9293-7D0E-F991-1A49-C1AAF316A5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429" y="5642296"/>
            <a:ext cx="3749365" cy="100592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BFD4BC4-D492-4F0F-D2D6-999320423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0680" y="1787508"/>
            <a:ext cx="1371719" cy="50296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57B2018-8ADD-31CD-752E-77C3222C90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6682" y="4438113"/>
            <a:ext cx="1371719" cy="50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232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EEFFA-7F44-727B-CE05-762ECD393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5DA6FCB-C51E-42E5-6832-73F72B94C42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Action Nodes 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8217AA-CA2A-825F-6609-2757E00639A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F00B24-371C-2CB6-F913-A416D0F92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49" y="1839761"/>
            <a:ext cx="9361651" cy="453625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677EE2F-2F20-00F5-92BF-C7DDA72988EF}"/>
              </a:ext>
            </a:extLst>
          </p:cNvPr>
          <p:cNvSpPr txBox="1"/>
          <p:nvPr/>
        </p:nvSpPr>
        <p:spPr>
          <a:xfrm>
            <a:off x="475645" y="1501207"/>
            <a:ext cx="182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C79188A3-2709-7011-8B4C-FC9A2718D04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6435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683D-DB6F-9B13-BAEB-3F0B6872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51FE1F8-8A38-3806-6D00-4D14618385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BDAE2-63D5-A41E-712E-47ADF300EA34}"/>
              </a:ext>
            </a:extLst>
          </p:cNvPr>
          <p:cNvSpPr txBox="1"/>
          <p:nvPr/>
        </p:nvSpPr>
        <p:spPr>
          <a:xfrm>
            <a:off x="924443" y="1580746"/>
            <a:ext cx="10515081" cy="4200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The building block (atom) of n8n</a:t>
            </a:r>
          </a:p>
          <a:p>
            <a:pPr>
              <a:lnSpc>
                <a:spcPct val="150000"/>
              </a:lnSpc>
              <a:buNone/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3 categories of nodes: 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Entry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 실행을 시작시키는 트리거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Function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전달받은 데이터를 가공하고 제어하는 중간 처리 노드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→ Exit point :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처리 완료된 데이터를 가지고 최종 결과를 만들어내는 액션 노드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1">
              <a:lnSpc>
                <a:spcPct val="150000"/>
              </a:lnSpc>
            </a:pP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• Different types of nodes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Triggers, Actions in app, Data transformation, Flow, Files, and Advanced.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8D68F4A-FA8F-1272-7B8F-DFB6D4B5FB2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629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9AED-97C8-C045-2D67-A774BAD0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C5727F-AC68-2BE3-C9CC-D78EB53C6A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Add a Node to canvas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3184EA-0D43-CF4A-10BE-338B2157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5" y="1390360"/>
            <a:ext cx="7556953" cy="49856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EEFF1AB-FAE0-53A9-B133-560335F7027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1320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D37E-5F8C-C4BF-14FA-F9112DB9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07DA05A-650F-D33E-2E90-FBDCEC9B28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Node actions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E1C3E-E172-DF41-A9B4-688F0ED0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53" y="1767101"/>
            <a:ext cx="6305454" cy="42691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F6B9F0-1E03-4F63-A688-E1EFB24C943F}"/>
              </a:ext>
            </a:extLst>
          </p:cNvPr>
          <p:cNvSpPr txBox="1"/>
          <p:nvPr/>
        </p:nvSpPr>
        <p:spPr>
          <a:xfrm>
            <a:off x="790575" y="1767101"/>
            <a:ext cx="3685754" cy="419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the node (Play)</a:t>
            </a:r>
          </a:p>
          <a:p>
            <a:pPr>
              <a:lnSpc>
                <a:spcPct val="150000"/>
              </a:lnSpc>
              <a:buNone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Additional actions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Open node... (settings)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Execute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Rename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Deactivate node (Pause)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Pin node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Copy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Duplicate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• Delete node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3E41E52-3B98-4F7F-DD49-56FEBD38C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261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DB83-72FD-D163-0AD6-6C19A7CA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76BEC1-2B75-D23D-F13F-B9DBB6619E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Parameters &amp; Settings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491333-EBA7-81A8-C365-C6A1F276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72" y="1656598"/>
            <a:ext cx="6867622" cy="4611199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1306F-B8AB-9607-E9C8-FCBA93A4E165}"/>
              </a:ext>
            </a:extLst>
          </p:cNvPr>
          <p:cNvSpPr txBox="1"/>
          <p:nvPr/>
        </p:nvSpPr>
        <p:spPr>
          <a:xfrm>
            <a:off x="1285875" y="1656598"/>
            <a:ext cx="3171825" cy="46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Parameters: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Credentials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Resource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Operation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Action settings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Settings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Notes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Visual settings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Execution settings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A123BD2-05C4-C221-C6EB-92CB207726EF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9065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2CA6-6D61-59E3-16F8-854C6205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B02F26-4A4A-13DB-C9B4-CF6A301DD1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Credential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C17C-BD76-A2CC-C7E2-ACB31FC9BB47}"/>
              </a:ext>
            </a:extLst>
          </p:cNvPr>
          <p:cNvSpPr txBox="1"/>
          <p:nvPr/>
        </p:nvSpPr>
        <p:spPr>
          <a:xfrm>
            <a:off x="634467" y="1414760"/>
            <a:ext cx="4330095" cy="4816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Accessible from nodes needing to authenticate to services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(Google, Slack, Notion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 외부 서비스 연동이 필요한 모든 노드에서 미리 등록해 둔 계정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/API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키를 불러와 재사용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Saved at an instance-level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인증 정보가 특정 워크플로우 하나에만 얽매이지 않고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서버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인스턴스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전체에 저장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Different sharing options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4989C1-7F5F-2F6C-A210-0AF553E6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4562" y="1639201"/>
            <a:ext cx="6831096" cy="4237723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4811BB0-6645-D236-AC4B-1AC4DE45603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7575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FB32-EFFC-3661-DAF3-AC0312F7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AB8855-87FD-D5E1-F80B-E83A4B3F83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(Schema)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B67DCA29-CD2B-DD36-3A78-E834B8927FB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F8BEE5-1BF8-797E-CBDD-0A4DFA2F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4" y="1470879"/>
            <a:ext cx="9110191" cy="508068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99939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4C88-F55E-E347-89EB-211D632F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5F3E95-1F73-D684-AC63-BB81F2C1A6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(Table)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21E9F83-125B-8318-514B-628F439C899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C9C8C5-C56E-BA46-00F6-29DF8046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79" y="1465982"/>
            <a:ext cx="9156494" cy="50715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61528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DEF3-3406-31D4-8808-1D9CCC4F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3CA923E-F38A-FCA4-C73E-433FBDC973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Data (JSON)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2E664C8D-3F7B-FE2E-0113-EA701A2F413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749E49-1645-608A-9423-80040F39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76" y="1438274"/>
            <a:ext cx="9025172" cy="50333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73294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E00-8707-B57A-7C2A-5C829C28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697E9-7A97-D2B1-1707-442913F9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E5E0F2A-30DE-3D86-612A-26C87202C5B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테니스">
            <a:extLst>
              <a:ext uri="{FF2B5EF4-FFF2-40B4-BE49-F238E27FC236}">
                <a16:creationId xmlns:a16="http://schemas.microsoft.com/office/drawing/2014/main" id="{62737EA1-DD70-4E00-3F4B-AD3E6DAA24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43674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26229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A6DC-7AD1-A11C-7700-7106DCD1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B3301EA-E0D6-FABD-9A4A-C14F3FA40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F66EF-8EF4-7B39-893B-8B641041582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EE37A33-0CA9-2286-22CA-AC001F3F70F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92B4E80-16A7-ED03-04C8-025455076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735" y="2041650"/>
            <a:ext cx="10178530" cy="33185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C3D01A-F533-47EF-CD3F-E8B682262810}"/>
              </a:ext>
            </a:extLst>
          </p:cNvPr>
          <p:cNvSpPr txBox="1"/>
          <p:nvPr/>
        </p:nvSpPr>
        <p:spPr>
          <a:xfrm>
            <a:off x="936461" y="1703096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getting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started.json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B4D78-37BF-F2F5-7860-6AB4CA675D92}"/>
              </a:ext>
            </a:extLst>
          </p:cNvPr>
          <p:cNvSpPr txBox="1"/>
          <p:nvPr/>
        </p:nvSpPr>
        <p:spPr>
          <a:xfrm>
            <a:off x="2852801" y="4343400"/>
            <a:ext cx="20313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 demo data.xlsx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F36087C-4126-F6E2-BEA3-D876CF62F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635" y="4681954"/>
            <a:ext cx="3696020" cy="118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545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50743-3178-44B8-B68C-DF5AD09A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0EBBC3B6-7455-1152-0251-F0F586A79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0" y="1570039"/>
            <a:ext cx="3613011" cy="2579879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B5425E88-25E6-811B-B953-809E42D0BF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A1354-C66E-CAB8-D110-E58E7A63297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E9AB2E-3F02-DA23-7C35-BBED7590C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39" y="1559160"/>
            <a:ext cx="6323272" cy="1630819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D80CFF5-13B1-3A07-13D0-40BB37A8751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45633BE-0C79-1673-29F7-6957B1DD0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754" y="3860859"/>
            <a:ext cx="9067800" cy="2668454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25FE64F9-2FDC-FD4B-62BD-ED0FECBEF40A}"/>
              </a:ext>
            </a:extLst>
          </p:cNvPr>
          <p:cNvCxnSpPr>
            <a:cxnSpLocks/>
            <a:stCxn id="20" idx="3"/>
            <a:endCxn id="10" idx="0"/>
          </p:cNvCxnSpPr>
          <p:nvPr/>
        </p:nvCxnSpPr>
        <p:spPr>
          <a:xfrm>
            <a:off x="4261781" y="2859979"/>
            <a:ext cx="2942873" cy="1000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0179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6C16-BF69-BE46-5661-CF320F69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2F3017-12B1-A620-359C-E23C4AC3A2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Data Concept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AD022-383C-D598-21DF-20D392EB96E0}"/>
              </a:ext>
            </a:extLst>
          </p:cNvPr>
          <p:cNvSpPr txBox="1"/>
          <p:nvPr/>
        </p:nvSpPr>
        <p:spPr>
          <a:xfrm>
            <a:off x="1839395" y="35015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FD0BDA0A-DB01-721D-2F26-FEB253D441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6BB882-D50D-1A61-FEFF-F4F88A82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71" y="1896398"/>
            <a:ext cx="3573655" cy="2551777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19BE7-D95B-4815-2F19-F2210AC50E88}"/>
              </a:ext>
            </a:extLst>
          </p:cNvPr>
          <p:cNvSpPr txBox="1"/>
          <p:nvPr/>
        </p:nvSpPr>
        <p:spPr>
          <a:xfrm>
            <a:off x="7986151" y="1639223"/>
            <a:ext cx="3248025" cy="4893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"Harris",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paulharris@gmail.com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Bennet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marcus@quantum.io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Quantum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Rodriguez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sophia@horizon.com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Horizon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Emily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"Johnson",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DBCC4-05D3-CA69-5B3F-CA568EF8E3F2}"/>
              </a:ext>
            </a:extLst>
          </p:cNvPr>
          <p:cNvSpPr txBox="1"/>
          <p:nvPr/>
        </p:nvSpPr>
        <p:spPr>
          <a:xfrm>
            <a:off x="7905750" y="126989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C6A82-BC96-D7DE-46E5-E08EBA5CAEF1}"/>
              </a:ext>
            </a:extLst>
          </p:cNvPr>
          <p:cNvSpPr txBox="1"/>
          <p:nvPr/>
        </p:nvSpPr>
        <p:spPr>
          <a:xfrm>
            <a:off x="1667383" y="154468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6421B7-DD79-09EA-D08D-6882984D04B5}"/>
              </a:ext>
            </a:extLst>
          </p:cNvPr>
          <p:cNvSpPr/>
          <p:nvPr/>
        </p:nvSpPr>
        <p:spPr>
          <a:xfrm>
            <a:off x="2100208" y="3093093"/>
            <a:ext cx="306234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8CCFC-B9E6-CCF2-0AF9-CC7055EC241E}"/>
              </a:ext>
            </a:extLst>
          </p:cNvPr>
          <p:cNvSpPr txBox="1"/>
          <p:nvPr/>
        </p:nvSpPr>
        <p:spPr>
          <a:xfrm>
            <a:off x="3811118" y="5096151"/>
            <a:ext cx="3831523" cy="78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/>
              <a:t>There is a 1:1 correspondence between lists of JSONs and Tables.</a:t>
            </a:r>
            <a:endParaRPr lang="ko-KR" altLang="en-US" sz="1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5C6018-4F93-DBD7-9E13-2E15640672AE}"/>
              </a:ext>
            </a:extLst>
          </p:cNvPr>
          <p:cNvSpPr/>
          <p:nvPr/>
        </p:nvSpPr>
        <p:spPr>
          <a:xfrm>
            <a:off x="8134350" y="1901393"/>
            <a:ext cx="2943225" cy="1060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59F9F-A180-D718-5907-C5AF93D78B36}"/>
              </a:ext>
            </a:extLst>
          </p:cNvPr>
          <p:cNvSpPr txBox="1"/>
          <p:nvPr/>
        </p:nvSpPr>
        <p:spPr>
          <a:xfrm>
            <a:off x="5979662" y="243227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Item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09106-1845-9EBB-D3F6-13E0BA7FA30B}"/>
              </a:ext>
            </a:extLst>
          </p:cNvPr>
          <p:cNvSpPr txBox="1"/>
          <p:nvPr/>
        </p:nvSpPr>
        <p:spPr>
          <a:xfrm>
            <a:off x="5979662" y="3687059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B0F0"/>
                </a:solidFill>
              </a:rPr>
              <a:t>Items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50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BB3E-2CFB-CDB3-728A-68477FCD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729EFCE-766F-2B59-9ADC-44666723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96" y="3088474"/>
            <a:ext cx="7482811" cy="2049062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8F1FDA3-CC76-97F4-23C7-118FBA02D6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20318B4A-5B55-D2CD-4EFC-D40B55CDEE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6AA8E-54E9-9273-512C-992BE281A66D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B784D4-0FC6-524A-ADB0-397F9FD418F9}"/>
              </a:ext>
            </a:extLst>
          </p:cNvPr>
          <p:cNvSpPr txBox="1"/>
          <p:nvPr/>
        </p:nvSpPr>
        <p:spPr>
          <a:xfrm>
            <a:off x="4095750" y="2044005"/>
            <a:ext cx="466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{}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E86588-8547-46BC-9111-1B99605FA3F5}"/>
              </a:ext>
            </a:extLst>
          </p:cNvPr>
          <p:cNvSpPr txBox="1"/>
          <p:nvPr/>
        </p:nvSpPr>
        <p:spPr>
          <a:xfrm>
            <a:off x="6419850" y="2044005"/>
            <a:ext cx="10763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JSON1,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JSON2,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JSON3,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JSON4,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7DC499-E2F9-B394-B9B5-3F6C2C9AD6C8}"/>
              </a:ext>
            </a:extLst>
          </p:cNvPr>
          <p:cNvSpPr txBox="1"/>
          <p:nvPr/>
        </p:nvSpPr>
        <p:spPr>
          <a:xfrm>
            <a:off x="8662728" y="2044005"/>
            <a:ext cx="1000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JSON5,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JSON6,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D3EC4-6A8E-1980-3D56-2DE19BFE628A}"/>
              </a:ext>
            </a:extLst>
          </p:cNvPr>
          <p:cNvSpPr txBox="1"/>
          <p:nvPr/>
        </p:nvSpPr>
        <p:spPr>
          <a:xfrm>
            <a:off x="3560347" y="5125779"/>
            <a:ext cx="2092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launches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3DFDC7-DA40-D2F9-C277-95C9EA766228}"/>
              </a:ext>
            </a:extLst>
          </p:cNvPr>
          <p:cNvSpPr txBox="1"/>
          <p:nvPr/>
        </p:nvSpPr>
        <p:spPr>
          <a:xfrm>
            <a:off x="6270771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Sheets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FB942-A51F-17CB-158C-1E3D71596E04}"/>
              </a:ext>
            </a:extLst>
          </p:cNvPr>
          <p:cNvSpPr txBox="1"/>
          <p:nvPr/>
        </p:nvSpPr>
        <p:spPr>
          <a:xfrm>
            <a:off x="8616763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96327-2054-DDBB-93E9-3D8861ACC98F}"/>
              </a:ext>
            </a:extLst>
          </p:cNvPr>
          <p:cNvSpPr txBox="1"/>
          <p:nvPr/>
        </p:nvSpPr>
        <p:spPr>
          <a:xfrm>
            <a:off x="907073" y="5223266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What happens?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0FDA32-DE58-9F05-DBD4-10D9F2BA9819}"/>
              </a:ext>
            </a:extLst>
          </p:cNvPr>
          <p:cNvSpPr txBox="1"/>
          <p:nvPr/>
        </p:nvSpPr>
        <p:spPr>
          <a:xfrm>
            <a:off x="907073" y="2367170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Output</a:t>
            </a:r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D7A47C-F0E0-EF28-8414-E5839FE9EE80}"/>
              </a:ext>
            </a:extLst>
          </p:cNvPr>
          <p:cNvSpPr txBox="1"/>
          <p:nvPr/>
        </p:nvSpPr>
        <p:spPr>
          <a:xfrm>
            <a:off x="907073" y="3795218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Node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29228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0528-E8CA-5FAC-A679-28218510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7C9772-1978-BD9C-2C47-51DA37808C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28BFD51-9A74-5DE0-3DAC-D7A8EDA4C5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5AA84-C82F-FC19-662E-8CF2796780F1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5CA4BD-01EA-3255-2CD4-CF6160D1D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20465"/>
            <a:ext cx="2694213" cy="20746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A198E8-D071-2032-9BF0-8C34AB7C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55" y="1823176"/>
            <a:ext cx="8637751" cy="44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859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CC63-C3F1-7ED3-B6F1-26C8237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C295FCA-8123-8833-2C86-572ED5D463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Expressions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E0050E6E-B32E-FCA2-B5D3-4DC889CF82D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642319-D247-EAD0-7126-1C20EFC2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9" y="2951132"/>
            <a:ext cx="10353762" cy="3472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38AC4-8F60-C377-F2F5-17D00AD6AB39}"/>
              </a:ext>
            </a:extLst>
          </p:cNvPr>
          <p:cNvSpPr txBox="1"/>
          <p:nvPr/>
        </p:nvSpPr>
        <p:spPr>
          <a:xfrm>
            <a:off x="801530" y="1248422"/>
            <a:ext cx="3429000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Expressions can combine: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Plain text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Item variables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80858933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A8E-4621-6242-1C10-EE351E34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D71E8A-97C5-E091-6B68-41666E5E49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Node : Edit Fields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672A883-FEB8-A1A7-BBBB-807B78BB61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772606-C9D7-6B86-5AB9-B0110F6B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39" y="1545817"/>
            <a:ext cx="7791411" cy="13122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D8186A-C649-F1B5-CF1C-A7F304D9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158" y="2858055"/>
            <a:ext cx="7271603" cy="38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50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0640-950E-154F-8352-1766A567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B9B9EB-E8AE-6E05-6EA9-D739E27064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CC5C5B8-72FD-C796-026E-F84C33FEAB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C094BB-37CB-3BF2-B33D-A3AD6578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244301"/>
            <a:ext cx="7196384" cy="4221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EB72F-9724-4726-99ED-2FE8324638B7}"/>
              </a:ext>
            </a:extLst>
          </p:cNvPr>
          <p:cNvSpPr txBox="1"/>
          <p:nvPr/>
        </p:nvSpPr>
        <p:spPr>
          <a:xfrm>
            <a:off x="608995" y="149456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List of all the workflows of the </a:t>
            </a:r>
            <a:r>
              <a:rPr lang="en-US" altLang="ko-KR" b="1" dirty="0"/>
              <a:t>n8n instance</a:t>
            </a:r>
            <a:r>
              <a:rPr lang="en-US" altLang="ko-KR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Names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Tags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Owners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Last updated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None/>
            </a:pPr>
            <a:r>
              <a:rPr lang="en-US" altLang="ko-KR" b="1" dirty="0"/>
              <a:t>My workflows</a:t>
            </a:r>
            <a:r>
              <a:rPr lang="en-US" altLang="ko-KR" dirty="0"/>
              <a:t> filter.</a:t>
            </a:r>
          </a:p>
        </p:txBody>
      </p:sp>
    </p:spTree>
    <p:extLst>
      <p:ext uri="{BB962C8B-B14F-4D97-AF65-F5344CB8AC3E}">
        <p14:creationId xmlns:p14="http://schemas.microsoft.com/office/powerpoint/2010/main" val="203098695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1FFF-BC0D-017D-B707-AAFF4FD4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8A80D2-CD6D-F138-AA8E-D1E23EAA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CE914E-ADA6-3EC2-F06F-3CF9C28034E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A70C03-752A-5037-9C8C-A566F9E7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72" y="3658338"/>
            <a:ext cx="7115654" cy="29002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AD9F42-F5D6-42C9-D149-C9320274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95" y="1248422"/>
            <a:ext cx="736917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5342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31B4-2EC0-443F-A43B-558D8639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46F2522-D584-AD09-384E-F349D54B2C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Useful nodes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1E36BB3-862B-1CAF-7F2F-5F845B6DB7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683503-4CAE-FEC7-75A8-715BAD49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26" y="2619308"/>
            <a:ext cx="9354308" cy="187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807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0574-8EAD-7EEB-3303-7D481A82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466FE8-56F6-226A-8E9C-49EAD7981E5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Others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08B307F7-5BA1-45FF-3BFD-0F6C95AA07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59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79E8B-8F1B-B884-F899-9837A427E08F}"/>
              </a:ext>
            </a:extLst>
          </p:cNvPr>
          <p:cNvSpPr txBox="1"/>
          <p:nvPr/>
        </p:nvSpPr>
        <p:spPr>
          <a:xfrm>
            <a:off x="1752600" y="2348984"/>
            <a:ext cx="68770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Error handling</a:t>
            </a:r>
            <a:endParaRPr lang="en-US" altLang="ko-KR" sz="2000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F0F0F"/>
                </a:solidFill>
                <a:latin typeface="Roboto" panose="02000000000000000000" pitchFamily="2" charset="0"/>
              </a:rPr>
              <a:t>Execution Logs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Debugging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Workflow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Credential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n8n API</a:t>
            </a:r>
          </a:p>
        </p:txBody>
      </p:sp>
    </p:spTree>
    <p:extLst>
      <p:ext uri="{BB962C8B-B14F-4D97-AF65-F5344CB8AC3E}">
        <p14:creationId xmlns:p14="http://schemas.microsoft.com/office/powerpoint/2010/main" val="132510077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0FAAE-ACDF-0374-B9F3-F22BAACBE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E30995-07C8-0698-1D14-BAA17BF884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947AC3A1-4287-B508-6FC4-0AF37A78451A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3" name="그래픽 2" descr="야구">
            <a:extLst>
              <a:ext uri="{FF2B5EF4-FFF2-40B4-BE49-F238E27FC236}">
                <a16:creationId xmlns:a16="http://schemas.microsoft.com/office/drawing/2014/main" id="{F5183C43-B321-96AC-9A12-4E98B3BBF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1550" y="1517333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505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EAD9D-3C43-842B-AEB8-BB89EA60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E2B386-3685-5892-C99D-B7DF6CB5653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8EFC01-B534-41E5-44DC-1821720A9B9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D2882B-BE42-B86C-BA07-772E1D97EF4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F5896B-7337-D969-B0D0-E771BFC7A666}"/>
              </a:ext>
            </a:extLst>
          </p:cNvPr>
          <p:cNvSpPr txBox="1"/>
          <p:nvPr/>
        </p:nvSpPr>
        <p:spPr>
          <a:xfrm>
            <a:off x="936461" y="170309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6B1193-5849-B304-BB7A-874736D88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1" y="2035815"/>
            <a:ext cx="8181624" cy="395540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9292273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0BC89-6A29-3EC5-758F-3E5C2CA9E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7073928-CD94-15F3-C225-33A8DF17CE4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chat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6FEEAD-BA9F-A732-21C1-E5CE01A25609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F521A36-8A28-087C-E827-CCECD80F029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EB5523-FE07-6489-6246-276E676A6913}"/>
              </a:ext>
            </a:extLst>
          </p:cNvPr>
          <p:cNvSpPr txBox="1"/>
          <p:nvPr/>
        </p:nvSpPr>
        <p:spPr>
          <a:xfrm>
            <a:off x="936461" y="1703096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Chat.json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59A589C-B6DC-B2E4-92A4-BCE59C66E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01" y="2035815"/>
            <a:ext cx="8181624" cy="395540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1DA68E5-23D7-3CE3-28DD-903231006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42" y="1729592"/>
            <a:ext cx="11255715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439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E84E4-52C2-AE8F-D655-4EEC299B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B2C5B-A737-C26A-D27E-8EFC00558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8AD73044-2975-B5EF-F1A2-3CF73FA7ACE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래픽 10" descr="자전거 타기">
            <a:extLst>
              <a:ext uri="{FF2B5EF4-FFF2-40B4-BE49-F238E27FC236}">
                <a16:creationId xmlns:a16="http://schemas.microsoft.com/office/drawing/2014/main" id="{942D9DE2-FB39-52FC-C810-4C754B4C8C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70062" y="1672286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75593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8F6BF-58C3-0DC7-8484-7AA832D45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ECE857-7B8E-6179-9D01-16D9F3BE7B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 Daily Weather to Notion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BC3162-271D-A3C1-9338-8282E810C2D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FB69105-EEE0-CF4B-6A9C-3D49EDB29F5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6E20AB-C85B-6334-65DF-C2B57D1E2020}"/>
              </a:ext>
            </a:extLst>
          </p:cNvPr>
          <p:cNvSpPr txBox="1"/>
          <p:nvPr/>
        </p:nvSpPr>
        <p:spPr>
          <a:xfrm>
            <a:off x="1479386" y="2194718"/>
            <a:ext cx="3159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Daily Weather to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Notion.json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1E74475-09F6-1827-6B79-FD05007EEC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47" y="2857407"/>
            <a:ext cx="10219306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8602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704A-288B-64CD-FC6A-62025851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CE130-EB31-D962-CADE-E4B8F73C2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Homework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430C6CD-538B-C383-C35C-9DA52B5E2D6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E55ABD26-1972-D164-5DF6-FF4F7D788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59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Vector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084553-1240-F4AB-5C9A-FF6A74293622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드라이브의 문서 변경을 감지하여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검색할 수 있는 형태로 변환한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데이터베이스에 자동 저장하는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 변환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9D0A025-AAB3-C105-25D8-069F81D5B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77" y="2533272"/>
            <a:ext cx="7284009" cy="38427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C876AC8-0AFF-2428-3645-F744C9895B54}"/>
              </a:ext>
            </a:extLst>
          </p:cNvPr>
          <p:cNvSpPr txBox="1"/>
          <p:nvPr/>
        </p:nvSpPr>
        <p:spPr>
          <a:xfrm>
            <a:off x="7602109" y="5758027"/>
            <a:ext cx="3799405" cy="61799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with RAG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구글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드라이브에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새로운 파일을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하고 실습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55FC9-0985-3C38-7286-622D0F28FDAF}"/>
              </a:ext>
            </a:extLst>
          </p:cNvPr>
          <p:cNvSpPr txBox="1"/>
          <p:nvPr/>
        </p:nvSpPr>
        <p:spPr>
          <a:xfrm>
            <a:off x="1479386" y="2194718"/>
            <a:ext cx="21339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(RAG).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4DE0-5AE2-C7D2-DA90-13130142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A4BAA1-80DE-772A-5E24-1BCA04AC9E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Vector DB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2F1F0-02D3-D963-8609-179340A9C17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2430B21-2557-10AD-3750-0990B8354A5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F2C78-D453-32DB-20A9-29FA0B387519}"/>
              </a:ext>
            </a:extLst>
          </p:cNvPr>
          <p:cNvSpPr txBox="1"/>
          <p:nvPr/>
        </p:nvSpPr>
        <p:spPr>
          <a:xfrm>
            <a:off x="576262" y="1404784"/>
            <a:ext cx="11039476" cy="497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 감지 및 다운로드 (Google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드라이브에서 대상 파일(PDF 등)이 추가되거나 수정되면 트리거가 동작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노드가 감지된 파일의 실제 원본 바이너리 데이터를 받아오기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추출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청킹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Default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Data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Data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다운로드한 파일 바이너리에서 문맥(텍스트)을 읽기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읽어온 긴 텍스트를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검색하기 적합한 크기의 조각(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잘라내기(문서가 총 11개의 조각으로 분할)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잘라낸 11개의 텍스트 조각을 구글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모델로 보내기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의미를 계산할 수 있도록 각 텍스트를 3,072차원의 수치 데이터(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)로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 저장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벡터 데이터와 원본 텍스트 조각을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테이블에 최종 저장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작업이 완료되면 AI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 PDF 내용을 기반으로 질문에 답변을 제공</a:t>
            </a:r>
          </a:p>
        </p:txBody>
      </p:sp>
    </p:spTree>
    <p:extLst>
      <p:ext uri="{BB962C8B-B14F-4D97-AF65-F5344CB8AC3E}">
        <p14:creationId xmlns:p14="http://schemas.microsoft.com/office/powerpoint/2010/main" val="385837488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6EF5-03ED-9F77-ADCA-C54D1A3E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2704C1-4B64-A764-6B61-98D2A0510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A31B-7B04-C85B-D89A-7227056A997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E4F0D1-013B-4AC7-73AA-93C18678FC5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35BF-DEB8-5698-AF31-1E4C029C0F42}"/>
              </a:ext>
            </a:extLst>
          </p:cNvPr>
          <p:cNvSpPr txBox="1"/>
          <p:nvPr/>
        </p:nvSpPr>
        <p:spPr>
          <a:xfrm>
            <a:off x="591620" y="1248422"/>
            <a:ext cx="11047930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받으면 대화 맥락과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지식베이스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참조하여 정확하게 답변하는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에이전트 워크플로우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F301A2-EBB8-CBF8-1D3B-5533F395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63" y="2214308"/>
            <a:ext cx="6463277" cy="428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585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561E-A4F5-DCE5-D371-2920F5D8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0AAD03-9A68-CE1F-6EF0-23AD7A420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FC08B-9E6A-8817-4D7A-A47549386AC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4D8A310-A54D-1E82-A4BB-2E4E9A9E446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69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F05E5-FF67-99FC-304A-9872DE54355B}"/>
              </a:ext>
            </a:extLst>
          </p:cNvPr>
          <p:cNvSpPr txBox="1"/>
          <p:nvPr/>
        </p:nvSpPr>
        <p:spPr>
          <a:xfrm>
            <a:off x="576262" y="1404784"/>
            <a:ext cx="11039476" cy="361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When chat message received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창에 메시지를 전송하면 작동을 시작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Agent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분석하고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기억과 지식 검색 도구를 활용하여 최종 답변 생성을 총괄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Chat Model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추론 모델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빠르게 문맥을 이해하고 자연스러운 답변 언어를 생성하도록 초고속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제공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Postgres Chat Memory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이전 대화 내역을 저장하고 읽어와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연속적인 질의응답 시 이전 문맥을 유지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Vector Store1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지식 검색 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문서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(PDF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저장되어 있는 벡터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답변에 필요한 자료를 직접 찾아볼 수 있는 도구 역할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Google Gemini1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변환기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3,072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벡터 수치로 변환하여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수치적으로 가장 연관성이 높은 문서 조각을 찾기</a:t>
            </a:r>
          </a:p>
        </p:txBody>
      </p:sp>
    </p:spTree>
    <p:extLst>
      <p:ext uri="{BB962C8B-B14F-4D97-AF65-F5344CB8AC3E}">
        <p14:creationId xmlns:p14="http://schemas.microsoft.com/office/powerpoint/2010/main" val="1611370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64E0-0A98-1FD6-4FFA-A2E64157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C5E85E1-5F8A-624F-1AAE-B2E60D4777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C2FF6-79C0-151A-2F03-225A7F60619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1BB9700-3DCE-925A-A93A-E72A36E9A05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AEF7BB-2CBD-5358-053C-7C8C4A18D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9" y="1761954"/>
            <a:ext cx="7761149" cy="38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1220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D34D-0A21-41AD-064D-27658C9D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A04655-F73F-C692-DA20-228FBED4E0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758F3-0A33-C8BA-EB4E-5FC35B12E3F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C0102E-1733-08D1-7FD2-1BC3C9FEAB0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1A40CA-E54E-3283-851B-7CE4FFFA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6" y="1865788"/>
            <a:ext cx="11062340" cy="383016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FD99DCE-8C94-5492-6201-6B001FC473BA}"/>
              </a:ext>
            </a:extLst>
          </p:cNvPr>
          <p:cNvSpPr/>
          <p:nvPr/>
        </p:nvSpPr>
        <p:spPr>
          <a:xfrm>
            <a:off x="629720" y="31644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541957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2EE0-7B72-4636-10DC-B8C3D1A3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182C5E-A618-FBDF-99A3-BB6BFA0BF9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3D47D-BCDE-46D7-2CB8-47AE6F48570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126CBDC-323D-F49A-AF4C-D176A51EA62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29E0AA-A989-EAB0-2C5E-63DBFB96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0" y="1374854"/>
            <a:ext cx="10437746" cy="5197396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01F6310F-BB0B-1EFC-0B01-18AC25CE8631}"/>
              </a:ext>
            </a:extLst>
          </p:cNvPr>
          <p:cNvSpPr/>
          <p:nvPr/>
        </p:nvSpPr>
        <p:spPr>
          <a:xfrm>
            <a:off x="7038976" y="1489154"/>
            <a:ext cx="4904856" cy="1010835"/>
          </a:xfrm>
          <a:prstGeom prst="borderCallout2">
            <a:avLst>
              <a:gd name="adj1" fmla="val 68691"/>
              <a:gd name="adj2" fmla="val -3909"/>
              <a:gd name="adj3" fmla="val 92249"/>
              <a:gd name="adj4" fmla="val -18142"/>
              <a:gd name="adj5" fmla="val 157915"/>
              <a:gd name="adj6" fmla="val -2429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1, "to": 92: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문서의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92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내용을 잘라 만든 첫 번째 조각의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94, "to": 136: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 번째 조각으로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94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136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  <a:endParaRPr lang="ko-KR" altLang="en-US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B68D60-EE25-462B-3992-8FB006ACC1FB}"/>
              </a:ext>
            </a:extLst>
          </p:cNvPr>
          <p:cNvSpPr/>
          <p:nvPr/>
        </p:nvSpPr>
        <p:spPr>
          <a:xfrm>
            <a:off x="3409950" y="3095625"/>
            <a:ext cx="7343775" cy="58102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93A09-3E6F-2D86-64AE-21C28F4A5DF4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4730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6B9F-574C-EE14-73F7-02933FAB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09BBE8-1146-6EFB-21CB-012CF33E86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F41F08-EE80-0F5D-6FFF-1F166729CBE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6D8616-7EAD-BC0D-27E6-864312F395AA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1D54BD-0A9D-544E-9DF7-18675953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01" y="1749597"/>
            <a:ext cx="1109784" cy="366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E176A6-D1F5-72F5-8582-E8DD20496E9F}"/>
              </a:ext>
            </a:extLst>
          </p:cNvPr>
          <p:cNvSpPr txBox="1"/>
          <p:nvPr/>
        </p:nvSpPr>
        <p:spPr>
          <a:xfrm>
            <a:off x="436492" y="2089487"/>
            <a:ext cx="1156193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한 후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860CF18-5253-FD30-11F6-AE7761E5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602" y="133350"/>
            <a:ext cx="4433216" cy="391227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2A207C-F724-7A34-02CF-2C66B862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600" y="4000501"/>
            <a:ext cx="4433217" cy="272414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81A2DBE-5A3B-09ED-4948-8D1FBB96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941" y="254670"/>
            <a:ext cx="4841326" cy="310451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F4F371-1475-2E5F-27D6-2812D0B86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813" y="3387907"/>
            <a:ext cx="4828844" cy="3067354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D1F0CE-1F2C-8EDA-083A-BC36C8D703E7}"/>
              </a:ext>
            </a:extLst>
          </p:cNvPr>
          <p:cNvSpPr/>
          <p:nvPr/>
        </p:nvSpPr>
        <p:spPr>
          <a:xfrm>
            <a:off x="8432800" y="5462905"/>
            <a:ext cx="2636377" cy="115125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EC47B9-B087-66DE-71FB-5CE86CFEA2CA}"/>
              </a:ext>
            </a:extLst>
          </p:cNvPr>
          <p:cNvSpPr/>
          <p:nvPr/>
        </p:nvSpPr>
        <p:spPr>
          <a:xfrm>
            <a:off x="2873046" y="1646664"/>
            <a:ext cx="3517594" cy="2579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AB69AF-71F2-2B2B-8356-365E649610DC}"/>
              </a:ext>
            </a:extLst>
          </p:cNvPr>
          <p:cNvSpPr/>
          <p:nvPr/>
        </p:nvSpPr>
        <p:spPr>
          <a:xfrm>
            <a:off x="2873046" y="4471144"/>
            <a:ext cx="3517594" cy="114741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B8230-0240-DC71-7076-638318D4D2F2}"/>
              </a:ext>
            </a:extLst>
          </p:cNvPr>
          <p:cNvSpPr txBox="1"/>
          <p:nvPr/>
        </p:nvSpPr>
        <p:spPr>
          <a:xfrm>
            <a:off x="9318954" y="1272543"/>
            <a:ext cx="2517446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Direct Connection (IPv6)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Session pooler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IPv4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전용 주소라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연결이 가능</a:t>
            </a:r>
          </a:p>
        </p:txBody>
      </p:sp>
    </p:spTree>
    <p:extLst>
      <p:ext uri="{BB962C8B-B14F-4D97-AF65-F5344CB8AC3E}">
        <p14:creationId xmlns:p14="http://schemas.microsoft.com/office/powerpoint/2010/main" val="37565634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7A363-5FED-428C-6290-6EED4CC2C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AC73F0B-606A-E00C-794E-9E183E55F9F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F479436-D4C1-57EC-8ED7-30475606A4E8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F733321-85CC-5EE8-DE07-60144C55A11E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2B3FF5-F713-F0B3-FA46-D55F5946C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847" y="3235034"/>
            <a:ext cx="9101459" cy="317847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2403445-FF91-DA3B-6EEE-713E920CF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0" y="1330727"/>
            <a:ext cx="4094197" cy="33963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4492FBF-0924-E4B3-6DAF-022FAC5720B3}"/>
              </a:ext>
            </a:extLst>
          </p:cNvPr>
          <p:cNvSpPr txBox="1"/>
          <p:nvPr/>
        </p:nvSpPr>
        <p:spPr>
          <a:xfrm>
            <a:off x="4838217" y="1400175"/>
            <a:ext cx="6887057" cy="1296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Postgres memory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대화 내용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(history)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저장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확인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현재에 태어난 과학자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뉴톤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!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제목 1">
            <a:extLst>
              <a:ext uri="{FF2B5EF4-FFF2-40B4-BE49-F238E27FC236}">
                <a16:creationId xmlns:a16="http://schemas.microsoft.com/office/drawing/2014/main" id="{154BD8EB-4A17-86B9-4593-CDD416C9820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Postgres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Chat Memory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9535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F2AF-F63C-9014-C256-E0B1E85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3C722C3-A681-42C5-1727-0EC1D6A355D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FF02E-9E6D-5478-8A71-D7BFFE7FE87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8F3617-13F4-36A0-1AD9-CDE5773261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44C99D-E3F4-C9EF-E472-66EAF5F3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51" y="1832299"/>
            <a:ext cx="10085387" cy="4817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6EB8FE-A25E-0173-6E47-BEE4A975E663}"/>
              </a:ext>
            </a:extLst>
          </p:cNvPr>
          <p:cNvSpPr txBox="1"/>
          <p:nvPr/>
        </p:nvSpPr>
        <p:spPr>
          <a:xfrm>
            <a:off x="591620" y="1248422"/>
            <a:ext cx="11342686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강의 자료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(pdf)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저장하고 조상구에 대해 질문하면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검색하여 답변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(Vetor DB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질문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Prompt)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236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B53E-9D55-3CF4-4E1B-ED8FFC42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B7A2C-8A54-FBB6-A0C3-771CD8941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16AB047-CE98-D525-7654-BD21D1B0C6A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수구">
            <a:extLst>
              <a:ext uri="{FF2B5EF4-FFF2-40B4-BE49-F238E27FC236}">
                <a16:creationId xmlns:a16="http://schemas.microsoft.com/office/drawing/2014/main" id="{D9768DA3-9FBC-A455-DE78-CF68D747B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9525" y="3307207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652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D4C9-BE75-86A2-1287-D0BECFBD2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826516D-765C-4C46-AA64-D2BBC057BC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장학금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수여자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명단 만들고 메일 보내기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3411AF-5E8D-657A-7B11-679F15CD99AC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98EC546-3232-ECD7-E9D8-FE6DBB54F3E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8E0C152-F34F-49A9-7377-A054B2FD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143" y="2321179"/>
            <a:ext cx="11430949" cy="250799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래픽 8" descr="수영">
            <a:extLst>
              <a:ext uri="{FF2B5EF4-FFF2-40B4-BE49-F238E27FC236}">
                <a16:creationId xmlns:a16="http://schemas.microsoft.com/office/drawing/2014/main" id="{91168B10-3F37-2814-D41C-BAB3856F52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4957" y="299420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5FDB27-0AFE-5A76-3D28-9D96910A5DED}"/>
              </a:ext>
            </a:extLst>
          </p:cNvPr>
          <p:cNvSpPr txBox="1"/>
          <p:nvPr/>
        </p:nvSpPr>
        <p:spPr>
          <a:xfrm>
            <a:off x="475645" y="1887376"/>
            <a:ext cx="367280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KBU Unified AI Agent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744085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3D9D-ED45-4A43-F676-077B497D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46CA17B-88CB-A9F6-4F1A-51E8BEF6D4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무료 사용량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41130-FC1D-4B28-64D8-712C1F853D5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9B5D769-8FF5-3395-7346-8ABE69512E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2F529-CE7E-B1FB-E0F8-01C804C3C722}"/>
              </a:ext>
            </a:extLst>
          </p:cNvPr>
          <p:cNvSpPr txBox="1"/>
          <p:nvPr/>
        </p:nvSpPr>
        <p:spPr>
          <a:xfrm>
            <a:off x="572035" y="1641961"/>
            <a:ext cx="11047930" cy="36999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RPM (Requests Per Minute)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API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를 몇 번 부를 수 있는가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TPM (Tokens Per Minute)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분당 토큰 처리량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 1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분 안에 주고받을 수 있는 총 토큰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글자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단어 조각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).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RPD (Requests Per Day) :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하루 총 요청 횟수 한도</a:t>
            </a: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0857419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97BC-B79E-E98F-8FAB-1DDB14B1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8CAA2F8-8EF8-2E01-1E55-08122E029A2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Gemini-flash-3.5-lite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099681-6C4F-71C4-5706-224067E80B4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5F57B2D8-3F5F-2B58-9217-639F176E859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79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65453C-B288-2A54-4981-7233B35C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111" y="1694077"/>
            <a:ext cx="8893215" cy="4338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60724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FF8D9-AF21-E066-114C-B815179C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55AACB-CCCC-6EAD-393E-D0F8D0DE65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키워드 검색하고 감성분석 후 메일 보내기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BBDF2C-2917-94E1-BD11-4D79BA4BAB88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4FDA6C3-0CBB-2A83-D25D-FFD4D542DAA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466755-A539-5A16-D6BE-268953430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45" y="1840092"/>
            <a:ext cx="11179509" cy="3177815"/>
          </a:xfrm>
          <a:prstGeom prst="rect">
            <a:avLst/>
          </a:prstGeom>
        </p:spPr>
      </p:pic>
      <p:pic>
        <p:nvPicPr>
          <p:cNvPr id="7" name="그래픽 6" descr="수영">
            <a:extLst>
              <a:ext uri="{FF2B5EF4-FFF2-40B4-BE49-F238E27FC236}">
                <a16:creationId xmlns:a16="http://schemas.microsoft.com/office/drawing/2014/main" id="{BFEB97F5-49B4-8677-23D4-2B12A2C889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4957" y="29942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4152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6542-6AED-5FA9-2733-A5A8B92C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61FF-C05C-8EF4-195C-EF2518F5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4376A18-C0FA-1AAD-D9CE-A6C47A49208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래픽 12" descr="크로스컨트리 스키">
            <a:extLst>
              <a:ext uri="{FF2B5EF4-FFF2-40B4-BE49-F238E27FC236}">
                <a16:creationId xmlns:a16="http://schemas.microsoft.com/office/drawing/2014/main" id="{99A95973-5448-BC4A-EE51-3503E641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990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021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94D23-150C-508F-DBD2-23D7CF702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C664F3-E704-5EFD-B1A5-EDE42EB6F7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뉴스 수집 및 감성분석 자동화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4F8D9-3A0F-A601-8D15-8D0B3B32023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5C73AC8-F2DC-BE48-C03E-1CBF50E139B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F8D74-77AE-1174-A321-939F1D7841A3}"/>
              </a:ext>
            </a:extLst>
          </p:cNvPr>
          <p:cNvSpPr txBox="1"/>
          <p:nvPr/>
        </p:nvSpPr>
        <p:spPr>
          <a:xfrm>
            <a:off x="584036" y="1707511"/>
            <a:ext cx="459613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뉴스 수집 및 감성분석 자동화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Workflow.json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521F64D-4F48-5BA8-5FD2-8B4EDAEBA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020" y="2148692"/>
            <a:ext cx="11255715" cy="33988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586924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F6CF-1580-AA40-EFE8-EE6DE86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E9547-7D2E-602A-BCAE-CB5904A93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715101B-F95F-F5D9-8C37-423458301BA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축구">
            <a:extLst>
              <a:ext uri="{FF2B5EF4-FFF2-40B4-BE49-F238E27FC236}">
                <a16:creationId xmlns:a16="http://schemas.microsoft.com/office/drawing/2014/main" id="{A526B18E-0F49-C751-4609-98ED697ED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625" y="158925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8788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BD6D-BF4A-65C2-992E-99A556BB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4DB9F5D-17CF-2C48-F8CD-E12C2AAC5D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F7129-3A08-6F5D-4FE3-373FBE89C49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C681CD-DFEA-1306-8138-057EF9E8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516363"/>
            <a:ext cx="7318240" cy="3646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6F175-6527-D67F-B12D-03D4C7CC9759}"/>
              </a:ext>
            </a:extLst>
          </p:cNvPr>
          <p:cNvSpPr txBox="1"/>
          <p:nvPr/>
        </p:nvSpPr>
        <p:spPr>
          <a:xfrm>
            <a:off x="542320" y="1248422"/>
            <a:ext cx="1117403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파이썬코드로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구글시트에 이름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(name)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github_url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입력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학생들의 코드를 몇 가지 기준에 따라 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평가내용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(comments)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자동입력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5302DB2-A13E-CD42-6255-28C18E3B48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7929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24F6-E5EB-EF43-685C-2DDB88C3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5962D8-E163-A2E1-AA4F-0380E0BF80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BDF9-74B9-B0E3-5E88-CCFABA2E20B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EE45BD8-D869-0E65-2C62-C5EB3405CF0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320CE5-77C5-6B63-3372-09C9F499C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09" y="1923882"/>
            <a:ext cx="10966571" cy="367473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3B1F7-D107-A162-8CDE-C16E98C06FE6}"/>
              </a:ext>
            </a:extLst>
          </p:cNvPr>
          <p:cNvSpPr txBox="1"/>
          <p:nvPr/>
        </p:nvSpPr>
        <p:spPr>
          <a:xfrm>
            <a:off x="591620" y="1585328"/>
            <a:ext cx="46987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 Code Evaluation to Google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뉴스 수집 및 감성분석 자동화 Workflow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Sheets.json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339471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B48-DF83-6993-3705-1D9B3C1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CD212-3BE7-85E9-2C6F-7925BADC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Homework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5CF0B80-F916-532F-D25B-79DB2A66CED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래픽 14" descr="활강 스키">
            <a:extLst>
              <a:ext uri="{FF2B5EF4-FFF2-40B4-BE49-F238E27FC236}">
                <a16:creationId xmlns:a16="http://schemas.microsoft.com/office/drawing/2014/main" id="{20ED92B4-5D44-6137-E887-DF9973AB2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15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42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34D7-3C96-6A8C-1F23-24373A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EAD5ABA-B1EE-AE18-52A7-D72CEB07C1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21-72BA-1B62-A292-BC6F2B1B35ED}"/>
              </a:ext>
            </a:extLst>
          </p:cNvPr>
          <p:cNvSpPr txBox="1"/>
          <p:nvPr/>
        </p:nvSpPr>
        <p:spPr>
          <a:xfrm>
            <a:off x="582095" y="2684810"/>
            <a:ext cx="11066980" cy="334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Claude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원하는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정의하여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생성하라고 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화면캡쳐하여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생성 요청한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desktop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"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딸깍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으로 만드는 슈퍼자동화 시나리오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!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클로드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4+MCP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 미쳤습니다</a:t>
            </a:r>
            <a:endParaRPr lang="en-US" altLang="ko-KR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노가다 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클로드로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 워크플로우 자동 생성하는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단계 프롬프트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+ MCP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세팅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성공률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 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연결하는 것도 귀찮다면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,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직접 만들기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~~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이걸로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자동화의 판도가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구글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안티그래비티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0D5E0-C6FF-6BBF-600F-FAA66AF19197}"/>
              </a:ext>
            </a:extLst>
          </p:cNvPr>
          <p:cNvSpPr txBox="1"/>
          <p:nvPr/>
        </p:nvSpPr>
        <p:spPr>
          <a:xfrm>
            <a:off x="582095" y="1400175"/>
            <a:ext cx="111431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부탁해서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부탁하면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24DF526-22AF-8A39-2A37-F74A286214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4780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7401-AD49-931E-5629-866E258F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1DF8B59-661E-605A-CFC9-9B1A7684FE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F3050-E51F-C7FB-58C2-E1F5336796F0}"/>
              </a:ext>
            </a:extLst>
          </p:cNvPr>
          <p:cNvSpPr txBox="1"/>
          <p:nvPr/>
        </p:nvSpPr>
        <p:spPr>
          <a:xfrm>
            <a:off x="524410" y="1281868"/>
            <a:ext cx="11143180" cy="2533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요청해서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요청하고 나의 로컬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직접 작동시키기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Local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URL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주소와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키를 복사하기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서버 연결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/>
              <a:t>cline_mcp_settings.json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Prompt :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0C70F6-E1E3-8AB0-49C2-177A8137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41" y="2339439"/>
            <a:ext cx="5208630" cy="3611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72FFB-4C0B-0F25-E1B2-125863277F75}"/>
              </a:ext>
            </a:extLst>
          </p:cNvPr>
          <p:cNvSpPr txBox="1"/>
          <p:nvPr/>
        </p:nvSpPr>
        <p:spPr>
          <a:xfrm>
            <a:off x="1796026" y="3706146"/>
            <a:ext cx="44904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매일 아침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시에 특정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웹훅으로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요청을 보내는 워크플로우를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생성해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워크플로우를 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임포트하고 실행해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8B57DDC-BF91-8CD6-8CF7-734D2DFB6F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2092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780-D962-F205-381A-9EC36E3B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C785D48-E001-C56F-D44C-7E2D938F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5" y="1540912"/>
            <a:ext cx="3624765" cy="4553841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60178FD-69B6-47EA-0380-87D02BE406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cline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568671-CF62-BA73-B18E-DB0F6F09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56" y="4640605"/>
            <a:ext cx="6801294" cy="1395656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1BD2C6D-2FFD-AC68-6F0D-547FAB757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89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AF5E0-5318-CEE6-477F-E98B74D644E1}"/>
              </a:ext>
            </a:extLst>
          </p:cNvPr>
          <p:cNvSpPr txBox="1"/>
          <p:nvPr/>
        </p:nvSpPr>
        <p:spPr>
          <a:xfrm>
            <a:off x="5084761" y="2144294"/>
            <a:ext cx="6096000" cy="1600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다음 조건에 맞는 n8n 워크플로를 생성하고 로컬 n8n에 등록해줘.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트리거: [예: Schedule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매일 오전 9시]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작업 단계: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1. [예: HTTP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Request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날씨 API 호출]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2.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속성(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Property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구조에 맞게 데이터 가공]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3.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특정 데이터베이스에 새 페이지 생성]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8D05D-8F33-5695-ED2A-3612090429FB}"/>
              </a:ext>
            </a:extLst>
          </p:cNvPr>
          <p:cNvSpPr txBox="1"/>
          <p:nvPr/>
        </p:nvSpPr>
        <p:spPr>
          <a:xfrm>
            <a:off x="4990656" y="1746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BB490C65-C2E1-B342-7A51-9B143853B83F}"/>
              </a:ext>
            </a:extLst>
          </p:cNvPr>
          <p:cNvCxnSpPr/>
          <p:nvPr/>
        </p:nvCxnSpPr>
        <p:spPr>
          <a:xfrm rot="5400000" flipH="1" flipV="1">
            <a:off x="3109913" y="3652838"/>
            <a:ext cx="2143125" cy="1962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EE9364EE-5534-F05D-F208-399CAE94BFD9}"/>
              </a:ext>
            </a:extLst>
          </p:cNvPr>
          <p:cNvSpPr/>
          <p:nvPr/>
        </p:nvSpPr>
        <p:spPr>
          <a:xfrm>
            <a:off x="7629525" y="4010025"/>
            <a:ext cx="723900" cy="5429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0389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18406</TotalTime>
  <Words>2398</Words>
  <Application>Microsoft Office PowerPoint</Application>
  <PresentationFormat>와이드스크린</PresentationFormat>
  <Paragraphs>483</Paragraphs>
  <Slides>89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89</vt:i4>
      </vt:variant>
    </vt:vector>
  </HeadingPairs>
  <TitlesOfParts>
    <vt:vector size="101" baseType="lpstr">
      <vt:lpstr>D2Coding</vt:lpstr>
      <vt:lpstr>MS Gothic</vt:lpstr>
      <vt:lpstr>Sorts Mill Goudy</vt:lpstr>
      <vt:lpstr>맑은 고딕</vt:lpstr>
      <vt:lpstr>Batang</vt:lpstr>
      <vt:lpstr>Arial</vt:lpstr>
      <vt:lpstr>Cambria Math</vt:lpstr>
      <vt:lpstr>Lora</vt:lpstr>
      <vt:lpstr>Roboto</vt:lpstr>
      <vt:lpstr>Segoe UI Emoji</vt:lpstr>
      <vt:lpstr>Wingdings</vt:lpstr>
      <vt:lpstr>WelcomeDoc</vt:lpstr>
      <vt:lpstr>n8n AI Workflow</vt:lpstr>
      <vt:lpstr>PowerPoint 프레젠테이션</vt:lpstr>
      <vt:lpstr>PowerPoint 프레젠테이션</vt:lpstr>
      <vt:lpstr>PowerPoint 프레젠테이션</vt:lpstr>
      <vt:lpstr>PowerPoint 프레젠테이션</vt:lpstr>
      <vt:lpstr>Docker</vt:lpstr>
      <vt:lpstr>PowerPoint 프레젠테이션</vt:lpstr>
      <vt:lpstr>n8n Overview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Triggers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Credentials</vt:lpstr>
      <vt:lpstr>PowerPoint 프레젠테이션</vt:lpstr>
      <vt:lpstr>PowerPoint 프레젠테이션</vt:lpstr>
      <vt:lpstr>PowerPoint 프레젠테이션</vt:lpstr>
      <vt:lpstr>n8n Basic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PowerPoint 프레젠테이션</vt:lpstr>
      <vt:lpstr>n8n Beginner Tutorials</vt:lpstr>
      <vt:lpstr>PowerPoint 프레젠테이션</vt:lpstr>
      <vt:lpstr>n8n Homework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Advanced Tutorials</vt:lpstr>
      <vt:lpstr>PowerPoint 프레젠테이션</vt:lpstr>
      <vt:lpstr>PowerPoint 프레젠테이션</vt:lpstr>
      <vt:lpstr>PowerPoint 프레젠테이션</vt:lpstr>
      <vt:lpstr>PowerPoint 프레젠테이션</vt:lpstr>
      <vt:lpstr>n8n Advanced Tutorials</vt:lpstr>
      <vt:lpstr>PowerPoint 프레젠테이션</vt:lpstr>
      <vt:lpstr>n8n Advanced Tutorials</vt:lpstr>
      <vt:lpstr>PowerPoint 프레젠테이션</vt:lpstr>
      <vt:lpstr>PowerPoint 프레젠테이션</vt:lpstr>
      <vt:lpstr>n8n Homework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247</cp:revision>
  <dcterms:created xsi:type="dcterms:W3CDTF">2026-04-06T01:00:39Z</dcterms:created>
  <dcterms:modified xsi:type="dcterms:W3CDTF">2026-09-14T13:42:04Z</dcterms:modified>
  <cp:version/>
</cp:coreProperties>
</file>